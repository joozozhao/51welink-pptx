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PRESENTATION
业务介绍
WEIWANG TONGLIAN · CLOUD COMMUNICATION PLATFORM
行业领先的云通信平台及解决方案服务商
国内短信
语音验证
语音线路
5G消息
国际短信
北京微网通联股份有限公司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目录
CONTENTS
从公司实力、产品矩阵到客户背书，
完整呈现微网通联的云通信服务能力。
01
公司介绍
ABOUT US
定位 · 历程 · 荣誉资质 · 研发与规模
03 - 10
02
业务介绍
OUR BUSINESS
产品矩阵 · GMP · 短信 · 语音 · 语音线路 · 5G消息
11 - 22
03
典型案例
TYPICAL CASES
极致服务 · 标杆客户实践
23 - 25
02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01
01
公司介绍
ABOUT US
定位与业务 · 发展历程 · 荣誉资质
服务网络 · 研发能力 · 业务规模
03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公司简介
关于微网通联
公司定位
北京微网通联股份有限公司（简称「微网通联」）是行业领先的云通信平台及解决方案服务商之一，以云通信平台为根基，为企业提供云通信产品与解决方案。
云通信业务
构建涵盖 UMC 云通信平台与 GMP 聚合消息服务平台于一体的政企服务生态，提供国内短信、5G消息、国际短信及其他号码服务。
服务网络与资质
公司自成立以来，已建立覆盖全国的客户服务网络，在北京、上海、山东、深圳、成都、长沙设有客户服务团队。以资源整合为驱动力、平台运营能力和「极致服务」理念等综合竞争力，荣获互联网信用评价中心最高等级 3A 认证等多项殊荣。
LISTED COMPANY
上市
登陆新三板
证券简称
微网通联
证券代码
870213
深耕行业
十余年
公众公司治理 + 3A 信用认证，
合作可信度的硬背书。
04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发展历程
开拓进取 · 砥砺前行
2006
公司成立
2014
荣誉加身
2016
新三板挂牌
2017
全网布局
2020
5G消息上线
2022
服务升级
2026
智能办公
微网通联成立，于北京设立总部，相继在上海、山东成立分公司
获「福布斯中国非上市潜力企业100强」等多项大奖
登陆新三板，证券代码 870213
建立全国营销服务网络，获 AAA 信用资质与年度最佳平台奖
5G消息平台上线，获多省 CSP 资质
上线 5G 消息服务，云通信生态持续完善
智能化办公系统上线，以 AI 驱动内部协作、运营与交付流程全面提效
05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公司荣誉
载誉不断
凭借诚信经营和企业实力，荣获超百项企业荣誉资质
100
+
企业荣誉资质
凭借诚信经营和过硬技术实力，受到政府、运营商与行业协会的高度肯定
HONORS &amp; AWARDS
年度最佳移动即时通信平台
中国移动互联网领域最佳运营支撑服务
互联网信用评价中心最高等级 AAA 级信用企业
高新技术企业
福布斯非上市百强企业
中国通信企业协会增值服务委员会副主任单位
中国移动泉州分公司突出贡献奖
杭州电信年度金牌合作伙伴
淮安移动合作伙伴 - 卓越贡献奖
06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公司资质
追求卓越 · 品质保证
权威技术资质体系与国家级资质保障
秉承诚信经营、坚持技术为本的原则 —— 多方权威机构技术资质认证，品质保证
CERTIFIED
ISO/IEC 27001
信息安全管理体系认证
数据存储与传输全程加密，金融级信息安全标准
ISO 9001
质量管理体系认证
标准化质量管控流程，全周期研发交付品质保证
ISO/IEC 27701
隐私信息管理体系认证
国际高标准隐私保护规范，筑牢数据合规防线
等保三级
网络安全等级保护三级
核心系统通过国家信息系统等级保护三级测评
增值电信业务许可证
工信部核发
合规经营电信增值业务的基础准入资质保障
AAA 级信用企业
互联网信用评价中心
诚信守法经营获信用评价最高等级认证
高新技术企业
国家级认定
以核心技术自主研发与创新转化能力获国家级认定
5G消息 CSP 资质
多省运营商准入
获三大运营商多省 5G消息生态服务资质认证
07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服务团队
专业 · 极致 · 全网
SERVICE NETWORK
全网营销和
客户服务网络
依托覆盖全国的服务网络，建立本地化服务快速响应机制——客户在哪里，服务团队就在哪里。
本地化服务 · 快速响应
6
家
分公司覆盖全国
北京总部 + 区域分公司，形成南北呼应的服务布局
34
个
省级行政区服务覆盖
服务能力触达全国所有省级行政区域
六大服务中心
北京 · 总部
上海
山东
深圳
成都
长沙
08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研发能力
强大的研发能力
01
核心技术架构能力
亿级消息处理平台
可用性 99.99%
微服务架构+容器化部署，日均处理超1亿条消息，128个API模块毫秒级响应
智能路由保障机制
成功率 &gt;99.5%
实时监控200+运营商节点，12维参数动态选路，0.5秒故障切换
02
智能信息处理能力
场景化交互升级
效率 +300%
NLP识别20+业务场景，动态生成交互卡片（如值机二维码）
精准用户触达
转化率 +42%
50+特征标签构建画像，LBS技术助力电商促销短信转化
03
安全合规体系
全链路内容管控
拦截准确率 99.7%
AI+规则+人工三重审核，秒级过滤3000条短信，7×24小时值守
金融级防护标准
国密 SM4
SM4国密加密传输，ISO27001认证存储，核心系统通过等保三级
04
研发创新实力
技术壁垒
46 项专利
累计申请46项发明专利，8项已落地运营商项目
持续技术迭代
研发投入年增 85%
50+研发团队（占比40%），已布局5G消息/AIGC等前沿领域
09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 业务规模
云通信服务优质品牌
99.9
%
到达率高达
智能路由多通道保障
每一条消息稳定送达
400
亿+
年发送消息条数
平台级吞吐规模，是稳定性最直接的压力证明
5000
+
企业共同选择
覆盖金融、互联网、政企等
行业头部客户
50%+
营收多年保持增长
1000+
平台接入通道数
3 大
运营商深度合作
14%
创新研发投入占比
100+
软件著作权
10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02
02
业务介绍
OUR BUSINESS
产品服务矩阵 · GMP 本地化部署消息平台
企业短信 · 语音验证 · 语音线路 · 5G消息 · 富媒体消息
11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产品服务矩阵
云通信产品服务矩阵
ONE-STOP
一体化
云通信服务
融合短信、语音验证、富媒体消息、5G消息等能力，一个平台全覆盖。
覆盖行业
金融
互联网
政企
短信
国内短信、国际短信；验证码、行业通知、会员营销
语音验证
语音验证码、语音通知等语音服务能力
5G消息 / 视频短信
手机终端原生短信的新升级、新服务、新生态；集影、音、文字一体
GMP 本地化部署消息平台
基于跨平台 Java 技术开发的消息发送与管理平台
12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GMP 本地化部署消息平台
GMP 聚合消息服务平台
GMP
GLOBAL MESSAGE PLATFORM
GMP 是一款基于跨平台 Java 技术开发的消息发送与管理平台，专为满足企业本地化部署的需求而设计，提供安全、兼容的解决方案，为企业带来更具定制化和全面性的即时通讯服务。
本地部署环境独立部署
定制化、全面性即时通讯服务
安全、兼容的企业级解决方案
GMP 平台管理后台 · 实时数据概览
13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GMP 本地化部署消息平台
GMP 平台功能
发送
SEND
短信消息
微信消息
邮件消息
APP 消息
其它消息
组合消息
管理
MANAGE
账号管理
审核管理
渠道管理
报表管理
费用管理
基础数据
系统管理
监控
MONITOR
业务监控
渠道监控
应用程序监控
服务器监控
告警设置
14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企业短信
让每条消息及时准确送达
验证码 · 行业通知 · 会员营销
企业短信服务基于互联网和运营商网络，采用文字、图片、语音、视频等方式实现企业面向用户的跨平台消息通知发送，涵盖验证码、行业通知、会员营销等场景，最大程度满足企业的消息发送需求。
验证类
VERIFICATION
验证码
用户注册
登录保护
身份认证
交易确认
通知类
NOTIFICATION
动账通知
订票信息
订单通知
物流提醒
系统通知
营销类
MARKETING
优惠促销
活动推广
新品上线
会员推广
品牌推广
15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企业短信 · UMC
高效、专业、极致的 UMC 云通信服务
以运营商级基础设施承载企业消息触达 —— 双机房容灾、分布式部署、全时监控，保障每一条消息稳定、高速、准确地送达用户。
UMC CLOUD COMMUNICATION
双机房
容灾
异地双活，故障秒级切换
分布式
部署
多节点弹性扩展
20000
TPS
高并发峰值处理能力
99.9%
到达率
智能路由保障送达
7×24
全时监控
小时级实时监测
99.99%
可用性
服务可用性保障
16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语音验证
语音验证
短信到不了的场景，
语音来兜底
语音验证基于云服务提供语音通信能力，为企业客户提供语音通知、语音验证码等服务，解决因客观因素无法接收短信验证码的问题，提升验证的实时有效性、安全性和沟通效率。
VOICE VERIFICATION
1
短信验证码下发
默认通道
2
检测未送达
智能识别
3
主动切换语音通道
自动播报
4
完成验证
零等待
秒级响应
语音呼叫即时触达，验证零等待
智能识别
智能识别接听状态，自动播报
主动切换
短信未达主动切换语音通道
17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语音线路
语音线路
运营商级语音通道
关键消息，
电话直达
语音线路基于运营商语音通道，以电话呼入方式为企业播报通知、提醒与告警：TTS 模板化播报、状态全程回执、失败智能重拨，与短信通道互为补充，构建「必达」的消息触达闭环。
VOICE LINE · CALL NOTIFICATION
电话强提醒
订单异常、风险预警、服务提醒等关键事件，以电话播报强制触达
TTS 模板播报
文本转语音模板化播报，支持变量替换、多音色选择与试听审核
按键确认
支持 DTMF 按键回执，确认、拒绝、转人工状态实时回传
失败重拨
未接、占线、失败按策略重拨，支持呼叫时段控制，避免无效打扰
多人轮呼
告警场景按值班表顺序轮呼，未接自动升级至负责人
合规可审计
模板、号码、频次、呼叫时段全程留痕，满足企业采购审计要求
18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语音线路
场景与触发策略
订单异常强提醒
付款超时、派送失败、预约临期等「必须处理」事件，电话播报及时触达，支持订单号、金额、预约时间变量播报
92.8%
关键提醒接通率
金融账单提醒
账单提醒只靠短信易被漏看，语音作为补充提醒，按键确认形成业务闭环，回执全部入库可查
-36%
漏看提醒下降
告警值班轮呼
P1 告警直接语音呼叫值班人，未接按策略自动升级负责人，比 IM 群提醒更可靠
0
漏处理告警
语音线路 vs 短信单通道
COMPARISON
对比维度
语音线路
短信单通道
提醒强度
电话呼入播报
用户需主动查看
接收状态
接通 / 未接 / 拒接
仅发送到达回执
用户确认
支持按键确认
需跳转或回复
失败处理
按策略智能重拨
通常仅重发短信
人工成本
API 自动触发
需人工外呼兜底
推荐触发策略
短信 3 分钟未读，自动补语音提醒
订单类提醒限 9:00–21:00 呼叫
P1 告警直呼值班人，未接逐级升级
服务确认类启用按键回执闭环
19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5G消息
5G 消息 · 全新的信息生态平台
5G 行业消息以聊天机器人 chatbot 的形态，让用户在消息窗口内完成搜索、发现、交互、支付等一站式业务体验，通过富媒体及人工智能为企业建立全新生态体系。
01
强入口
原生消息入口、免安装、免登录
02
强交互
chatbot 形式、AI 智能识别、引导式交互
03
富媒体
支持文字、图片、音视频、位置等展现形式
04
新服务
低门槛、直达用户、消息内一站式服务
05
新生态
消息即服务、消息即应用
5G
消息即服务
消息即应用
原生入口 · 智能交互 · 富媒体承载 · 一站服务 · 全新生态
RCS · CHATBOT · AI
20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富媒体消息
富媒体消息
集影、音、文字一体的新媒体消息
富媒体消息基于移动通信技术和手机号，为企事业单位提供面向用户的新型通信方式——内含可沟通互动的短信内容，以视频、图片等富媒体形态表达，形成集影、音、文字一体的手机消息。
内容丰富
支持视频、音频、图片、文字等富媒体内容形式
超大容量
大容量内容承载，完整讲述品牌故事
高效触达
直击目标用户，即接即用，三网覆盖，终端适配率高
高转化率
多行业成功营销案例，多样化品牌营销，直观高效
广泛应用于党政、公益、银行、游戏、汽车、美妆、旅游、电商、房产、影视等行业
21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 · 富媒体消息
多内容样式承载 · 沉浸式体验
营销场景化
MARKETING SCENARIOS
商品促销
优惠促销
活动推广
爆点卖点
唤醒老用户
直播互动
服务多元化
DIVERSE SERVICES
品牌推广
形象传播
会员活动提醒
旅游景点信息发布
住宿信息
新品上线
内容生动化
VIVID CONTENT
新游戏上线
新玩法告知
电竞赛事
体育赛事
视频故事
互动卡片
覆盖十大行业领域
党政
公益
银行
游戏
汽车
美妆
旅游
电商
房产
影视
22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03
03
典型案例
TYPICAL CASES
真实业务场景 · 标杆客户实践
23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极致服务
极致服务
MAGIC SERVICE
SERVICE CONCEPT
以创造客户价值为中心
以提升服务质量为宗旨
全天候服务
7×24 小时分秒响应，合理客户服务结构，即时响应客户需求
团队实力
10 年以上专业团队，深厚运营商资源和互联网通信运营经验
精细化运营
以精细化运营保障每一次服务的稳定与品质
运营商网关异常
多通道智能路由和并联技术，结合通道自动监控切换机制，即时解决运营商网关异常
平台安全
各业务节点分布式部署，采用多活机制，数据库节点双机热备，保障平台业务正常运行
数据安全
高性能防火墙、VPN、专线连接，底层数据存储对称加密、数据库热备等多重保障
其他增值服务
根据客户需求个性化定制相关增值服务，满足客户个性化需求
24 /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 · 典型案例
典型案例
众多知名企业正在使用微网通联的云通信服务
5000+ 企业的共同选择，覆盖出行、电商、金融、政企、互联网等行业
25 / 25
Logo sources (iconfont, retrieved 2026-10-20):
中国农业银行: icon 15134640; https://www.iconfont.cn/collections/detail?cid=71734
招商银行: icon 15135206; https://www.iconfont.cn/collections/detail?cid=71734
上海银行: icon 15178599; https://www.iconfont.cn/collections/detail?cid=71734
江苏银行: icon 15178194; https://www.iconfont.cn/collections/detail?cid=71734
日照银行: icon 15744697; https://www.iconfont.cn/collections/detail?cid=71734
湖南三湘银行: icon 15742490; https://www.iconfont.cn/collections/detail?cid=71734
威海市商业银行: icon 21603704; https://www.iconfont.cn/collections/detail?cid=284162
浙江稠州商业银行: icon 15178233; https://www.iconfont.cn/collections/detail?cid=71734
携程旅行: icon 8032532; https://www.iconfont.cn/collections/detail?cid=49423
滴滴: icon 13635376; https://www.iconfont.cn/collections/detail?cid=40025
海尔: icon 13788114; https://www.iconfont.cn/collections/detail?cid=201831
汽车之家: icon 8032968; https://www.iconfont.cn/collections/detail?cid=49423
阿里云: icon 26129685; https://www.iconfont.cn/collections/detail?cid=247353
猫眼电影: icon 9289626; https://www.iconfont.cn/collections/detail?cid=22830
浪潮: icon 40751916; https://www.iconfont.cn/collections/detail?cid=116586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svg"/><Relationship Id="rId4" Type="http://schemas.openxmlformats.org/officeDocument/2006/relationships/image" Target="../media/image-25-4.png"/><Relationship Id="rId5" Type="http://schemas.openxmlformats.org/officeDocument/2006/relationships/image" Target="../media/image-25-5.svg"/><Relationship Id="rId6" Type="http://schemas.openxmlformats.org/officeDocument/2006/relationships/image" Target="../media/image-25-6.png"/><Relationship Id="rId7" Type="http://schemas.openxmlformats.org/officeDocument/2006/relationships/image" Target="../media/image-25-7.svg"/><Relationship Id="rId8" Type="http://schemas.openxmlformats.org/officeDocument/2006/relationships/image" Target="../media/image-25-8.png"/><Relationship Id="rId9" Type="http://schemas.openxmlformats.org/officeDocument/2006/relationships/image" Target="../media/image-25-9.svg"/><Relationship Id="rId10" Type="http://schemas.openxmlformats.org/officeDocument/2006/relationships/image" Target="../media/image-25-10.png"/><Relationship Id="rId11" Type="http://schemas.openxmlformats.org/officeDocument/2006/relationships/image" Target="../media/image-25-11.svg"/><Relationship Id="rId12" Type="http://schemas.openxmlformats.org/officeDocument/2006/relationships/image" Target="../media/image-25-12.png"/><Relationship Id="rId13" Type="http://schemas.openxmlformats.org/officeDocument/2006/relationships/image" Target="../media/image-25-13.svg"/><Relationship Id="rId14" Type="http://schemas.openxmlformats.org/officeDocument/2006/relationships/image" Target="../media/image-25-14.png"/><Relationship Id="rId15" Type="http://schemas.openxmlformats.org/officeDocument/2006/relationships/image" Target="../media/image-25-15.svg"/><Relationship Id="rId16" Type="http://schemas.openxmlformats.org/officeDocument/2006/relationships/image" Target="../media/image-25-16.png"/><Relationship Id="rId17" Type="http://schemas.openxmlformats.org/officeDocument/2006/relationships/image" Target="../media/image-25-17.svg"/><Relationship Id="rId18" Type="http://schemas.openxmlformats.org/officeDocument/2006/relationships/image" Target="../media/image-25-18.png"/><Relationship Id="rId19" Type="http://schemas.openxmlformats.org/officeDocument/2006/relationships/image" Target="../media/image-25-19.svg"/><Relationship Id="rId20" Type="http://schemas.openxmlformats.org/officeDocument/2006/relationships/image" Target="../media/image-25-20.png"/><Relationship Id="rId21" Type="http://schemas.openxmlformats.org/officeDocument/2006/relationships/image" Target="../media/image-25-21.svg"/><Relationship Id="rId22" Type="http://schemas.openxmlformats.org/officeDocument/2006/relationships/image" Target="../media/image-25-22.png"/><Relationship Id="rId23" Type="http://schemas.openxmlformats.org/officeDocument/2006/relationships/image" Target="../media/image-25-23.svg"/><Relationship Id="rId24" Type="http://schemas.openxmlformats.org/officeDocument/2006/relationships/image" Target="../media/image-25-24.png"/><Relationship Id="rId25" Type="http://schemas.openxmlformats.org/officeDocument/2006/relationships/image" Target="../media/image-25-25.svg"/><Relationship Id="rId26" Type="http://schemas.openxmlformats.org/officeDocument/2006/relationships/image" Target="../media/image-25-26.png"/><Relationship Id="rId27" Type="http://schemas.openxmlformats.org/officeDocument/2006/relationships/image" Target="../media/image-25-27.svg"/><Relationship Id="rId28" Type="http://schemas.openxmlformats.org/officeDocument/2006/relationships/image" Target="../media/image-25-28.png"/><Relationship Id="rId29" Type="http://schemas.openxmlformats.org/officeDocument/2006/relationships/image" Target="../media/image-25-29.svg"/><Relationship Id="rId30" Type="http://schemas.openxmlformats.org/officeDocument/2006/relationships/image" Target="../media/image-25-30.png"/><Relationship Id="rId31" Type="http://schemas.openxmlformats.org/officeDocument/2006/relationships/image" Target="../media/image-25-31.svg"/><Relationship Id="rId32" Type="http://schemas.openxmlformats.org/officeDocument/2006/relationships/slideLayout" Target="../slideLayouts/slideLayout1.xml"/><Relationship Id="rId3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joozo/WySync/ObBidding/wiki/pptx/UMC/build/generated/backgrounds/slide-01.png">    </p:cNvPr>
          <p:cNvPicPr>
            <a:picLocks noChangeAspect="1"/>
          </p:cNvPicPr>
          <p:nvPr/>
        </p:nvPicPr>
        <p:blipFill>
          <a:blip r:embed="rId1"/>
          <a:stretch>
            <a:fillRect/>
          </a:stretch>
        </p:blipFill>
        <p:spPr>
          <a:xfrm>
            <a:off x="0" y="0"/>
            <a:ext cx="12192000" cy="6858000"/>
          </a:xfrm>
          <a:prstGeom prst="rect">
            <a:avLst/>
          </a:prstGeom>
        </p:spPr>
      </p:pic>
      <p:sp>
        <p:nvSpPr>
          <p:cNvPr id="3" name="Text 1: BUSINESS PRESENTATION"/>
          <p:cNvSpPr/>
          <p:nvPr/>
        </p:nvSpPr>
        <p:spPr>
          <a:xfrm>
            <a:off x="9048849" y="555625"/>
            <a:ext cx="2609751" cy="177800"/>
          </a:xfrm>
          <a:prstGeom prst="rect">
            <a:avLst/>
          </a:prstGeom>
          <a:noFill/>
          <a:ln/>
        </p:spPr>
        <p:txBody>
          <a:bodyPr wrap="none" lIns="0" tIns="0" rIns="0" bIns="0" rtlCol="0" anchor="ctr"/>
          <a:lstStyle/>
          <a:p>
            <a:pPr indent="0" marL="0">
              <a:buNone/>
            </a:pPr>
            <a:r>
              <a:rPr lang="zh-CN" altLang="en-US" sz="1050" spc="317" kern="0" dirty="0">
                <a:solidFill>
                  <a:srgbClr val="9FA5AF"/>
                </a:solidFill>
                <a:latin typeface="Arial" pitchFamily="34" charset="0"/>
                <a:ea typeface="Arial" pitchFamily="34" charset="-122"/>
                <a:cs typeface="Arial" pitchFamily="34" charset="-120"/>
              </a:rPr>
              <a:t>BUSINESS PRESENTATION</a:t>
            </a:r>
            <a:endParaRPr lang="zh-CN" sz="1050" dirty="0"/>
          </a:p>
        </p:txBody>
      </p:sp>
      <p:sp>
        <p:nvSpPr>
          <p:cNvPr id="4" name="Text 2: 业务介绍"/>
          <p:cNvSpPr/>
          <p:nvPr/>
        </p:nvSpPr>
        <p:spPr>
          <a:xfrm>
            <a:off x="609600" y="3691930"/>
            <a:ext cx="2514600" cy="685800"/>
          </a:xfrm>
          <a:prstGeom prst="rect">
            <a:avLst/>
          </a:prstGeom>
          <a:noFill/>
          <a:ln/>
        </p:spPr>
        <p:txBody>
          <a:bodyPr wrap="none" lIns="0" tIns="0" rIns="0" bIns="0" rtlCol="0" anchor="ctr"/>
          <a:lstStyle/>
          <a:p>
            <a:pPr indent="0" marL="0">
              <a:buNone/>
            </a:pPr>
            <a:r>
              <a:rPr lang="zh-CN" altLang="en-US" sz="4650" b="1" spc="200" kern="0" dirty="0">
                <a:solidFill>
                  <a:srgbClr val="FFFFFF"/>
                </a:solidFill>
                <a:latin typeface="Heiti SC" pitchFamily="34" charset="0"/>
                <a:ea typeface="Heiti SC" pitchFamily="34" charset="-122"/>
                <a:cs typeface="Heiti SC" pitchFamily="34" charset="-120"/>
              </a:rPr>
              <a:t>业务介绍</a:t>
            </a:r>
            <a:endParaRPr lang="zh-CN" sz="4650" dirty="0"/>
          </a:p>
        </p:txBody>
      </p:sp>
      <p:sp>
        <p:nvSpPr>
          <p:cNvPr id="5" name="Text 3: WEIWANG TONGLIAN · CLOUD COMMU"/>
          <p:cNvSpPr/>
          <p:nvPr/>
        </p:nvSpPr>
        <p:spPr>
          <a:xfrm>
            <a:off x="609600" y="4565650"/>
            <a:ext cx="5563592" cy="196850"/>
          </a:xfrm>
          <a:prstGeom prst="rect">
            <a:avLst/>
          </a:prstGeom>
          <a:noFill/>
          <a:ln/>
        </p:spPr>
        <p:txBody>
          <a:bodyPr wrap="none" lIns="0" tIns="0" rIns="0" bIns="0" rtlCol="0" anchor="ctr"/>
          <a:lstStyle/>
          <a:p>
            <a:pPr indent="0" marL="0">
              <a:buNone/>
            </a:pPr>
            <a:r>
              <a:rPr lang="zh-CN" altLang="en-US" sz="1125" spc="224" kern="0" dirty="0">
                <a:solidFill>
                  <a:srgbClr val="ACB0BC"/>
                </a:solidFill>
                <a:latin typeface="Arial" pitchFamily="34" charset="0"/>
                <a:ea typeface="Arial" pitchFamily="34" charset="-122"/>
                <a:cs typeface="Arial" pitchFamily="34" charset="-120"/>
              </a:rPr>
              <a:t>WEIWANG TONGLIAN · CLOUD COMMUNICATION PLATFORM</a:t>
            </a:r>
            <a:endParaRPr lang="zh-CN" sz="1125" dirty="0"/>
          </a:p>
        </p:txBody>
      </p:sp>
      <p:sp>
        <p:nvSpPr>
          <p:cNvPr id="6" name="Text 4: 行业领先的云通信平台及解决方案服务商"/>
          <p:cNvSpPr/>
          <p:nvPr/>
        </p:nvSpPr>
        <p:spPr>
          <a:xfrm>
            <a:off x="609600" y="5010150"/>
            <a:ext cx="4191000" cy="292100"/>
          </a:xfrm>
          <a:prstGeom prst="rect">
            <a:avLst/>
          </a:prstGeom>
          <a:noFill/>
          <a:ln/>
        </p:spPr>
        <p:txBody>
          <a:bodyPr wrap="none" lIns="0" tIns="0" rIns="0" bIns="0" rtlCol="0" anchor="ctr"/>
          <a:lstStyle/>
          <a:p>
            <a:pPr indent="0" marL="0">
              <a:buNone/>
            </a:pPr>
            <a:r>
              <a:rPr lang="zh-CN" altLang="en-US" sz="1800" b="1" dirty="0">
                <a:solidFill>
                  <a:srgbClr val="FFFFFF"/>
                </a:solidFill>
                <a:latin typeface="Heiti SC" pitchFamily="34" charset="0"/>
                <a:ea typeface="Heiti SC" pitchFamily="34" charset="-122"/>
                <a:cs typeface="Heiti SC" pitchFamily="34" charset="-120"/>
              </a:rPr>
              <a:t>行业领先的云通信平台及解决方案服务商</a:t>
            </a:r>
            <a:endParaRPr lang="zh-CN" sz="1800" dirty="0"/>
          </a:p>
        </p:txBody>
      </p:sp>
      <p:sp>
        <p:nvSpPr>
          <p:cNvPr id="7" name="Text 5: 国内短信"/>
          <p:cNvSpPr/>
          <p:nvPr/>
        </p:nvSpPr>
        <p:spPr>
          <a:xfrm>
            <a:off x="749300" y="5664200"/>
            <a:ext cx="609600" cy="171450"/>
          </a:xfrm>
          <a:prstGeom prst="rect">
            <a:avLst/>
          </a:prstGeom>
          <a:noFill/>
          <a:ln/>
        </p:spPr>
        <p:txBody>
          <a:bodyPr wrap="none" lIns="0" tIns="0" rIns="0" bIns="0" rtlCol="0" anchor="ctr"/>
          <a:lstStyle/>
          <a:p>
            <a:pPr indent="0" marL="0">
              <a:buNone/>
            </a:pPr>
            <a:r>
              <a:rPr lang="zh-CN" altLang="en-US" sz="975" spc="100" kern="0" dirty="0">
                <a:solidFill>
                  <a:srgbClr val="DCDFE4"/>
                </a:solidFill>
                <a:latin typeface="Heiti SC" pitchFamily="34" charset="0"/>
                <a:ea typeface="Heiti SC" pitchFamily="34" charset="-122"/>
                <a:cs typeface="Heiti SC" pitchFamily="34" charset="-120"/>
              </a:rPr>
              <a:t>国内短信</a:t>
            </a:r>
            <a:endParaRPr lang="zh-CN" sz="975" dirty="0"/>
          </a:p>
        </p:txBody>
      </p:sp>
      <p:sp>
        <p:nvSpPr>
          <p:cNvPr id="8" name="Text 6: 语音验证"/>
          <p:cNvSpPr/>
          <p:nvPr/>
        </p:nvSpPr>
        <p:spPr>
          <a:xfrm>
            <a:off x="1657350" y="5664200"/>
            <a:ext cx="609600" cy="171450"/>
          </a:xfrm>
          <a:prstGeom prst="rect">
            <a:avLst/>
          </a:prstGeom>
          <a:noFill/>
          <a:ln/>
        </p:spPr>
        <p:txBody>
          <a:bodyPr wrap="none" lIns="0" tIns="0" rIns="0" bIns="0" rtlCol="0" anchor="ctr"/>
          <a:lstStyle/>
          <a:p>
            <a:pPr indent="0" marL="0">
              <a:buNone/>
            </a:pPr>
            <a:r>
              <a:rPr lang="zh-CN" altLang="en-US" sz="975" spc="100" kern="0" dirty="0">
                <a:solidFill>
                  <a:srgbClr val="DCDFE3"/>
                </a:solidFill>
                <a:latin typeface="Heiti SC" pitchFamily="34" charset="0"/>
                <a:ea typeface="Heiti SC" pitchFamily="34" charset="-122"/>
                <a:cs typeface="Heiti SC" pitchFamily="34" charset="-120"/>
              </a:rPr>
              <a:t>语音验证</a:t>
            </a:r>
            <a:endParaRPr lang="zh-CN" sz="975" dirty="0"/>
          </a:p>
        </p:txBody>
      </p:sp>
      <p:sp>
        <p:nvSpPr>
          <p:cNvPr id="9" name="Text 7: 语音线路"/>
          <p:cNvSpPr/>
          <p:nvPr/>
        </p:nvSpPr>
        <p:spPr>
          <a:xfrm>
            <a:off x="2565400" y="5664200"/>
            <a:ext cx="609600" cy="171450"/>
          </a:xfrm>
          <a:prstGeom prst="rect">
            <a:avLst/>
          </a:prstGeom>
          <a:noFill/>
          <a:ln/>
        </p:spPr>
        <p:txBody>
          <a:bodyPr wrap="none" lIns="0" tIns="0" rIns="0" bIns="0" rtlCol="0" anchor="ctr"/>
          <a:lstStyle/>
          <a:p>
            <a:pPr indent="0" marL="0">
              <a:buNone/>
            </a:pPr>
            <a:r>
              <a:rPr lang="zh-CN" altLang="en-US" sz="975" spc="100" kern="0" dirty="0">
                <a:solidFill>
                  <a:srgbClr val="DDDFE3"/>
                </a:solidFill>
                <a:latin typeface="Heiti SC" pitchFamily="34" charset="0"/>
                <a:ea typeface="Heiti SC" pitchFamily="34" charset="-122"/>
                <a:cs typeface="Heiti SC" pitchFamily="34" charset="-120"/>
              </a:rPr>
              <a:t>语音线路</a:t>
            </a:r>
            <a:endParaRPr lang="zh-CN" sz="975" dirty="0"/>
          </a:p>
        </p:txBody>
      </p:sp>
      <p:sp>
        <p:nvSpPr>
          <p:cNvPr id="10" name="Text 8: 5G消息"/>
          <p:cNvSpPr/>
          <p:nvPr/>
        </p:nvSpPr>
        <p:spPr>
          <a:xfrm>
            <a:off x="3473450" y="5664200"/>
            <a:ext cx="531316" cy="171450"/>
          </a:xfrm>
          <a:prstGeom prst="rect">
            <a:avLst/>
          </a:prstGeom>
          <a:noFill/>
          <a:ln/>
        </p:spPr>
        <p:txBody>
          <a:bodyPr wrap="none" lIns="0" tIns="0" rIns="0" bIns="0" rtlCol="0" anchor="ctr"/>
          <a:lstStyle/>
          <a:p>
            <a:pPr indent="0" marL="0">
              <a:buNone/>
            </a:pPr>
            <a:r>
              <a:rPr lang="zh-CN" altLang="en-US" sz="975" spc="81" kern="0" dirty="0">
                <a:solidFill>
                  <a:srgbClr val="DDDFE4"/>
                </a:solidFill>
                <a:latin typeface="Heiti SC" pitchFamily="34" charset="0"/>
                <a:ea typeface="Heiti SC" pitchFamily="34" charset="-122"/>
                <a:cs typeface="Heiti SC" pitchFamily="34" charset="-120"/>
              </a:rPr>
              <a:t>5G消息</a:t>
            </a:r>
            <a:endParaRPr lang="zh-CN" sz="975" dirty="0"/>
          </a:p>
        </p:txBody>
      </p:sp>
      <p:sp>
        <p:nvSpPr>
          <p:cNvPr id="11" name="Text 9: 国际短信"/>
          <p:cNvSpPr/>
          <p:nvPr/>
        </p:nvSpPr>
        <p:spPr>
          <a:xfrm>
            <a:off x="4303216" y="5664200"/>
            <a:ext cx="609600" cy="171450"/>
          </a:xfrm>
          <a:prstGeom prst="rect">
            <a:avLst/>
          </a:prstGeom>
          <a:noFill/>
          <a:ln/>
        </p:spPr>
        <p:txBody>
          <a:bodyPr wrap="none" lIns="0" tIns="0" rIns="0" bIns="0" rtlCol="0" anchor="ctr"/>
          <a:lstStyle/>
          <a:p>
            <a:pPr indent="0" marL="0">
              <a:buNone/>
            </a:pPr>
            <a:r>
              <a:rPr lang="zh-CN" altLang="en-US" sz="975" spc="100" kern="0" dirty="0">
                <a:solidFill>
                  <a:srgbClr val="DDDFE3"/>
                </a:solidFill>
                <a:latin typeface="Heiti SC" pitchFamily="34" charset="0"/>
                <a:ea typeface="Heiti SC" pitchFamily="34" charset="-122"/>
                <a:cs typeface="Heiti SC" pitchFamily="34" charset="-120"/>
              </a:rPr>
              <a:t>国际短信</a:t>
            </a:r>
            <a:endParaRPr lang="zh-CN" sz="975" dirty="0"/>
          </a:p>
        </p:txBody>
      </p:sp>
      <p:sp>
        <p:nvSpPr>
          <p:cNvPr id="12" name="Text 10: 北京微网通联股份有限公司"/>
          <p:cNvSpPr/>
          <p:nvPr/>
        </p:nvSpPr>
        <p:spPr>
          <a:xfrm>
            <a:off x="609600" y="6229350"/>
            <a:ext cx="1790700" cy="177800"/>
          </a:xfrm>
          <a:prstGeom prst="rect">
            <a:avLst/>
          </a:prstGeom>
          <a:noFill/>
          <a:ln/>
        </p:spPr>
        <p:txBody>
          <a:bodyPr wrap="none" lIns="0" tIns="0" rIns="0" bIns="0" rtlCol="0" anchor="ctr"/>
          <a:lstStyle/>
          <a:p>
            <a:pPr indent="0" marL="0">
              <a:buNone/>
            </a:pPr>
            <a:r>
              <a:rPr lang="zh-CN" altLang="en-US" sz="1050" spc="82" kern="0" dirty="0">
                <a:solidFill>
                  <a:srgbClr val="9199A7"/>
                </a:solidFill>
                <a:latin typeface="Heiti SC" pitchFamily="34" charset="0"/>
                <a:ea typeface="Heiti SC" pitchFamily="34" charset="-122"/>
                <a:cs typeface="Heiti SC" pitchFamily="34" charset="-120"/>
              </a:rPr>
              <a:t>北京微网通联股份有限公司</a:t>
            </a:r>
            <a:endParaRPr lang="zh-CN"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joozo/WySync/ObBidding/wiki/pptx/UMC/build/generated/backgrounds/slide-02.png">    </p:cNvPr>
          <p:cNvPicPr>
            <a:picLocks noChangeAspect="1"/>
          </p:cNvPicPr>
          <p:nvPr/>
        </p:nvPicPr>
        <p:blipFill>
          <a:blip r:embed="rId1"/>
          <a:stretch>
            <a:fillRect/>
          </a:stretch>
        </p:blipFill>
        <p:spPr>
          <a:xfrm>
            <a:off x="0" y="0"/>
            <a:ext cx="12192000" cy="6858000"/>
          </a:xfrm>
          <a:prstGeom prst="rect">
            <a:avLst/>
          </a:prstGeom>
        </p:spPr>
      </p:pic>
      <p:sp>
        <p:nvSpPr>
          <p:cNvPr id="3" name="Text 1: 目录"/>
          <p:cNvSpPr/>
          <p:nvPr/>
        </p:nvSpPr>
        <p:spPr>
          <a:xfrm>
            <a:off x="457200" y="4599980"/>
            <a:ext cx="1181100" cy="596900"/>
          </a:xfrm>
          <a:prstGeom prst="rect">
            <a:avLst/>
          </a:prstGeom>
          <a:noFill/>
          <a:ln/>
        </p:spPr>
        <p:txBody>
          <a:bodyPr wrap="none" lIns="0" tIns="0" rIns="0" bIns="0" rtlCol="0" anchor="ctr"/>
          <a:lstStyle/>
          <a:p>
            <a:pPr indent="0" marL="0">
              <a:buNone/>
            </a:pPr>
            <a:r>
              <a:rPr lang="zh-CN" altLang="en-US" sz="4050" b="1" spc="600" kern="0" dirty="0">
                <a:solidFill>
                  <a:srgbClr val="FFFFFF"/>
                </a:solidFill>
                <a:latin typeface="Heiti SC" pitchFamily="34" charset="0"/>
                <a:ea typeface="Heiti SC" pitchFamily="34" charset="-122"/>
                <a:cs typeface="Heiti SC" pitchFamily="34" charset="-120"/>
              </a:rPr>
              <a:t>目录</a:t>
            </a:r>
            <a:endParaRPr lang="zh-CN" sz="4050" dirty="0"/>
          </a:p>
        </p:txBody>
      </p:sp>
      <p:sp>
        <p:nvSpPr>
          <p:cNvPr id="4" name="Text 2: CONTENTS"/>
          <p:cNvSpPr/>
          <p:nvPr/>
        </p:nvSpPr>
        <p:spPr>
          <a:xfrm>
            <a:off x="457200" y="5400080"/>
            <a:ext cx="1378942" cy="203200"/>
          </a:xfrm>
          <a:prstGeom prst="rect">
            <a:avLst/>
          </a:prstGeom>
          <a:noFill/>
          <a:ln/>
        </p:spPr>
        <p:txBody>
          <a:bodyPr wrap="none" lIns="0" tIns="0" rIns="0" bIns="0" rtlCol="0" anchor="ctr"/>
          <a:lstStyle/>
          <a:p>
            <a:pPr indent="0" marL="0">
              <a:buNone/>
            </a:pPr>
            <a:r>
              <a:rPr lang="zh-CN" altLang="en-US" sz="1200" spc="523" kern="0" dirty="0">
                <a:solidFill>
                  <a:srgbClr val="9EAAC0"/>
                </a:solidFill>
                <a:latin typeface="Arial" pitchFamily="34" charset="0"/>
                <a:ea typeface="Arial" pitchFamily="34" charset="-122"/>
                <a:cs typeface="Arial" pitchFamily="34" charset="-120"/>
              </a:rPr>
              <a:t>CONTENTS</a:t>
            </a:r>
            <a:endParaRPr lang="zh-CN" sz="1200" dirty="0"/>
          </a:p>
        </p:txBody>
      </p:sp>
      <p:sp>
        <p:nvSpPr>
          <p:cNvPr id="5" name="Text 3: 从公司实力、产品矩阵到客户背书，"/>
          <p:cNvSpPr/>
          <p:nvPr/>
        </p:nvSpPr>
        <p:spPr>
          <a:xfrm>
            <a:off x="457200" y="5876330"/>
            <a:ext cx="2209800" cy="177800"/>
          </a:xfrm>
          <a:prstGeom prst="rect">
            <a:avLst/>
          </a:prstGeom>
          <a:noFill/>
          <a:ln/>
        </p:spPr>
        <p:txBody>
          <a:bodyPr wrap="none" lIns="0" tIns="0" rIns="0" bIns="0" rtlCol="0" anchor="ctr"/>
          <a:lstStyle/>
          <a:p>
            <a:pPr indent="0" marL="0">
              <a:buNone/>
            </a:pPr>
            <a:r>
              <a:rPr lang="zh-CN" altLang="en-US" sz="1050" dirty="0">
                <a:solidFill>
                  <a:srgbClr val="93A0BA"/>
                </a:solidFill>
                <a:latin typeface="Heiti SC" pitchFamily="34" charset="0"/>
                <a:ea typeface="Heiti SC" pitchFamily="34" charset="-122"/>
                <a:cs typeface="Heiti SC" pitchFamily="34" charset="-120"/>
              </a:rPr>
              <a:t>从公司实力、产品矩阵到客户背书，</a:t>
            </a:r>
            <a:endParaRPr lang="zh-CN" sz="1050" dirty="0"/>
          </a:p>
        </p:txBody>
      </p:sp>
      <p:sp>
        <p:nvSpPr>
          <p:cNvPr id="6" name="Text 4: 完整呈现微网通联的云通信服务能力。"/>
          <p:cNvSpPr/>
          <p:nvPr/>
        </p:nvSpPr>
        <p:spPr>
          <a:xfrm>
            <a:off x="457200" y="6116340"/>
            <a:ext cx="2343150" cy="177800"/>
          </a:xfrm>
          <a:prstGeom prst="rect">
            <a:avLst/>
          </a:prstGeom>
          <a:noFill/>
          <a:ln/>
        </p:spPr>
        <p:txBody>
          <a:bodyPr wrap="none" lIns="0" tIns="0" rIns="0" bIns="0" rtlCol="0" anchor="ctr"/>
          <a:lstStyle/>
          <a:p>
            <a:pPr indent="0" marL="0">
              <a:buNone/>
            </a:pPr>
            <a:r>
              <a:rPr lang="zh-CN" altLang="en-US" sz="1050" dirty="0">
                <a:solidFill>
                  <a:srgbClr val="93A0B9"/>
                </a:solidFill>
                <a:latin typeface="Heiti SC" pitchFamily="34" charset="0"/>
                <a:ea typeface="Heiti SC" pitchFamily="34" charset="-122"/>
                <a:cs typeface="Heiti SC" pitchFamily="34" charset="-120"/>
              </a:rPr>
              <a:t>完整呈现微网通联的云通信服务能力。</a:t>
            </a:r>
            <a:endParaRPr lang="zh-CN" sz="1050" dirty="0"/>
          </a:p>
        </p:txBody>
      </p:sp>
      <p:sp>
        <p:nvSpPr>
          <p:cNvPr id="7" name="Text 5: 01"/>
          <p:cNvSpPr/>
          <p:nvPr/>
        </p:nvSpPr>
        <p:spPr>
          <a:xfrm>
            <a:off x="4762500" y="2013248"/>
            <a:ext cx="597991" cy="514350"/>
          </a:xfrm>
          <a:prstGeom prst="rect">
            <a:avLst/>
          </a:prstGeom>
          <a:noFill/>
          <a:ln/>
        </p:spPr>
        <p:txBody>
          <a:bodyPr wrap="none" lIns="0" tIns="0" rIns="0" bIns="0" rtlCol="0" anchor="ctr"/>
          <a:lstStyle/>
          <a:p>
            <a:pPr indent="0" marL="0">
              <a:buNone/>
            </a:pPr>
            <a:r>
              <a:rPr lang="zh-CN" altLang="en-US" sz="3450" b="1" spc="271" kern="0" dirty="0">
                <a:solidFill>
                  <a:srgbClr val="F02D4E"/>
                </a:solidFill>
                <a:latin typeface="Arial" pitchFamily="34" charset="0"/>
                <a:ea typeface="Arial" pitchFamily="34" charset="-122"/>
                <a:cs typeface="Arial" pitchFamily="34" charset="-120"/>
              </a:rPr>
              <a:t>01</a:t>
            </a:r>
            <a:endParaRPr lang="zh-CN" sz="3450" dirty="0"/>
          </a:p>
        </p:txBody>
      </p:sp>
      <p:sp>
        <p:nvSpPr>
          <p:cNvPr id="8" name="Text 6: 公司介绍"/>
          <p:cNvSpPr/>
          <p:nvPr/>
        </p:nvSpPr>
        <p:spPr>
          <a:xfrm>
            <a:off x="5829300" y="2006600"/>
            <a:ext cx="1066800" cy="304800"/>
          </a:xfrm>
          <a:prstGeom prst="rect">
            <a:avLst/>
          </a:prstGeom>
          <a:noFill/>
          <a:ln/>
        </p:spPr>
        <p:txBody>
          <a:bodyPr wrap="none" lIns="0" tIns="0" rIns="0" bIns="0" rtlCol="0" anchor="ctr"/>
          <a:lstStyle/>
          <a:p>
            <a:pPr indent="0" marL="0">
              <a:buNone/>
            </a:pPr>
            <a:r>
              <a:rPr lang="zh-CN" altLang="en-US" sz="1950" b="1" dirty="0">
                <a:solidFill>
                  <a:srgbClr val="0A1F44"/>
                </a:solidFill>
                <a:latin typeface="Heiti SC" pitchFamily="34" charset="0"/>
                <a:ea typeface="Heiti SC" pitchFamily="34" charset="-122"/>
                <a:cs typeface="Heiti SC" pitchFamily="34" charset="-120"/>
              </a:rPr>
              <a:t>公司介绍</a:t>
            </a:r>
            <a:endParaRPr lang="zh-CN" sz="1950" dirty="0"/>
          </a:p>
        </p:txBody>
      </p:sp>
      <p:sp>
        <p:nvSpPr>
          <p:cNvPr id="9" name="Text 7: ABOUT US"/>
          <p:cNvSpPr/>
          <p:nvPr/>
        </p:nvSpPr>
        <p:spPr>
          <a:xfrm>
            <a:off x="6953250" y="2114550"/>
            <a:ext cx="938609" cy="171450"/>
          </a:xfrm>
          <a:prstGeom prst="rect">
            <a:avLst/>
          </a:prstGeom>
          <a:noFill/>
          <a:ln/>
        </p:spPr>
        <p:txBody>
          <a:bodyPr wrap="none" lIns="0" tIns="0" rIns="0" bIns="0" rtlCol="0" anchor="ctr"/>
          <a:lstStyle/>
          <a:p>
            <a:pPr indent="0" marL="0">
              <a:buNone/>
            </a:pPr>
            <a:r>
              <a:rPr lang="zh-CN" altLang="en-US" sz="975" spc="258" kern="0" dirty="0">
                <a:solidFill>
                  <a:srgbClr val="8A94A6"/>
                </a:solidFill>
                <a:latin typeface="Arial" pitchFamily="34" charset="0"/>
                <a:ea typeface="Arial" pitchFamily="34" charset="-122"/>
                <a:cs typeface="Arial" pitchFamily="34" charset="-120"/>
              </a:rPr>
              <a:t>ABOUT US</a:t>
            </a:r>
            <a:endParaRPr lang="zh-CN" sz="975" dirty="0"/>
          </a:p>
        </p:txBody>
      </p:sp>
      <p:sp>
        <p:nvSpPr>
          <p:cNvPr id="10" name="Text 8: 定位 · 历程 · 荣誉资质 · 研发与规模"/>
          <p:cNvSpPr/>
          <p:nvPr/>
        </p:nvSpPr>
        <p:spPr>
          <a:xfrm>
            <a:off x="5829300" y="2387600"/>
            <a:ext cx="2110383" cy="177800"/>
          </a:xfrm>
          <a:prstGeom prst="rect">
            <a:avLst/>
          </a:prstGeom>
          <a:noFill/>
          <a:ln/>
        </p:spPr>
        <p:txBody>
          <a:bodyPr wrap="none" lIns="0" tIns="0" rIns="0" bIns="0" rtlCol="0" anchor="ctr"/>
          <a:lstStyle/>
          <a:p>
            <a:pPr indent="0" marL="0">
              <a:buNone/>
            </a:pPr>
            <a:r>
              <a:rPr lang="zh-CN" altLang="en-US" sz="1050" spc="-112" kern="0" dirty="0">
                <a:solidFill>
                  <a:srgbClr val="5A6B85"/>
                </a:solidFill>
                <a:latin typeface="Heiti SC" pitchFamily="34" charset="0"/>
                <a:ea typeface="Heiti SC" pitchFamily="34" charset="-122"/>
                <a:cs typeface="Heiti SC" pitchFamily="34" charset="-120"/>
              </a:rPr>
              <a:t>定位 · 历程 · 荣誉资质 · 研发与规模</a:t>
            </a:r>
            <a:endParaRPr lang="zh-CN" sz="1050" dirty="0"/>
          </a:p>
        </p:txBody>
      </p:sp>
      <p:sp>
        <p:nvSpPr>
          <p:cNvPr id="11" name="Text 9: 03 - 10"/>
          <p:cNvSpPr/>
          <p:nvPr/>
        </p:nvSpPr>
        <p:spPr>
          <a:xfrm>
            <a:off x="11031041" y="2184400"/>
            <a:ext cx="475159" cy="177800"/>
          </a:xfrm>
          <a:prstGeom prst="rect">
            <a:avLst/>
          </a:prstGeom>
          <a:noFill/>
          <a:ln/>
        </p:spPr>
        <p:txBody>
          <a:bodyPr wrap="none" lIns="0" tIns="0" rIns="0" bIns="0" rtlCol="0" anchor="ctr"/>
          <a:lstStyle/>
          <a:p>
            <a:pPr indent="0" marL="0">
              <a:buNone/>
            </a:pPr>
            <a:r>
              <a:rPr lang="zh-CN" altLang="en-US" sz="1050" spc="-21" kern="0" dirty="0">
                <a:solidFill>
                  <a:srgbClr val="8A94A6"/>
                </a:solidFill>
                <a:latin typeface="Arial" pitchFamily="34" charset="0"/>
                <a:ea typeface="Arial" pitchFamily="34" charset="-122"/>
                <a:cs typeface="Arial" pitchFamily="34" charset="-120"/>
              </a:rPr>
              <a:t>03 - 10</a:t>
            </a:r>
            <a:endParaRPr lang="zh-CN" sz="1050" dirty="0"/>
          </a:p>
        </p:txBody>
      </p:sp>
      <p:sp>
        <p:nvSpPr>
          <p:cNvPr id="12" name="Text 10: 02"/>
          <p:cNvSpPr/>
          <p:nvPr/>
        </p:nvSpPr>
        <p:spPr>
          <a:xfrm>
            <a:off x="4762500" y="3175298"/>
            <a:ext cx="597991" cy="514350"/>
          </a:xfrm>
          <a:prstGeom prst="rect">
            <a:avLst/>
          </a:prstGeom>
          <a:noFill/>
          <a:ln/>
        </p:spPr>
        <p:txBody>
          <a:bodyPr wrap="none" lIns="0" tIns="0" rIns="0" bIns="0" rtlCol="0" anchor="ctr"/>
          <a:lstStyle/>
          <a:p>
            <a:pPr indent="0" marL="0">
              <a:buNone/>
            </a:pPr>
            <a:r>
              <a:rPr lang="zh-CN" altLang="en-US" sz="3450" b="1" spc="271" kern="0" dirty="0">
                <a:solidFill>
                  <a:srgbClr val="F02D4E"/>
                </a:solidFill>
                <a:latin typeface="Arial" pitchFamily="34" charset="0"/>
                <a:ea typeface="Arial" pitchFamily="34" charset="-122"/>
                <a:cs typeface="Arial" pitchFamily="34" charset="-120"/>
              </a:rPr>
              <a:t>02</a:t>
            </a:r>
            <a:endParaRPr lang="zh-CN" sz="3450" dirty="0"/>
          </a:p>
        </p:txBody>
      </p:sp>
      <p:sp>
        <p:nvSpPr>
          <p:cNvPr id="13" name="Text 11: 业务介绍"/>
          <p:cNvSpPr/>
          <p:nvPr/>
        </p:nvSpPr>
        <p:spPr>
          <a:xfrm>
            <a:off x="5829300" y="3168650"/>
            <a:ext cx="1066800" cy="304800"/>
          </a:xfrm>
          <a:prstGeom prst="rect">
            <a:avLst/>
          </a:prstGeom>
          <a:noFill/>
          <a:ln/>
        </p:spPr>
        <p:txBody>
          <a:bodyPr wrap="none" lIns="0" tIns="0" rIns="0" bIns="0" rtlCol="0" anchor="ctr"/>
          <a:lstStyle/>
          <a:p>
            <a:pPr indent="0" marL="0">
              <a:buNone/>
            </a:pPr>
            <a:r>
              <a:rPr lang="zh-CN" altLang="en-US" sz="1950" b="1" dirty="0">
                <a:solidFill>
                  <a:srgbClr val="0A1F44"/>
                </a:solidFill>
                <a:latin typeface="Heiti SC" pitchFamily="34" charset="0"/>
                <a:ea typeface="Heiti SC" pitchFamily="34" charset="-122"/>
                <a:cs typeface="Heiti SC" pitchFamily="34" charset="-120"/>
              </a:rPr>
              <a:t>业务介绍</a:t>
            </a:r>
            <a:endParaRPr lang="zh-CN" sz="1950" dirty="0"/>
          </a:p>
        </p:txBody>
      </p:sp>
      <p:sp>
        <p:nvSpPr>
          <p:cNvPr id="14" name="Text 12: OUR BUSINESS"/>
          <p:cNvSpPr/>
          <p:nvPr/>
        </p:nvSpPr>
        <p:spPr>
          <a:xfrm>
            <a:off x="6953250" y="3276600"/>
            <a:ext cx="1358007" cy="171450"/>
          </a:xfrm>
          <a:prstGeom prst="rect">
            <a:avLst/>
          </a:prstGeom>
          <a:noFill/>
          <a:ln/>
        </p:spPr>
        <p:txBody>
          <a:bodyPr wrap="none" lIns="0" tIns="0" rIns="0" bIns="0" rtlCol="0" anchor="ctr"/>
          <a:lstStyle/>
          <a:p>
            <a:pPr indent="0" marL="0">
              <a:buNone/>
            </a:pPr>
            <a:r>
              <a:rPr lang="zh-CN" altLang="en-US" sz="975" spc="248" kern="0" dirty="0">
                <a:solidFill>
                  <a:srgbClr val="8A94A6"/>
                </a:solidFill>
                <a:latin typeface="Arial" pitchFamily="34" charset="0"/>
                <a:ea typeface="Arial" pitchFamily="34" charset="-122"/>
                <a:cs typeface="Arial" pitchFamily="34" charset="-120"/>
              </a:rPr>
              <a:t>OUR BUSINESS</a:t>
            </a:r>
            <a:endParaRPr lang="zh-CN" sz="975" dirty="0"/>
          </a:p>
        </p:txBody>
      </p:sp>
      <p:sp>
        <p:nvSpPr>
          <p:cNvPr id="15" name="Text 13: 产品矩阵 · GMP · 短信 · 语音 · 语音线路 · "/>
          <p:cNvSpPr/>
          <p:nvPr/>
        </p:nvSpPr>
        <p:spPr>
          <a:xfrm>
            <a:off x="5829300" y="3549650"/>
            <a:ext cx="2928144" cy="177800"/>
          </a:xfrm>
          <a:prstGeom prst="rect">
            <a:avLst/>
          </a:prstGeom>
          <a:noFill/>
          <a:ln/>
        </p:spPr>
        <p:txBody>
          <a:bodyPr wrap="none" lIns="0" tIns="0" rIns="0" bIns="0" rtlCol="0" anchor="ctr"/>
          <a:lstStyle/>
          <a:p>
            <a:pPr indent="0" marL="0">
              <a:buNone/>
            </a:pPr>
            <a:r>
              <a:rPr lang="zh-CN" altLang="en-US" sz="1050" spc="-125" kern="0" dirty="0">
                <a:solidFill>
                  <a:srgbClr val="5A6B85"/>
                </a:solidFill>
                <a:latin typeface="Heiti SC" pitchFamily="34" charset="0"/>
                <a:ea typeface="Heiti SC" pitchFamily="34" charset="-122"/>
                <a:cs typeface="Heiti SC" pitchFamily="34" charset="-120"/>
              </a:rPr>
              <a:t>产品矩阵 · GMP · 短信 · 语音 · 语音线路 · 5G消息</a:t>
            </a:r>
            <a:endParaRPr lang="zh-CN" sz="1050" dirty="0"/>
          </a:p>
        </p:txBody>
      </p:sp>
      <p:sp>
        <p:nvSpPr>
          <p:cNvPr id="16" name="Text 14: 11 - 22"/>
          <p:cNvSpPr/>
          <p:nvPr/>
        </p:nvSpPr>
        <p:spPr>
          <a:xfrm>
            <a:off x="11039376" y="3346450"/>
            <a:ext cx="466824" cy="177800"/>
          </a:xfrm>
          <a:prstGeom prst="rect">
            <a:avLst/>
          </a:prstGeom>
          <a:noFill/>
          <a:ln/>
        </p:spPr>
        <p:txBody>
          <a:bodyPr wrap="none" lIns="0" tIns="0" rIns="0" bIns="0" rtlCol="0" anchor="ctr"/>
          <a:lstStyle/>
          <a:p>
            <a:pPr indent="0" marL="0">
              <a:buNone/>
            </a:pPr>
            <a:r>
              <a:rPr lang="zh-CN" altLang="en-US" sz="1050" spc="-19" kern="0" dirty="0">
                <a:solidFill>
                  <a:srgbClr val="8A94A6"/>
                </a:solidFill>
                <a:latin typeface="Arial" pitchFamily="34" charset="0"/>
                <a:ea typeface="Arial" pitchFamily="34" charset="-122"/>
                <a:cs typeface="Arial" pitchFamily="34" charset="-120"/>
              </a:rPr>
              <a:t>11 - 22</a:t>
            </a:r>
            <a:endParaRPr lang="zh-CN" sz="1050" dirty="0"/>
          </a:p>
        </p:txBody>
      </p:sp>
      <p:sp>
        <p:nvSpPr>
          <p:cNvPr id="17" name="Text 15: 03"/>
          <p:cNvSpPr/>
          <p:nvPr/>
        </p:nvSpPr>
        <p:spPr>
          <a:xfrm>
            <a:off x="4762500" y="4337348"/>
            <a:ext cx="597991" cy="514350"/>
          </a:xfrm>
          <a:prstGeom prst="rect">
            <a:avLst/>
          </a:prstGeom>
          <a:noFill/>
          <a:ln/>
        </p:spPr>
        <p:txBody>
          <a:bodyPr wrap="none" lIns="0" tIns="0" rIns="0" bIns="0" rtlCol="0" anchor="ctr"/>
          <a:lstStyle/>
          <a:p>
            <a:pPr indent="0" marL="0">
              <a:buNone/>
            </a:pPr>
            <a:r>
              <a:rPr lang="zh-CN" altLang="en-US" sz="3450" b="1" spc="271" kern="0" dirty="0">
                <a:solidFill>
                  <a:srgbClr val="F02D4E"/>
                </a:solidFill>
                <a:latin typeface="Arial" pitchFamily="34" charset="0"/>
                <a:ea typeface="Arial" pitchFamily="34" charset="-122"/>
                <a:cs typeface="Arial" pitchFamily="34" charset="-120"/>
              </a:rPr>
              <a:t>03</a:t>
            </a:r>
            <a:endParaRPr lang="zh-CN" sz="3450" dirty="0"/>
          </a:p>
        </p:txBody>
      </p:sp>
      <p:sp>
        <p:nvSpPr>
          <p:cNvPr id="18" name="Text 16: 典型案例"/>
          <p:cNvSpPr/>
          <p:nvPr/>
        </p:nvSpPr>
        <p:spPr>
          <a:xfrm>
            <a:off x="5829300" y="4330700"/>
            <a:ext cx="1066800" cy="304800"/>
          </a:xfrm>
          <a:prstGeom prst="rect">
            <a:avLst/>
          </a:prstGeom>
          <a:noFill/>
          <a:ln/>
        </p:spPr>
        <p:txBody>
          <a:bodyPr wrap="none" lIns="0" tIns="0" rIns="0" bIns="0" rtlCol="0" anchor="ctr"/>
          <a:lstStyle/>
          <a:p>
            <a:pPr indent="0" marL="0">
              <a:buNone/>
            </a:pPr>
            <a:r>
              <a:rPr lang="zh-CN" altLang="en-US" sz="1950" b="1" dirty="0">
                <a:solidFill>
                  <a:srgbClr val="0A1F44"/>
                </a:solidFill>
                <a:latin typeface="Heiti SC" pitchFamily="34" charset="0"/>
                <a:ea typeface="Heiti SC" pitchFamily="34" charset="-122"/>
                <a:cs typeface="Heiti SC" pitchFamily="34" charset="-120"/>
              </a:rPr>
              <a:t>典型案例</a:t>
            </a:r>
            <a:endParaRPr lang="zh-CN" sz="1950" dirty="0"/>
          </a:p>
        </p:txBody>
      </p:sp>
      <p:sp>
        <p:nvSpPr>
          <p:cNvPr id="19" name="Text 17: TYPICAL CASES"/>
          <p:cNvSpPr/>
          <p:nvPr/>
        </p:nvSpPr>
        <p:spPr>
          <a:xfrm>
            <a:off x="6953250" y="4438650"/>
            <a:ext cx="1408708" cy="171450"/>
          </a:xfrm>
          <a:prstGeom prst="rect">
            <a:avLst/>
          </a:prstGeom>
          <a:noFill/>
          <a:ln/>
        </p:spPr>
        <p:txBody>
          <a:bodyPr wrap="none" lIns="0" tIns="0" rIns="0" bIns="0" rtlCol="0" anchor="ctr"/>
          <a:lstStyle/>
          <a:p>
            <a:pPr indent="0" marL="0">
              <a:buNone/>
            </a:pPr>
            <a:r>
              <a:rPr lang="zh-CN" altLang="en-US" sz="975" spc="238" kern="0" dirty="0">
                <a:solidFill>
                  <a:srgbClr val="8A94A6"/>
                </a:solidFill>
                <a:latin typeface="Arial" pitchFamily="34" charset="0"/>
                <a:ea typeface="Arial" pitchFamily="34" charset="-122"/>
                <a:cs typeface="Arial" pitchFamily="34" charset="-120"/>
              </a:rPr>
              <a:t>TYPICAL CASES</a:t>
            </a:r>
            <a:endParaRPr lang="zh-CN" sz="975" dirty="0"/>
          </a:p>
        </p:txBody>
      </p:sp>
      <p:sp>
        <p:nvSpPr>
          <p:cNvPr id="20" name="Text 18: 极致服务 · 标杆客户实践"/>
          <p:cNvSpPr/>
          <p:nvPr/>
        </p:nvSpPr>
        <p:spPr>
          <a:xfrm>
            <a:off x="5829300" y="4711700"/>
            <a:ext cx="1509911" cy="177800"/>
          </a:xfrm>
          <a:prstGeom prst="rect">
            <a:avLst/>
          </a:prstGeom>
          <a:noFill/>
          <a:ln/>
        </p:spPr>
        <p:txBody>
          <a:bodyPr wrap="none" lIns="0" tIns="0" rIns="0" bIns="0" rtlCol="0" anchor="ctr"/>
          <a:lstStyle/>
          <a:p>
            <a:pPr indent="0" marL="0">
              <a:buNone/>
            </a:pPr>
            <a:r>
              <a:rPr lang="zh-CN" altLang="en-US" sz="1050" spc="-65" kern="0" dirty="0">
                <a:solidFill>
                  <a:srgbClr val="5A6B85"/>
                </a:solidFill>
                <a:latin typeface="Heiti SC" pitchFamily="34" charset="0"/>
                <a:ea typeface="Heiti SC" pitchFamily="34" charset="-122"/>
                <a:cs typeface="Heiti SC" pitchFamily="34" charset="-120"/>
              </a:rPr>
              <a:t>极致服务 · 标杆客户实践</a:t>
            </a:r>
            <a:endParaRPr lang="zh-CN" sz="1050" dirty="0"/>
          </a:p>
        </p:txBody>
      </p:sp>
      <p:sp>
        <p:nvSpPr>
          <p:cNvPr id="21" name="Text 19: 23 - 25"/>
          <p:cNvSpPr/>
          <p:nvPr/>
        </p:nvSpPr>
        <p:spPr>
          <a:xfrm>
            <a:off x="11025882" y="4508500"/>
            <a:ext cx="480318" cy="177800"/>
          </a:xfrm>
          <a:prstGeom prst="rect">
            <a:avLst/>
          </a:prstGeom>
          <a:noFill/>
          <a:ln/>
        </p:spPr>
        <p:txBody>
          <a:bodyPr wrap="none" lIns="0" tIns="0" rIns="0" bIns="0" rtlCol="0" anchor="ctr"/>
          <a:lstStyle/>
          <a:p>
            <a:pPr indent="0" marL="0">
              <a:buNone/>
            </a:pPr>
            <a:r>
              <a:rPr lang="zh-CN" altLang="en-US" sz="1050" spc="-14" kern="0" dirty="0">
                <a:solidFill>
                  <a:srgbClr val="8A94A6"/>
                </a:solidFill>
                <a:latin typeface="Arial" pitchFamily="34" charset="0"/>
                <a:ea typeface="Arial" pitchFamily="34" charset="-122"/>
                <a:cs typeface="Arial" pitchFamily="34" charset="-120"/>
              </a:rPr>
              <a:t>23 - 25</a:t>
            </a:r>
            <a:endParaRPr lang="zh-CN" sz="1050" dirty="0"/>
          </a:p>
        </p:txBody>
      </p:sp>
      <p:sp>
        <p:nvSpPr>
          <p:cNvPr id="22" name="Text 20: 02 / 25"/>
          <p:cNvSpPr/>
          <p:nvPr/>
        </p:nvSpPr>
        <p:spPr>
          <a:xfrm>
            <a:off x="11678642" y="6591300"/>
            <a:ext cx="462558" cy="165100"/>
          </a:xfrm>
          <a:prstGeom prst="rect">
            <a:avLst/>
          </a:prstGeom>
          <a:noFill/>
          <a:ln/>
        </p:spPr>
        <p:txBody>
          <a:bodyPr wrap="none" lIns="0" tIns="0" rIns="0" bIns="0" rtlCol="0" anchor="ctr"/>
          <a:lstStyle/>
          <a:p>
            <a:pPr indent="0" marL="0">
              <a:buNone/>
            </a:pPr>
            <a:r>
              <a:rPr lang="zh-CN" altLang="en-US" sz="900" spc="48" kern="0" dirty="0">
                <a:solidFill>
                  <a:srgbClr val="8A94A6"/>
                </a:solidFill>
                <a:latin typeface="Arial" pitchFamily="34" charset="0"/>
                <a:ea typeface="Arial" pitchFamily="34" charset="-122"/>
                <a:cs typeface="Arial" pitchFamily="34" charset="-120"/>
              </a:rPr>
              <a:t>02 / 25</a:t>
            </a:r>
            <a:endParaRPr lang="zh-CN"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joozo/WySync/ObBidding/wiki/pptx/UMC/build/generated/backgrounds/slide-03.png">    </p:cNvPr>
          <p:cNvPicPr>
            <a:picLocks noChangeAspect="1"/>
          </p:cNvPicPr>
          <p:nvPr/>
        </p:nvPicPr>
        <p:blipFill>
          <a:blip r:embed="rId1"/>
          <a:stretch>
            <a:fillRect/>
          </a:stretch>
        </p:blipFill>
        <p:spPr>
          <a:xfrm>
            <a:off x="0" y="0"/>
            <a:ext cx="12192000" cy="6858000"/>
          </a:xfrm>
          <a:prstGeom prst="rect">
            <a:avLst/>
          </a:prstGeom>
        </p:spPr>
      </p:pic>
      <p:sp>
        <p:nvSpPr>
          <p:cNvPr id="3" name="Text 1: PART 01"/>
          <p:cNvSpPr/>
          <p:nvPr/>
        </p:nvSpPr>
        <p:spPr>
          <a:xfrm>
            <a:off x="10755511" y="611188"/>
            <a:ext cx="826889" cy="171450"/>
          </a:xfrm>
          <a:prstGeom prst="rect">
            <a:avLst/>
          </a:prstGeom>
          <a:noFill/>
          <a:ln/>
        </p:spPr>
        <p:txBody>
          <a:bodyPr wrap="none" lIns="0" tIns="0" rIns="0" bIns="0" rtlCol="0" anchor="ctr"/>
          <a:lstStyle/>
          <a:p>
            <a:pPr indent="0" marL="0">
              <a:buNone/>
            </a:pPr>
            <a:r>
              <a:rPr lang="zh-CN" altLang="en-US" sz="975" spc="341" kern="0" dirty="0">
                <a:solidFill>
                  <a:srgbClr val="82848C"/>
                </a:solidFill>
                <a:latin typeface="Arial" pitchFamily="34" charset="0"/>
                <a:ea typeface="Arial" pitchFamily="34" charset="-122"/>
                <a:cs typeface="Arial" pitchFamily="34" charset="-120"/>
              </a:rPr>
              <a:t>PART 01</a:t>
            </a:r>
            <a:endParaRPr lang="zh-CN" sz="975" dirty="0"/>
          </a:p>
        </p:txBody>
      </p:sp>
      <p:sp>
        <p:nvSpPr>
          <p:cNvPr id="4" name="Text 2: 01"/>
          <p:cNvSpPr/>
          <p:nvPr/>
        </p:nvSpPr>
        <p:spPr>
          <a:xfrm>
            <a:off x="685800" y="2597448"/>
            <a:ext cx="2458343" cy="2108200"/>
          </a:xfrm>
          <a:prstGeom prst="rect">
            <a:avLst/>
          </a:prstGeom>
          <a:noFill/>
          <a:ln/>
        </p:spPr>
        <p:txBody>
          <a:bodyPr wrap="none" lIns="0" tIns="0" rIns="0" bIns="0" rtlCol="0" anchor="ctr"/>
          <a:lstStyle/>
          <a:p>
            <a:pPr indent="0" marL="0">
              <a:buNone/>
            </a:pPr>
            <a:r>
              <a:rPr lang="zh-CN" altLang="en-US" sz="15000" b="1" spc="2072" kern="0" dirty="0">
                <a:solidFill>
                  <a:srgbClr val="2A3543"/>
                </a:solidFill>
                <a:latin typeface="Arial" pitchFamily="34" charset="0"/>
                <a:ea typeface="Arial" pitchFamily="34" charset="-122"/>
                <a:cs typeface="Arial" pitchFamily="34" charset="-120"/>
              </a:rPr>
              <a:t>01</a:t>
            </a:r>
            <a:endParaRPr lang="zh-CN" sz="15000" dirty="0"/>
          </a:p>
        </p:txBody>
      </p:sp>
      <p:sp>
        <p:nvSpPr>
          <p:cNvPr id="5" name="Text 3: 公司介绍"/>
          <p:cNvSpPr/>
          <p:nvPr/>
        </p:nvSpPr>
        <p:spPr>
          <a:xfrm>
            <a:off x="3525143" y="2676227"/>
            <a:ext cx="2362200" cy="622300"/>
          </a:xfrm>
          <a:prstGeom prst="rect">
            <a:avLst/>
          </a:prstGeom>
          <a:noFill/>
          <a:ln/>
        </p:spPr>
        <p:txBody>
          <a:bodyPr wrap="none" lIns="0" tIns="0" rIns="0" bIns="0" rtlCol="0" anchor="ctr"/>
          <a:lstStyle/>
          <a:p>
            <a:pPr indent="0" marL="0">
              <a:buNone/>
            </a:pPr>
            <a:r>
              <a:rPr lang="zh-CN" altLang="en-US" sz="4200" b="1" spc="400" kern="0" dirty="0">
                <a:solidFill>
                  <a:srgbClr val="FFFFFF"/>
                </a:solidFill>
                <a:latin typeface="Heiti SC" pitchFamily="34" charset="0"/>
                <a:ea typeface="Heiti SC" pitchFamily="34" charset="-122"/>
                <a:cs typeface="Heiti SC" pitchFamily="34" charset="-120"/>
              </a:rPr>
              <a:t>公司介绍</a:t>
            </a:r>
            <a:endParaRPr lang="zh-CN" sz="4200" dirty="0"/>
          </a:p>
        </p:txBody>
      </p:sp>
      <p:sp>
        <p:nvSpPr>
          <p:cNvPr id="6" name="Text 4: ABOUT US"/>
          <p:cNvSpPr/>
          <p:nvPr/>
        </p:nvSpPr>
        <p:spPr>
          <a:xfrm>
            <a:off x="3525143" y="3482677"/>
            <a:ext cx="1237258" cy="203200"/>
          </a:xfrm>
          <a:prstGeom prst="rect">
            <a:avLst/>
          </a:prstGeom>
          <a:noFill/>
          <a:ln/>
        </p:spPr>
        <p:txBody>
          <a:bodyPr wrap="none" lIns="0" tIns="0" rIns="0" bIns="0" rtlCol="0" anchor="ctr"/>
          <a:lstStyle/>
          <a:p>
            <a:pPr indent="0" marL="0">
              <a:buNone/>
            </a:pPr>
            <a:r>
              <a:rPr lang="zh-CN" altLang="en-US" sz="1200" spc="430" kern="0" dirty="0">
                <a:solidFill>
                  <a:srgbClr val="9DA2A8"/>
                </a:solidFill>
                <a:latin typeface="Arial" pitchFamily="34" charset="0"/>
                <a:ea typeface="Arial" pitchFamily="34" charset="-122"/>
                <a:cs typeface="Arial" pitchFamily="34" charset="-120"/>
              </a:rPr>
              <a:t>ABOUT US</a:t>
            </a:r>
            <a:endParaRPr lang="zh-CN" sz="1200" dirty="0"/>
          </a:p>
        </p:txBody>
      </p:sp>
      <p:sp>
        <p:nvSpPr>
          <p:cNvPr id="7" name="Text 5: 定位与业务 · 发展历程 · 荣誉资质"/>
          <p:cNvSpPr/>
          <p:nvPr/>
        </p:nvSpPr>
        <p:spPr>
          <a:xfrm>
            <a:off x="3525143" y="3920827"/>
            <a:ext cx="2010172" cy="177800"/>
          </a:xfrm>
          <a:prstGeom prst="rect">
            <a:avLst/>
          </a:prstGeom>
          <a:noFill/>
          <a:ln/>
        </p:spPr>
        <p:txBody>
          <a:bodyPr wrap="none" lIns="0" tIns="0" rIns="0" bIns="0" rtlCol="0" anchor="ctr"/>
          <a:lstStyle/>
          <a:p>
            <a:pPr indent="0" marL="0">
              <a:buNone/>
            </a:pPr>
            <a:r>
              <a:rPr lang="zh-CN" altLang="en-US" sz="1050" spc="-87" kern="0" dirty="0">
                <a:solidFill>
                  <a:srgbClr val="848991"/>
                </a:solidFill>
                <a:latin typeface="Heiti SC" pitchFamily="34" charset="0"/>
                <a:ea typeface="Heiti SC" pitchFamily="34" charset="-122"/>
                <a:cs typeface="Heiti SC" pitchFamily="34" charset="-120"/>
              </a:rPr>
              <a:t>定位与业务 · 发展历程 · 荣誉资质</a:t>
            </a:r>
            <a:endParaRPr lang="zh-CN" sz="1050" dirty="0"/>
          </a:p>
        </p:txBody>
      </p:sp>
      <p:sp>
        <p:nvSpPr>
          <p:cNvPr id="8" name="Text 6: 服务网络 · 研发能力 · 业务规模"/>
          <p:cNvSpPr/>
          <p:nvPr/>
        </p:nvSpPr>
        <p:spPr>
          <a:xfrm>
            <a:off x="3525143" y="4160838"/>
            <a:ext cx="1876822" cy="177800"/>
          </a:xfrm>
          <a:prstGeom prst="rect">
            <a:avLst/>
          </a:prstGeom>
          <a:noFill/>
          <a:ln/>
        </p:spPr>
        <p:txBody>
          <a:bodyPr wrap="none" lIns="0" tIns="0" rIns="0" bIns="0" rtlCol="0" anchor="ctr"/>
          <a:lstStyle/>
          <a:p>
            <a:pPr indent="0" marL="0">
              <a:buNone/>
            </a:pPr>
            <a:r>
              <a:rPr lang="zh-CN" altLang="en-US" sz="1050" spc="-92" kern="0" dirty="0">
                <a:solidFill>
                  <a:srgbClr val="848990"/>
                </a:solidFill>
                <a:latin typeface="Heiti SC" pitchFamily="34" charset="0"/>
                <a:ea typeface="Heiti SC" pitchFamily="34" charset="-122"/>
                <a:cs typeface="Heiti SC" pitchFamily="34" charset="-120"/>
              </a:rPr>
              <a:t>服务网络 · 研发能力 · 业务规模</a:t>
            </a:r>
            <a:endParaRPr lang="zh-CN" sz="1050" dirty="0"/>
          </a:p>
        </p:txBody>
      </p:sp>
      <p:sp>
        <p:nvSpPr>
          <p:cNvPr id="9" name="Text 7: 03 / 25"/>
          <p:cNvSpPr/>
          <p:nvPr/>
        </p:nvSpPr>
        <p:spPr>
          <a:xfrm>
            <a:off x="11677948" y="6591300"/>
            <a:ext cx="463252" cy="165100"/>
          </a:xfrm>
          <a:prstGeom prst="rect">
            <a:avLst/>
          </a:prstGeom>
          <a:noFill/>
          <a:ln/>
        </p:spPr>
        <p:txBody>
          <a:bodyPr wrap="none" lIns="0" tIns="0" rIns="0" bIns="0" rtlCol="0" anchor="ctr"/>
          <a:lstStyle/>
          <a:p>
            <a:pPr indent="0" marL="0">
              <a:buNone/>
            </a:pPr>
            <a:r>
              <a:rPr lang="zh-CN" altLang="en-US" sz="900" spc="49" kern="0" dirty="0">
                <a:solidFill>
                  <a:srgbClr val="837C83"/>
                </a:solidFill>
                <a:latin typeface="Arial" pitchFamily="34" charset="0"/>
                <a:ea typeface="Arial" pitchFamily="34" charset="-122"/>
                <a:cs typeface="Arial" pitchFamily="34" charset="-120"/>
              </a:rPr>
              <a:t>03 / 25</a:t>
            </a:r>
            <a:endParaRPr lang="zh-CN"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joozo/WySync/ObBidding/wiki/pptx/UMC/build/generated/backgrounds/slide-04.png">    </p:cNvPr>
          <p:cNvPicPr>
            <a:picLocks noChangeAspect="1"/>
          </p:cNvPicPr>
          <p:nvPr/>
        </p:nvPicPr>
        <p:blipFill>
          <a:blip r:embed="rId1"/>
          <a:stretch>
            <a:fillRect/>
          </a:stretch>
        </p:blipFill>
        <p:spPr>
          <a:xfrm>
            <a:off x="0" y="0"/>
            <a:ext cx="12192000" cy="6858000"/>
          </a:xfrm>
          <a:prstGeom prst="rect">
            <a:avLst/>
          </a:prstGeom>
        </p:spPr>
      </p:pic>
      <p:sp>
        <p:nvSpPr>
          <p:cNvPr id="3" name="Text 1: 01 · 公司简介"/>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01 · 公司简介</a:t>
            </a:r>
            <a:endParaRPr lang="zh-CN" sz="1000" dirty="0"/>
          </a:p>
        </p:txBody>
      </p:sp>
      <p:sp>
        <p:nvSpPr>
          <p:cNvPr id="4" name="Text 2: 关于微网通联"/>
          <p:cNvSpPr/>
          <p:nvPr/>
        </p:nvSpPr>
        <p:spPr>
          <a:xfrm>
            <a:off x="609600" y="546100"/>
            <a:ext cx="1809750" cy="349250"/>
          </a:xfrm>
          <a:prstGeom prst="rect">
            <a:avLst/>
          </a:prstGeom>
          <a:noFill/>
          <a:ln/>
        </p:spPr>
        <p:txBody>
          <a:bodyPr wrap="none" lIns="0" tIns="0" rIns="0" bIns="0" rtlCol="0" anchor="ctr"/>
          <a:lstStyle/>
          <a:p>
            <a:pPr indent="0" marL="0">
              <a:buNone/>
            </a:pPr>
            <a:r>
              <a:rPr lang="zh-CN" altLang="en-US" sz="2250" b="1" spc="30" kern="0" dirty="0">
                <a:solidFill>
                  <a:srgbClr val="0A1F44"/>
                </a:solidFill>
                <a:latin typeface="Heiti SC" pitchFamily="34" charset="0"/>
                <a:ea typeface="Heiti SC" pitchFamily="34" charset="-122"/>
                <a:cs typeface="Heiti SC" pitchFamily="34" charset="-120"/>
              </a:rPr>
              <a:t>关于微网通联</a:t>
            </a:r>
            <a:endParaRPr lang="zh-CN" sz="2250" dirty="0"/>
          </a:p>
        </p:txBody>
      </p:sp>
      <p:sp>
        <p:nvSpPr>
          <p:cNvPr id="5" name="Text 3: 公司定位"/>
          <p:cNvSpPr/>
          <p:nvPr/>
        </p:nvSpPr>
        <p:spPr>
          <a:xfrm>
            <a:off x="609600" y="1808063"/>
            <a:ext cx="723900" cy="209550"/>
          </a:xfrm>
          <a:prstGeom prst="rect">
            <a:avLst/>
          </a:prstGeom>
          <a:noFill/>
          <a:ln/>
        </p:spPr>
        <p:txBody>
          <a:bodyPr wrap="none" lIns="0" tIns="0" rIns="0" bIns="0" rtlCol="0" anchor="ctr"/>
          <a:lstStyle/>
          <a:p>
            <a:pPr indent="0" marL="0">
              <a:buNone/>
            </a:pPr>
            <a:r>
              <a:rPr lang="zh-CN" altLang="en-US" sz="1275" b="1" dirty="0">
                <a:solidFill>
                  <a:srgbClr val="0A1F44"/>
                </a:solidFill>
                <a:latin typeface="Heiti SC" pitchFamily="34" charset="0"/>
                <a:ea typeface="Heiti SC" pitchFamily="34" charset="-122"/>
                <a:cs typeface="Heiti SC" pitchFamily="34" charset="-120"/>
              </a:rPr>
              <a:t>公司定位</a:t>
            </a:r>
            <a:endParaRPr lang="zh-CN" sz="1275" dirty="0"/>
          </a:p>
        </p:txBody>
      </p:sp>
      <p:sp>
        <p:nvSpPr>
          <p:cNvPr id="6" name="Text 4: 北京微网通联股份有限公司（简称「微网通联」）是"/>
          <p:cNvSpPr/>
          <p:nvPr/>
        </p:nvSpPr>
        <p:spPr>
          <a:xfrm>
            <a:off x="609600" y="2119213"/>
            <a:ext cx="3290887" cy="196850"/>
          </a:xfrm>
          <a:prstGeom prst="rect">
            <a:avLst/>
          </a:prstGeom>
          <a:noFill/>
          <a:ln/>
        </p:spPr>
        <p:txBody>
          <a:bodyPr wrap="none" lIns="0" tIns="0" rIns="0" bIns="0" rtlCol="0" anchor="ctr"/>
          <a:lstStyle/>
          <a:p>
            <a:pPr indent="0" marL="0">
              <a:buNone/>
            </a:pPr>
            <a:r>
              <a:rPr lang="zh-CN" altLang="en-US" sz="1125" spc="-26" kern="0" dirty="0">
                <a:solidFill>
                  <a:srgbClr val="3A4A66"/>
                </a:solidFill>
                <a:latin typeface="Heiti SC" pitchFamily="34" charset="0"/>
                <a:ea typeface="Heiti SC" pitchFamily="34" charset="-122"/>
                <a:cs typeface="Heiti SC" pitchFamily="34" charset="-120"/>
              </a:rPr>
              <a:t>北京微网通联股份有限公司（简称「微网通联」）是</a:t>
            </a:r>
            <a:endParaRPr lang="zh-CN" sz="1125" dirty="0"/>
          </a:p>
        </p:txBody>
      </p:sp>
      <p:sp>
        <p:nvSpPr>
          <p:cNvPr id="7" name="Text 5: 行业领先的云通信平台及解决方案服务商"/>
          <p:cNvSpPr/>
          <p:nvPr/>
        </p:nvSpPr>
        <p:spPr>
          <a:xfrm>
            <a:off x="3824287" y="2119213"/>
            <a:ext cx="2647950" cy="196850"/>
          </a:xfrm>
          <a:prstGeom prst="rect">
            <a:avLst/>
          </a:prstGeom>
          <a:noFill/>
          <a:ln/>
        </p:spPr>
        <p:txBody>
          <a:bodyPr wrap="none" lIns="0" tIns="0" rIns="0" bIns="0" rtlCol="0" anchor="ctr"/>
          <a:lstStyle/>
          <a:p>
            <a:pPr indent="0" marL="0">
              <a:buNone/>
            </a:pPr>
            <a:r>
              <a:rPr lang="zh-CN" altLang="en-US" sz="1125" b="1" dirty="0">
                <a:solidFill>
                  <a:srgbClr val="0A1F44"/>
                </a:solidFill>
                <a:latin typeface="Heiti SC" pitchFamily="34" charset="0"/>
                <a:ea typeface="Heiti SC" pitchFamily="34" charset="-122"/>
                <a:cs typeface="Heiti SC" pitchFamily="34" charset="-120"/>
              </a:rPr>
              <a:t>行业领先的云通信平台及解决方案服务商</a:t>
            </a:r>
            <a:endParaRPr lang="zh-CN" sz="1125" dirty="0"/>
          </a:p>
        </p:txBody>
      </p:sp>
      <p:sp>
        <p:nvSpPr>
          <p:cNvPr id="8" name="Text 6: 之"/>
          <p:cNvSpPr/>
          <p:nvPr/>
        </p:nvSpPr>
        <p:spPr>
          <a:xfrm>
            <a:off x="6396037" y="2119213"/>
            <a:ext cx="219075" cy="196850"/>
          </a:xfrm>
          <a:prstGeom prst="rect">
            <a:avLst/>
          </a:prstGeom>
          <a:noFill/>
          <a:ln/>
        </p:spPr>
        <p:txBody>
          <a:bodyPr wrap="none" lIns="0" tIns="0" rIns="0" bIns="0" rtlCol="0" anchor="ctr"/>
          <a:lstStyle/>
          <a:p>
            <a:pPr indent="0" marL="0">
              <a:buNone/>
            </a:pPr>
            <a:r>
              <a:rPr lang="zh-CN" altLang="en-US" sz="1125" dirty="0">
                <a:solidFill>
                  <a:srgbClr val="3A4A66"/>
                </a:solidFill>
                <a:latin typeface="Heiti SC" pitchFamily="34" charset="0"/>
                <a:ea typeface="Heiti SC" pitchFamily="34" charset="-122"/>
                <a:cs typeface="Heiti SC" pitchFamily="34" charset="-120"/>
              </a:rPr>
              <a:t>之</a:t>
            </a:r>
            <a:endParaRPr lang="zh-CN" sz="1125" dirty="0"/>
          </a:p>
        </p:txBody>
      </p:sp>
      <p:sp>
        <p:nvSpPr>
          <p:cNvPr id="9" name="Text 7: 一，以云通信平台为根基，为企业提供云通信产品与解决方案。"/>
          <p:cNvSpPr/>
          <p:nvPr/>
        </p:nvSpPr>
        <p:spPr>
          <a:xfrm>
            <a:off x="609600" y="2362101"/>
            <a:ext cx="4076700" cy="196850"/>
          </a:xfrm>
          <a:prstGeom prst="rect">
            <a:avLst/>
          </a:prstGeom>
          <a:noFill/>
          <a:ln/>
        </p:spPr>
        <p:txBody>
          <a:bodyPr wrap="none" lIns="0" tIns="0" rIns="0" bIns="0" rtlCol="0" anchor="ctr"/>
          <a:lstStyle/>
          <a:p>
            <a:pPr indent="0" marL="0">
              <a:buNone/>
            </a:pPr>
            <a:r>
              <a:rPr lang="zh-CN" altLang="en-US" sz="1125" dirty="0">
                <a:solidFill>
                  <a:srgbClr val="3A4A66"/>
                </a:solidFill>
                <a:latin typeface="Heiti SC" pitchFamily="34" charset="0"/>
                <a:ea typeface="Heiti SC" pitchFamily="34" charset="-122"/>
                <a:cs typeface="Heiti SC" pitchFamily="34" charset="-120"/>
              </a:rPr>
              <a:t>一，以云通信平台为根基，为企业提供云通信产品与解决方案。</a:t>
            </a:r>
            <a:endParaRPr lang="zh-CN" sz="1125" dirty="0"/>
          </a:p>
        </p:txBody>
      </p:sp>
      <p:sp>
        <p:nvSpPr>
          <p:cNvPr id="10" name="Text 8: 云通信业务"/>
          <p:cNvSpPr/>
          <p:nvPr/>
        </p:nvSpPr>
        <p:spPr>
          <a:xfrm>
            <a:off x="1104900" y="2935188"/>
            <a:ext cx="8382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云通信业务</a:t>
            </a:r>
            <a:endParaRPr lang="zh-CN" sz="1200" dirty="0"/>
          </a:p>
        </p:txBody>
      </p:sp>
      <p:sp>
        <p:nvSpPr>
          <p:cNvPr id="11" name="Text 9: 构建涵盖 UMC 云通信平台与 GMP 聚合消息服务平台于一"/>
          <p:cNvSpPr/>
          <p:nvPr/>
        </p:nvSpPr>
        <p:spPr>
          <a:xfrm>
            <a:off x="800100" y="3233638"/>
            <a:ext cx="5496520" cy="171450"/>
          </a:xfrm>
          <a:prstGeom prst="rect">
            <a:avLst/>
          </a:prstGeom>
          <a:noFill/>
          <a:ln/>
        </p:spPr>
        <p:txBody>
          <a:bodyPr wrap="none" lIns="0" tIns="0" rIns="0" bIns="0" rtlCol="0" anchor="ctr"/>
          <a:lstStyle/>
          <a:p>
            <a:pPr indent="0" marL="0">
              <a:buNone/>
            </a:pPr>
            <a:r>
              <a:rPr lang="zh-CN" altLang="en-US" sz="975" spc="-9" kern="0" dirty="0">
                <a:solidFill>
                  <a:srgbClr val="5A6B85"/>
                </a:solidFill>
                <a:latin typeface="Heiti SC" pitchFamily="34" charset="0"/>
                <a:ea typeface="Heiti SC" pitchFamily="34" charset="-122"/>
                <a:cs typeface="Heiti SC" pitchFamily="34" charset="-120"/>
              </a:rPr>
              <a:t>构建涵盖 UMC 云通信平台与 GMP 聚合消息服务平台于一体的政企服务生态，提供国内短信、5G消</a:t>
            </a:r>
            <a:endParaRPr lang="zh-CN" sz="975" dirty="0"/>
          </a:p>
        </p:txBody>
      </p:sp>
      <p:sp>
        <p:nvSpPr>
          <p:cNvPr id="12" name="Text 10: 息、国际短信及其他号码服务。"/>
          <p:cNvSpPr/>
          <p:nvPr/>
        </p:nvSpPr>
        <p:spPr>
          <a:xfrm>
            <a:off x="800100" y="3444081"/>
            <a:ext cx="1809750"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息、国际短信及其他号码服务。</a:t>
            </a:r>
            <a:endParaRPr lang="zh-CN" sz="975" dirty="0"/>
          </a:p>
        </p:txBody>
      </p:sp>
      <p:sp>
        <p:nvSpPr>
          <p:cNvPr id="13" name="Text 11: 服务网络与资质"/>
          <p:cNvSpPr/>
          <p:nvPr/>
        </p:nvSpPr>
        <p:spPr>
          <a:xfrm>
            <a:off x="609600" y="3991074"/>
            <a:ext cx="1209675" cy="209550"/>
          </a:xfrm>
          <a:prstGeom prst="rect">
            <a:avLst/>
          </a:prstGeom>
          <a:noFill/>
          <a:ln/>
        </p:spPr>
        <p:txBody>
          <a:bodyPr wrap="none" lIns="0" tIns="0" rIns="0" bIns="0" rtlCol="0" anchor="ctr"/>
          <a:lstStyle/>
          <a:p>
            <a:pPr indent="0" marL="0">
              <a:buNone/>
            </a:pPr>
            <a:r>
              <a:rPr lang="zh-CN" altLang="en-US" sz="1275" b="1" dirty="0">
                <a:solidFill>
                  <a:srgbClr val="0A1F44"/>
                </a:solidFill>
                <a:latin typeface="Heiti SC" pitchFamily="34" charset="0"/>
                <a:ea typeface="Heiti SC" pitchFamily="34" charset="-122"/>
                <a:cs typeface="Heiti SC" pitchFamily="34" charset="-120"/>
              </a:rPr>
              <a:t>服务网络与资质</a:t>
            </a:r>
            <a:endParaRPr lang="zh-CN" sz="1275" dirty="0"/>
          </a:p>
        </p:txBody>
      </p:sp>
      <p:sp>
        <p:nvSpPr>
          <p:cNvPr id="14" name="Text 12: 公司自成立以来，已建立覆盖全国的客户服务网络，在北京、上海、"/>
          <p:cNvSpPr/>
          <p:nvPr/>
        </p:nvSpPr>
        <p:spPr>
          <a:xfrm>
            <a:off x="609600" y="4302224"/>
            <a:ext cx="6076950" cy="196850"/>
          </a:xfrm>
          <a:prstGeom prst="rect">
            <a:avLst/>
          </a:prstGeom>
          <a:noFill/>
          <a:ln/>
        </p:spPr>
        <p:txBody>
          <a:bodyPr wrap="none" lIns="0" tIns="0" rIns="0" bIns="0" rtlCol="0" anchor="ctr"/>
          <a:lstStyle/>
          <a:p>
            <a:pPr indent="0" marL="0">
              <a:buNone/>
            </a:pPr>
            <a:r>
              <a:rPr lang="zh-CN" altLang="en-US" sz="1125" dirty="0">
                <a:solidFill>
                  <a:srgbClr val="3A4A66"/>
                </a:solidFill>
                <a:latin typeface="Heiti SC" pitchFamily="34" charset="0"/>
                <a:ea typeface="Heiti SC" pitchFamily="34" charset="-122"/>
                <a:cs typeface="Heiti SC" pitchFamily="34" charset="-120"/>
              </a:rPr>
              <a:t>公司自成立以来，已建立覆盖全国的客户服务网络，在北京、上海、山东、深圳、成都、长沙设</a:t>
            </a:r>
            <a:endParaRPr lang="zh-CN" sz="1125" dirty="0"/>
          </a:p>
        </p:txBody>
      </p:sp>
      <p:sp>
        <p:nvSpPr>
          <p:cNvPr id="15" name="Text 13: 有客户服务团队。以资源整合为驱动力、平台运营能力和「极致服务"/>
          <p:cNvSpPr/>
          <p:nvPr/>
        </p:nvSpPr>
        <p:spPr>
          <a:xfrm>
            <a:off x="609600" y="4545112"/>
            <a:ext cx="6076950" cy="196850"/>
          </a:xfrm>
          <a:prstGeom prst="rect">
            <a:avLst/>
          </a:prstGeom>
          <a:noFill/>
          <a:ln/>
        </p:spPr>
        <p:txBody>
          <a:bodyPr wrap="none" lIns="0" tIns="0" rIns="0" bIns="0" rtlCol="0" anchor="ctr"/>
          <a:lstStyle/>
          <a:p>
            <a:pPr indent="0" marL="0">
              <a:buNone/>
            </a:pPr>
            <a:r>
              <a:rPr lang="zh-CN" altLang="en-US" sz="1125" dirty="0">
                <a:solidFill>
                  <a:srgbClr val="3A4A66"/>
                </a:solidFill>
                <a:latin typeface="Heiti SC" pitchFamily="34" charset="0"/>
                <a:ea typeface="Heiti SC" pitchFamily="34" charset="-122"/>
                <a:cs typeface="Heiti SC" pitchFamily="34" charset="-120"/>
              </a:rPr>
              <a:t>有客户服务团队。以资源整合为驱动力、平台运营能力和「极致服务」理念等综合竞争力，荣获</a:t>
            </a:r>
            <a:endParaRPr lang="zh-CN" sz="1125" dirty="0"/>
          </a:p>
        </p:txBody>
      </p:sp>
      <p:sp>
        <p:nvSpPr>
          <p:cNvPr id="16" name="Text 14: 互联网信用评价中心最高等级 3A 认证等多项殊荣。"/>
          <p:cNvSpPr/>
          <p:nvPr/>
        </p:nvSpPr>
        <p:spPr>
          <a:xfrm>
            <a:off x="609600" y="4787999"/>
            <a:ext cx="3315692" cy="196850"/>
          </a:xfrm>
          <a:prstGeom prst="rect">
            <a:avLst/>
          </a:prstGeom>
          <a:noFill/>
          <a:ln/>
        </p:spPr>
        <p:txBody>
          <a:bodyPr wrap="none" lIns="0" tIns="0" rIns="0" bIns="0" rtlCol="0" anchor="ctr"/>
          <a:lstStyle/>
          <a:p>
            <a:pPr indent="0" marL="0">
              <a:buNone/>
            </a:pPr>
            <a:r>
              <a:rPr lang="zh-CN" altLang="en-US" sz="1125" spc="-6" kern="0" dirty="0">
                <a:solidFill>
                  <a:srgbClr val="3A4A66"/>
                </a:solidFill>
                <a:latin typeface="Heiti SC" pitchFamily="34" charset="0"/>
                <a:ea typeface="Heiti SC" pitchFamily="34" charset="-122"/>
                <a:cs typeface="Heiti SC" pitchFamily="34" charset="-120"/>
              </a:rPr>
              <a:t>互联网信用评价中心最高等级 3A 认证等多项殊荣。</a:t>
            </a:r>
            <a:endParaRPr lang="zh-CN" sz="1125" dirty="0"/>
          </a:p>
        </p:txBody>
      </p:sp>
      <p:sp>
        <p:nvSpPr>
          <p:cNvPr id="17" name="Text 15: LISTED COMPANY"/>
          <p:cNvSpPr/>
          <p:nvPr/>
        </p:nvSpPr>
        <p:spPr>
          <a:xfrm>
            <a:off x="7269460" y="1346200"/>
            <a:ext cx="1560116" cy="171450"/>
          </a:xfrm>
          <a:prstGeom prst="rect">
            <a:avLst/>
          </a:prstGeom>
          <a:noFill/>
          <a:ln/>
        </p:spPr>
        <p:txBody>
          <a:bodyPr wrap="none" lIns="0" tIns="0" rIns="0" bIns="0" rtlCol="0" anchor="ctr"/>
          <a:lstStyle/>
          <a:p>
            <a:pPr indent="0" marL="0">
              <a:buNone/>
            </a:pPr>
            <a:r>
              <a:rPr lang="zh-CN" altLang="en-US" sz="975" spc="242" kern="0" dirty="0">
                <a:solidFill>
                  <a:srgbClr val="9DA7B7"/>
                </a:solidFill>
                <a:latin typeface="Arial" pitchFamily="34" charset="0"/>
                <a:ea typeface="Arial" pitchFamily="34" charset="-122"/>
                <a:cs typeface="Arial" pitchFamily="34" charset="-120"/>
              </a:rPr>
              <a:t>LISTED COMPANY</a:t>
            </a:r>
            <a:endParaRPr lang="zh-CN" sz="975" dirty="0"/>
          </a:p>
        </p:txBody>
      </p:sp>
      <p:sp>
        <p:nvSpPr>
          <p:cNvPr id="18" name="Text 16: 上市"/>
          <p:cNvSpPr/>
          <p:nvPr/>
        </p:nvSpPr>
        <p:spPr>
          <a:xfrm>
            <a:off x="7269460" y="1536700"/>
            <a:ext cx="1435100" cy="787400"/>
          </a:xfrm>
          <a:prstGeom prst="rect">
            <a:avLst/>
          </a:prstGeom>
          <a:noFill/>
          <a:ln/>
        </p:spPr>
        <p:txBody>
          <a:bodyPr wrap="none" lIns="0" tIns="0" rIns="0" bIns="0" rtlCol="0" anchor="ctr"/>
          <a:lstStyle/>
          <a:p>
            <a:pPr indent="0" marL="0">
              <a:buNone/>
            </a:pPr>
            <a:r>
              <a:rPr lang="zh-CN" altLang="en-US" sz="5400" b="1" spc="-100" kern="0" dirty="0">
                <a:solidFill>
                  <a:srgbClr val="FFFFFF"/>
                </a:solidFill>
                <a:latin typeface="Heiti SC" pitchFamily="34" charset="0"/>
                <a:ea typeface="Heiti SC" pitchFamily="34" charset="-122"/>
                <a:cs typeface="Heiti SC" pitchFamily="34" charset="-120"/>
              </a:rPr>
              <a:t>上市</a:t>
            </a:r>
            <a:endParaRPr lang="zh-CN" sz="5400" dirty="0"/>
          </a:p>
        </p:txBody>
      </p:sp>
      <p:sp>
        <p:nvSpPr>
          <p:cNvPr id="19" name="Text 17: 登陆新三板"/>
          <p:cNvSpPr/>
          <p:nvPr/>
        </p:nvSpPr>
        <p:spPr>
          <a:xfrm>
            <a:off x="7269460" y="2386310"/>
            <a:ext cx="1028700" cy="241300"/>
          </a:xfrm>
          <a:prstGeom prst="rect">
            <a:avLst/>
          </a:prstGeom>
          <a:noFill/>
          <a:ln/>
        </p:spPr>
        <p:txBody>
          <a:bodyPr wrap="none" lIns="0" tIns="0" rIns="0" bIns="0" rtlCol="0" anchor="ctr"/>
          <a:lstStyle/>
          <a:p>
            <a:pPr indent="0" marL="0">
              <a:buNone/>
            </a:pPr>
            <a:r>
              <a:rPr lang="zh-CN" altLang="en-US" sz="1500" b="1" dirty="0">
                <a:solidFill>
                  <a:srgbClr val="FFFFFF"/>
                </a:solidFill>
                <a:latin typeface="Heiti SC" pitchFamily="34" charset="0"/>
                <a:ea typeface="Heiti SC" pitchFamily="34" charset="-122"/>
                <a:cs typeface="Heiti SC" pitchFamily="34" charset="-120"/>
              </a:rPr>
              <a:t>登陆新三板</a:t>
            </a:r>
            <a:endParaRPr lang="zh-CN" sz="1500" dirty="0"/>
          </a:p>
        </p:txBody>
      </p:sp>
      <p:sp>
        <p:nvSpPr>
          <p:cNvPr id="20" name="Text 18: 证券简称"/>
          <p:cNvSpPr/>
          <p:nvPr/>
        </p:nvSpPr>
        <p:spPr>
          <a:xfrm>
            <a:off x="7269460" y="3192264"/>
            <a:ext cx="609600" cy="177800"/>
          </a:xfrm>
          <a:prstGeom prst="rect">
            <a:avLst/>
          </a:prstGeom>
          <a:noFill/>
          <a:ln/>
        </p:spPr>
        <p:txBody>
          <a:bodyPr wrap="none" lIns="0" tIns="0" rIns="0" bIns="0" rtlCol="0" anchor="ctr"/>
          <a:lstStyle/>
          <a:p>
            <a:pPr indent="0" marL="0">
              <a:buNone/>
            </a:pPr>
            <a:r>
              <a:rPr lang="zh-CN" altLang="en-US" sz="1050" dirty="0">
                <a:solidFill>
                  <a:srgbClr val="AAB4C5"/>
                </a:solidFill>
                <a:latin typeface="Heiti SC" pitchFamily="34" charset="0"/>
                <a:ea typeface="Heiti SC" pitchFamily="34" charset="-122"/>
                <a:cs typeface="Heiti SC" pitchFamily="34" charset="-120"/>
              </a:rPr>
              <a:t>证券简称</a:t>
            </a:r>
            <a:endParaRPr lang="zh-CN" sz="1050" dirty="0"/>
          </a:p>
        </p:txBody>
      </p:sp>
      <p:sp>
        <p:nvSpPr>
          <p:cNvPr id="21" name="Text 19: 微网通联"/>
          <p:cNvSpPr/>
          <p:nvPr/>
        </p:nvSpPr>
        <p:spPr>
          <a:xfrm>
            <a:off x="10706100" y="3182739"/>
            <a:ext cx="647700" cy="196850"/>
          </a:xfrm>
          <a:prstGeom prst="rect">
            <a:avLst/>
          </a:prstGeom>
          <a:noFill/>
          <a:ln/>
        </p:spPr>
        <p:txBody>
          <a:bodyPr wrap="none" lIns="0" tIns="0" rIns="0" bIns="0" rtlCol="0" anchor="ctr"/>
          <a:lstStyle/>
          <a:p>
            <a:pPr indent="0" marL="0">
              <a:buNone/>
            </a:pPr>
            <a:r>
              <a:rPr lang="zh-CN" altLang="en-US" sz="1125" b="1" dirty="0">
                <a:solidFill>
                  <a:srgbClr val="FFFFFF"/>
                </a:solidFill>
                <a:latin typeface="Heiti SC" pitchFamily="34" charset="0"/>
                <a:ea typeface="Heiti SC" pitchFamily="34" charset="-122"/>
                <a:cs typeface="Heiti SC" pitchFamily="34" charset="-120"/>
              </a:rPr>
              <a:t>微网通联</a:t>
            </a:r>
            <a:endParaRPr lang="zh-CN" sz="1125" dirty="0"/>
          </a:p>
        </p:txBody>
      </p:sp>
      <p:sp>
        <p:nvSpPr>
          <p:cNvPr id="22" name="Text 20: 证券代码"/>
          <p:cNvSpPr/>
          <p:nvPr/>
        </p:nvSpPr>
        <p:spPr>
          <a:xfrm>
            <a:off x="7269460" y="3639939"/>
            <a:ext cx="609600" cy="177800"/>
          </a:xfrm>
          <a:prstGeom prst="rect">
            <a:avLst/>
          </a:prstGeom>
          <a:noFill/>
          <a:ln/>
        </p:spPr>
        <p:txBody>
          <a:bodyPr wrap="none" lIns="0" tIns="0" rIns="0" bIns="0" rtlCol="0" anchor="ctr"/>
          <a:lstStyle/>
          <a:p>
            <a:pPr indent="0" marL="0">
              <a:buNone/>
            </a:pPr>
            <a:r>
              <a:rPr lang="zh-CN" altLang="en-US" sz="1050" dirty="0">
                <a:solidFill>
                  <a:srgbClr val="AAB5C6"/>
                </a:solidFill>
                <a:latin typeface="Heiti SC" pitchFamily="34" charset="0"/>
                <a:ea typeface="Heiti SC" pitchFamily="34" charset="-122"/>
                <a:cs typeface="Heiti SC" pitchFamily="34" charset="-120"/>
              </a:rPr>
              <a:t>证券代码</a:t>
            </a:r>
            <a:endParaRPr lang="zh-CN" sz="1050" dirty="0"/>
          </a:p>
        </p:txBody>
      </p:sp>
      <p:sp>
        <p:nvSpPr>
          <p:cNvPr id="23" name="Text 21: 870213"/>
          <p:cNvSpPr/>
          <p:nvPr/>
        </p:nvSpPr>
        <p:spPr>
          <a:xfrm>
            <a:off x="10766921" y="3627239"/>
            <a:ext cx="586879" cy="196850"/>
          </a:xfrm>
          <a:prstGeom prst="rect">
            <a:avLst/>
          </a:prstGeom>
          <a:noFill/>
          <a:ln/>
        </p:spPr>
        <p:txBody>
          <a:bodyPr wrap="none" lIns="0" tIns="0" rIns="0" bIns="0" rtlCol="0" anchor="ctr"/>
          <a:lstStyle/>
          <a:p>
            <a:pPr indent="0" marL="0">
              <a:buNone/>
            </a:pPr>
            <a:r>
              <a:rPr lang="zh-CN" altLang="en-US" sz="1125" b="1" spc="53" kern="0" dirty="0">
                <a:solidFill>
                  <a:srgbClr val="F02D4E"/>
                </a:solidFill>
                <a:latin typeface="Arial" pitchFamily="34" charset="0"/>
                <a:ea typeface="Arial" pitchFamily="34" charset="-122"/>
                <a:cs typeface="Arial" pitchFamily="34" charset="-120"/>
              </a:rPr>
              <a:t>870213</a:t>
            </a:r>
            <a:endParaRPr lang="zh-CN" sz="1125" dirty="0"/>
          </a:p>
        </p:txBody>
      </p:sp>
      <p:sp>
        <p:nvSpPr>
          <p:cNvPr id="24" name="Text 22: 深耕行业"/>
          <p:cNvSpPr/>
          <p:nvPr/>
        </p:nvSpPr>
        <p:spPr>
          <a:xfrm>
            <a:off x="7269460" y="4087614"/>
            <a:ext cx="609600" cy="177800"/>
          </a:xfrm>
          <a:prstGeom prst="rect">
            <a:avLst/>
          </a:prstGeom>
          <a:noFill/>
          <a:ln/>
        </p:spPr>
        <p:txBody>
          <a:bodyPr wrap="none" lIns="0" tIns="0" rIns="0" bIns="0" rtlCol="0" anchor="ctr"/>
          <a:lstStyle/>
          <a:p>
            <a:pPr indent="0" marL="0">
              <a:buNone/>
            </a:pPr>
            <a:r>
              <a:rPr lang="zh-CN" altLang="en-US" sz="1050" dirty="0">
                <a:solidFill>
                  <a:srgbClr val="ABB6C7"/>
                </a:solidFill>
                <a:latin typeface="Heiti SC" pitchFamily="34" charset="0"/>
                <a:ea typeface="Heiti SC" pitchFamily="34" charset="-122"/>
                <a:cs typeface="Heiti SC" pitchFamily="34" charset="-120"/>
              </a:rPr>
              <a:t>深耕行业</a:t>
            </a:r>
            <a:endParaRPr lang="zh-CN" sz="1050" dirty="0"/>
          </a:p>
        </p:txBody>
      </p:sp>
      <p:sp>
        <p:nvSpPr>
          <p:cNvPr id="25" name="Text 23: 十余年"/>
          <p:cNvSpPr/>
          <p:nvPr/>
        </p:nvSpPr>
        <p:spPr>
          <a:xfrm>
            <a:off x="10848975" y="4078089"/>
            <a:ext cx="504825" cy="196850"/>
          </a:xfrm>
          <a:prstGeom prst="rect">
            <a:avLst/>
          </a:prstGeom>
          <a:noFill/>
          <a:ln/>
        </p:spPr>
        <p:txBody>
          <a:bodyPr wrap="none" lIns="0" tIns="0" rIns="0" bIns="0" rtlCol="0" anchor="ctr"/>
          <a:lstStyle/>
          <a:p>
            <a:pPr indent="0" marL="0">
              <a:buNone/>
            </a:pPr>
            <a:r>
              <a:rPr lang="zh-CN" altLang="en-US" sz="1125" b="1" dirty="0">
                <a:solidFill>
                  <a:srgbClr val="FFFFFF"/>
                </a:solidFill>
                <a:latin typeface="Heiti SC" pitchFamily="34" charset="0"/>
                <a:ea typeface="Heiti SC" pitchFamily="34" charset="-122"/>
                <a:cs typeface="Heiti SC" pitchFamily="34" charset="-120"/>
              </a:rPr>
              <a:t>十余年</a:t>
            </a:r>
            <a:endParaRPr lang="zh-CN" sz="1125" dirty="0"/>
          </a:p>
        </p:txBody>
      </p:sp>
      <p:sp>
        <p:nvSpPr>
          <p:cNvPr id="26" name="Text 24: 公众公司治理 + 3A 信用认证，"/>
          <p:cNvSpPr/>
          <p:nvPr/>
        </p:nvSpPr>
        <p:spPr>
          <a:xfrm>
            <a:off x="7421860" y="4944269"/>
            <a:ext cx="1748830" cy="171450"/>
          </a:xfrm>
          <a:prstGeom prst="rect">
            <a:avLst/>
          </a:prstGeom>
          <a:noFill/>
          <a:ln/>
        </p:spPr>
        <p:txBody>
          <a:bodyPr wrap="none" lIns="0" tIns="0" rIns="0" bIns="0" rtlCol="0" anchor="ctr"/>
          <a:lstStyle/>
          <a:p>
            <a:pPr indent="0" marL="0">
              <a:buNone/>
            </a:pPr>
            <a:r>
              <a:rPr lang="zh-CN" altLang="en-US" sz="975" spc="-9" kern="0" dirty="0">
                <a:solidFill>
                  <a:srgbClr val="E0E0E8"/>
                </a:solidFill>
                <a:latin typeface="Heiti SC" pitchFamily="34" charset="0"/>
                <a:ea typeface="Heiti SC" pitchFamily="34" charset="-122"/>
                <a:cs typeface="Heiti SC" pitchFamily="34" charset="-120"/>
              </a:rPr>
              <a:t>公众公司治理 + 3A 信用认证，</a:t>
            </a:r>
            <a:endParaRPr lang="zh-CN" sz="975" dirty="0"/>
          </a:p>
        </p:txBody>
      </p:sp>
      <p:sp>
        <p:nvSpPr>
          <p:cNvPr id="27" name="Text 25: 合作可信度的硬背书。"/>
          <p:cNvSpPr/>
          <p:nvPr/>
        </p:nvSpPr>
        <p:spPr>
          <a:xfrm>
            <a:off x="7421860" y="5142309"/>
            <a:ext cx="1314450" cy="171450"/>
          </a:xfrm>
          <a:prstGeom prst="rect">
            <a:avLst/>
          </a:prstGeom>
          <a:noFill/>
          <a:ln/>
        </p:spPr>
        <p:txBody>
          <a:bodyPr wrap="none" lIns="0" tIns="0" rIns="0" bIns="0" rtlCol="0" anchor="ctr"/>
          <a:lstStyle/>
          <a:p>
            <a:pPr indent="0" marL="0">
              <a:buNone/>
            </a:pPr>
            <a:r>
              <a:rPr lang="zh-CN" altLang="en-US" sz="975" dirty="0">
                <a:solidFill>
                  <a:srgbClr val="E0E0E8"/>
                </a:solidFill>
                <a:latin typeface="Heiti SC" pitchFamily="34" charset="0"/>
                <a:ea typeface="Heiti SC" pitchFamily="34" charset="-122"/>
                <a:cs typeface="Heiti SC" pitchFamily="34" charset="-120"/>
              </a:rPr>
              <a:t>合作可信度的硬背书。</a:t>
            </a:r>
            <a:endParaRPr lang="zh-CN" sz="975" dirty="0"/>
          </a:p>
        </p:txBody>
      </p:sp>
      <p:sp>
        <p:nvSpPr>
          <p:cNvPr id="28" name="Text 26: 04 / 25"/>
          <p:cNvSpPr/>
          <p:nvPr/>
        </p:nvSpPr>
        <p:spPr>
          <a:xfrm>
            <a:off x="11680031" y="6591300"/>
            <a:ext cx="461169" cy="165100"/>
          </a:xfrm>
          <a:prstGeom prst="rect">
            <a:avLst/>
          </a:prstGeom>
          <a:noFill/>
          <a:ln/>
        </p:spPr>
        <p:txBody>
          <a:bodyPr wrap="none" lIns="0" tIns="0" rIns="0" bIns="0" rtlCol="0" anchor="ctr"/>
          <a:lstStyle/>
          <a:p>
            <a:pPr indent="0" marL="0">
              <a:buNone/>
            </a:pPr>
            <a:r>
              <a:rPr lang="zh-CN" altLang="en-US" sz="900" spc="46" kern="0" dirty="0">
                <a:solidFill>
                  <a:srgbClr val="8A94A6"/>
                </a:solidFill>
                <a:latin typeface="Arial" pitchFamily="34" charset="0"/>
                <a:ea typeface="Arial" pitchFamily="34" charset="-122"/>
                <a:cs typeface="Arial" pitchFamily="34" charset="-120"/>
              </a:rPr>
              <a:t>04 / 25</a:t>
            </a:r>
            <a:endParaRPr lang="zh-CN"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joozo/WySync/ObBidding/wiki/pptx/UMC/build/generated/backgrounds/slide-05.png">    </p:cNvPr>
          <p:cNvPicPr>
            <a:picLocks noChangeAspect="1"/>
          </p:cNvPicPr>
          <p:nvPr/>
        </p:nvPicPr>
        <p:blipFill>
          <a:blip r:embed="rId1"/>
          <a:stretch>
            <a:fillRect/>
          </a:stretch>
        </p:blipFill>
        <p:spPr>
          <a:xfrm>
            <a:off x="0" y="0"/>
            <a:ext cx="12192000" cy="6858000"/>
          </a:xfrm>
          <a:prstGeom prst="rect">
            <a:avLst/>
          </a:prstGeom>
        </p:spPr>
      </p:pic>
      <p:sp>
        <p:nvSpPr>
          <p:cNvPr id="3" name="Text 1: 01 · 发展历程"/>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01 · 发展历程</a:t>
            </a:r>
            <a:endParaRPr lang="zh-CN" sz="1000" dirty="0"/>
          </a:p>
        </p:txBody>
      </p:sp>
      <p:sp>
        <p:nvSpPr>
          <p:cNvPr id="4" name="Text 2: 开拓进取 · 砥砺前行"/>
          <p:cNvSpPr/>
          <p:nvPr/>
        </p:nvSpPr>
        <p:spPr>
          <a:xfrm>
            <a:off x="609600" y="546100"/>
            <a:ext cx="2604095" cy="349250"/>
          </a:xfrm>
          <a:prstGeom prst="rect">
            <a:avLst/>
          </a:prstGeom>
          <a:noFill/>
          <a:ln/>
        </p:spPr>
        <p:txBody>
          <a:bodyPr wrap="none" lIns="0" tIns="0" rIns="0" bIns="0" rtlCol="0" anchor="ctr"/>
          <a:lstStyle/>
          <a:p>
            <a:pPr indent="0" marL="0">
              <a:buNone/>
            </a:pPr>
            <a:r>
              <a:rPr lang="zh-CN" altLang="en-US" sz="2250" b="1" spc="-147" kern="0" dirty="0">
                <a:solidFill>
                  <a:srgbClr val="0A1F44"/>
                </a:solidFill>
                <a:latin typeface="Heiti SC" pitchFamily="34" charset="0"/>
                <a:ea typeface="Heiti SC" pitchFamily="34" charset="-122"/>
                <a:cs typeface="Heiti SC" pitchFamily="34" charset="-120"/>
              </a:rPr>
              <a:t>开拓进取 · 砥砺前行</a:t>
            </a:r>
            <a:endParaRPr lang="zh-CN" sz="2250" dirty="0"/>
          </a:p>
        </p:txBody>
      </p:sp>
      <p:sp>
        <p:nvSpPr>
          <p:cNvPr id="5" name="Text 3: 2006"/>
          <p:cNvSpPr/>
          <p:nvPr/>
        </p:nvSpPr>
        <p:spPr>
          <a:xfrm>
            <a:off x="1053009" y="2292350"/>
            <a:ext cx="756741" cy="349250"/>
          </a:xfrm>
          <a:prstGeom prst="rect">
            <a:avLst/>
          </a:prstGeom>
          <a:noFill/>
          <a:ln/>
        </p:spPr>
        <p:txBody>
          <a:bodyPr wrap="none" lIns="0" tIns="0" rIns="0" bIns="0" rtlCol="0" anchor="ctr"/>
          <a:lstStyle/>
          <a:p>
            <a:pPr indent="0" marL="0">
              <a:buNone/>
            </a:pPr>
            <a:r>
              <a:rPr lang="zh-CN" altLang="en-US" sz="2250" b="1" spc="118" kern="0" dirty="0">
                <a:solidFill>
                  <a:srgbClr val="0A1F44"/>
                </a:solidFill>
                <a:latin typeface="Arial" pitchFamily="34" charset="0"/>
                <a:ea typeface="Arial" pitchFamily="34" charset="-122"/>
                <a:cs typeface="Arial" pitchFamily="34" charset="-120"/>
              </a:rPr>
              <a:t>2006</a:t>
            </a:r>
            <a:endParaRPr lang="zh-CN" sz="2250" dirty="0"/>
          </a:p>
        </p:txBody>
      </p:sp>
      <p:sp>
        <p:nvSpPr>
          <p:cNvPr id="6" name="Text 4: 公司成立"/>
          <p:cNvSpPr/>
          <p:nvPr/>
        </p:nvSpPr>
        <p:spPr>
          <a:xfrm>
            <a:off x="1107579" y="2727325"/>
            <a:ext cx="647700" cy="196850"/>
          </a:xfrm>
          <a:prstGeom prst="rect">
            <a:avLst/>
          </a:prstGeom>
          <a:noFill/>
          <a:ln/>
        </p:spPr>
        <p:txBody>
          <a:bodyPr wrap="none" lIns="0" tIns="0" rIns="0" bIns="0" rtlCol="0" anchor="ctr"/>
          <a:lstStyle/>
          <a:p>
            <a:pPr indent="0" marL="0">
              <a:buNone/>
            </a:pPr>
            <a:r>
              <a:rPr lang="zh-CN" altLang="en-US" sz="1125" b="1" dirty="0">
                <a:solidFill>
                  <a:srgbClr val="2E6FE8"/>
                </a:solidFill>
                <a:latin typeface="Heiti SC" pitchFamily="34" charset="0"/>
                <a:ea typeface="Heiti SC" pitchFamily="34" charset="-122"/>
                <a:cs typeface="Heiti SC" pitchFamily="34" charset="-120"/>
              </a:rPr>
              <a:t>公司成立</a:t>
            </a:r>
            <a:endParaRPr lang="zh-CN" sz="1125" dirty="0"/>
          </a:p>
        </p:txBody>
      </p:sp>
      <p:sp>
        <p:nvSpPr>
          <p:cNvPr id="7" name="Text 5: 2014"/>
          <p:cNvSpPr/>
          <p:nvPr/>
        </p:nvSpPr>
        <p:spPr>
          <a:xfrm>
            <a:off x="2620268" y="2292350"/>
            <a:ext cx="757238" cy="349250"/>
          </a:xfrm>
          <a:prstGeom prst="rect">
            <a:avLst/>
          </a:prstGeom>
          <a:noFill/>
          <a:ln/>
        </p:spPr>
        <p:txBody>
          <a:bodyPr wrap="none" lIns="0" tIns="0" rIns="0" bIns="0" rtlCol="0" anchor="ctr"/>
          <a:lstStyle/>
          <a:p>
            <a:pPr indent="0" marL="0">
              <a:buNone/>
            </a:pPr>
            <a:r>
              <a:rPr lang="zh-CN" altLang="en-US" sz="2250" b="1" spc="119" kern="0" dirty="0">
                <a:solidFill>
                  <a:srgbClr val="0A1F44"/>
                </a:solidFill>
                <a:latin typeface="Arial" pitchFamily="34" charset="0"/>
                <a:ea typeface="Arial" pitchFamily="34" charset="-122"/>
                <a:cs typeface="Arial" pitchFamily="34" charset="-120"/>
              </a:rPr>
              <a:t>2014</a:t>
            </a:r>
            <a:endParaRPr lang="zh-CN" sz="2250" dirty="0"/>
          </a:p>
        </p:txBody>
      </p:sp>
      <p:sp>
        <p:nvSpPr>
          <p:cNvPr id="8" name="Text 6: 荣誉加身"/>
          <p:cNvSpPr/>
          <p:nvPr/>
        </p:nvSpPr>
        <p:spPr>
          <a:xfrm>
            <a:off x="2675037" y="2727325"/>
            <a:ext cx="647700" cy="196850"/>
          </a:xfrm>
          <a:prstGeom prst="rect">
            <a:avLst/>
          </a:prstGeom>
          <a:noFill/>
          <a:ln/>
        </p:spPr>
        <p:txBody>
          <a:bodyPr wrap="none" lIns="0" tIns="0" rIns="0" bIns="0" rtlCol="0" anchor="ctr"/>
          <a:lstStyle/>
          <a:p>
            <a:pPr indent="0" marL="0">
              <a:buNone/>
            </a:pPr>
            <a:r>
              <a:rPr lang="zh-CN" altLang="en-US" sz="1125" b="1" dirty="0">
                <a:solidFill>
                  <a:srgbClr val="2E6FE8"/>
                </a:solidFill>
                <a:latin typeface="Heiti SC" pitchFamily="34" charset="0"/>
                <a:ea typeface="Heiti SC" pitchFamily="34" charset="-122"/>
                <a:cs typeface="Heiti SC" pitchFamily="34" charset="-120"/>
              </a:rPr>
              <a:t>荣誉加身</a:t>
            </a:r>
            <a:endParaRPr lang="zh-CN" sz="1125" dirty="0"/>
          </a:p>
        </p:txBody>
      </p:sp>
      <p:sp>
        <p:nvSpPr>
          <p:cNvPr id="9" name="Text 7: 2016"/>
          <p:cNvSpPr/>
          <p:nvPr/>
        </p:nvSpPr>
        <p:spPr>
          <a:xfrm>
            <a:off x="4074517" y="2187575"/>
            <a:ext cx="983952" cy="457200"/>
          </a:xfrm>
          <a:prstGeom prst="rect">
            <a:avLst/>
          </a:prstGeom>
          <a:noFill/>
          <a:ln/>
        </p:spPr>
        <p:txBody>
          <a:bodyPr wrap="none" lIns="0" tIns="0" rIns="0" bIns="0" rtlCol="0" anchor="ctr"/>
          <a:lstStyle/>
          <a:p>
            <a:pPr indent="0" marL="0">
              <a:buNone/>
            </a:pPr>
            <a:r>
              <a:rPr lang="zh-CN" altLang="en-US" sz="3000" b="1" spc="158" kern="0" dirty="0">
                <a:solidFill>
                  <a:srgbClr val="F02D4E"/>
                </a:solidFill>
                <a:latin typeface="Arial" pitchFamily="34" charset="0"/>
                <a:ea typeface="Arial" pitchFamily="34" charset="-122"/>
                <a:cs typeface="Arial" pitchFamily="34" charset="-120"/>
              </a:rPr>
              <a:t>2016</a:t>
            </a:r>
            <a:endParaRPr lang="zh-CN" sz="3000" dirty="0"/>
          </a:p>
        </p:txBody>
      </p:sp>
      <p:sp>
        <p:nvSpPr>
          <p:cNvPr id="10" name="Text 8: 新三板挂牌"/>
          <p:cNvSpPr/>
          <p:nvPr/>
        </p:nvSpPr>
        <p:spPr>
          <a:xfrm>
            <a:off x="4171156" y="2727325"/>
            <a:ext cx="790575" cy="196850"/>
          </a:xfrm>
          <a:prstGeom prst="rect">
            <a:avLst/>
          </a:prstGeom>
          <a:noFill/>
          <a:ln/>
        </p:spPr>
        <p:txBody>
          <a:bodyPr wrap="none" lIns="0" tIns="0" rIns="0" bIns="0" rtlCol="0" anchor="ctr"/>
          <a:lstStyle/>
          <a:p>
            <a:pPr indent="0" marL="0">
              <a:buNone/>
            </a:pPr>
            <a:r>
              <a:rPr lang="zh-CN" altLang="en-US" sz="1125" b="1" dirty="0">
                <a:solidFill>
                  <a:srgbClr val="F02D4E"/>
                </a:solidFill>
                <a:latin typeface="Heiti SC" pitchFamily="34" charset="0"/>
                <a:ea typeface="Heiti SC" pitchFamily="34" charset="-122"/>
                <a:cs typeface="Heiti SC" pitchFamily="34" charset="-120"/>
              </a:rPr>
              <a:t>新三板挂牌</a:t>
            </a:r>
            <a:endParaRPr lang="zh-CN" sz="1125" dirty="0"/>
          </a:p>
        </p:txBody>
      </p:sp>
      <p:sp>
        <p:nvSpPr>
          <p:cNvPr id="11" name="Text 9: 2017"/>
          <p:cNvSpPr/>
          <p:nvPr/>
        </p:nvSpPr>
        <p:spPr>
          <a:xfrm>
            <a:off x="5755481" y="2292350"/>
            <a:ext cx="757039" cy="349250"/>
          </a:xfrm>
          <a:prstGeom prst="rect">
            <a:avLst/>
          </a:prstGeom>
          <a:noFill/>
          <a:ln/>
        </p:spPr>
        <p:txBody>
          <a:bodyPr wrap="none" lIns="0" tIns="0" rIns="0" bIns="0" rtlCol="0" anchor="ctr"/>
          <a:lstStyle/>
          <a:p>
            <a:pPr indent="0" marL="0">
              <a:buNone/>
            </a:pPr>
            <a:r>
              <a:rPr lang="zh-CN" altLang="en-US" sz="2250" b="1" spc="119" kern="0" dirty="0">
                <a:solidFill>
                  <a:srgbClr val="0A1F44"/>
                </a:solidFill>
                <a:latin typeface="Arial" pitchFamily="34" charset="0"/>
                <a:ea typeface="Arial" pitchFamily="34" charset="-122"/>
                <a:cs typeface="Arial" pitchFamily="34" charset="-120"/>
              </a:rPr>
              <a:t>2017</a:t>
            </a:r>
            <a:endParaRPr lang="zh-CN" sz="2250" dirty="0"/>
          </a:p>
        </p:txBody>
      </p:sp>
      <p:sp>
        <p:nvSpPr>
          <p:cNvPr id="12" name="Text 10: 全网布局"/>
          <p:cNvSpPr/>
          <p:nvPr/>
        </p:nvSpPr>
        <p:spPr>
          <a:xfrm>
            <a:off x="5810151" y="2727325"/>
            <a:ext cx="647700" cy="196850"/>
          </a:xfrm>
          <a:prstGeom prst="rect">
            <a:avLst/>
          </a:prstGeom>
          <a:noFill/>
          <a:ln/>
        </p:spPr>
        <p:txBody>
          <a:bodyPr wrap="none" lIns="0" tIns="0" rIns="0" bIns="0" rtlCol="0" anchor="ctr"/>
          <a:lstStyle/>
          <a:p>
            <a:pPr indent="0" marL="0">
              <a:buNone/>
            </a:pPr>
            <a:r>
              <a:rPr lang="zh-CN" altLang="en-US" sz="1125" b="1" dirty="0">
                <a:solidFill>
                  <a:srgbClr val="2E6FE8"/>
                </a:solidFill>
                <a:latin typeface="Heiti SC" pitchFamily="34" charset="0"/>
                <a:ea typeface="Heiti SC" pitchFamily="34" charset="-122"/>
                <a:cs typeface="Heiti SC" pitchFamily="34" charset="-120"/>
              </a:rPr>
              <a:t>全网布局</a:t>
            </a:r>
            <a:endParaRPr lang="zh-CN" sz="1125" dirty="0"/>
          </a:p>
        </p:txBody>
      </p:sp>
      <p:sp>
        <p:nvSpPr>
          <p:cNvPr id="13" name="Text 11: 2020"/>
          <p:cNvSpPr/>
          <p:nvPr/>
        </p:nvSpPr>
        <p:spPr>
          <a:xfrm>
            <a:off x="7323237" y="2292350"/>
            <a:ext cx="756741" cy="349250"/>
          </a:xfrm>
          <a:prstGeom prst="rect">
            <a:avLst/>
          </a:prstGeom>
          <a:noFill/>
          <a:ln/>
        </p:spPr>
        <p:txBody>
          <a:bodyPr wrap="none" lIns="0" tIns="0" rIns="0" bIns="0" rtlCol="0" anchor="ctr"/>
          <a:lstStyle/>
          <a:p>
            <a:pPr indent="0" marL="0">
              <a:buNone/>
            </a:pPr>
            <a:r>
              <a:rPr lang="zh-CN" altLang="en-US" sz="2250" b="1" spc="118" kern="0" dirty="0">
                <a:solidFill>
                  <a:srgbClr val="0A1F44"/>
                </a:solidFill>
                <a:latin typeface="Arial" pitchFamily="34" charset="0"/>
                <a:ea typeface="Arial" pitchFamily="34" charset="-122"/>
                <a:cs typeface="Arial" pitchFamily="34" charset="-120"/>
              </a:rPr>
              <a:t>2020</a:t>
            </a:r>
            <a:endParaRPr lang="zh-CN" sz="2250" dirty="0"/>
          </a:p>
        </p:txBody>
      </p:sp>
      <p:sp>
        <p:nvSpPr>
          <p:cNvPr id="14" name="Text 12: 5G消息上线"/>
          <p:cNvSpPr/>
          <p:nvPr/>
        </p:nvSpPr>
        <p:spPr>
          <a:xfrm>
            <a:off x="7277894" y="2727325"/>
            <a:ext cx="847427" cy="196850"/>
          </a:xfrm>
          <a:prstGeom prst="rect">
            <a:avLst/>
          </a:prstGeom>
          <a:noFill/>
          <a:ln/>
        </p:spPr>
        <p:txBody>
          <a:bodyPr wrap="none" lIns="0" tIns="0" rIns="0" bIns="0" rtlCol="0" anchor="ctr"/>
          <a:lstStyle/>
          <a:p>
            <a:pPr indent="0" marL="0">
              <a:buNone/>
            </a:pPr>
            <a:r>
              <a:rPr lang="zh-CN" altLang="en-US" sz="1125" b="1" spc="-6" kern="0" dirty="0">
                <a:solidFill>
                  <a:srgbClr val="2E6FE8"/>
                </a:solidFill>
                <a:latin typeface="Heiti SC" pitchFamily="34" charset="0"/>
                <a:ea typeface="Heiti SC" pitchFamily="34" charset="-122"/>
                <a:cs typeface="Heiti SC" pitchFamily="34" charset="-120"/>
              </a:rPr>
              <a:t>5G消息上线</a:t>
            </a:r>
            <a:endParaRPr lang="zh-CN" sz="1125" dirty="0"/>
          </a:p>
        </p:txBody>
      </p:sp>
      <p:sp>
        <p:nvSpPr>
          <p:cNvPr id="15" name="Text 13: 2022"/>
          <p:cNvSpPr/>
          <p:nvPr/>
        </p:nvSpPr>
        <p:spPr>
          <a:xfrm>
            <a:off x="8890595" y="2292350"/>
            <a:ext cx="757039" cy="349250"/>
          </a:xfrm>
          <a:prstGeom prst="rect">
            <a:avLst/>
          </a:prstGeom>
          <a:noFill/>
          <a:ln/>
        </p:spPr>
        <p:txBody>
          <a:bodyPr wrap="none" lIns="0" tIns="0" rIns="0" bIns="0" rtlCol="0" anchor="ctr"/>
          <a:lstStyle/>
          <a:p>
            <a:pPr indent="0" marL="0">
              <a:buNone/>
            </a:pPr>
            <a:r>
              <a:rPr lang="zh-CN" altLang="en-US" sz="2250" b="1" spc="119" kern="0" dirty="0">
                <a:solidFill>
                  <a:srgbClr val="0A1F44"/>
                </a:solidFill>
                <a:latin typeface="Arial" pitchFamily="34" charset="0"/>
                <a:ea typeface="Arial" pitchFamily="34" charset="-122"/>
                <a:cs typeface="Arial" pitchFamily="34" charset="-120"/>
              </a:rPr>
              <a:t>2022</a:t>
            </a:r>
            <a:endParaRPr lang="zh-CN" sz="2250" dirty="0"/>
          </a:p>
        </p:txBody>
      </p:sp>
      <p:sp>
        <p:nvSpPr>
          <p:cNvPr id="16" name="Text 14: 服务升级"/>
          <p:cNvSpPr/>
          <p:nvPr/>
        </p:nvSpPr>
        <p:spPr>
          <a:xfrm>
            <a:off x="8945265" y="2727325"/>
            <a:ext cx="647700" cy="196850"/>
          </a:xfrm>
          <a:prstGeom prst="rect">
            <a:avLst/>
          </a:prstGeom>
          <a:noFill/>
          <a:ln/>
        </p:spPr>
        <p:txBody>
          <a:bodyPr wrap="none" lIns="0" tIns="0" rIns="0" bIns="0" rtlCol="0" anchor="ctr"/>
          <a:lstStyle/>
          <a:p>
            <a:pPr indent="0" marL="0">
              <a:buNone/>
            </a:pPr>
            <a:r>
              <a:rPr lang="zh-CN" altLang="en-US" sz="1125" b="1" dirty="0">
                <a:solidFill>
                  <a:srgbClr val="2E6FE8"/>
                </a:solidFill>
                <a:latin typeface="Heiti SC" pitchFamily="34" charset="0"/>
                <a:ea typeface="Heiti SC" pitchFamily="34" charset="-122"/>
                <a:cs typeface="Heiti SC" pitchFamily="34" charset="-120"/>
              </a:rPr>
              <a:t>服务升级</a:t>
            </a:r>
            <a:endParaRPr lang="zh-CN" sz="1125" dirty="0"/>
          </a:p>
        </p:txBody>
      </p:sp>
      <p:sp>
        <p:nvSpPr>
          <p:cNvPr id="17" name="Text 15: 2026"/>
          <p:cNvSpPr/>
          <p:nvPr/>
        </p:nvSpPr>
        <p:spPr>
          <a:xfrm>
            <a:off x="10458152" y="2292350"/>
            <a:ext cx="757039" cy="349250"/>
          </a:xfrm>
          <a:prstGeom prst="rect">
            <a:avLst/>
          </a:prstGeom>
          <a:noFill/>
          <a:ln/>
        </p:spPr>
        <p:txBody>
          <a:bodyPr wrap="none" lIns="0" tIns="0" rIns="0" bIns="0" rtlCol="0" anchor="ctr"/>
          <a:lstStyle/>
          <a:p>
            <a:pPr indent="0" marL="0">
              <a:buNone/>
            </a:pPr>
            <a:r>
              <a:rPr lang="zh-CN" altLang="en-US" sz="2250" b="1" spc="119" kern="0" dirty="0">
                <a:solidFill>
                  <a:srgbClr val="F02D4E"/>
                </a:solidFill>
                <a:latin typeface="Arial" pitchFamily="34" charset="0"/>
                <a:ea typeface="Arial" pitchFamily="34" charset="-122"/>
                <a:cs typeface="Arial" pitchFamily="34" charset="-120"/>
              </a:rPr>
              <a:t>2026</a:t>
            </a:r>
            <a:endParaRPr lang="zh-CN" sz="2250" dirty="0"/>
          </a:p>
        </p:txBody>
      </p:sp>
      <p:sp>
        <p:nvSpPr>
          <p:cNvPr id="18" name="Text 16: 智能办公"/>
          <p:cNvSpPr/>
          <p:nvPr/>
        </p:nvSpPr>
        <p:spPr>
          <a:xfrm>
            <a:off x="10512822" y="2727325"/>
            <a:ext cx="647700" cy="196850"/>
          </a:xfrm>
          <a:prstGeom prst="rect">
            <a:avLst/>
          </a:prstGeom>
          <a:noFill/>
          <a:ln/>
        </p:spPr>
        <p:txBody>
          <a:bodyPr wrap="none" lIns="0" tIns="0" rIns="0" bIns="0" rtlCol="0" anchor="ctr"/>
          <a:lstStyle/>
          <a:p>
            <a:pPr indent="0" marL="0">
              <a:buNone/>
            </a:pPr>
            <a:r>
              <a:rPr lang="zh-CN" altLang="en-US" sz="1125" b="1" dirty="0">
                <a:solidFill>
                  <a:srgbClr val="F02D4E"/>
                </a:solidFill>
                <a:latin typeface="Heiti SC" pitchFamily="34" charset="0"/>
                <a:ea typeface="Heiti SC" pitchFamily="34" charset="-122"/>
                <a:cs typeface="Heiti SC" pitchFamily="34" charset="-120"/>
              </a:rPr>
              <a:t>智能办公</a:t>
            </a:r>
            <a:endParaRPr lang="zh-CN" sz="1125" dirty="0"/>
          </a:p>
        </p:txBody>
      </p:sp>
      <p:sp>
        <p:nvSpPr>
          <p:cNvPr id="19" name="Text 17: 微网通联成立，于北京"/>
          <p:cNvSpPr/>
          <p:nvPr/>
        </p:nvSpPr>
        <p:spPr>
          <a:xfrm>
            <a:off x="821829" y="3761085"/>
            <a:ext cx="12192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微网通联成立，于北京</a:t>
            </a:r>
            <a:endParaRPr lang="zh-CN" sz="900" dirty="0"/>
          </a:p>
        </p:txBody>
      </p:sp>
      <p:sp>
        <p:nvSpPr>
          <p:cNvPr id="20" name="Text 18: 设立总部，相继在上"/>
          <p:cNvSpPr/>
          <p:nvPr/>
        </p:nvSpPr>
        <p:spPr>
          <a:xfrm>
            <a:off x="878979" y="3943945"/>
            <a:ext cx="11049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设立总部，相继在上</a:t>
            </a:r>
            <a:endParaRPr lang="zh-CN" sz="900" dirty="0"/>
          </a:p>
        </p:txBody>
      </p:sp>
      <p:sp>
        <p:nvSpPr>
          <p:cNvPr id="21" name="Text 19: 海、山东成立分公司"/>
          <p:cNvSpPr/>
          <p:nvPr/>
        </p:nvSpPr>
        <p:spPr>
          <a:xfrm>
            <a:off x="878979" y="4126805"/>
            <a:ext cx="11049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海、山东成立分公司</a:t>
            </a:r>
            <a:endParaRPr lang="zh-CN" sz="900" dirty="0"/>
          </a:p>
        </p:txBody>
      </p:sp>
      <p:sp>
        <p:nvSpPr>
          <p:cNvPr id="22" name="Text 20: 获「福布斯中国非上市"/>
          <p:cNvSpPr/>
          <p:nvPr/>
        </p:nvSpPr>
        <p:spPr>
          <a:xfrm>
            <a:off x="2389287" y="3761085"/>
            <a:ext cx="12192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获「福布斯中国非上市</a:t>
            </a:r>
            <a:endParaRPr lang="zh-CN" sz="900" dirty="0"/>
          </a:p>
        </p:txBody>
      </p:sp>
      <p:sp>
        <p:nvSpPr>
          <p:cNvPr id="23" name="Text 21: 潜力企业100强」等多"/>
          <p:cNvSpPr/>
          <p:nvPr/>
        </p:nvSpPr>
        <p:spPr>
          <a:xfrm>
            <a:off x="2408337" y="3943945"/>
            <a:ext cx="1181199" cy="165100"/>
          </a:xfrm>
          <a:prstGeom prst="rect">
            <a:avLst/>
          </a:prstGeom>
          <a:noFill/>
          <a:ln/>
        </p:spPr>
        <p:txBody>
          <a:bodyPr wrap="none" lIns="0" tIns="0" rIns="0" bIns="0" rtlCol="0" anchor="ctr"/>
          <a:lstStyle/>
          <a:p>
            <a:pPr indent="0" marL="0">
              <a:buNone/>
            </a:pPr>
            <a:r>
              <a:rPr lang="zh-CN" altLang="en-US" sz="900" spc="0" kern="0" dirty="0">
                <a:solidFill>
                  <a:srgbClr val="5A6B85"/>
                </a:solidFill>
                <a:latin typeface="Heiti SC" pitchFamily="34" charset="0"/>
                <a:ea typeface="Heiti SC" pitchFamily="34" charset="-122"/>
                <a:cs typeface="Heiti SC" pitchFamily="34" charset="-120"/>
              </a:rPr>
              <a:t>潜力企业100强」等多</a:t>
            </a:r>
            <a:endParaRPr lang="zh-CN" sz="900" dirty="0"/>
          </a:p>
        </p:txBody>
      </p:sp>
      <p:sp>
        <p:nvSpPr>
          <p:cNvPr id="24" name="Text 22: 项大奖"/>
          <p:cNvSpPr/>
          <p:nvPr/>
        </p:nvSpPr>
        <p:spPr>
          <a:xfrm>
            <a:off x="2789337" y="4126805"/>
            <a:ext cx="4191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项大奖</a:t>
            </a:r>
            <a:endParaRPr lang="zh-CN" sz="900" dirty="0"/>
          </a:p>
        </p:txBody>
      </p:sp>
      <p:sp>
        <p:nvSpPr>
          <p:cNvPr id="25" name="Text 23: 登陆新三板，证券代码"/>
          <p:cNvSpPr/>
          <p:nvPr/>
        </p:nvSpPr>
        <p:spPr>
          <a:xfrm>
            <a:off x="3956844" y="3852565"/>
            <a:ext cx="1219200" cy="165100"/>
          </a:xfrm>
          <a:prstGeom prst="rect">
            <a:avLst/>
          </a:prstGeom>
          <a:noFill/>
          <a:ln/>
        </p:spPr>
        <p:txBody>
          <a:bodyPr wrap="none" lIns="0" tIns="0" rIns="0" bIns="0" rtlCol="0" anchor="ctr"/>
          <a:lstStyle/>
          <a:p>
            <a:pPr indent="0" marL="0">
              <a:buNone/>
            </a:pPr>
            <a:r>
              <a:rPr lang="zh-CN" altLang="en-US" sz="900" dirty="0">
                <a:solidFill>
                  <a:srgbClr val="DADDE3"/>
                </a:solidFill>
                <a:latin typeface="Heiti SC" pitchFamily="34" charset="0"/>
                <a:ea typeface="Heiti SC" pitchFamily="34" charset="-122"/>
                <a:cs typeface="Heiti SC" pitchFamily="34" charset="-120"/>
              </a:rPr>
              <a:t>登陆新三板，证券代码</a:t>
            </a:r>
            <a:endParaRPr lang="zh-CN" sz="900" dirty="0"/>
          </a:p>
        </p:txBody>
      </p:sp>
      <p:sp>
        <p:nvSpPr>
          <p:cNvPr id="26" name="Text 24: 870213"/>
          <p:cNvSpPr/>
          <p:nvPr/>
        </p:nvSpPr>
        <p:spPr>
          <a:xfrm>
            <a:off x="4336256" y="4035425"/>
            <a:ext cx="460375" cy="165100"/>
          </a:xfrm>
          <a:prstGeom prst="rect">
            <a:avLst/>
          </a:prstGeom>
          <a:noFill/>
          <a:ln/>
        </p:spPr>
        <p:txBody>
          <a:bodyPr wrap="none" lIns="0" tIns="0" rIns="0" bIns="0" rtlCol="0" anchor="ctr"/>
          <a:lstStyle/>
          <a:p>
            <a:pPr indent="0" marL="0">
              <a:buNone/>
            </a:pPr>
            <a:r>
              <a:rPr lang="zh-CN" altLang="en-US" sz="900" spc="4" kern="0" dirty="0">
                <a:solidFill>
                  <a:srgbClr val="DADDE3"/>
                </a:solidFill>
                <a:latin typeface="Arial" pitchFamily="34" charset="0"/>
                <a:ea typeface="Arial" pitchFamily="34" charset="-122"/>
                <a:cs typeface="Arial" pitchFamily="34" charset="-120"/>
              </a:rPr>
              <a:t>870213</a:t>
            </a:r>
            <a:endParaRPr lang="zh-CN" sz="900" dirty="0"/>
          </a:p>
        </p:txBody>
      </p:sp>
      <p:sp>
        <p:nvSpPr>
          <p:cNvPr id="27" name="Text 25: 建立全国营销服务网"/>
          <p:cNvSpPr/>
          <p:nvPr/>
        </p:nvSpPr>
        <p:spPr>
          <a:xfrm>
            <a:off x="5581551" y="3761085"/>
            <a:ext cx="11049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建立全国营销服务网</a:t>
            </a:r>
            <a:endParaRPr lang="zh-CN" sz="900" dirty="0"/>
          </a:p>
        </p:txBody>
      </p:sp>
      <p:sp>
        <p:nvSpPr>
          <p:cNvPr id="28" name="Text 26: 络，获 AAA 信用资质"/>
          <p:cNvSpPr/>
          <p:nvPr/>
        </p:nvSpPr>
        <p:spPr>
          <a:xfrm>
            <a:off x="5555059" y="3943945"/>
            <a:ext cx="1157982" cy="165100"/>
          </a:xfrm>
          <a:prstGeom prst="rect">
            <a:avLst/>
          </a:prstGeom>
          <a:noFill/>
          <a:ln/>
        </p:spPr>
        <p:txBody>
          <a:bodyPr wrap="none" lIns="0" tIns="0" rIns="0" bIns="0" rtlCol="0" anchor="ctr"/>
          <a:lstStyle/>
          <a:p>
            <a:pPr indent="0" marL="0">
              <a:buNone/>
            </a:pPr>
            <a:r>
              <a:rPr lang="zh-CN" altLang="en-US" sz="900" spc="-21" kern="0" dirty="0">
                <a:solidFill>
                  <a:srgbClr val="5A6B85"/>
                </a:solidFill>
                <a:latin typeface="Heiti SC" pitchFamily="34" charset="0"/>
                <a:ea typeface="Heiti SC" pitchFamily="34" charset="-122"/>
                <a:cs typeface="Heiti SC" pitchFamily="34" charset="-120"/>
              </a:rPr>
              <a:t>络，获 AAA 信用资质</a:t>
            </a:r>
            <a:endParaRPr lang="zh-CN" sz="900" dirty="0"/>
          </a:p>
        </p:txBody>
      </p:sp>
      <p:sp>
        <p:nvSpPr>
          <p:cNvPr id="29" name="Text 27: 与年度最佳平台奖"/>
          <p:cNvSpPr/>
          <p:nvPr/>
        </p:nvSpPr>
        <p:spPr>
          <a:xfrm>
            <a:off x="5638701" y="4126805"/>
            <a:ext cx="9906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与年度最佳平台奖</a:t>
            </a:r>
            <a:endParaRPr lang="zh-CN" sz="900" dirty="0"/>
          </a:p>
        </p:txBody>
      </p:sp>
      <p:sp>
        <p:nvSpPr>
          <p:cNvPr id="30" name="Text 28: 5G消息平台上线，获多"/>
          <p:cNvSpPr/>
          <p:nvPr/>
        </p:nvSpPr>
        <p:spPr>
          <a:xfrm>
            <a:off x="7071023" y="3852565"/>
            <a:ext cx="1261170" cy="165100"/>
          </a:xfrm>
          <a:prstGeom prst="rect">
            <a:avLst/>
          </a:prstGeom>
          <a:noFill/>
          <a:ln/>
        </p:spPr>
        <p:txBody>
          <a:bodyPr wrap="none" lIns="0" tIns="0" rIns="0" bIns="0" rtlCol="0" anchor="ctr"/>
          <a:lstStyle/>
          <a:p>
            <a:pPr indent="0" marL="0">
              <a:buNone/>
            </a:pPr>
            <a:r>
              <a:rPr lang="zh-CN" altLang="en-US" sz="900" spc="-5" kern="0" dirty="0">
                <a:solidFill>
                  <a:srgbClr val="5A6B85"/>
                </a:solidFill>
                <a:latin typeface="Heiti SC" pitchFamily="34" charset="0"/>
                <a:ea typeface="Heiti SC" pitchFamily="34" charset="-122"/>
                <a:cs typeface="Heiti SC" pitchFamily="34" charset="-120"/>
              </a:rPr>
              <a:t>5G消息平台上线，获多</a:t>
            </a:r>
            <a:endParaRPr lang="zh-CN" sz="900" dirty="0"/>
          </a:p>
        </p:txBody>
      </p:sp>
      <p:sp>
        <p:nvSpPr>
          <p:cNvPr id="31" name="Text 29: 省 CSP 资质"/>
          <p:cNvSpPr/>
          <p:nvPr/>
        </p:nvSpPr>
        <p:spPr>
          <a:xfrm>
            <a:off x="7352605" y="4035425"/>
            <a:ext cx="697905" cy="165100"/>
          </a:xfrm>
          <a:prstGeom prst="rect">
            <a:avLst/>
          </a:prstGeom>
          <a:noFill/>
          <a:ln/>
        </p:spPr>
        <p:txBody>
          <a:bodyPr wrap="none" lIns="0" tIns="0" rIns="0" bIns="0" rtlCol="0" anchor="ctr"/>
          <a:lstStyle/>
          <a:p>
            <a:pPr indent="0" marL="0">
              <a:buNone/>
            </a:pPr>
            <a:r>
              <a:rPr lang="zh-CN" altLang="en-US" sz="900" spc="5" kern="0" dirty="0">
                <a:solidFill>
                  <a:srgbClr val="5A6B85"/>
                </a:solidFill>
                <a:latin typeface="Heiti SC" pitchFamily="34" charset="0"/>
                <a:ea typeface="Heiti SC" pitchFamily="34" charset="-122"/>
                <a:cs typeface="Heiti SC" pitchFamily="34" charset="-120"/>
              </a:rPr>
              <a:t>省 CSP 资质</a:t>
            </a:r>
            <a:endParaRPr lang="zh-CN" sz="900" dirty="0"/>
          </a:p>
        </p:txBody>
      </p:sp>
      <p:sp>
        <p:nvSpPr>
          <p:cNvPr id="32" name="Text 30: 上线 5G 消息服务，云"/>
          <p:cNvSpPr/>
          <p:nvPr/>
        </p:nvSpPr>
        <p:spPr>
          <a:xfrm>
            <a:off x="8671818" y="3852565"/>
            <a:ext cx="1194693" cy="165100"/>
          </a:xfrm>
          <a:prstGeom prst="rect">
            <a:avLst/>
          </a:prstGeom>
          <a:noFill/>
          <a:ln/>
        </p:spPr>
        <p:txBody>
          <a:bodyPr wrap="none" lIns="0" tIns="0" rIns="0" bIns="0" rtlCol="0" anchor="ctr"/>
          <a:lstStyle/>
          <a:p>
            <a:pPr indent="0" marL="0">
              <a:buNone/>
            </a:pPr>
            <a:r>
              <a:rPr lang="zh-CN" altLang="en-US" sz="900" spc="-11" kern="0" dirty="0">
                <a:solidFill>
                  <a:srgbClr val="5A6B85"/>
                </a:solidFill>
                <a:latin typeface="Heiti SC" pitchFamily="34" charset="0"/>
                <a:ea typeface="Heiti SC" pitchFamily="34" charset="-122"/>
                <a:cs typeface="Heiti SC" pitchFamily="34" charset="-120"/>
              </a:rPr>
              <a:t>上线 5G 消息服务，云</a:t>
            </a:r>
            <a:endParaRPr lang="zh-CN" sz="900" dirty="0"/>
          </a:p>
        </p:txBody>
      </p:sp>
      <p:sp>
        <p:nvSpPr>
          <p:cNvPr id="33" name="Text 31: 通信生态持续完善"/>
          <p:cNvSpPr/>
          <p:nvPr/>
        </p:nvSpPr>
        <p:spPr>
          <a:xfrm>
            <a:off x="8773815" y="4035425"/>
            <a:ext cx="9906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通信生态持续完善</a:t>
            </a:r>
            <a:endParaRPr lang="zh-CN" sz="900" dirty="0"/>
          </a:p>
        </p:txBody>
      </p:sp>
      <p:sp>
        <p:nvSpPr>
          <p:cNvPr id="34" name="Text 32: 智能化办公系统上线，"/>
          <p:cNvSpPr/>
          <p:nvPr/>
        </p:nvSpPr>
        <p:spPr>
          <a:xfrm>
            <a:off x="10227072" y="3669705"/>
            <a:ext cx="12192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智能化办公系统上线，</a:t>
            </a:r>
            <a:endParaRPr lang="zh-CN" sz="900" dirty="0"/>
          </a:p>
        </p:txBody>
      </p:sp>
      <p:sp>
        <p:nvSpPr>
          <p:cNvPr id="35" name="Text 33: 以 AI 驱动内部协作、"/>
          <p:cNvSpPr/>
          <p:nvPr/>
        </p:nvSpPr>
        <p:spPr>
          <a:xfrm>
            <a:off x="10263187" y="3852565"/>
            <a:ext cx="1146969" cy="165100"/>
          </a:xfrm>
          <a:prstGeom prst="rect">
            <a:avLst/>
          </a:prstGeom>
          <a:noFill/>
          <a:ln/>
        </p:spPr>
        <p:txBody>
          <a:bodyPr wrap="none" lIns="0" tIns="0" rIns="0" bIns="0" rtlCol="0" anchor="ctr"/>
          <a:lstStyle/>
          <a:p>
            <a:pPr indent="0" marL="0">
              <a:buNone/>
            </a:pPr>
            <a:r>
              <a:rPr lang="zh-CN" altLang="en-US" sz="900" spc="-8" kern="0" dirty="0">
                <a:solidFill>
                  <a:srgbClr val="5A6B85"/>
                </a:solidFill>
                <a:latin typeface="Heiti SC" pitchFamily="34" charset="0"/>
                <a:ea typeface="Heiti SC" pitchFamily="34" charset="-122"/>
                <a:cs typeface="Heiti SC" pitchFamily="34" charset="-120"/>
              </a:rPr>
              <a:t>以 AI 驱动内部协作、</a:t>
            </a:r>
            <a:endParaRPr lang="zh-CN" sz="900" dirty="0"/>
          </a:p>
        </p:txBody>
      </p:sp>
      <p:sp>
        <p:nvSpPr>
          <p:cNvPr id="36" name="Text 34: 运营与交付流程全面提"/>
          <p:cNvSpPr/>
          <p:nvPr/>
        </p:nvSpPr>
        <p:spPr>
          <a:xfrm>
            <a:off x="10227072" y="4035425"/>
            <a:ext cx="12192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运营与交付流程全面提</a:t>
            </a:r>
            <a:endParaRPr lang="zh-CN" sz="900" dirty="0"/>
          </a:p>
        </p:txBody>
      </p:sp>
      <p:sp>
        <p:nvSpPr>
          <p:cNvPr id="37" name="Text 35: 效"/>
          <p:cNvSpPr/>
          <p:nvPr/>
        </p:nvSpPr>
        <p:spPr>
          <a:xfrm>
            <a:off x="10741422" y="4218285"/>
            <a:ext cx="190500" cy="165100"/>
          </a:xfrm>
          <a:prstGeom prst="rect">
            <a:avLst/>
          </a:prstGeom>
          <a:noFill/>
          <a:ln/>
        </p:spPr>
        <p:txBody>
          <a:bodyPr wrap="none" lIns="0" tIns="0" rIns="0" bIns="0" rtlCol="0" anchor="ctr"/>
          <a:lstStyle/>
          <a:p>
            <a:pPr indent="0" marL="0">
              <a:buNone/>
            </a:pPr>
            <a:r>
              <a:rPr lang="zh-CN" altLang="en-US" sz="900" dirty="0">
                <a:solidFill>
                  <a:srgbClr val="5A6B85"/>
                </a:solidFill>
                <a:latin typeface="Heiti SC" pitchFamily="34" charset="0"/>
                <a:ea typeface="Heiti SC" pitchFamily="34" charset="-122"/>
                <a:cs typeface="Heiti SC" pitchFamily="34" charset="-120"/>
              </a:rPr>
              <a:t>效</a:t>
            </a:r>
            <a:endParaRPr lang="zh-CN" sz="900" dirty="0"/>
          </a:p>
        </p:txBody>
      </p:sp>
      <p:sp>
        <p:nvSpPr>
          <p:cNvPr id="38" name="Text 36: 05 / 25"/>
          <p:cNvSpPr/>
          <p:nvPr/>
        </p:nvSpPr>
        <p:spPr>
          <a:xfrm>
            <a:off x="11678146" y="6591300"/>
            <a:ext cx="463054" cy="165100"/>
          </a:xfrm>
          <a:prstGeom prst="rect">
            <a:avLst/>
          </a:prstGeom>
          <a:noFill/>
          <a:ln/>
        </p:spPr>
        <p:txBody>
          <a:bodyPr wrap="none" lIns="0" tIns="0" rIns="0" bIns="0" rtlCol="0" anchor="ctr"/>
          <a:lstStyle/>
          <a:p>
            <a:pPr indent="0" marL="0">
              <a:buNone/>
            </a:pPr>
            <a:r>
              <a:rPr lang="zh-CN" altLang="en-US" sz="900" spc="49" kern="0" dirty="0">
                <a:solidFill>
                  <a:srgbClr val="B7B0CA"/>
                </a:solidFill>
                <a:latin typeface="Arial" pitchFamily="34" charset="0"/>
                <a:ea typeface="Arial" pitchFamily="34" charset="-122"/>
                <a:cs typeface="Arial" pitchFamily="34" charset="-120"/>
              </a:rPr>
              <a:t>05 / 25</a:t>
            </a:r>
            <a:endParaRPr lang="zh-CN"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joozo/WySync/ObBidding/wiki/pptx/UMC/build/generated/backgrounds/slide-06.png">    </p:cNvPr>
          <p:cNvPicPr>
            <a:picLocks noChangeAspect="1"/>
          </p:cNvPicPr>
          <p:nvPr/>
        </p:nvPicPr>
        <p:blipFill>
          <a:blip r:embed="rId1"/>
          <a:stretch>
            <a:fillRect/>
          </a:stretch>
        </p:blipFill>
        <p:spPr>
          <a:xfrm>
            <a:off x="0" y="0"/>
            <a:ext cx="12192000" cy="6858000"/>
          </a:xfrm>
          <a:prstGeom prst="rect">
            <a:avLst/>
          </a:prstGeom>
        </p:spPr>
      </p:pic>
      <p:sp>
        <p:nvSpPr>
          <p:cNvPr id="3" name="Text 1: 01 · 公司荣誉"/>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01 · 公司荣誉</a:t>
            </a:r>
            <a:endParaRPr lang="zh-CN" sz="1000" dirty="0"/>
          </a:p>
        </p:txBody>
      </p:sp>
      <p:sp>
        <p:nvSpPr>
          <p:cNvPr id="4" name="Text 2: 载誉不断"/>
          <p:cNvSpPr/>
          <p:nvPr/>
        </p:nvSpPr>
        <p:spPr>
          <a:xfrm>
            <a:off x="609600" y="546100"/>
            <a:ext cx="1231900" cy="349250"/>
          </a:xfrm>
          <a:prstGeom prst="rect">
            <a:avLst/>
          </a:prstGeom>
          <a:noFill/>
          <a:ln/>
        </p:spPr>
        <p:txBody>
          <a:bodyPr wrap="none" lIns="0" tIns="0" rIns="0" bIns="0" rtlCol="0" anchor="ctr"/>
          <a:lstStyle/>
          <a:p>
            <a:pPr indent="0" marL="0">
              <a:buNone/>
            </a:pPr>
            <a:r>
              <a:rPr lang="zh-CN" altLang="en-US" sz="2250" b="1" spc="33" kern="0" dirty="0">
                <a:solidFill>
                  <a:srgbClr val="0A1F44"/>
                </a:solidFill>
                <a:latin typeface="Heiti SC" pitchFamily="34" charset="0"/>
                <a:ea typeface="Heiti SC" pitchFamily="34" charset="-122"/>
                <a:cs typeface="Heiti SC" pitchFamily="34" charset="-120"/>
              </a:rPr>
              <a:t>载誉不断</a:t>
            </a:r>
            <a:endParaRPr lang="zh-CN" sz="2250" dirty="0"/>
          </a:p>
        </p:txBody>
      </p:sp>
      <p:sp>
        <p:nvSpPr>
          <p:cNvPr id="5" name="Text 3: 凭借诚信经营和企业实力，荣获超百项企业荣誉资质"/>
          <p:cNvSpPr/>
          <p:nvPr/>
        </p:nvSpPr>
        <p:spPr>
          <a:xfrm>
            <a:off x="2527300" y="638175"/>
            <a:ext cx="31432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凭借诚信经营和企业实力，荣获超百项企业荣誉资质</a:t>
            </a:r>
            <a:endParaRPr lang="zh-CN" sz="1050" dirty="0"/>
          </a:p>
        </p:txBody>
      </p:sp>
      <p:sp>
        <p:nvSpPr>
          <p:cNvPr id="6" name="Text 4: 100"/>
          <p:cNvSpPr/>
          <p:nvPr/>
        </p:nvSpPr>
        <p:spPr>
          <a:xfrm>
            <a:off x="914400" y="2712740"/>
            <a:ext cx="1629172" cy="952500"/>
          </a:xfrm>
          <a:prstGeom prst="rect">
            <a:avLst/>
          </a:prstGeom>
          <a:noFill/>
          <a:ln/>
        </p:spPr>
        <p:txBody>
          <a:bodyPr wrap="none" lIns="0" tIns="0" rIns="0" bIns="0" rtlCol="0" anchor="ctr"/>
          <a:lstStyle/>
          <a:p>
            <a:pPr indent="0" marL="0">
              <a:buNone/>
            </a:pPr>
            <a:r>
              <a:rPr lang="zh-CN" altLang="en-US" sz="6600" b="1" spc="608" kern="0" dirty="0">
                <a:solidFill>
                  <a:srgbClr val="FFFFFF"/>
                </a:solidFill>
                <a:latin typeface="Arial" pitchFamily="34" charset="0"/>
                <a:ea typeface="Arial" pitchFamily="34" charset="-122"/>
                <a:cs typeface="Arial" pitchFamily="34" charset="-120"/>
              </a:rPr>
              <a:t>100</a:t>
            </a:r>
            <a:endParaRPr lang="zh-CN" sz="6600" dirty="0"/>
          </a:p>
        </p:txBody>
      </p:sp>
      <p:sp>
        <p:nvSpPr>
          <p:cNvPr id="7" name="Text 5: +"/>
          <p:cNvSpPr/>
          <p:nvPr/>
        </p:nvSpPr>
        <p:spPr>
          <a:xfrm>
            <a:off x="2524522" y="3182640"/>
            <a:ext cx="271661" cy="368300"/>
          </a:xfrm>
          <a:prstGeom prst="rect">
            <a:avLst/>
          </a:prstGeom>
          <a:noFill/>
          <a:ln/>
        </p:spPr>
        <p:txBody>
          <a:bodyPr wrap="none" lIns="0" tIns="0" rIns="0" bIns="0" rtlCol="0" anchor="ctr"/>
          <a:lstStyle/>
          <a:p>
            <a:pPr indent="0" marL="0">
              <a:buNone/>
            </a:pPr>
            <a:r>
              <a:rPr lang="zh-CN" altLang="en-US" sz="2400" b="1" dirty="0">
                <a:solidFill>
                  <a:srgbClr val="F02D4E"/>
                </a:solidFill>
                <a:latin typeface="Arial" pitchFamily="34" charset="0"/>
                <a:ea typeface="Arial" pitchFamily="34" charset="-122"/>
                <a:cs typeface="Arial" pitchFamily="34" charset="-120"/>
              </a:rPr>
              <a:t>+</a:t>
            </a:r>
            <a:endParaRPr lang="zh-CN" sz="2400" dirty="0"/>
          </a:p>
        </p:txBody>
      </p:sp>
      <p:sp>
        <p:nvSpPr>
          <p:cNvPr id="8" name="Text 6: 企业荣誉资质"/>
          <p:cNvSpPr/>
          <p:nvPr/>
        </p:nvSpPr>
        <p:spPr>
          <a:xfrm>
            <a:off x="914400" y="3716040"/>
            <a:ext cx="1104900" cy="228600"/>
          </a:xfrm>
          <a:prstGeom prst="rect">
            <a:avLst/>
          </a:prstGeom>
          <a:noFill/>
          <a:ln/>
        </p:spPr>
        <p:txBody>
          <a:bodyPr wrap="none" lIns="0" tIns="0" rIns="0" bIns="0" rtlCol="0" anchor="ctr"/>
          <a:lstStyle/>
          <a:p>
            <a:pPr indent="0" marL="0">
              <a:buNone/>
            </a:pPr>
            <a:r>
              <a:rPr lang="zh-CN" altLang="en-US" sz="1350" b="1" dirty="0">
                <a:solidFill>
                  <a:srgbClr val="FFFFFF"/>
                </a:solidFill>
                <a:latin typeface="Heiti SC" pitchFamily="34" charset="0"/>
                <a:ea typeface="Heiti SC" pitchFamily="34" charset="-122"/>
                <a:cs typeface="Heiti SC" pitchFamily="34" charset="-120"/>
              </a:rPr>
              <a:t>企业荣誉资质</a:t>
            </a:r>
            <a:endParaRPr lang="zh-CN" sz="1350" dirty="0"/>
          </a:p>
        </p:txBody>
      </p:sp>
      <p:sp>
        <p:nvSpPr>
          <p:cNvPr id="9" name="Text 7: 凭借诚信经营和过硬技术实力，受到"/>
          <p:cNvSpPr/>
          <p:nvPr/>
        </p:nvSpPr>
        <p:spPr>
          <a:xfrm>
            <a:off x="914400" y="4065290"/>
            <a:ext cx="2209800" cy="177800"/>
          </a:xfrm>
          <a:prstGeom prst="rect">
            <a:avLst/>
          </a:prstGeom>
          <a:noFill/>
          <a:ln/>
        </p:spPr>
        <p:txBody>
          <a:bodyPr wrap="none" lIns="0" tIns="0" rIns="0" bIns="0" rtlCol="0" anchor="ctr"/>
          <a:lstStyle/>
          <a:p>
            <a:pPr indent="0" marL="0">
              <a:buNone/>
            </a:pPr>
            <a:r>
              <a:rPr lang="zh-CN" altLang="en-US" sz="1050" dirty="0">
                <a:solidFill>
                  <a:srgbClr val="ABB7CA"/>
                </a:solidFill>
                <a:latin typeface="Heiti SC" pitchFamily="34" charset="0"/>
                <a:ea typeface="Heiti SC" pitchFamily="34" charset="-122"/>
                <a:cs typeface="Heiti SC" pitchFamily="34" charset="-120"/>
              </a:rPr>
              <a:t>凭借诚信经营和过硬技术实力，受到</a:t>
            </a:r>
            <a:endParaRPr lang="zh-CN" sz="1050" dirty="0"/>
          </a:p>
        </p:txBody>
      </p:sp>
      <p:sp>
        <p:nvSpPr>
          <p:cNvPr id="10" name="Text 8: 政府、运营商与行业协会的高度肯定"/>
          <p:cNvSpPr/>
          <p:nvPr/>
        </p:nvSpPr>
        <p:spPr>
          <a:xfrm>
            <a:off x="914400" y="4305300"/>
            <a:ext cx="2209800" cy="177800"/>
          </a:xfrm>
          <a:prstGeom prst="rect">
            <a:avLst/>
          </a:prstGeom>
          <a:noFill/>
          <a:ln/>
        </p:spPr>
        <p:txBody>
          <a:bodyPr wrap="none" lIns="0" tIns="0" rIns="0" bIns="0" rtlCol="0" anchor="ctr"/>
          <a:lstStyle/>
          <a:p>
            <a:pPr indent="0" marL="0">
              <a:buNone/>
            </a:pPr>
            <a:r>
              <a:rPr lang="zh-CN" altLang="en-US" sz="1050" dirty="0">
                <a:solidFill>
                  <a:srgbClr val="ABB7CA"/>
                </a:solidFill>
                <a:latin typeface="Heiti SC" pitchFamily="34" charset="0"/>
                <a:ea typeface="Heiti SC" pitchFamily="34" charset="-122"/>
                <a:cs typeface="Heiti SC" pitchFamily="34" charset="-120"/>
              </a:rPr>
              <a:t>政府、运营商与行业协会的高度肯定</a:t>
            </a:r>
            <a:endParaRPr lang="zh-CN" sz="1050" dirty="0"/>
          </a:p>
        </p:txBody>
      </p:sp>
      <p:sp>
        <p:nvSpPr>
          <p:cNvPr id="11" name="Text 9: HONORS &amp;amp; AWARDS"/>
          <p:cNvSpPr/>
          <p:nvPr/>
        </p:nvSpPr>
        <p:spPr>
          <a:xfrm>
            <a:off x="914400" y="5257800"/>
            <a:ext cx="1496120" cy="165100"/>
          </a:xfrm>
          <a:prstGeom prst="rect">
            <a:avLst/>
          </a:prstGeom>
          <a:noFill/>
          <a:ln/>
        </p:spPr>
        <p:txBody>
          <a:bodyPr wrap="none" lIns="0" tIns="0" rIns="0" bIns="0" rtlCol="0" anchor="ctr"/>
          <a:lstStyle/>
          <a:p>
            <a:pPr indent="0" marL="0">
              <a:buNone/>
            </a:pPr>
            <a:r>
              <a:rPr lang="zh-CN" altLang="en-US" sz="900" spc="160" kern="0" dirty="0">
                <a:solidFill>
                  <a:srgbClr val="7C90B1"/>
                </a:solidFill>
                <a:latin typeface="Arial" pitchFamily="34" charset="0"/>
                <a:ea typeface="Arial" pitchFamily="34" charset="-122"/>
                <a:cs typeface="Arial" pitchFamily="34" charset="-120"/>
              </a:rPr>
              <a:t>HONORS &amp; AWARDS</a:t>
            </a:r>
            <a:endParaRPr lang="zh-CN" sz="900" dirty="0"/>
          </a:p>
        </p:txBody>
      </p:sp>
      <p:sp>
        <p:nvSpPr>
          <p:cNvPr id="12" name="Text 10: 年度最佳移动即时通信平台"/>
          <p:cNvSpPr/>
          <p:nvPr/>
        </p:nvSpPr>
        <p:spPr>
          <a:xfrm>
            <a:off x="3905250" y="2138363"/>
            <a:ext cx="1562100"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年度最佳移动即时通信平台</a:t>
            </a:r>
            <a:endParaRPr lang="zh-CN" sz="975" dirty="0"/>
          </a:p>
        </p:txBody>
      </p:sp>
      <p:sp>
        <p:nvSpPr>
          <p:cNvPr id="13" name="Text 11: 中国移动互联网领域最佳运营支撑服务"/>
          <p:cNvSpPr/>
          <p:nvPr/>
        </p:nvSpPr>
        <p:spPr>
          <a:xfrm>
            <a:off x="6534448" y="2138363"/>
            <a:ext cx="2181225"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中国移动互联网领域最佳运营支撑服务</a:t>
            </a:r>
            <a:endParaRPr lang="zh-CN" sz="975" dirty="0"/>
          </a:p>
        </p:txBody>
      </p:sp>
      <p:sp>
        <p:nvSpPr>
          <p:cNvPr id="14" name="Text 12: 互联网信用评价中心最高等级 AAA 级"/>
          <p:cNvSpPr/>
          <p:nvPr/>
        </p:nvSpPr>
        <p:spPr>
          <a:xfrm>
            <a:off x="9163645" y="1952625"/>
            <a:ext cx="2122686" cy="171450"/>
          </a:xfrm>
          <a:prstGeom prst="rect">
            <a:avLst/>
          </a:prstGeom>
          <a:noFill/>
          <a:ln/>
        </p:spPr>
        <p:txBody>
          <a:bodyPr wrap="none" lIns="0" tIns="0" rIns="0" bIns="0" rtlCol="0" anchor="ctr"/>
          <a:lstStyle/>
          <a:p>
            <a:pPr indent="0" marL="0">
              <a:buNone/>
            </a:pPr>
            <a:r>
              <a:rPr lang="zh-CN" altLang="en-US" sz="975" b="1" spc="-10" kern="0" dirty="0">
                <a:solidFill>
                  <a:srgbClr val="1B2A4A"/>
                </a:solidFill>
                <a:latin typeface="Heiti SC" pitchFamily="34" charset="0"/>
                <a:ea typeface="Heiti SC" pitchFamily="34" charset="-122"/>
                <a:cs typeface="Heiti SC" pitchFamily="34" charset="-120"/>
              </a:rPr>
              <a:t>互联网信用评价中心最高等级 AAA 级</a:t>
            </a:r>
            <a:endParaRPr lang="zh-CN" sz="975" dirty="0"/>
          </a:p>
        </p:txBody>
      </p:sp>
      <p:sp>
        <p:nvSpPr>
          <p:cNvPr id="15" name="Text 13: 信用企业"/>
          <p:cNvSpPr/>
          <p:nvPr/>
        </p:nvSpPr>
        <p:spPr>
          <a:xfrm>
            <a:off x="9163645" y="2138363"/>
            <a:ext cx="571500"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信用企业</a:t>
            </a:r>
            <a:endParaRPr lang="zh-CN" sz="975" dirty="0"/>
          </a:p>
        </p:txBody>
      </p:sp>
      <p:sp>
        <p:nvSpPr>
          <p:cNvPr id="16" name="Text 14: 高新技术企业"/>
          <p:cNvSpPr/>
          <p:nvPr/>
        </p:nvSpPr>
        <p:spPr>
          <a:xfrm>
            <a:off x="3905250" y="3786188"/>
            <a:ext cx="819150"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高新技术企业</a:t>
            </a:r>
            <a:endParaRPr lang="zh-CN" sz="975" dirty="0"/>
          </a:p>
        </p:txBody>
      </p:sp>
      <p:sp>
        <p:nvSpPr>
          <p:cNvPr id="17" name="Text 15: 福布斯非上市百强企业"/>
          <p:cNvSpPr/>
          <p:nvPr/>
        </p:nvSpPr>
        <p:spPr>
          <a:xfrm>
            <a:off x="6534448" y="3786188"/>
            <a:ext cx="1314450"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福布斯非上市百强企业</a:t>
            </a:r>
            <a:endParaRPr lang="zh-CN" sz="975" dirty="0"/>
          </a:p>
        </p:txBody>
      </p:sp>
      <p:sp>
        <p:nvSpPr>
          <p:cNvPr id="18" name="Text 16: 中国通信企业协会增值服务委员会副主"/>
          <p:cNvSpPr/>
          <p:nvPr/>
        </p:nvSpPr>
        <p:spPr>
          <a:xfrm>
            <a:off x="9163645" y="3600450"/>
            <a:ext cx="2181225"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中国通信企业协会增值服务委员会副主</a:t>
            </a:r>
            <a:endParaRPr lang="zh-CN" sz="975" dirty="0"/>
          </a:p>
        </p:txBody>
      </p:sp>
      <p:sp>
        <p:nvSpPr>
          <p:cNvPr id="19" name="Text 17: 任单位"/>
          <p:cNvSpPr/>
          <p:nvPr/>
        </p:nvSpPr>
        <p:spPr>
          <a:xfrm>
            <a:off x="9163645" y="3786188"/>
            <a:ext cx="447675"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任单位</a:t>
            </a:r>
            <a:endParaRPr lang="zh-CN" sz="975" dirty="0"/>
          </a:p>
        </p:txBody>
      </p:sp>
      <p:sp>
        <p:nvSpPr>
          <p:cNvPr id="20" name="Text 18: 中国移动泉州分公司突出贡献奖"/>
          <p:cNvSpPr/>
          <p:nvPr/>
        </p:nvSpPr>
        <p:spPr>
          <a:xfrm>
            <a:off x="3905250" y="5434013"/>
            <a:ext cx="1809750"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中国移动泉州分公司突出贡献奖</a:t>
            </a:r>
            <a:endParaRPr lang="zh-CN" sz="975" dirty="0"/>
          </a:p>
        </p:txBody>
      </p:sp>
      <p:sp>
        <p:nvSpPr>
          <p:cNvPr id="21" name="Text 19: 杭州电信年度金牌合作伙伴"/>
          <p:cNvSpPr/>
          <p:nvPr/>
        </p:nvSpPr>
        <p:spPr>
          <a:xfrm>
            <a:off x="6534448" y="5434013"/>
            <a:ext cx="1562100" cy="171450"/>
          </a:xfrm>
          <a:prstGeom prst="rect">
            <a:avLst/>
          </a:prstGeom>
          <a:noFill/>
          <a:ln/>
        </p:spPr>
        <p:txBody>
          <a:bodyPr wrap="none" lIns="0" tIns="0" rIns="0" bIns="0" rtlCol="0" anchor="ctr"/>
          <a:lstStyle/>
          <a:p>
            <a:pPr indent="0" marL="0">
              <a:buNone/>
            </a:pPr>
            <a:r>
              <a:rPr lang="zh-CN" altLang="en-US" sz="975" b="1" dirty="0">
                <a:solidFill>
                  <a:srgbClr val="1B2A4A"/>
                </a:solidFill>
                <a:latin typeface="Heiti SC" pitchFamily="34" charset="0"/>
                <a:ea typeface="Heiti SC" pitchFamily="34" charset="-122"/>
                <a:cs typeface="Heiti SC" pitchFamily="34" charset="-120"/>
              </a:rPr>
              <a:t>杭州电信年度金牌合作伙伴</a:t>
            </a:r>
            <a:endParaRPr lang="zh-CN" sz="975" dirty="0"/>
          </a:p>
        </p:txBody>
      </p:sp>
      <p:sp>
        <p:nvSpPr>
          <p:cNvPr id="22" name="Text 20: 淮安移动合作伙伴 - 卓越贡献奖"/>
          <p:cNvSpPr/>
          <p:nvPr/>
        </p:nvSpPr>
        <p:spPr>
          <a:xfrm>
            <a:off x="9163645" y="5434013"/>
            <a:ext cx="1776710" cy="171450"/>
          </a:xfrm>
          <a:prstGeom prst="rect">
            <a:avLst/>
          </a:prstGeom>
          <a:noFill/>
          <a:ln/>
        </p:spPr>
        <p:txBody>
          <a:bodyPr wrap="none" lIns="0" tIns="0" rIns="0" bIns="0" rtlCol="0" anchor="ctr"/>
          <a:lstStyle/>
          <a:p>
            <a:pPr indent="0" marL="0">
              <a:buNone/>
            </a:pPr>
            <a:r>
              <a:rPr lang="zh-CN" altLang="en-US" sz="975" b="1" spc="-6" kern="0" dirty="0">
                <a:solidFill>
                  <a:srgbClr val="1B2A4A"/>
                </a:solidFill>
                <a:latin typeface="Heiti SC" pitchFamily="34" charset="0"/>
                <a:ea typeface="Heiti SC" pitchFamily="34" charset="-122"/>
                <a:cs typeface="Heiti SC" pitchFamily="34" charset="-120"/>
              </a:rPr>
              <a:t>淮安移动合作伙伴 - 卓越贡献奖</a:t>
            </a:r>
            <a:endParaRPr lang="zh-CN" sz="975" dirty="0"/>
          </a:p>
        </p:txBody>
      </p:sp>
      <p:sp>
        <p:nvSpPr>
          <p:cNvPr id="23" name="Text 21: 06 / 25"/>
          <p:cNvSpPr/>
          <p:nvPr/>
        </p:nvSpPr>
        <p:spPr>
          <a:xfrm>
            <a:off x="11677948" y="6591300"/>
            <a:ext cx="463252" cy="165100"/>
          </a:xfrm>
          <a:prstGeom prst="rect">
            <a:avLst/>
          </a:prstGeom>
          <a:noFill/>
          <a:ln/>
        </p:spPr>
        <p:txBody>
          <a:bodyPr wrap="none" lIns="0" tIns="0" rIns="0" bIns="0" rtlCol="0" anchor="ctr"/>
          <a:lstStyle/>
          <a:p>
            <a:pPr indent="0" marL="0">
              <a:buNone/>
            </a:pPr>
            <a:r>
              <a:rPr lang="zh-CN" altLang="en-US" sz="900" spc="49" kern="0" dirty="0">
                <a:solidFill>
                  <a:srgbClr val="8A94A6"/>
                </a:solidFill>
                <a:latin typeface="Arial" pitchFamily="34" charset="0"/>
                <a:ea typeface="Arial" pitchFamily="34" charset="-122"/>
                <a:cs typeface="Arial" pitchFamily="34" charset="-120"/>
              </a:rPr>
              <a:t>06 / 25</a:t>
            </a:r>
            <a:endParaRPr lang="zh-CN"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joozo/WySync/ObBidding/wiki/pptx/UMC/build/generated/backgrounds/slide-07.png">    </p:cNvPr>
          <p:cNvPicPr>
            <a:picLocks noChangeAspect="1"/>
          </p:cNvPicPr>
          <p:nvPr/>
        </p:nvPicPr>
        <p:blipFill>
          <a:blip r:embed="rId1"/>
          <a:stretch>
            <a:fillRect/>
          </a:stretch>
        </p:blipFill>
        <p:spPr>
          <a:xfrm>
            <a:off x="0" y="0"/>
            <a:ext cx="12192000" cy="6858000"/>
          </a:xfrm>
          <a:prstGeom prst="rect">
            <a:avLst/>
          </a:prstGeom>
        </p:spPr>
      </p:pic>
      <p:sp>
        <p:nvSpPr>
          <p:cNvPr id="3" name="Text 1: 01 · 公司资质"/>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01 · 公司资质</a:t>
            </a:r>
            <a:endParaRPr lang="zh-CN" sz="1000" dirty="0"/>
          </a:p>
        </p:txBody>
      </p:sp>
      <p:sp>
        <p:nvSpPr>
          <p:cNvPr id="4" name="Text 2: 追求卓越 · 品质保证"/>
          <p:cNvSpPr/>
          <p:nvPr/>
        </p:nvSpPr>
        <p:spPr>
          <a:xfrm>
            <a:off x="609600" y="546100"/>
            <a:ext cx="2604095" cy="349250"/>
          </a:xfrm>
          <a:prstGeom prst="rect">
            <a:avLst/>
          </a:prstGeom>
          <a:noFill/>
          <a:ln/>
        </p:spPr>
        <p:txBody>
          <a:bodyPr wrap="none" lIns="0" tIns="0" rIns="0" bIns="0" rtlCol="0" anchor="ctr"/>
          <a:lstStyle/>
          <a:p>
            <a:pPr indent="0" marL="0">
              <a:buNone/>
            </a:pPr>
            <a:r>
              <a:rPr lang="zh-CN" altLang="en-US" sz="2250" b="1" spc="-147" kern="0" dirty="0">
                <a:solidFill>
                  <a:srgbClr val="0A1F44"/>
                </a:solidFill>
                <a:latin typeface="Heiti SC" pitchFamily="34" charset="0"/>
                <a:ea typeface="Heiti SC" pitchFamily="34" charset="-122"/>
                <a:cs typeface="Heiti SC" pitchFamily="34" charset="-120"/>
              </a:rPr>
              <a:t>追求卓越 · 品质保证</a:t>
            </a:r>
            <a:endParaRPr lang="zh-CN" sz="2250" dirty="0"/>
          </a:p>
        </p:txBody>
      </p:sp>
      <p:sp>
        <p:nvSpPr>
          <p:cNvPr id="5" name="Text 3: 权威技术资质体系与国家级资质保障"/>
          <p:cNvSpPr/>
          <p:nvPr/>
        </p:nvSpPr>
        <p:spPr>
          <a:xfrm>
            <a:off x="3899495" y="638175"/>
            <a:ext cx="220980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权威技术资质体系与国家级资质保障</a:t>
            </a:r>
            <a:endParaRPr lang="zh-CN" sz="1050" dirty="0"/>
          </a:p>
        </p:txBody>
      </p:sp>
      <p:sp>
        <p:nvSpPr>
          <p:cNvPr id="6" name="Text 4: 秉承诚信经营、坚持技术为本的原则 —— 多方权威机构技术资质"/>
          <p:cNvSpPr/>
          <p:nvPr/>
        </p:nvSpPr>
        <p:spPr>
          <a:xfrm>
            <a:off x="1231900" y="1159470"/>
            <a:ext cx="5021659" cy="190500"/>
          </a:xfrm>
          <a:prstGeom prst="rect">
            <a:avLst/>
          </a:prstGeom>
          <a:noFill/>
          <a:ln/>
        </p:spPr>
        <p:txBody>
          <a:bodyPr wrap="none" lIns="0" tIns="0" rIns="0" bIns="0" rtlCol="0" anchor="ctr"/>
          <a:lstStyle/>
          <a:p>
            <a:pPr indent="0" marL="0">
              <a:buNone/>
            </a:pPr>
            <a:r>
              <a:rPr lang="zh-CN" altLang="en-US" sz="1100" b="1" spc="-3" kern="0" dirty="0">
                <a:solidFill>
                  <a:srgbClr val="FFFFFF"/>
                </a:solidFill>
                <a:latin typeface="Heiti SC" pitchFamily="34" charset="0"/>
                <a:ea typeface="Heiti SC" pitchFamily="34" charset="-122"/>
                <a:cs typeface="Heiti SC" pitchFamily="34" charset="-120"/>
              </a:rPr>
              <a:t>秉承诚信经营、坚持技术为本的原则 —— 多方权威机构技术资质认证，品质保证</a:t>
            </a:r>
            <a:endParaRPr lang="zh-CN" sz="1100" dirty="0"/>
          </a:p>
        </p:txBody>
      </p:sp>
      <p:sp>
        <p:nvSpPr>
          <p:cNvPr id="7" name="Text 5: CERTIFIED"/>
          <p:cNvSpPr/>
          <p:nvPr/>
        </p:nvSpPr>
        <p:spPr>
          <a:xfrm>
            <a:off x="10613330" y="1177925"/>
            <a:ext cx="816670" cy="158750"/>
          </a:xfrm>
          <a:prstGeom prst="rect">
            <a:avLst/>
          </a:prstGeom>
          <a:noFill/>
          <a:ln/>
        </p:spPr>
        <p:txBody>
          <a:bodyPr wrap="none" lIns="0" tIns="0" rIns="0" bIns="0" rtlCol="0" anchor="ctr"/>
          <a:lstStyle/>
          <a:p>
            <a:pPr indent="0" marL="0">
              <a:buNone/>
            </a:pPr>
            <a:r>
              <a:rPr lang="zh-CN" altLang="en-US" sz="850" spc="170" kern="0" dirty="0">
                <a:solidFill>
                  <a:srgbClr val="94A6C2"/>
                </a:solidFill>
                <a:latin typeface="Arial" pitchFamily="34" charset="0"/>
                <a:ea typeface="Arial" pitchFamily="34" charset="-122"/>
                <a:cs typeface="Arial" pitchFamily="34" charset="-120"/>
              </a:rPr>
              <a:t>CERTIFIED</a:t>
            </a:r>
            <a:endParaRPr lang="zh-CN" sz="850" dirty="0"/>
          </a:p>
        </p:txBody>
      </p:sp>
      <p:sp>
        <p:nvSpPr>
          <p:cNvPr id="8" name="Text 6: ISO/IEC 27001"/>
          <p:cNvSpPr/>
          <p:nvPr/>
        </p:nvSpPr>
        <p:spPr>
          <a:xfrm>
            <a:off x="1593850" y="2299791"/>
            <a:ext cx="982662" cy="177800"/>
          </a:xfrm>
          <a:prstGeom prst="rect">
            <a:avLst/>
          </a:prstGeom>
          <a:noFill/>
          <a:ln/>
        </p:spPr>
        <p:txBody>
          <a:bodyPr wrap="none" lIns="0" tIns="0" rIns="0" bIns="0" rtlCol="0" anchor="ctr"/>
          <a:lstStyle/>
          <a:p>
            <a:pPr indent="0" marL="0">
              <a:buNone/>
            </a:pPr>
            <a:r>
              <a:rPr lang="zh-CN" altLang="en-US" sz="1025" b="1" spc="20" kern="0" dirty="0">
                <a:solidFill>
                  <a:srgbClr val="0A1F44"/>
                </a:solidFill>
                <a:latin typeface="Arial" pitchFamily="34" charset="0"/>
                <a:ea typeface="Arial" pitchFamily="34" charset="-122"/>
                <a:cs typeface="Arial" pitchFamily="34" charset="-120"/>
              </a:rPr>
              <a:t>ISO/IEC 27001</a:t>
            </a:r>
            <a:endParaRPr lang="zh-CN" sz="1025" dirty="0"/>
          </a:p>
        </p:txBody>
      </p:sp>
      <p:sp>
        <p:nvSpPr>
          <p:cNvPr id="9" name="Text 7: 信息安全管理体系认证"/>
          <p:cNvSpPr/>
          <p:nvPr/>
        </p:nvSpPr>
        <p:spPr>
          <a:xfrm>
            <a:off x="1593850" y="2507059"/>
            <a:ext cx="1060450" cy="146050"/>
          </a:xfrm>
          <a:prstGeom prst="rect">
            <a:avLst/>
          </a:prstGeom>
          <a:noFill/>
          <a:ln/>
        </p:spPr>
        <p:txBody>
          <a:bodyPr wrap="none" lIns="0" tIns="0" rIns="0" bIns="0" rtlCol="0" anchor="ctr"/>
          <a:lstStyle/>
          <a:p>
            <a:pPr indent="0" marL="0">
              <a:buNone/>
            </a:pPr>
            <a:r>
              <a:rPr lang="zh-CN" altLang="en-US" sz="775" b="1" dirty="0">
                <a:solidFill>
                  <a:srgbClr val="F02D4E"/>
                </a:solidFill>
                <a:latin typeface="Heiti SC" pitchFamily="34" charset="0"/>
                <a:ea typeface="Heiti SC" pitchFamily="34" charset="-122"/>
                <a:cs typeface="Heiti SC" pitchFamily="34" charset="-120"/>
              </a:rPr>
              <a:t>信息安全管理体系认证</a:t>
            </a:r>
            <a:endParaRPr lang="zh-CN" sz="775" dirty="0"/>
          </a:p>
        </p:txBody>
      </p:sp>
      <p:sp>
        <p:nvSpPr>
          <p:cNvPr id="10" name="Text 8: 数据存储与传输全程加密，金融级信息"/>
          <p:cNvSpPr/>
          <p:nvPr/>
        </p:nvSpPr>
        <p:spPr>
          <a:xfrm>
            <a:off x="1593850" y="2684859"/>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数据存储与传输全程加密，金融级信息</a:t>
            </a:r>
            <a:endParaRPr lang="zh-CN" sz="700" dirty="0"/>
          </a:p>
        </p:txBody>
      </p:sp>
      <p:sp>
        <p:nvSpPr>
          <p:cNvPr id="11" name="Text 9: 安全标准"/>
          <p:cNvSpPr/>
          <p:nvPr/>
        </p:nvSpPr>
        <p:spPr>
          <a:xfrm>
            <a:off x="1593850" y="2818209"/>
            <a:ext cx="4318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安全标准</a:t>
            </a:r>
            <a:endParaRPr lang="zh-CN" sz="700" dirty="0"/>
          </a:p>
        </p:txBody>
      </p:sp>
      <p:sp>
        <p:nvSpPr>
          <p:cNvPr id="12" name="Text 10: ISO 9001"/>
          <p:cNvSpPr/>
          <p:nvPr/>
        </p:nvSpPr>
        <p:spPr>
          <a:xfrm>
            <a:off x="4368800" y="2299791"/>
            <a:ext cx="642441" cy="177800"/>
          </a:xfrm>
          <a:prstGeom prst="rect">
            <a:avLst/>
          </a:prstGeom>
          <a:noFill/>
          <a:ln/>
        </p:spPr>
        <p:txBody>
          <a:bodyPr wrap="none" lIns="0" tIns="0" rIns="0" bIns="0" rtlCol="0" anchor="ctr"/>
          <a:lstStyle/>
          <a:p>
            <a:pPr indent="0" marL="0">
              <a:buNone/>
            </a:pPr>
            <a:r>
              <a:rPr lang="zh-CN" altLang="en-US" sz="1025" b="1" spc="18" kern="0" dirty="0">
                <a:solidFill>
                  <a:srgbClr val="0A1F44"/>
                </a:solidFill>
                <a:latin typeface="Arial" pitchFamily="34" charset="0"/>
                <a:ea typeface="Arial" pitchFamily="34" charset="-122"/>
                <a:cs typeface="Arial" pitchFamily="34" charset="-120"/>
              </a:rPr>
              <a:t>ISO 9001</a:t>
            </a:r>
            <a:endParaRPr lang="zh-CN" sz="1025" dirty="0"/>
          </a:p>
        </p:txBody>
      </p:sp>
      <p:sp>
        <p:nvSpPr>
          <p:cNvPr id="13" name="Text 11: 质量管理体系认证"/>
          <p:cNvSpPr/>
          <p:nvPr/>
        </p:nvSpPr>
        <p:spPr>
          <a:xfrm>
            <a:off x="4368800" y="2507059"/>
            <a:ext cx="863600" cy="146050"/>
          </a:xfrm>
          <a:prstGeom prst="rect">
            <a:avLst/>
          </a:prstGeom>
          <a:noFill/>
          <a:ln/>
        </p:spPr>
        <p:txBody>
          <a:bodyPr wrap="none" lIns="0" tIns="0" rIns="0" bIns="0" rtlCol="0" anchor="ctr"/>
          <a:lstStyle/>
          <a:p>
            <a:pPr indent="0" marL="0">
              <a:buNone/>
            </a:pPr>
            <a:r>
              <a:rPr lang="zh-CN" altLang="en-US" sz="775" b="1" dirty="0">
                <a:solidFill>
                  <a:srgbClr val="2E6FE8"/>
                </a:solidFill>
                <a:latin typeface="Heiti SC" pitchFamily="34" charset="0"/>
                <a:ea typeface="Heiti SC" pitchFamily="34" charset="-122"/>
                <a:cs typeface="Heiti SC" pitchFamily="34" charset="-120"/>
              </a:rPr>
              <a:t>质量管理体系认证</a:t>
            </a:r>
            <a:endParaRPr lang="zh-CN" sz="775" dirty="0"/>
          </a:p>
        </p:txBody>
      </p:sp>
      <p:sp>
        <p:nvSpPr>
          <p:cNvPr id="14" name="Text 12: 标准化质量管控流程，全周期研发交付"/>
          <p:cNvSpPr/>
          <p:nvPr/>
        </p:nvSpPr>
        <p:spPr>
          <a:xfrm>
            <a:off x="4368800" y="2684859"/>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标准化质量管控流程，全周期研发交付</a:t>
            </a:r>
            <a:endParaRPr lang="zh-CN" sz="700" dirty="0"/>
          </a:p>
        </p:txBody>
      </p:sp>
      <p:sp>
        <p:nvSpPr>
          <p:cNvPr id="15" name="Text 13: 品质保证"/>
          <p:cNvSpPr/>
          <p:nvPr/>
        </p:nvSpPr>
        <p:spPr>
          <a:xfrm>
            <a:off x="4368800" y="2818209"/>
            <a:ext cx="4318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品质保证</a:t>
            </a:r>
            <a:endParaRPr lang="zh-CN" sz="700" dirty="0"/>
          </a:p>
        </p:txBody>
      </p:sp>
      <p:sp>
        <p:nvSpPr>
          <p:cNvPr id="16" name="Text 14: ISO/IEC 27701"/>
          <p:cNvSpPr/>
          <p:nvPr/>
        </p:nvSpPr>
        <p:spPr>
          <a:xfrm>
            <a:off x="7143750" y="2299791"/>
            <a:ext cx="981472" cy="177800"/>
          </a:xfrm>
          <a:prstGeom prst="rect">
            <a:avLst/>
          </a:prstGeom>
          <a:noFill/>
          <a:ln/>
        </p:spPr>
        <p:txBody>
          <a:bodyPr wrap="none" lIns="0" tIns="0" rIns="0" bIns="0" rtlCol="0" anchor="ctr"/>
          <a:lstStyle/>
          <a:p>
            <a:pPr indent="0" marL="0">
              <a:buNone/>
            </a:pPr>
            <a:r>
              <a:rPr lang="zh-CN" altLang="en-US" sz="1025" b="1" spc="19" kern="0" dirty="0">
                <a:solidFill>
                  <a:srgbClr val="0A1F44"/>
                </a:solidFill>
                <a:latin typeface="Arial" pitchFamily="34" charset="0"/>
                <a:ea typeface="Arial" pitchFamily="34" charset="-122"/>
                <a:cs typeface="Arial" pitchFamily="34" charset="-120"/>
              </a:rPr>
              <a:t>ISO/IEC 27701</a:t>
            </a:r>
            <a:endParaRPr lang="zh-CN" sz="1025" dirty="0"/>
          </a:p>
        </p:txBody>
      </p:sp>
      <p:sp>
        <p:nvSpPr>
          <p:cNvPr id="17" name="Text 15: 隐私信息管理体系认证"/>
          <p:cNvSpPr/>
          <p:nvPr/>
        </p:nvSpPr>
        <p:spPr>
          <a:xfrm>
            <a:off x="7143750" y="2507059"/>
            <a:ext cx="1060450" cy="146050"/>
          </a:xfrm>
          <a:prstGeom prst="rect">
            <a:avLst/>
          </a:prstGeom>
          <a:noFill/>
          <a:ln/>
        </p:spPr>
        <p:txBody>
          <a:bodyPr wrap="none" lIns="0" tIns="0" rIns="0" bIns="0" rtlCol="0" anchor="ctr"/>
          <a:lstStyle/>
          <a:p>
            <a:pPr indent="0" marL="0">
              <a:buNone/>
            </a:pPr>
            <a:r>
              <a:rPr lang="zh-CN" altLang="en-US" sz="775" b="1" dirty="0">
                <a:solidFill>
                  <a:srgbClr val="0A1F44"/>
                </a:solidFill>
                <a:latin typeface="Heiti SC" pitchFamily="34" charset="0"/>
                <a:ea typeface="Heiti SC" pitchFamily="34" charset="-122"/>
                <a:cs typeface="Heiti SC" pitchFamily="34" charset="-120"/>
              </a:rPr>
              <a:t>隐私信息管理体系认证</a:t>
            </a:r>
            <a:endParaRPr lang="zh-CN" sz="775" dirty="0"/>
          </a:p>
        </p:txBody>
      </p:sp>
      <p:sp>
        <p:nvSpPr>
          <p:cNvPr id="18" name="Text 16: 国际高标准隐私保护规范，筑牢数据合"/>
          <p:cNvSpPr/>
          <p:nvPr/>
        </p:nvSpPr>
        <p:spPr>
          <a:xfrm>
            <a:off x="7143750" y="2684859"/>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国际高标准隐私保护规范，筑牢数据合</a:t>
            </a:r>
            <a:endParaRPr lang="zh-CN" sz="700" dirty="0"/>
          </a:p>
        </p:txBody>
      </p:sp>
      <p:sp>
        <p:nvSpPr>
          <p:cNvPr id="19" name="Text 17: 规防线"/>
          <p:cNvSpPr/>
          <p:nvPr/>
        </p:nvSpPr>
        <p:spPr>
          <a:xfrm>
            <a:off x="7143750" y="2818209"/>
            <a:ext cx="3429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规防线</a:t>
            </a:r>
            <a:endParaRPr lang="zh-CN" sz="700" dirty="0"/>
          </a:p>
        </p:txBody>
      </p:sp>
      <p:sp>
        <p:nvSpPr>
          <p:cNvPr id="20" name="Text 18: 等保三级"/>
          <p:cNvSpPr/>
          <p:nvPr/>
        </p:nvSpPr>
        <p:spPr>
          <a:xfrm>
            <a:off x="9918700" y="2299791"/>
            <a:ext cx="596900" cy="177800"/>
          </a:xfrm>
          <a:prstGeom prst="rect">
            <a:avLst/>
          </a:prstGeom>
          <a:noFill/>
          <a:ln/>
        </p:spPr>
        <p:txBody>
          <a:bodyPr wrap="none" lIns="0" tIns="0" rIns="0" bIns="0" rtlCol="0" anchor="ctr"/>
          <a:lstStyle/>
          <a:p>
            <a:pPr indent="0" marL="0">
              <a:buNone/>
            </a:pPr>
            <a:r>
              <a:rPr lang="zh-CN" altLang="en-US" sz="1025" b="1" dirty="0">
                <a:solidFill>
                  <a:srgbClr val="0A1F44"/>
                </a:solidFill>
                <a:latin typeface="Heiti SC" pitchFamily="34" charset="0"/>
                <a:ea typeface="Heiti SC" pitchFamily="34" charset="-122"/>
                <a:cs typeface="Heiti SC" pitchFamily="34" charset="-120"/>
              </a:rPr>
              <a:t>等保三级</a:t>
            </a:r>
            <a:endParaRPr lang="zh-CN" sz="1025" dirty="0"/>
          </a:p>
        </p:txBody>
      </p:sp>
      <p:sp>
        <p:nvSpPr>
          <p:cNvPr id="21" name="Text 19: 网络安全等级保护三级"/>
          <p:cNvSpPr/>
          <p:nvPr/>
        </p:nvSpPr>
        <p:spPr>
          <a:xfrm>
            <a:off x="9918700" y="2507059"/>
            <a:ext cx="1060450" cy="146050"/>
          </a:xfrm>
          <a:prstGeom prst="rect">
            <a:avLst/>
          </a:prstGeom>
          <a:noFill/>
          <a:ln/>
        </p:spPr>
        <p:txBody>
          <a:bodyPr wrap="none" lIns="0" tIns="0" rIns="0" bIns="0" rtlCol="0" anchor="ctr"/>
          <a:lstStyle/>
          <a:p>
            <a:pPr indent="0" marL="0">
              <a:buNone/>
            </a:pPr>
            <a:r>
              <a:rPr lang="zh-CN" altLang="en-US" sz="775" b="1" dirty="0">
                <a:solidFill>
                  <a:srgbClr val="2E6FE8"/>
                </a:solidFill>
                <a:latin typeface="Heiti SC" pitchFamily="34" charset="0"/>
                <a:ea typeface="Heiti SC" pitchFamily="34" charset="-122"/>
                <a:cs typeface="Heiti SC" pitchFamily="34" charset="-120"/>
              </a:rPr>
              <a:t>网络安全等级保护三级</a:t>
            </a:r>
            <a:endParaRPr lang="zh-CN" sz="775" dirty="0"/>
          </a:p>
        </p:txBody>
      </p:sp>
      <p:sp>
        <p:nvSpPr>
          <p:cNvPr id="22" name="Text 20: 核心系统通过国家信息系统等级保护三"/>
          <p:cNvSpPr/>
          <p:nvPr/>
        </p:nvSpPr>
        <p:spPr>
          <a:xfrm>
            <a:off x="9918700" y="2684859"/>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核心系统通过国家信息系统等级保护三</a:t>
            </a:r>
            <a:endParaRPr lang="zh-CN" sz="700" dirty="0"/>
          </a:p>
        </p:txBody>
      </p:sp>
      <p:sp>
        <p:nvSpPr>
          <p:cNvPr id="23" name="Text 21: 级测评"/>
          <p:cNvSpPr/>
          <p:nvPr/>
        </p:nvSpPr>
        <p:spPr>
          <a:xfrm>
            <a:off x="9918700" y="2818209"/>
            <a:ext cx="3429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级测评</a:t>
            </a:r>
            <a:endParaRPr lang="zh-CN" sz="700" dirty="0"/>
          </a:p>
        </p:txBody>
      </p:sp>
      <p:sp>
        <p:nvSpPr>
          <p:cNvPr id="24" name="Text 22: 增值电信业务许可证"/>
          <p:cNvSpPr/>
          <p:nvPr/>
        </p:nvSpPr>
        <p:spPr>
          <a:xfrm>
            <a:off x="1593850" y="4446091"/>
            <a:ext cx="1247775" cy="177800"/>
          </a:xfrm>
          <a:prstGeom prst="rect">
            <a:avLst/>
          </a:prstGeom>
          <a:noFill/>
          <a:ln/>
        </p:spPr>
        <p:txBody>
          <a:bodyPr wrap="none" lIns="0" tIns="0" rIns="0" bIns="0" rtlCol="0" anchor="ctr"/>
          <a:lstStyle/>
          <a:p>
            <a:pPr indent="0" marL="0">
              <a:buNone/>
            </a:pPr>
            <a:r>
              <a:rPr lang="zh-CN" altLang="en-US" sz="1025" b="1" dirty="0">
                <a:solidFill>
                  <a:srgbClr val="0A1F44"/>
                </a:solidFill>
                <a:latin typeface="Heiti SC" pitchFamily="34" charset="0"/>
                <a:ea typeface="Heiti SC" pitchFamily="34" charset="-122"/>
                <a:cs typeface="Heiti SC" pitchFamily="34" charset="-120"/>
              </a:rPr>
              <a:t>增值电信业务许可证</a:t>
            </a:r>
            <a:endParaRPr lang="zh-CN" sz="1025" dirty="0"/>
          </a:p>
        </p:txBody>
      </p:sp>
      <p:sp>
        <p:nvSpPr>
          <p:cNvPr id="25" name="Text 23: 工信部核发"/>
          <p:cNvSpPr/>
          <p:nvPr/>
        </p:nvSpPr>
        <p:spPr>
          <a:xfrm>
            <a:off x="1593850" y="4653359"/>
            <a:ext cx="568325" cy="146050"/>
          </a:xfrm>
          <a:prstGeom prst="rect">
            <a:avLst/>
          </a:prstGeom>
          <a:noFill/>
          <a:ln/>
        </p:spPr>
        <p:txBody>
          <a:bodyPr wrap="none" lIns="0" tIns="0" rIns="0" bIns="0" rtlCol="0" anchor="ctr"/>
          <a:lstStyle/>
          <a:p>
            <a:pPr indent="0" marL="0">
              <a:buNone/>
            </a:pPr>
            <a:r>
              <a:rPr lang="zh-CN" altLang="en-US" sz="775" b="1" dirty="0">
                <a:solidFill>
                  <a:srgbClr val="0A1F44"/>
                </a:solidFill>
                <a:latin typeface="Heiti SC" pitchFamily="34" charset="0"/>
                <a:ea typeface="Heiti SC" pitchFamily="34" charset="-122"/>
                <a:cs typeface="Heiti SC" pitchFamily="34" charset="-120"/>
              </a:rPr>
              <a:t>工信部核发</a:t>
            </a:r>
            <a:endParaRPr lang="zh-CN" sz="775" dirty="0"/>
          </a:p>
        </p:txBody>
      </p:sp>
      <p:sp>
        <p:nvSpPr>
          <p:cNvPr id="26" name="Text 24: 合规经营电信增值业务的基础准入资质"/>
          <p:cNvSpPr/>
          <p:nvPr/>
        </p:nvSpPr>
        <p:spPr>
          <a:xfrm>
            <a:off x="1593850" y="4831159"/>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合规经营电信增值业务的基础准入资质</a:t>
            </a:r>
            <a:endParaRPr lang="zh-CN" sz="700" dirty="0"/>
          </a:p>
        </p:txBody>
      </p:sp>
      <p:sp>
        <p:nvSpPr>
          <p:cNvPr id="27" name="Text 25: 保障"/>
          <p:cNvSpPr/>
          <p:nvPr/>
        </p:nvSpPr>
        <p:spPr>
          <a:xfrm>
            <a:off x="1593850" y="4964509"/>
            <a:ext cx="2540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保障</a:t>
            </a:r>
            <a:endParaRPr lang="zh-CN" sz="700" dirty="0"/>
          </a:p>
        </p:txBody>
      </p:sp>
      <p:sp>
        <p:nvSpPr>
          <p:cNvPr id="28" name="Text 26: AAA 级信用企业"/>
          <p:cNvSpPr/>
          <p:nvPr/>
        </p:nvSpPr>
        <p:spPr>
          <a:xfrm>
            <a:off x="4368800" y="4512766"/>
            <a:ext cx="1035348" cy="177800"/>
          </a:xfrm>
          <a:prstGeom prst="rect">
            <a:avLst/>
          </a:prstGeom>
          <a:noFill/>
          <a:ln/>
        </p:spPr>
        <p:txBody>
          <a:bodyPr wrap="none" lIns="0" tIns="0" rIns="0" bIns="0" rtlCol="0" anchor="ctr"/>
          <a:lstStyle/>
          <a:p>
            <a:pPr indent="0" marL="0">
              <a:buNone/>
            </a:pPr>
            <a:r>
              <a:rPr lang="zh-CN" altLang="en-US" sz="1025" b="1" spc="-13" kern="0" dirty="0">
                <a:solidFill>
                  <a:srgbClr val="0A1F44"/>
                </a:solidFill>
                <a:latin typeface="Heiti SC" pitchFamily="34" charset="0"/>
                <a:ea typeface="Heiti SC" pitchFamily="34" charset="-122"/>
                <a:cs typeface="Heiti SC" pitchFamily="34" charset="-120"/>
              </a:rPr>
              <a:t>AAA 级信用企业</a:t>
            </a:r>
            <a:endParaRPr lang="zh-CN" sz="1025" dirty="0"/>
          </a:p>
        </p:txBody>
      </p:sp>
      <p:sp>
        <p:nvSpPr>
          <p:cNvPr id="29" name="Text 27: 互联网信用评价中心"/>
          <p:cNvSpPr/>
          <p:nvPr/>
        </p:nvSpPr>
        <p:spPr>
          <a:xfrm>
            <a:off x="4368800" y="4720034"/>
            <a:ext cx="962025" cy="146050"/>
          </a:xfrm>
          <a:prstGeom prst="rect">
            <a:avLst/>
          </a:prstGeom>
          <a:noFill/>
          <a:ln/>
        </p:spPr>
        <p:txBody>
          <a:bodyPr wrap="none" lIns="0" tIns="0" rIns="0" bIns="0" rtlCol="0" anchor="ctr"/>
          <a:lstStyle/>
          <a:p>
            <a:pPr indent="0" marL="0">
              <a:buNone/>
            </a:pPr>
            <a:r>
              <a:rPr lang="zh-CN" altLang="en-US" sz="775" b="1" dirty="0">
                <a:solidFill>
                  <a:srgbClr val="F02D4E"/>
                </a:solidFill>
                <a:latin typeface="Heiti SC" pitchFamily="34" charset="0"/>
                <a:ea typeface="Heiti SC" pitchFamily="34" charset="-122"/>
                <a:cs typeface="Heiti SC" pitchFamily="34" charset="-120"/>
              </a:rPr>
              <a:t>互联网信用评价中心</a:t>
            </a:r>
            <a:endParaRPr lang="zh-CN" sz="775" dirty="0"/>
          </a:p>
        </p:txBody>
      </p:sp>
      <p:sp>
        <p:nvSpPr>
          <p:cNvPr id="30" name="Text 28: 诚信守法经营获信用评价最高等级认证"/>
          <p:cNvSpPr/>
          <p:nvPr/>
        </p:nvSpPr>
        <p:spPr>
          <a:xfrm>
            <a:off x="4368800" y="4897834"/>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诚信守法经营获信用评价最高等级认证</a:t>
            </a:r>
            <a:endParaRPr lang="zh-CN" sz="700" dirty="0"/>
          </a:p>
        </p:txBody>
      </p:sp>
      <p:sp>
        <p:nvSpPr>
          <p:cNvPr id="31" name="Text 29: 高新技术企业"/>
          <p:cNvSpPr/>
          <p:nvPr/>
        </p:nvSpPr>
        <p:spPr>
          <a:xfrm>
            <a:off x="7143750" y="4446091"/>
            <a:ext cx="857250" cy="177800"/>
          </a:xfrm>
          <a:prstGeom prst="rect">
            <a:avLst/>
          </a:prstGeom>
          <a:noFill/>
          <a:ln/>
        </p:spPr>
        <p:txBody>
          <a:bodyPr wrap="none" lIns="0" tIns="0" rIns="0" bIns="0" rtlCol="0" anchor="ctr"/>
          <a:lstStyle/>
          <a:p>
            <a:pPr indent="0" marL="0">
              <a:buNone/>
            </a:pPr>
            <a:r>
              <a:rPr lang="zh-CN" altLang="en-US" sz="1025" b="1" dirty="0">
                <a:solidFill>
                  <a:srgbClr val="0A1F44"/>
                </a:solidFill>
                <a:latin typeface="Heiti SC" pitchFamily="34" charset="0"/>
                <a:ea typeface="Heiti SC" pitchFamily="34" charset="-122"/>
                <a:cs typeface="Heiti SC" pitchFamily="34" charset="-120"/>
              </a:rPr>
              <a:t>高新技术企业</a:t>
            </a:r>
            <a:endParaRPr lang="zh-CN" sz="1025" dirty="0"/>
          </a:p>
        </p:txBody>
      </p:sp>
      <p:sp>
        <p:nvSpPr>
          <p:cNvPr id="32" name="Text 30: 国家级认定"/>
          <p:cNvSpPr/>
          <p:nvPr/>
        </p:nvSpPr>
        <p:spPr>
          <a:xfrm>
            <a:off x="7143750" y="4653359"/>
            <a:ext cx="568325" cy="146050"/>
          </a:xfrm>
          <a:prstGeom prst="rect">
            <a:avLst/>
          </a:prstGeom>
          <a:noFill/>
          <a:ln/>
        </p:spPr>
        <p:txBody>
          <a:bodyPr wrap="none" lIns="0" tIns="0" rIns="0" bIns="0" rtlCol="0" anchor="ctr"/>
          <a:lstStyle/>
          <a:p>
            <a:pPr indent="0" marL="0">
              <a:buNone/>
            </a:pPr>
            <a:r>
              <a:rPr lang="zh-CN" altLang="en-US" sz="775" b="1" dirty="0">
                <a:solidFill>
                  <a:srgbClr val="2E6FE8"/>
                </a:solidFill>
                <a:latin typeface="Heiti SC" pitchFamily="34" charset="0"/>
                <a:ea typeface="Heiti SC" pitchFamily="34" charset="-122"/>
                <a:cs typeface="Heiti SC" pitchFamily="34" charset="-120"/>
              </a:rPr>
              <a:t>国家级认定</a:t>
            </a:r>
            <a:endParaRPr lang="zh-CN" sz="775" dirty="0"/>
          </a:p>
        </p:txBody>
      </p:sp>
      <p:sp>
        <p:nvSpPr>
          <p:cNvPr id="33" name="Text 31: 以核心技术自主研发与创新转化能力获"/>
          <p:cNvSpPr/>
          <p:nvPr/>
        </p:nvSpPr>
        <p:spPr>
          <a:xfrm>
            <a:off x="7143750" y="4831159"/>
            <a:ext cx="15875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以核心技术自主研发与创新转化能力获</a:t>
            </a:r>
            <a:endParaRPr lang="zh-CN" sz="700" dirty="0"/>
          </a:p>
        </p:txBody>
      </p:sp>
      <p:sp>
        <p:nvSpPr>
          <p:cNvPr id="34" name="Text 32: 国家级认定"/>
          <p:cNvSpPr/>
          <p:nvPr/>
        </p:nvSpPr>
        <p:spPr>
          <a:xfrm>
            <a:off x="7143750" y="4964509"/>
            <a:ext cx="5207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国家级认定</a:t>
            </a:r>
            <a:endParaRPr lang="zh-CN" sz="700" dirty="0"/>
          </a:p>
        </p:txBody>
      </p:sp>
      <p:sp>
        <p:nvSpPr>
          <p:cNvPr id="35" name="Text 33: 5G消息 CSP 资质"/>
          <p:cNvSpPr/>
          <p:nvPr/>
        </p:nvSpPr>
        <p:spPr>
          <a:xfrm>
            <a:off x="9918700" y="4446091"/>
            <a:ext cx="1095871" cy="177800"/>
          </a:xfrm>
          <a:prstGeom prst="rect">
            <a:avLst/>
          </a:prstGeom>
          <a:noFill/>
          <a:ln/>
        </p:spPr>
        <p:txBody>
          <a:bodyPr wrap="none" lIns="0" tIns="0" rIns="0" bIns="0" rtlCol="0" anchor="ctr"/>
          <a:lstStyle/>
          <a:p>
            <a:pPr indent="0" marL="0">
              <a:buNone/>
            </a:pPr>
            <a:r>
              <a:rPr lang="zh-CN" altLang="en-US" sz="1025" b="1" spc="0" kern="0" dirty="0">
                <a:solidFill>
                  <a:srgbClr val="0A1F44"/>
                </a:solidFill>
                <a:latin typeface="Heiti SC" pitchFamily="34" charset="0"/>
                <a:ea typeface="Heiti SC" pitchFamily="34" charset="-122"/>
                <a:cs typeface="Heiti SC" pitchFamily="34" charset="-120"/>
              </a:rPr>
              <a:t>5G消息 CSP 资质</a:t>
            </a:r>
            <a:endParaRPr lang="zh-CN" sz="1025" dirty="0"/>
          </a:p>
        </p:txBody>
      </p:sp>
      <p:sp>
        <p:nvSpPr>
          <p:cNvPr id="36" name="Text 34: 多省运营商准入"/>
          <p:cNvSpPr/>
          <p:nvPr/>
        </p:nvSpPr>
        <p:spPr>
          <a:xfrm>
            <a:off x="9918700" y="4653359"/>
            <a:ext cx="765175" cy="146050"/>
          </a:xfrm>
          <a:prstGeom prst="rect">
            <a:avLst/>
          </a:prstGeom>
          <a:noFill/>
          <a:ln/>
        </p:spPr>
        <p:txBody>
          <a:bodyPr wrap="none" lIns="0" tIns="0" rIns="0" bIns="0" rtlCol="0" anchor="ctr"/>
          <a:lstStyle/>
          <a:p>
            <a:pPr indent="0" marL="0">
              <a:buNone/>
            </a:pPr>
            <a:r>
              <a:rPr lang="zh-CN" altLang="en-US" sz="775" b="1" dirty="0">
                <a:solidFill>
                  <a:srgbClr val="0A1F44"/>
                </a:solidFill>
                <a:latin typeface="Heiti SC" pitchFamily="34" charset="0"/>
                <a:ea typeface="Heiti SC" pitchFamily="34" charset="-122"/>
                <a:cs typeface="Heiti SC" pitchFamily="34" charset="-120"/>
              </a:rPr>
              <a:t>多省运营商准入</a:t>
            </a:r>
            <a:endParaRPr lang="zh-CN" sz="775" dirty="0"/>
          </a:p>
        </p:txBody>
      </p:sp>
      <p:sp>
        <p:nvSpPr>
          <p:cNvPr id="37" name="Text 35: 获三大运营商多省 5G消息生态服务资"/>
          <p:cNvSpPr/>
          <p:nvPr/>
        </p:nvSpPr>
        <p:spPr>
          <a:xfrm>
            <a:off x="9918700" y="4831159"/>
            <a:ext cx="1549896" cy="133350"/>
          </a:xfrm>
          <a:prstGeom prst="rect">
            <a:avLst/>
          </a:prstGeom>
          <a:noFill/>
          <a:ln/>
        </p:spPr>
        <p:txBody>
          <a:bodyPr wrap="none" lIns="0" tIns="0" rIns="0" bIns="0" rtlCol="0" anchor="ctr"/>
          <a:lstStyle/>
          <a:p>
            <a:pPr indent="0" marL="0">
              <a:buNone/>
            </a:pPr>
            <a:r>
              <a:rPr lang="zh-CN" altLang="en-US" sz="700" spc="-4" kern="0" dirty="0">
                <a:solidFill>
                  <a:srgbClr val="5A6B85"/>
                </a:solidFill>
                <a:latin typeface="Heiti SC" pitchFamily="34" charset="0"/>
                <a:ea typeface="Heiti SC" pitchFamily="34" charset="-122"/>
                <a:cs typeface="Heiti SC" pitchFamily="34" charset="-120"/>
              </a:rPr>
              <a:t>获三大运营商多省 5G消息生态服务资</a:t>
            </a:r>
            <a:endParaRPr lang="zh-CN" sz="700" dirty="0"/>
          </a:p>
        </p:txBody>
      </p:sp>
      <p:sp>
        <p:nvSpPr>
          <p:cNvPr id="38" name="Text 36: 质认证"/>
          <p:cNvSpPr/>
          <p:nvPr/>
        </p:nvSpPr>
        <p:spPr>
          <a:xfrm>
            <a:off x="9918700" y="4964509"/>
            <a:ext cx="342900" cy="133350"/>
          </a:xfrm>
          <a:prstGeom prst="rect">
            <a:avLst/>
          </a:prstGeom>
          <a:noFill/>
          <a:ln/>
        </p:spPr>
        <p:txBody>
          <a:bodyPr wrap="none" lIns="0" tIns="0" rIns="0" bIns="0" rtlCol="0" anchor="ctr"/>
          <a:lstStyle/>
          <a:p>
            <a:pPr indent="0" marL="0">
              <a:buNone/>
            </a:pPr>
            <a:r>
              <a:rPr lang="zh-CN" altLang="en-US" sz="700" dirty="0">
                <a:solidFill>
                  <a:srgbClr val="5A6B85"/>
                </a:solidFill>
                <a:latin typeface="Heiti SC" pitchFamily="34" charset="0"/>
                <a:ea typeface="Heiti SC" pitchFamily="34" charset="-122"/>
                <a:cs typeface="Heiti SC" pitchFamily="34" charset="-120"/>
              </a:rPr>
              <a:t>质认证</a:t>
            </a:r>
            <a:endParaRPr lang="zh-CN" sz="700" dirty="0"/>
          </a:p>
        </p:txBody>
      </p:sp>
      <p:sp>
        <p:nvSpPr>
          <p:cNvPr id="39" name="Text 37: 07 / 25"/>
          <p:cNvSpPr/>
          <p:nvPr/>
        </p:nvSpPr>
        <p:spPr>
          <a:xfrm>
            <a:off x="11680329" y="6591300"/>
            <a:ext cx="460871" cy="165100"/>
          </a:xfrm>
          <a:prstGeom prst="rect">
            <a:avLst/>
          </a:prstGeom>
          <a:noFill/>
          <a:ln/>
        </p:spPr>
        <p:txBody>
          <a:bodyPr wrap="none" lIns="0" tIns="0" rIns="0" bIns="0" rtlCol="0" anchor="ctr"/>
          <a:lstStyle/>
          <a:p>
            <a:pPr indent="0" marL="0">
              <a:buNone/>
            </a:pPr>
            <a:r>
              <a:rPr lang="zh-CN" altLang="en-US" sz="900" spc="46" kern="0" dirty="0">
                <a:solidFill>
                  <a:srgbClr val="8A94A6"/>
                </a:solidFill>
                <a:latin typeface="Arial" pitchFamily="34" charset="0"/>
                <a:ea typeface="Arial" pitchFamily="34" charset="-122"/>
                <a:cs typeface="Arial" pitchFamily="34" charset="-120"/>
              </a:rPr>
              <a:t>07 / 25</a:t>
            </a:r>
            <a:endParaRPr lang="zh-CN"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joozo/WySync/ObBidding/wiki/pptx/UMC/build/generated/backgrounds/slide-08.png">    </p:cNvPr>
          <p:cNvPicPr>
            <a:picLocks noChangeAspect="1"/>
          </p:cNvPicPr>
          <p:nvPr/>
        </p:nvPicPr>
        <p:blipFill>
          <a:blip r:embed="rId1"/>
          <a:stretch>
            <a:fillRect/>
          </a:stretch>
        </p:blipFill>
        <p:spPr>
          <a:xfrm>
            <a:off x="0" y="0"/>
            <a:ext cx="12192000" cy="6858000"/>
          </a:xfrm>
          <a:prstGeom prst="rect">
            <a:avLst/>
          </a:prstGeom>
        </p:spPr>
      </p:pic>
      <p:sp>
        <p:nvSpPr>
          <p:cNvPr id="3" name="Text 1: 01 · 服务团队"/>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01 · 服务团队</a:t>
            </a:r>
            <a:endParaRPr lang="zh-CN" sz="1000" dirty="0"/>
          </a:p>
        </p:txBody>
      </p:sp>
      <p:sp>
        <p:nvSpPr>
          <p:cNvPr id="4" name="Text 2: 专业 · 极致 · 全网"/>
          <p:cNvSpPr/>
          <p:nvPr/>
        </p:nvSpPr>
        <p:spPr>
          <a:xfrm>
            <a:off x="609600" y="546100"/>
            <a:ext cx="2242741" cy="349250"/>
          </a:xfrm>
          <a:prstGeom prst="rect">
            <a:avLst/>
          </a:prstGeom>
          <a:noFill/>
          <a:ln/>
        </p:spPr>
        <p:txBody>
          <a:bodyPr wrap="none" lIns="0" tIns="0" rIns="0" bIns="0" rtlCol="0" anchor="ctr"/>
          <a:lstStyle/>
          <a:p>
            <a:pPr indent="0" marL="0">
              <a:buNone/>
            </a:pPr>
            <a:r>
              <a:rPr lang="zh-CN" altLang="en-US" sz="2250" b="1" spc="-290" kern="0" dirty="0">
                <a:solidFill>
                  <a:srgbClr val="0A1F44"/>
                </a:solidFill>
                <a:latin typeface="Heiti SC" pitchFamily="34" charset="0"/>
                <a:ea typeface="Heiti SC" pitchFamily="34" charset="-122"/>
                <a:cs typeface="Heiti SC" pitchFamily="34" charset="-120"/>
              </a:rPr>
              <a:t>专业 · 极致 · 全网</a:t>
            </a:r>
            <a:endParaRPr lang="zh-CN" sz="2250" dirty="0"/>
          </a:p>
        </p:txBody>
      </p:sp>
      <p:sp>
        <p:nvSpPr>
          <p:cNvPr id="5" name="Text 3: SERVICE NETWORK"/>
          <p:cNvSpPr/>
          <p:nvPr/>
        </p:nvSpPr>
        <p:spPr>
          <a:xfrm>
            <a:off x="914400" y="1384300"/>
            <a:ext cx="1706166" cy="171450"/>
          </a:xfrm>
          <a:prstGeom prst="rect">
            <a:avLst/>
          </a:prstGeom>
          <a:noFill/>
          <a:ln/>
        </p:spPr>
        <p:txBody>
          <a:bodyPr wrap="none" lIns="0" tIns="0" rIns="0" bIns="0" rtlCol="0" anchor="ctr"/>
          <a:lstStyle/>
          <a:p>
            <a:pPr indent="0" marL="0">
              <a:buNone/>
            </a:pPr>
            <a:r>
              <a:rPr lang="zh-CN" altLang="en-US" sz="975" spc="237" kern="0" dirty="0">
                <a:solidFill>
                  <a:srgbClr val="9DA7B7"/>
                </a:solidFill>
                <a:latin typeface="Arial" pitchFamily="34" charset="0"/>
                <a:ea typeface="Arial" pitchFamily="34" charset="-122"/>
                <a:cs typeface="Arial" pitchFamily="34" charset="-120"/>
              </a:rPr>
              <a:t>SERVICE NETWORK</a:t>
            </a:r>
            <a:endParaRPr lang="zh-CN" sz="975" dirty="0"/>
          </a:p>
        </p:txBody>
      </p:sp>
      <p:sp>
        <p:nvSpPr>
          <p:cNvPr id="6" name="Text 4: 全网营销和"/>
          <p:cNvSpPr/>
          <p:nvPr/>
        </p:nvSpPr>
        <p:spPr>
          <a:xfrm>
            <a:off x="914400" y="1701800"/>
            <a:ext cx="1314450" cy="304800"/>
          </a:xfrm>
          <a:prstGeom prst="rect">
            <a:avLst/>
          </a:prstGeom>
          <a:noFill/>
          <a:ln/>
        </p:spPr>
        <p:txBody>
          <a:bodyPr wrap="none" lIns="0" tIns="0" rIns="0" bIns="0" rtlCol="0" anchor="ctr"/>
          <a:lstStyle/>
          <a:p>
            <a:pPr indent="0" marL="0">
              <a:buNone/>
            </a:pPr>
            <a:r>
              <a:rPr lang="zh-CN" altLang="en-US" sz="1950" b="1" dirty="0">
                <a:solidFill>
                  <a:srgbClr val="FFFFFF"/>
                </a:solidFill>
                <a:latin typeface="Heiti SC" pitchFamily="34" charset="0"/>
                <a:ea typeface="Heiti SC" pitchFamily="34" charset="-122"/>
                <a:cs typeface="Heiti SC" pitchFamily="34" charset="-120"/>
              </a:rPr>
              <a:t>全网营销和</a:t>
            </a:r>
            <a:endParaRPr lang="zh-CN" sz="1950" dirty="0"/>
          </a:p>
        </p:txBody>
      </p:sp>
      <p:sp>
        <p:nvSpPr>
          <p:cNvPr id="7" name="Text 5: 客户服务网络"/>
          <p:cNvSpPr/>
          <p:nvPr/>
        </p:nvSpPr>
        <p:spPr>
          <a:xfrm>
            <a:off x="914400" y="2073275"/>
            <a:ext cx="1562100" cy="304800"/>
          </a:xfrm>
          <a:prstGeom prst="rect">
            <a:avLst/>
          </a:prstGeom>
          <a:noFill/>
          <a:ln/>
        </p:spPr>
        <p:txBody>
          <a:bodyPr wrap="none" lIns="0" tIns="0" rIns="0" bIns="0" rtlCol="0" anchor="ctr"/>
          <a:lstStyle/>
          <a:p>
            <a:pPr indent="0" marL="0">
              <a:buNone/>
            </a:pPr>
            <a:r>
              <a:rPr lang="zh-CN" altLang="en-US" sz="1950" b="1" dirty="0">
                <a:solidFill>
                  <a:srgbClr val="FFFFFF"/>
                </a:solidFill>
                <a:latin typeface="Heiti SC" pitchFamily="34" charset="0"/>
                <a:ea typeface="Heiti SC" pitchFamily="34" charset="-122"/>
                <a:cs typeface="Heiti SC" pitchFamily="34" charset="-120"/>
              </a:rPr>
              <a:t>客户服务网络</a:t>
            </a:r>
            <a:endParaRPr lang="zh-CN" sz="1950" dirty="0"/>
          </a:p>
        </p:txBody>
      </p:sp>
      <p:sp>
        <p:nvSpPr>
          <p:cNvPr id="8" name="Text 6: 依托覆盖全国的服务网络，建立本地化服务"/>
          <p:cNvSpPr/>
          <p:nvPr/>
        </p:nvSpPr>
        <p:spPr>
          <a:xfrm>
            <a:off x="914400" y="3350716"/>
            <a:ext cx="2609850" cy="177800"/>
          </a:xfrm>
          <a:prstGeom prst="rect">
            <a:avLst/>
          </a:prstGeom>
          <a:noFill/>
          <a:ln/>
        </p:spPr>
        <p:txBody>
          <a:bodyPr wrap="none" lIns="0" tIns="0" rIns="0" bIns="0" rtlCol="0" anchor="ctr"/>
          <a:lstStyle/>
          <a:p>
            <a:pPr indent="0" marL="0">
              <a:buNone/>
            </a:pPr>
            <a:r>
              <a:rPr lang="zh-CN" altLang="en-US" sz="1050" dirty="0">
                <a:solidFill>
                  <a:srgbClr val="ABB5C7"/>
                </a:solidFill>
                <a:latin typeface="Heiti SC" pitchFamily="34" charset="0"/>
                <a:ea typeface="Heiti SC" pitchFamily="34" charset="-122"/>
                <a:cs typeface="Heiti SC" pitchFamily="34" charset="-120"/>
              </a:rPr>
              <a:t>依托覆盖全国的服务网络，建立本地化服务</a:t>
            </a:r>
            <a:endParaRPr lang="zh-CN" sz="1050" dirty="0"/>
          </a:p>
        </p:txBody>
      </p:sp>
      <p:sp>
        <p:nvSpPr>
          <p:cNvPr id="9" name="Text 7: 快速响应机制——客户在哪里，服务团队就"/>
          <p:cNvSpPr/>
          <p:nvPr/>
        </p:nvSpPr>
        <p:spPr>
          <a:xfrm>
            <a:off x="914400" y="3604022"/>
            <a:ext cx="2609850" cy="177800"/>
          </a:xfrm>
          <a:prstGeom prst="rect">
            <a:avLst/>
          </a:prstGeom>
          <a:noFill/>
          <a:ln/>
        </p:spPr>
        <p:txBody>
          <a:bodyPr wrap="none" lIns="0" tIns="0" rIns="0" bIns="0" rtlCol="0" anchor="ctr"/>
          <a:lstStyle/>
          <a:p>
            <a:pPr indent="0" marL="0">
              <a:buNone/>
            </a:pPr>
            <a:r>
              <a:rPr lang="zh-CN" altLang="en-US" sz="1050" dirty="0">
                <a:solidFill>
                  <a:srgbClr val="ABB6C8"/>
                </a:solidFill>
                <a:latin typeface="Heiti SC" pitchFamily="34" charset="0"/>
                <a:ea typeface="Heiti SC" pitchFamily="34" charset="-122"/>
                <a:cs typeface="Heiti SC" pitchFamily="34" charset="-120"/>
              </a:rPr>
              <a:t>快速响应机制——客户在哪里，服务团队就</a:t>
            </a:r>
            <a:endParaRPr lang="zh-CN" sz="1050" dirty="0"/>
          </a:p>
        </p:txBody>
      </p:sp>
      <p:sp>
        <p:nvSpPr>
          <p:cNvPr id="10" name="Text 8: 在哪里。"/>
          <p:cNvSpPr/>
          <p:nvPr/>
        </p:nvSpPr>
        <p:spPr>
          <a:xfrm>
            <a:off x="914400" y="3857327"/>
            <a:ext cx="609600" cy="177800"/>
          </a:xfrm>
          <a:prstGeom prst="rect">
            <a:avLst/>
          </a:prstGeom>
          <a:noFill/>
          <a:ln/>
        </p:spPr>
        <p:txBody>
          <a:bodyPr wrap="none" lIns="0" tIns="0" rIns="0" bIns="0" rtlCol="0" anchor="ctr"/>
          <a:lstStyle/>
          <a:p>
            <a:pPr indent="0" marL="0">
              <a:buNone/>
            </a:pPr>
            <a:r>
              <a:rPr lang="zh-CN" altLang="en-US" sz="1050" dirty="0">
                <a:solidFill>
                  <a:srgbClr val="ABB6C8"/>
                </a:solidFill>
                <a:latin typeface="Heiti SC" pitchFamily="34" charset="0"/>
                <a:ea typeface="Heiti SC" pitchFamily="34" charset="-122"/>
                <a:cs typeface="Heiti SC" pitchFamily="34" charset="-120"/>
              </a:rPr>
              <a:t>在哪里。</a:t>
            </a:r>
            <a:endParaRPr lang="zh-CN" sz="1050" dirty="0"/>
          </a:p>
        </p:txBody>
      </p:sp>
      <p:sp>
        <p:nvSpPr>
          <p:cNvPr id="11" name="Text 9: 本地化服务 · 快速响应"/>
          <p:cNvSpPr/>
          <p:nvPr/>
        </p:nvSpPr>
        <p:spPr>
          <a:xfrm>
            <a:off x="1352550" y="5111750"/>
            <a:ext cx="1283692" cy="171450"/>
          </a:xfrm>
          <a:prstGeom prst="rect">
            <a:avLst/>
          </a:prstGeom>
          <a:noFill/>
          <a:ln/>
        </p:spPr>
        <p:txBody>
          <a:bodyPr wrap="none" lIns="0" tIns="0" rIns="0" bIns="0" rtlCol="0" anchor="ctr"/>
          <a:lstStyle/>
          <a:p>
            <a:pPr indent="0" marL="0">
              <a:buNone/>
            </a:pPr>
            <a:r>
              <a:rPr lang="zh-CN" altLang="en-US" sz="975" spc="-66" kern="0" dirty="0">
                <a:solidFill>
                  <a:srgbClr val="DEE3EB"/>
                </a:solidFill>
                <a:latin typeface="Heiti SC" pitchFamily="34" charset="0"/>
                <a:ea typeface="Heiti SC" pitchFamily="34" charset="-122"/>
                <a:cs typeface="Heiti SC" pitchFamily="34" charset="-120"/>
              </a:rPr>
              <a:t>本地化服务 · 快速响应</a:t>
            </a:r>
            <a:endParaRPr lang="zh-CN" sz="975" dirty="0"/>
          </a:p>
        </p:txBody>
      </p:sp>
      <p:sp>
        <p:nvSpPr>
          <p:cNvPr id="12" name="Text 10: 6"/>
          <p:cNvSpPr/>
          <p:nvPr/>
        </p:nvSpPr>
        <p:spPr>
          <a:xfrm>
            <a:off x="4438650" y="2015530"/>
            <a:ext cx="570309" cy="908050"/>
          </a:xfrm>
          <a:prstGeom prst="rect">
            <a:avLst/>
          </a:prstGeom>
          <a:noFill/>
          <a:ln/>
        </p:spPr>
        <p:txBody>
          <a:bodyPr wrap="none" lIns="0" tIns="0" rIns="0" bIns="0" rtlCol="0" anchor="ctr"/>
          <a:lstStyle/>
          <a:p>
            <a:pPr indent="0" marL="0">
              <a:buNone/>
            </a:pPr>
            <a:r>
              <a:rPr lang="zh-CN" altLang="en-US" sz="6300" b="1" dirty="0">
                <a:solidFill>
                  <a:srgbClr val="F02D4E"/>
                </a:solidFill>
                <a:latin typeface="Arial" pitchFamily="34" charset="0"/>
                <a:ea typeface="Arial" pitchFamily="34" charset="-122"/>
                <a:cs typeface="Arial" pitchFamily="34" charset="-120"/>
              </a:rPr>
              <a:t>6</a:t>
            </a:r>
            <a:endParaRPr lang="zh-CN" sz="6300" dirty="0"/>
          </a:p>
        </p:txBody>
      </p:sp>
      <p:sp>
        <p:nvSpPr>
          <p:cNvPr id="13" name="Text 11: 家"/>
          <p:cNvSpPr/>
          <p:nvPr/>
        </p:nvSpPr>
        <p:spPr>
          <a:xfrm>
            <a:off x="5008959" y="2504480"/>
            <a:ext cx="323850" cy="304800"/>
          </a:xfrm>
          <a:prstGeom prst="rect">
            <a:avLst/>
          </a:prstGeom>
          <a:noFill/>
          <a:ln/>
        </p:spPr>
        <p:txBody>
          <a:bodyPr wrap="none" lIns="0" tIns="0" rIns="0" bIns="0" rtlCol="0" anchor="ctr"/>
          <a:lstStyle/>
          <a:p>
            <a:pPr indent="0" marL="0">
              <a:buNone/>
            </a:pPr>
            <a:r>
              <a:rPr lang="zh-CN" altLang="en-US" sz="1950" b="1" dirty="0">
                <a:solidFill>
                  <a:srgbClr val="0A1F44"/>
                </a:solidFill>
                <a:latin typeface="Heiti SC" pitchFamily="34" charset="0"/>
                <a:ea typeface="Heiti SC" pitchFamily="34" charset="-122"/>
                <a:cs typeface="Heiti SC" pitchFamily="34" charset="-120"/>
              </a:rPr>
              <a:t>家</a:t>
            </a:r>
            <a:endParaRPr lang="zh-CN" sz="1950" dirty="0"/>
          </a:p>
        </p:txBody>
      </p:sp>
      <p:sp>
        <p:nvSpPr>
          <p:cNvPr id="14" name="Text 12: 分公司覆盖全国"/>
          <p:cNvSpPr/>
          <p:nvPr/>
        </p:nvSpPr>
        <p:spPr>
          <a:xfrm>
            <a:off x="4438650" y="2955330"/>
            <a:ext cx="11430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分公司覆盖全国</a:t>
            </a:r>
            <a:endParaRPr lang="zh-CN" sz="1200" dirty="0"/>
          </a:p>
        </p:txBody>
      </p:sp>
      <p:sp>
        <p:nvSpPr>
          <p:cNvPr id="15" name="Text 13: 北京总部 + 区域分公司，形成南北呼应的服务布局"/>
          <p:cNvSpPr/>
          <p:nvPr/>
        </p:nvSpPr>
        <p:spPr>
          <a:xfrm>
            <a:off x="4438650" y="3247430"/>
            <a:ext cx="2805807" cy="171450"/>
          </a:xfrm>
          <a:prstGeom prst="rect">
            <a:avLst/>
          </a:prstGeom>
          <a:noFill/>
          <a:ln/>
        </p:spPr>
        <p:txBody>
          <a:bodyPr wrap="none" lIns="0" tIns="0" rIns="0" bIns="0" rtlCol="0" anchor="ctr"/>
          <a:lstStyle/>
          <a:p>
            <a:pPr indent="0" marL="0">
              <a:buNone/>
            </a:pPr>
            <a:r>
              <a:rPr lang="zh-CN" altLang="en-US" sz="975" spc="-3" kern="0" dirty="0">
                <a:solidFill>
                  <a:srgbClr val="5A6B85"/>
                </a:solidFill>
                <a:latin typeface="Heiti SC" pitchFamily="34" charset="0"/>
                <a:ea typeface="Heiti SC" pitchFamily="34" charset="-122"/>
                <a:cs typeface="Heiti SC" pitchFamily="34" charset="-120"/>
              </a:rPr>
              <a:t>北京总部 + 区域分公司，形成南北呼应的服务布局</a:t>
            </a:r>
            <a:endParaRPr lang="zh-CN" sz="975" dirty="0"/>
          </a:p>
        </p:txBody>
      </p:sp>
      <p:sp>
        <p:nvSpPr>
          <p:cNvPr id="16" name="Text 14: 34"/>
          <p:cNvSpPr/>
          <p:nvPr/>
        </p:nvSpPr>
        <p:spPr>
          <a:xfrm>
            <a:off x="8248650" y="2015530"/>
            <a:ext cx="1064816" cy="908050"/>
          </a:xfrm>
          <a:prstGeom prst="rect">
            <a:avLst/>
          </a:prstGeom>
          <a:noFill/>
          <a:ln/>
        </p:spPr>
        <p:txBody>
          <a:bodyPr wrap="none" lIns="0" tIns="0" rIns="0" bIns="0" rtlCol="0" anchor="ctr"/>
          <a:lstStyle/>
          <a:p>
            <a:pPr indent="0" marL="0">
              <a:buNone/>
            </a:pPr>
            <a:r>
              <a:rPr lang="zh-CN" altLang="en-US" sz="6300" b="1" spc="777" kern="0" dirty="0">
                <a:solidFill>
                  <a:srgbClr val="2E6FE8"/>
                </a:solidFill>
                <a:latin typeface="Arial" pitchFamily="34" charset="0"/>
                <a:ea typeface="Arial" pitchFamily="34" charset="-122"/>
                <a:cs typeface="Arial" pitchFamily="34" charset="-120"/>
              </a:rPr>
              <a:t>34</a:t>
            </a:r>
            <a:endParaRPr lang="zh-CN" sz="6300" dirty="0"/>
          </a:p>
        </p:txBody>
      </p:sp>
      <p:sp>
        <p:nvSpPr>
          <p:cNvPr id="17" name="Text 15: 个"/>
          <p:cNvSpPr/>
          <p:nvPr/>
        </p:nvSpPr>
        <p:spPr>
          <a:xfrm>
            <a:off x="9313466" y="2504480"/>
            <a:ext cx="323850" cy="304800"/>
          </a:xfrm>
          <a:prstGeom prst="rect">
            <a:avLst/>
          </a:prstGeom>
          <a:noFill/>
          <a:ln/>
        </p:spPr>
        <p:txBody>
          <a:bodyPr wrap="none" lIns="0" tIns="0" rIns="0" bIns="0" rtlCol="0" anchor="ctr"/>
          <a:lstStyle/>
          <a:p>
            <a:pPr indent="0" marL="0">
              <a:buNone/>
            </a:pPr>
            <a:r>
              <a:rPr lang="zh-CN" altLang="en-US" sz="1950" b="1" dirty="0">
                <a:solidFill>
                  <a:srgbClr val="0A1F44"/>
                </a:solidFill>
                <a:latin typeface="Heiti SC" pitchFamily="34" charset="0"/>
                <a:ea typeface="Heiti SC" pitchFamily="34" charset="-122"/>
                <a:cs typeface="Heiti SC" pitchFamily="34" charset="-120"/>
              </a:rPr>
              <a:t>个</a:t>
            </a:r>
            <a:endParaRPr lang="zh-CN" sz="1950" dirty="0"/>
          </a:p>
        </p:txBody>
      </p:sp>
      <p:sp>
        <p:nvSpPr>
          <p:cNvPr id="18" name="Text 16: 省级行政区服务覆盖"/>
          <p:cNvSpPr/>
          <p:nvPr/>
        </p:nvSpPr>
        <p:spPr>
          <a:xfrm>
            <a:off x="8248650" y="2955330"/>
            <a:ext cx="14478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省级行政区服务覆盖</a:t>
            </a:r>
            <a:endParaRPr lang="zh-CN" sz="1200" dirty="0"/>
          </a:p>
        </p:txBody>
      </p:sp>
      <p:sp>
        <p:nvSpPr>
          <p:cNvPr id="19" name="Text 17: 服务能力触达全国所有省级行政区域"/>
          <p:cNvSpPr/>
          <p:nvPr/>
        </p:nvSpPr>
        <p:spPr>
          <a:xfrm>
            <a:off x="8248650" y="3247430"/>
            <a:ext cx="2057400"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服务能力触达全国所有省级行政区域</a:t>
            </a:r>
            <a:endParaRPr lang="zh-CN" sz="975" dirty="0"/>
          </a:p>
        </p:txBody>
      </p:sp>
      <p:sp>
        <p:nvSpPr>
          <p:cNvPr id="20" name="Text 18: 六大服务中心"/>
          <p:cNvSpPr/>
          <p:nvPr/>
        </p:nvSpPr>
        <p:spPr>
          <a:xfrm>
            <a:off x="4438650" y="4908550"/>
            <a:ext cx="876300" cy="177800"/>
          </a:xfrm>
          <a:prstGeom prst="rect">
            <a:avLst/>
          </a:prstGeom>
          <a:noFill/>
          <a:ln/>
        </p:spPr>
        <p:txBody>
          <a:bodyPr wrap="none" lIns="0" tIns="0" rIns="0" bIns="0" rtlCol="0" anchor="ctr"/>
          <a:lstStyle/>
          <a:p>
            <a:pPr indent="0" marL="0">
              <a:buNone/>
            </a:pPr>
            <a:r>
              <a:rPr lang="zh-CN" altLang="en-US" sz="1050" b="1" dirty="0">
                <a:solidFill>
                  <a:srgbClr val="0A1F44"/>
                </a:solidFill>
                <a:latin typeface="Heiti SC" pitchFamily="34" charset="0"/>
                <a:ea typeface="Heiti SC" pitchFamily="34" charset="-122"/>
                <a:cs typeface="Heiti SC" pitchFamily="34" charset="-120"/>
              </a:rPr>
              <a:t>六大服务中心</a:t>
            </a:r>
            <a:endParaRPr lang="zh-CN" sz="1050" dirty="0"/>
          </a:p>
        </p:txBody>
      </p:sp>
      <p:sp>
        <p:nvSpPr>
          <p:cNvPr id="21" name="Text 19: 北京 · 总部"/>
          <p:cNvSpPr/>
          <p:nvPr/>
        </p:nvSpPr>
        <p:spPr>
          <a:xfrm>
            <a:off x="4762500" y="5302250"/>
            <a:ext cx="707430" cy="177800"/>
          </a:xfrm>
          <a:prstGeom prst="rect">
            <a:avLst/>
          </a:prstGeom>
          <a:noFill/>
          <a:ln/>
        </p:spPr>
        <p:txBody>
          <a:bodyPr wrap="none" lIns="0" tIns="0" rIns="0" bIns="0" rtlCol="0" anchor="ctr"/>
          <a:lstStyle/>
          <a:p>
            <a:pPr indent="0" marL="0">
              <a:buNone/>
            </a:pPr>
            <a:r>
              <a:rPr lang="zh-CN" altLang="en-US" sz="1050" b="1" spc="-134" kern="0" dirty="0">
                <a:solidFill>
                  <a:srgbClr val="F02D4E"/>
                </a:solidFill>
                <a:latin typeface="Heiti SC" pitchFamily="34" charset="0"/>
                <a:ea typeface="Heiti SC" pitchFamily="34" charset="-122"/>
                <a:cs typeface="Heiti SC" pitchFamily="34" charset="-120"/>
              </a:rPr>
              <a:t>北京 · 总部</a:t>
            </a:r>
            <a:endParaRPr lang="zh-CN" sz="1050" dirty="0"/>
          </a:p>
        </p:txBody>
      </p:sp>
      <p:sp>
        <p:nvSpPr>
          <p:cNvPr id="22" name="Text 20: 上海"/>
          <p:cNvSpPr/>
          <p:nvPr/>
        </p:nvSpPr>
        <p:spPr>
          <a:xfrm>
            <a:off x="6003330" y="5302250"/>
            <a:ext cx="342900" cy="177800"/>
          </a:xfrm>
          <a:prstGeom prst="rect">
            <a:avLst/>
          </a:prstGeom>
          <a:noFill/>
          <a:ln/>
        </p:spPr>
        <p:txBody>
          <a:bodyPr wrap="none" lIns="0" tIns="0" rIns="0" bIns="0" rtlCol="0" anchor="ctr"/>
          <a:lstStyle/>
          <a:p>
            <a:pPr indent="0" marL="0">
              <a:buNone/>
            </a:pPr>
            <a:r>
              <a:rPr lang="zh-CN" altLang="en-US" sz="1050" b="1" dirty="0">
                <a:solidFill>
                  <a:srgbClr val="0A1F44"/>
                </a:solidFill>
                <a:latin typeface="Heiti SC" pitchFamily="34" charset="0"/>
                <a:ea typeface="Heiti SC" pitchFamily="34" charset="-122"/>
                <a:cs typeface="Heiti SC" pitchFamily="34" charset="-120"/>
              </a:rPr>
              <a:t>上海</a:t>
            </a:r>
            <a:endParaRPr lang="zh-CN" sz="1050" dirty="0"/>
          </a:p>
        </p:txBody>
      </p:sp>
      <p:sp>
        <p:nvSpPr>
          <p:cNvPr id="23" name="Text 21: 山东"/>
          <p:cNvSpPr/>
          <p:nvPr/>
        </p:nvSpPr>
        <p:spPr>
          <a:xfrm>
            <a:off x="6879630" y="5302250"/>
            <a:ext cx="342900" cy="177800"/>
          </a:xfrm>
          <a:prstGeom prst="rect">
            <a:avLst/>
          </a:prstGeom>
          <a:noFill/>
          <a:ln/>
        </p:spPr>
        <p:txBody>
          <a:bodyPr wrap="none" lIns="0" tIns="0" rIns="0" bIns="0" rtlCol="0" anchor="ctr"/>
          <a:lstStyle/>
          <a:p>
            <a:pPr indent="0" marL="0">
              <a:buNone/>
            </a:pPr>
            <a:r>
              <a:rPr lang="zh-CN" altLang="en-US" sz="1050" b="1" dirty="0">
                <a:solidFill>
                  <a:srgbClr val="0A1F44"/>
                </a:solidFill>
                <a:latin typeface="Heiti SC" pitchFamily="34" charset="0"/>
                <a:ea typeface="Heiti SC" pitchFamily="34" charset="-122"/>
                <a:cs typeface="Heiti SC" pitchFamily="34" charset="-120"/>
              </a:rPr>
              <a:t>山东</a:t>
            </a:r>
            <a:endParaRPr lang="zh-CN" sz="1050" dirty="0"/>
          </a:p>
        </p:txBody>
      </p:sp>
      <p:sp>
        <p:nvSpPr>
          <p:cNvPr id="24" name="Text 22: 深圳"/>
          <p:cNvSpPr/>
          <p:nvPr/>
        </p:nvSpPr>
        <p:spPr>
          <a:xfrm>
            <a:off x="7755930" y="5302250"/>
            <a:ext cx="342900" cy="177800"/>
          </a:xfrm>
          <a:prstGeom prst="rect">
            <a:avLst/>
          </a:prstGeom>
          <a:noFill/>
          <a:ln/>
        </p:spPr>
        <p:txBody>
          <a:bodyPr wrap="none" lIns="0" tIns="0" rIns="0" bIns="0" rtlCol="0" anchor="ctr"/>
          <a:lstStyle/>
          <a:p>
            <a:pPr indent="0" marL="0">
              <a:buNone/>
            </a:pPr>
            <a:r>
              <a:rPr lang="zh-CN" altLang="en-US" sz="1050" b="1" dirty="0">
                <a:solidFill>
                  <a:srgbClr val="0A1F44"/>
                </a:solidFill>
                <a:latin typeface="Heiti SC" pitchFamily="34" charset="0"/>
                <a:ea typeface="Heiti SC" pitchFamily="34" charset="-122"/>
                <a:cs typeface="Heiti SC" pitchFamily="34" charset="-120"/>
              </a:rPr>
              <a:t>深圳</a:t>
            </a:r>
            <a:endParaRPr lang="zh-CN" sz="1050" dirty="0"/>
          </a:p>
        </p:txBody>
      </p:sp>
      <p:sp>
        <p:nvSpPr>
          <p:cNvPr id="25" name="Text 23: 成都"/>
          <p:cNvSpPr/>
          <p:nvPr/>
        </p:nvSpPr>
        <p:spPr>
          <a:xfrm>
            <a:off x="8632230" y="5302250"/>
            <a:ext cx="342900" cy="177800"/>
          </a:xfrm>
          <a:prstGeom prst="rect">
            <a:avLst/>
          </a:prstGeom>
          <a:noFill/>
          <a:ln/>
        </p:spPr>
        <p:txBody>
          <a:bodyPr wrap="none" lIns="0" tIns="0" rIns="0" bIns="0" rtlCol="0" anchor="ctr"/>
          <a:lstStyle/>
          <a:p>
            <a:pPr indent="0" marL="0">
              <a:buNone/>
            </a:pPr>
            <a:r>
              <a:rPr lang="zh-CN" altLang="en-US" sz="1050" b="1" dirty="0">
                <a:solidFill>
                  <a:srgbClr val="0A1F44"/>
                </a:solidFill>
                <a:latin typeface="Heiti SC" pitchFamily="34" charset="0"/>
                <a:ea typeface="Heiti SC" pitchFamily="34" charset="-122"/>
                <a:cs typeface="Heiti SC" pitchFamily="34" charset="-120"/>
              </a:rPr>
              <a:t>成都</a:t>
            </a:r>
            <a:endParaRPr lang="zh-CN" sz="1050" dirty="0"/>
          </a:p>
        </p:txBody>
      </p:sp>
      <p:sp>
        <p:nvSpPr>
          <p:cNvPr id="26" name="Text 24: 长沙"/>
          <p:cNvSpPr/>
          <p:nvPr/>
        </p:nvSpPr>
        <p:spPr>
          <a:xfrm>
            <a:off x="9508530" y="5302250"/>
            <a:ext cx="342900" cy="177800"/>
          </a:xfrm>
          <a:prstGeom prst="rect">
            <a:avLst/>
          </a:prstGeom>
          <a:noFill/>
          <a:ln/>
        </p:spPr>
        <p:txBody>
          <a:bodyPr wrap="none" lIns="0" tIns="0" rIns="0" bIns="0" rtlCol="0" anchor="ctr"/>
          <a:lstStyle/>
          <a:p>
            <a:pPr indent="0" marL="0">
              <a:buNone/>
            </a:pPr>
            <a:r>
              <a:rPr lang="zh-CN" altLang="en-US" sz="1050" b="1" dirty="0">
                <a:solidFill>
                  <a:srgbClr val="0A1F44"/>
                </a:solidFill>
                <a:latin typeface="Heiti SC" pitchFamily="34" charset="0"/>
                <a:ea typeface="Heiti SC" pitchFamily="34" charset="-122"/>
                <a:cs typeface="Heiti SC" pitchFamily="34" charset="-120"/>
              </a:rPr>
              <a:t>长沙</a:t>
            </a:r>
            <a:endParaRPr lang="zh-CN" sz="1050" dirty="0"/>
          </a:p>
        </p:txBody>
      </p:sp>
      <p:sp>
        <p:nvSpPr>
          <p:cNvPr id="27" name="Text 25: 08 / 25"/>
          <p:cNvSpPr/>
          <p:nvPr/>
        </p:nvSpPr>
        <p:spPr>
          <a:xfrm>
            <a:off x="11677948" y="6591300"/>
            <a:ext cx="463252" cy="165100"/>
          </a:xfrm>
          <a:prstGeom prst="rect">
            <a:avLst/>
          </a:prstGeom>
          <a:noFill/>
          <a:ln/>
        </p:spPr>
        <p:txBody>
          <a:bodyPr wrap="none" lIns="0" tIns="0" rIns="0" bIns="0" rtlCol="0" anchor="ctr"/>
          <a:lstStyle/>
          <a:p>
            <a:pPr indent="0" marL="0">
              <a:buNone/>
            </a:pPr>
            <a:r>
              <a:rPr lang="zh-CN" altLang="en-US" sz="900" spc="49" kern="0" dirty="0">
                <a:solidFill>
                  <a:srgbClr val="8A94A6"/>
                </a:solidFill>
                <a:latin typeface="Arial" pitchFamily="34" charset="0"/>
                <a:ea typeface="Arial" pitchFamily="34" charset="-122"/>
                <a:cs typeface="Arial" pitchFamily="34" charset="-120"/>
              </a:rPr>
              <a:t>08 / 25</a:t>
            </a:r>
            <a:endParaRPr lang="zh-CN"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joozo/WySync/ObBidding/wiki/pptx/UMC/build/generated/backgrounds/slide-09.png">    </p:cNvPr>
          <p:cNvPicPr>
            <a:picLocks noChangeAspect="1"/>
          </p:cNvPicPr>
          <p:nvPr/>
        </p:nvPicPr>
        <p:blipFill>
          <a:blip r:embed="rId1"/>
          <a:stretch>
            <a:fillRect/>
          </a:stretch>
        </p:blipFill>
        <p:spPr>
          <a:xfrm>
            <a:off x="0" y="0"/>
            <a:ext cx="12192000" cy="6858000"/>
          </a:xfrm>
          <a:prstGeom prst="rect">
            <a:avLst/>
          </a:prstGeom>
        </p:spPr>
      </p:pic>
      <p:sp>
        <p:nvSpPr>
          <p:cNvPr id="3" name="Text 1: 01 · 研发能力"/>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01 · 研发能力</a:t>
            </a:r>
            <a:endParaRPr lang="zh-CN" sz="1000" dirty="0"/>
          </a:p>
        </p:txBody>
      </p:sp>
      <p:sp>
        <p:nvSpPr>
          <p:cNvPr id="4" name="Text 2: 强大的研发能力"/>
          <p:cNvSpPr/>
          <p:nvPr/>
        </p:nvSpPr>
        <p:spPr>
          <a:xfrm>
            <a:off x="609600" y="546100"/>
            <a:ext cx="2098675" cy="349250"/>
          </a:xfrm>
          <a:prstGeom prst="rect">
            <a:avLst/>
          </a:prstGeom>
          <a:noFill/>
          <a:ln/>
        </p:spPr>
        <p:txBody>
          <a:bodyPr wrap="none" lIns="0" tIns="0" rIns="0" bIns="0" rtlCol="0" anchor="ctr"/>
          <a:lstStyle/>
          <a:p>
            <a:pPr indent="0" marL="0">
              <a:buNone/>
            </a:pPr>
            <a:r>
              <a:rPr lang="zh-CN" altLang="en-US" sz="2250" b="1" spc="29" kern="0" dirty="0">
                <a:solidFill>
                  <a:srgbClr val="0A1F44"/>
                </a:solidFill>
                <a:latin typeface="Heiti SC" pitchFamily="34" charset="0"/>
                <a:ea typeface="Heiti SC" pitchFamily="34" charset="-122"/>
                <a:cs typeface="Heiti SC" pitchFamily="34" charset="-120"/>
              </a:rPr>
              <a:t>强大的研发能力</a:t>
            </a:r>
            <a:endParaRPr lang="zh-CN" sz="2250" dirty="0"/>
          </a:p>
        </p:txBody>
      </p:sp>
      <p:sp>
        <p:nvSpPr>
          <p:cNvPr id="5" name="Text 3: 01"/>
          <p:cNvSpPr/>
          <p:nvPr/>
        </p:nvSpPr>
        <p:spPr>
          <a:xfrm>
            <a:off x="838200" y="1193800"/>
            <a:ext cx="416520" cy="349250"/>
          </a:xfrm>
          <a:prstGeom prst="rect">
            <a:avLst/>
          </a:prstGeom>
          <a:noFill/>
          <a:ln/>
        </p:spPr>
        <p:txBody>
          <a:bodyPr wrap="none" lIns="0" tIns="0" rIns="0" bIns="0" rtlCol="0" anchor="ctr"/>
          <a:lstStyle/>
          <a:p>
            <a:pPr indent="0" marL="0">
              <a:buNone/>
            </a:pPr>
            <a:r>
              <a:rPr lang="zh-CN" altLang="en-US" sz="2250" b="1" spc="177" kern="0" dirty="0">
                <a:solidFill>
                  <a:srgbClr val="485978"/>
                </a:solidFill>
                <a:latin typeface="Arial" pitchFamily="34" charset="0"/>
                <a:ea typeface="Arial" pitchFamily="34" charset="-122"/>
                <a:cs typeface="Arial" pitchFamily="34" charset="-120"/>
              </a:rPr>
              <a:t>01</a:t>
            </a:r>
            <a:endParaRPr lang="zh-CN" sz="2250" dirty="0"/>
          </a:p>
        </p:txBody>
      </p:sp>
      <p:sp>
        <p:nvSpPr>
          <p:cNvPr id="6" name="Text 4: 核心技术架构能力"/>
          <p:cNvSpPr/>
          <p:nvPr/>
        </p:nvSpPr>
        <p:spPr>
          <a:xfrm>
            <a:off x="1292820" y="1260475"/>
            <a:ext cx="1447800" cy="228600"/>
          </a:xfrm>
          <a:prstGeom prst="rect">
            <a:avLst/>
          </a:prstGeom>
          <a:noFill/>
          <a:ln/>
        </p:spPr>
        <p:txBody>
          <a:bodyPr wrap="none" lIns="0" tIns="0" rIns="0" bIns="0" rtlCol="0" anchor="ctr"/>
          <a:lstStyle/>
          <a:p>
            <a:pPr indent="0" marL="0">
              <a:buNone/>
            </a:pPr>
            <a:r>
              <a:rPr lang="zh-CN" altLang="en-US" sz="1350" b="1" dirty="0">
                <a:solidFill>
                  <a:srgbClr val="FFFFFF"/>
                </a:solidFill>
                <a:latin typeface="Heiti SC" pitchFamily="34" charset="0"/>
                <a:ea typeface="Heiti SC" pitchFamily="34" charset="-122"/>
                <a:cs typeface="Heiti SC" pitchFamily="34" charset="-120"/>
              </a:rPr>
              <a:t>核心技术架构能力</a:t>
            </a:r>
            <a:endParaRPr lang="zh-CN" sz="1350" dirty="0"/>
          </a:p>
        </p:txBody>
      </p:sp>
      <p:sp>
        <p:nvSpPr>
          <p:cNvPr id="7" name="Text 5: 亿级消息处理平台"/>
          <p:cNvSpPr/>
          <p:nvPr/>
        </p:nvSpPr>
        <p:spPr>
          <a:xfrm>
            <a:off x="838200" y="1746250"/>
            <a:ext cx="1143000" cy="177800"/>
          </a:xfrm>
          <a:prstGeom prst="rect">
            <a:avLst/>
          </a:prstGeom>
          <a:noFill/>
          <a:ln/>
        </p:spPr>
        <p:txBody>
          <a:bodyPr wrap="none" lIns="0" tIns="0" rIns="0" bIns="0" rtlCol="0" anchor="ctr"/>
          <a:lstStyle/>
          <a:p>
            <a:pPr indent="0" marL="0">
              <a:buNone/>
            </a:pPr>
            <a:r>
              <a:rPr lang="zh-CN" altLang="en-US" sz="1050" b="1" dirty="0">
                <a:solidFill>
                  <a:srgbClr val="FFFFFF"/>
                </a:solidFill>
                <a:latin typeface="Heiti SC" pitchFamily="34" charset="0"/>
                <a:ea typeface="Heiti SC" pitchFamily="34" charset="-122"/>
                <a:cs typeface="Heiti SC" pitchFamily="34" charset="-120"/>
              </a:rPr>
              <a:t>亿级消息处理平台</a:t>
            </a:r>
            <a:endParaRPr lang="zh-CN" sz="1050" dirty="0"/>
          </a:p>
        </p:txBody>
      </p:sp>
      <p:sp>
        <p:nvSpPr>
          <p:cNvPr id="8" name="Text 6: 可用性 99.99%"/>
          <p:cNvSpPr/>
          <p:nvPr/>
        </p:nvSpPr>
        <p:spPr>
          <a:xfrm>
            <a:off x="4930577" y="1749425"/>
            <a:ext cx="925215" cy="171450"/>
          </a:xfrm>
          <a:prstGeom prst="rect">
            <a:avLst/>
          </a:prstGeom>
          <a:noFill/>
          <a:ln/>
        </p:spPr>
        <p:txBody>
          <a:bodyPr wrap="none" lIns="0" tIns="0" rIns="0" bIns="0" rtlCol="0" anchor="ctr"/>
          <a:lstStyle/>
          <a:p>
            <a:pPr indent="0" marL="0">
              <a:buNone/>
            </a:pPr>
            <a:r>
              <a:rPr lang="zh-CN" altLang="en-US" sz="975" b="1" spc="37" kern="0" dirty="0">
                <a:solidFill>
                  <a:srgbClr val="F02D4E"/>
                </a:solidFill>
                <a:latin typeface="Heiti SC" pitchFamily="34" charset="0"/>
                <a:ea typeface="Heiti SC" pitchFamily="34" charset="-122"/>
                <a:cs typeface="Heiti SC" pitchFamily="34" charset="-120"/>
              </a:rPr>
              <a:t>可用性 99.99%</a:t>
            </a:r>
            <a:endParaRPr lang="zh-CN" sz="975" dirty="0"/>
          </a:p>
        </p:txBody>
      </p:sp>
      <p:sp>
        <p:nvSpPr>
          <p:cNvPr id="9" name="Text 7: 微服务架构+容器化部署，日均处理超1亿条消息，128个API"/>
          <p:cNvSpPr/>
          <p:nvPr/>
        </p:nvSpPr>
        <p:spPr>
          <a:xfrm>
            <a:off x="838200" y="1962150"/>
            <a:ext cx="3896420" cy="165100"/>
          </a:xfrm>
          <a:prstGeom prst="rect">
            <a:avLst/>
          </a:prstGeom>
          <a:noFill/>
          <a:ln/>
        </p:spPr>
        <p:txBody>
          <a:bodyPr wrap="none" lIns="0" tIns="0" rIns="0" bIns="0" rtlCol="0" anchor="ctr"/>
          <a:lstStyle/>
          <a:p>
            <a:pPr indent="0" marL="0">
              <a:buNone/>
            </a:pPr>
            <a:r>
              <a:rPr lang="zh-CN" altLang="en-US" sz="900" spc="1" kern="0" dirty="0">
                <a:solidFill>
                  <a:srgbClr val="B7BFCE"/>
                </a:solidFill>
                <a:latin typeface="Heiti SC" pitchFamily="34" charset="0"/>
                <a:ea typeface="Heiti SC" pitchFamily="34" charset="-122"/>
                <a:cs typeface="Heiti SC" pitchFamily="34" charset="-120"/>
              </a:rPr>
              <a:t>微服务架构+容器化部署，日均处理超1亿条消息，128个API模块毫秒级响应</a:t>
            </a:r>
            <a:endParaRPr lang="zh-CN" sz="900" dirty="0"/>
          </a:p>
        </p:txBody>
      </p:sp>
      <p:sp>
        <p:nvSpPr>
          <p:cNvPr id="10" name="Text 8: 智能路由保障机制"/>
          <p:cNvSpPr/>
          <p:nvPr/>
        </p:nvSpPr>
        <p:spPr>
          <a:xfrm>
            <a:off x="838200" y="2557463"/>
            <a:ext cx="1143000" cy="177800"/>
          </a:xfrm>
          <a:prstGeom prst="rect">
            <a:avLst/>
          </a:prstGeom>
          <a:noFill/>
          <a:ln/>
        </p:spPr>
        <p:txBody>
          <a:bodyPr wrap="none" lIns="0" tIns="0" rIns="0" bIns="0" rtlCol="0" anchor="ctr"/>
          <a:lstStyle/>
          <a:p>
            <a:pPr indent="0" marL="0">
              <a:buNone/>
            </a:pPr>
            <a:r>
              <a:rPr lang="zh-CN" altLang="en-US" sz="1050" b="1" dirty="0">
                <a:solidFill>
                  <a:srgbClr val="FFFFFF"/>
                </a:solidFill>
                <a:latin typeface="Heiti SC" pitchFamily="34" charset="0"/>
                <a:ea typeface="Heiti SC" pitchFamily="34" charset="-122"/>
                <a:cs typeface="Heiti SC" pitchFamily="34" charset="-120"/>
              </a:rPr>
              <a:t>智能路由保障机制</a:t>
            </a:r>
            <a:endParaRPr lang="zh-CN" sz="1050" dirty="0"/>
          </a:p>
        </p:txBody>
      </p:sp>
      <p:sp>
        <p:nvSpPr>
          <p:cNvPr id="11" name="Text 9: 成功率 &amp;gt;99.5%"/>
          <p:cNvSpPr/>
          <p:nvPr/>
        </p:nvSpPr>
        <p:spPr>
          <a:xfrm>
            <a:off x="4924822" y="2560637"/>
            <a:ext cx="930970" cy="171450"/>
          </a:xfrm>
          <a:prstGeom prst="rect">
            <a:avLst/>
          </a:prstGeom>
          <a:noFill/>
          <a:ln/>
        </p:spPr>
        <p:txBody>
          <a:bodyPr wrap="none" lIns="0" tIns="0" rIns="0" bIns="0" rtlCol="0" anchor="ctr"/>
          <a:lstStyle/>
          <a:p>
            <a:pPr indent="0" marL="0">
              <a:buNone/>
            </a:pPr>
            <a:r>
              <a:rPr lang="zh-CN" altLang="en-US" sz="975" b="1" spc="36" kern="0" dirty="0">
                <a:solidFill>
                  <a:srgbClr val="F02D4E"/>
                </a:solidFill>
                <a:latin typeface="Heiti SC" pitchFamily="34" charset="0"/>
                <a:ea typeface="Heiti SC" pitchFamily="34" charset="-122"/>
                <a:cs typeface="Heiti SC" pitchFamily="34" charset="-120"/>
              </a:rPr>
              <a:t>成功率 &gt;99.5%</a:t>
            </a:r>
            <a:endParaRPr lang="zh-CN" sz="975" dirty="0"/>
          </a:p>
        </p:txBody>
      </p:sp>
      <p:sp>
        <p:nvSpPr>
          <p:cNvPr id="12" name="Text 10: 实时监控200+运营商节点，12维参数动态选路，0.5秒故障"/>
          <p:cNvSpPr/>
          <p:nvPr/>
        </p:nvSpPr>
        <p:spPr>
          <a:xfrm>
            <a:off x="838200" y="2773363"/>
            <a:ext cx="3259237" cy="165100"/>
          </a:xfrm>
          <a:prstGeom prst="rect">
            <a:avLst/>
          </a:prstGeom>
          <a:noFill/>
          <a:ln/>
        </p:spPr>
        <p:txBody>
          <a:bodyPr wrap="none" lIns="0" tIns="0" rIns="0" bIns="0" rtlCol="0" anchor="ctr"/>
          <a:lstStyle/>
          <a:p>
            <a:pPr indent="0" marL="0">
              <a:buNone/>
            </a:pPr>
            <a:r>
              <a:rPr lang="zh-CN" altLang="en-US" sz="900" spc="3" kern="0" dirty="0">
                <a:solidFill>
                  <a:srgbClr val="B7C0D0"/>
                </a:solidFill>
                <a:latin typeface="Heiti SC" pitchFamily="34" charset="0"/>
                <a:ea typeface="Heiti SC" pitchFamily="34" charset="-122"/>
                <a:cs typeface="Heiti SC" pitchFamily="34" charset="-120"/>
              </a:rPr>
              <a:t>实时监控200+运营商节点，12维参数动态选路，0.5秒故障切换</a:t>
            </a:r>
            <a:endParaRPr lang="zh-CN" sz="900" dirty="0"/>
          </a:p>
        </p:txBody>
      </p:sp>
      <p:sp>
        <p:nvSpPr>
          <p:cNvPr id="13" name="Text 11: 02"/>
          <p:cNvSpPr/>
          <p:nvPr/>
        </p:nvSpPr>
        <p:spPr>
          <a:xfrm>
            <a:off x="6412409" y="1193800"/>
            <a:ext cx="416520" cy="349250"/>
          </a:xfrm>
          <a:prstGeom prst="rect">
            <a:avLst/>
          </a:prstGeom>
          <a:noFill/>
          <a:ln/>
        </p:spPr>
        <p:txBody>
          <a:bodyPr wrap="none" lIns="0" tIns="0" rIns="0" bIns="0" rtlCol="0" anchor="ctr"/>
          <a:lstStyle/>
          <a:p>
            <a:pPr indent="0" marL="0">
              <a:buNone/>
            </a:pPr>
            <a:r>
              <a:rPr lang="zh-CN" altLang="en-US" sz="2250" b="1" spc="177" kern="0" dirty="0">
                <a:solidFill>
                  <a:srgbClr val="C0D4F8"/>
                </a:solidFill>
                <a:latin typeface="Arial" pitchFamily="34" charset="0"/>
                <a:ea typeface="Arial" pitchFamily="34" charset="-122"/>
                <a:cs typeface="Arial" pitchFamily="34" charset="-120"/>
              </a:rPr>
              <a:t>02</a:t>
            </a:r>
            <a:endParaRPr lang="zh-CN" sz="2250" dirty="0"/>
          </a:p>
        </p:txBody>
      </p:sp>
      <p:sp>
        <p:nvSpPr>
          <p:cNvPr id="14" name="Text 12: 智能信息处理能力"/>
          <p:cNvSpPr/>
          <p:nvPr/>
        </p:nvSpPr>
        <p:spPr>
          <a:xfrm>
            <a:off x="6867029" y="1260475"/>
            <a:ext cx="144780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智能信息处理能力</a:t>
            </a:r>
            <a:endParaRPr lang="zh-CN" sz="1350" dirty="0"/>
          </a:p>
        </p:txBody>
      </p:sp>
      <p:sp>
        <p:nvSpPr>
          <p:cNvPr id="15" name="Text 13: 场景化交互升级"/>
          <p:cNvSpPr/>
          <p:nvPr/>
        </p:nvSpPr>
        <p:spPr>
          <a:xfrm>
            <a:off x="6412409" y="1746250"/>
            <a:ext cx="1009650" cy="177800"/>
          </a:xfrm>
          <a:prstGeom prst="rect">
            <a:avLst/>
          </a:prstGeom>
          <a:noFill/>
          <a:ln/>
        </p:spPr>
        <p:txBody>
          <a:bodyPr wrap="none" lIns="0" tIns="0" rIns="0" bIns="0" rtlCol="0" anchor="ctr"/>
          <a:lstStyle/>
          <a:p>
            <a:pPr indent="0" marL="0">
              <a:buNone/>
            </a:pPr>
            <a:r>
              <a:rPr lang="zh-CN" altLang="en-US" sz="1050" b="1" dirty="0">
                <a:solidFill>
                  <a:srgbClr val="1B2A4A"/>
                </a:solidFill>
                <a:latin typeface="Heiti SC" pitchFamily="34" charset="0"/>
                <a:ea typeface="Heiti SC" pitchFamily="34" charset="-122"/>
                <a:cs typeface="Heiti SC" pitchFamily="34" charset="-120"/>
              </a:rPr>
              <a:t>场景化交互升级</a:t>
            </a:r>
            <a:endParaRPr lang="zh-CN" sz="1050" dirty="0"/>
          </a:p>
        </p:txBody>
      </p:sp>
      <p:sp>
        <p:nvSpPr>
          <p:cNvPr id="16" name="Text 14: 效率 +300%"/>
          <p:cNvSpPr/>
          <p:nvPr/>
        </p:nvSpPr>
        <p:spPr>
          <a:xfrm>
            <a:off x="10660856" y="1749425"/>
            <a:ext cx="769144" cy="171450"/>
          </a:xfrm>
          <a:prstGeom prst="rect">
            <a:avLst/>
          </a:prstGeom>
          <a:noFill/>
          <a:ln/>
        </p:spPr>
        <p:txBody>
          <a:bodyPr wrap="none" lIns="0" tIns="0" rIns="0" bIns="0" rtlCol="0" anchor="ctr"/>
          <a:lstStyle/>
          <a:p>
            <a:pPr indent="0" marL="0">
              <a:buNone/>
            </a:pPr>
            <a:r>
              <a:rPr lang="zh-CN" altLang="en-US" sz="975" b="1" spc="42" kern="0" dirty="0">
                <a:solidFill>
                  <a:srgbClr val="F02D4E"/>
                </a:solidFill>
                <a:latin typeface="Heiti SC" pitchFamily="34" charset="0"/>
                <a:ea typeface="Heiti SC" pitchFamily="34" charset="-122"/>
                <a:cs typeface="Heiti SC" pitchFamily="34" charset="-120"/>
              </a:rPr>
              <a:t>效率 +300%</a:t>
            </a:r>
            <a:endParaRPr lang="zh-CN" sz="975" dirty="0"/>
          </a:p>
        </p:txBody>
      </p:sp>
      <p:sp>
        <p:nvSpPr>
          <p:cNvPr id="17" name="Text 15: NLP识别20+业务场景，动态生成交互卡片（如值机二维码）"/>
          <p:cNvSpPr/>
          <p:nvPr/>
        </p:nvSpPr>
        <p:spPr>
          <a:xfrm>
            <a:off x="6412409" y="1962150"/>
            <a:ext cx="3128268" cy="165100"/>
          </a:xfrm>
          <a:prstGeom prst="rect">
            <a:avLst/>
          </a:prstGeom>
          <a:noFill/>
          <a:ln/>
        </p:spPr>
        <p:txBody>
          <a:bodyPr wrap="none" lIns="0" tIns="0" rIns="0" bIns="0" rtlCol="0" anchor="ctr"/>
          <a:lstStyle/>
          <a:p>
            <a:pPr indent="0" marL="0">
              <a:buNone/>
            </a:pPr>
            <a:r>
              <a:rPr lang="zh-CN" altLang="en-US" sz="900" spc="6" kern="0" dirty="0">
                <a:solidFill>
                  <a:srgbClr val="5A6B85"/>
                </a:solidFill>
                <a:latin typeface="Heiti SC" pitchFamily="34" charset="0"/>
                <a:ea typeface="Heiti SC" pitchFamily="34" charset="-122"/>
                <a:cs typeface="Heiti SC" pitchFamily="34" charset="-120"/>
              </a:rPr>
              <a:t>NLP识别20+业务场景，动态生成交互卡片（如值机二维码）</a:t>
            </a:r>
            <a:endParaRPr lang="zh-CN" sz="900" dirty="0"/>
          </a:p>
        </p:txBody>
      </p:sp>
      <p:sp>
        <p:nvSpPr>
          <p:cNvPr id="18" name="Text 16: 精准用户触达"/>
          <p:cNvSpPr/>
          <p:nvPr/>
        </p:nvSpPr>
        <p:spPr>
          <a:xfrm>
            <a:off x="6412409" y="2557463"/>
            <a:ext cx="876300" cy="177800"/>
          </a:xfrm>
          <a:prstGeom prst="rect">
            <a:avLst/>
          </a:prstGeom>
          <a:noFill/>
          <a:ln/>
        </p:spPr>
        <p:txBody>
          <a:bodyPr wrap="none" lIns="0" tIns="0" rIns="0" bIns="0" rtlCol="0" anchor="ctr"/>
          <a:lstStyle/>
          <a:p>
            <a:pPr indent="0" marL="0">
              <a:buNone/>
            </a:pPr>
            <a:r>
              <a:rPr lang="zh-CN" altLang="en-US" sz="1050" b="1" dirty="0">
                <a:solidFill>
                  <a:srgbClr val="1B2A4A"/>
                </a:solidFill>
                <a:latin typeface="Heiti SC" pitchFamily="34" charset="0"/>
                <a:ea typeface="Heiti SC" pitchFamily="34" charset="-122"/>
                <a:cs typeface="Heiti SC" pitchFamily="34" charset="-120"/>
              </a:rPr>
              <a:t>精准用户触达</a:t>
            </a:r>
            <a:endParaRPr lang="zh-CN" sz="1050" dirty="0"/>
          </a:p>
        </p:txBody>
      </p:sp>
      <p:sp>
        <p:nvSpPr>
          <p:cNvPr id="19" name="Text 17: 转化率 +42%"/>
          <p:cNvSpPr/>
          <p:nvPr/>
        </p:nvSpPr>
        <p:spPr>
          <a:xfrm>
            <a:off x="10610453" y="2560637"/>
            <a:ext cx="819547" cy="171450"/>
          </a:xfrm>
          <a:prstGeom prst="rect">
            <a:avLst/>
          </a:prstGeom>
          <a:noFill/>
          <a:ln/>
        </p:spPr>
        <p:txBody>
          <a:bodyPr wrap="none" lIns="0" tIns="0" rIns="0" bIns="0" rtlCol="0" anchor="ctr"/>
          <a:lstStyle/>
          <a:p>
            <a:pPr indent="0" marL="0">
              <a:buNone/>
            </a:pPr>
            <a:r>
              <a:rPr lang="zh-CN" altLang="en-US" sz="975" b="1" spc="37" kern="0" dirty="0">
                <a:solidFill>
                  <a:srgbClr val="F02D4E"/>
                </a:solidFill>
                <a:latin typeface="Heiti SC" pitchFamily="34" charset="0"/>
                <a:ea typeface="Heiti SC" pitchFamily="34" charset="-122"/>
                <a:cs typeface="Heiti SC" pitchFamily="34" charset="-120"/>
              </a:rPr>
              <a:t>转化率 +42%</a:t>
            </a:r>
            <a:endParaRPr lang="zh-CN" sz="975" dirty="0"/>
          </a:p>
        </p:txBody>
      </p:sp>
      <p:sp>
        <p:nvSpPr>
          <p:cNvPr id="20" name="Text 18: 50+特征标签构建画像，LBS技术助力电商促销短信转化"/>
          <p:cNvSpPr/>
          <p:nvPr/>
        </p:nvSpPr>
        <p:spPr>
          <a:xfrm>
            <a:off x="6412409" y="2773363"/>
            <a:ext cx="2896691" cy="165100"/>
          </a:xfrm>
          <a:prstGeom prst="rect">
            <a:avLst/>
          </a:prstGeom>
          <a:noFill/>
          <a:ln/>
        </p:spPr>
        <p:txBody>
          <a:bodyPr wrap="none" lIns="0" tIns="0" rIns="0" bIns="0" rtlCol="0" anchor="ctr"/>
          <a:lstStyle/>
          <a:p>
            <a:pPr indent="0" marL="0">
              <a:buNone/>
            </a:pPr>
            <a:r>
              <a:rPr lang="zh-CN" altLang="en-US" sz="900" spc="15" kern="0" dirty="0">
                <a:solidFill>
                  <a:srgbClr val="5A6B85"/>
                </a:solidFill>
                <a:latin typeface="Heiti SC" pitchFamily="34" charset="0"/>
                <a:ea typeface="Heiti SC" pitchFamily="34" charset="-122"/>
                <a:cs typeface="Heiti SC" pitchFamily="34" charset="-120"/>
              </a:rPr>
              <a:t>50+特征标签构建画像，LBS技术助力电商促销短信转化</a:t>
            </a:r>
            <a:endParaRPr lang="zh-CN" sz="900" dirty="0"/>
          </a:p>
        </p:txBody>
      </p:sp>
      <p:sp>
        <p:nvSpPr>
          <p:cNvPr id="21" name="Text 19: 03"/>
          <p:cNvSpPr/>
          <p:nvPr/>
        </p:nvSpPr>
        <p:spPr>
          <a:xfrm>
            <a:off x="838200" y="3641725"/>
            <a:ext cx="416520" cy="349250"/>
          </a:xfrm>
          <a:prstGeom prst="rect">
            <a:avLst/>
          </a:prstGeom>
          <a:noFill/>
          <a:ln/>
        </p:spPr>
        <p:txBody>
          <a:bodyPr wrap="none" lIns="0" tIns="0" rIns="0" bIns="0" rtlCol="0" anchor="ctr"/>
          <a:lstStyle/>
          <a:p>
            <a:pPr indent="0" marL="0">
              <a:buNone/>
            </a:pPr>
            <a:r>
              <a:rPr lang="zh-CN" altLang="en-US" sz="2250" b="1" spc="177" kern="0" dirty="0">
                <a:solidFill>
                  <a:srgbClr val="C0D4F8"/>
                </a:solidFill>
                <a:latin typeface="Arial" pitchFamily="34" charset="0"/>
                <a:ea typeface="Arial" pitchFamily="34" charset="-122"/>
                <a:cs typeface="Arial" pitchFamily="34" charset="-120"/>
              </a:rPr>
              <a:t>03</a:t>
            </a:r>
            <a:endParaRPr lang="zh-CN" sz="2250" dirty="0"/>
          </a:p>
        </p:txBody>
      </p:sp>
      <p:sp>
        <p:nvSpPr>
          <p:cNvPr id="22" name="Text 20: 安全合规体系"/>
          <p:cNvSpPr/>
          <p:nvPr/>
        </p:nvSpPr>
        <p:spPr>
          <a:xfrm>
            <a:off x="1292820" y="3708400"/>
            <a:ext cx="110490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安全合规体系</a:t>
            </a:r>
            <a:endParaRPr lang="zh-CN" sz="1350" dirty="0"/>
          </a:p>
        </p:txBody>
      </p:sp>
      <p:sp>
        <p:nvSpPr>
          <p:cNvPr id="23" name="Text 21: 全链路内容管控"/>
          <p:cNvSpPr/>
          <p:nvPr/>
        </p:nvSpPr>
        <p:spPr>
          <a:xfrm>
            <a:off x="838200" y="4194175"/>
            <a:ext cx="1009650" cy="177800"/>
          </a:xfrm>
          <a:prstGeom prst="rect">
            <a:avLst/>
          </a:prstGeom>
          <a:noFill/>
          <a:ln/>
        </p:spPr>
        <p:txBody>
          <a:bodyPr wrap="none" lIns="0" tIns="0" rIns="0" bIns="0" rtlCol="0" anchor="ctr"/>
          <a:lstStyle/>
          <a:p>
            <a:pPr indent="0" marL="0">
              <a:buNone/>
            </a:pPr>
            <a:r>
              <a:rPr lang="zh-CN" altLang="en-US" sz="1050" b="1" dirty="0">
                <a:solidFill>
                  <a:srgbClr val="1B2A4A"/>
                </a:solidFill>
                <a:latin typeface="Heiti SC" pitchFamily="34" charset="0"/>
                <a:ea typeface="Heiti SC" pitchFamily="34" charset="-122"/>
                <a:cs typeface="Heiti SC" pitchFamily="34" charset="-120"/>
              </a:rPr>
              <a:t>全链路内容管控</a:t>
            </a:r>
            <a:endParaRPr lang="zh-CN" sz="1050" dirty="0"/>
          </a:p>
        </p:txBody>
      </p:sp>
      <p:sp>
        <p:nvSpPr>
          <p:cNvPr id="24" name="Text 22: 拦截准确率 99.7%"/>
          <p:cNvSpPr/>
          <p:nvPr/>
        </p:nvSpPr>
        <p:spPr>
          <a:xfrm>
            <a:off x="4756547" y="4197350"/>
            <a:ext cx="1099245" cy="171450"/>
          </a:xfrm>
          <a:prstGeom prst="rect">
            <a:avLst/>
          </a:prstGeom>
          <a:noFill/>
          <a:ln/>
        </p:spPr>
        <p:txBody>
          <a:bodyPr wrap="none" lIns="0" tIns="0" rIns="0" bIns="0" rtlCol="0" anchor="ctr"/>
          <a:lstStyle/>
          <a:p>
            <a:pPr indent="0" marL="0">
              <a:buNone/>
            </a:pPr>
            <a:r>
              <a:rPr lang="zh-CN" altLang="en-US" sz="975" b="1" spc="29" kern="0" dirty="0">
                <a:solidFill>
                  <a:srgbClr val="F02D4E"/>
                </a:solidFill>
                <a:latin typeface="Heiti SC" pitchFamily="34" charset="0"/>
                <a:ea typeface="Heiti SC" pitchFamily="34" charset="-122"/>
                <a:cs typeface="Heiti SC" pitchFamily="34" charset="-120"/>
              </a:rPr>
              <a:t>拦截准确率 99.7%</a:t>
            </a:r>
            <a:endParaRPr lang="zh-CN" sz="975" dirty="0"/>
          </a:p>
        </p:txBody>
      </p:sp>
      <p:sp>
        <p:nvSpPr>
          <p:cNvPr id="25" name="Text 23: AI+规则+人工三重审核，秒级过滤3000条短信，7×24小"/>
          <p:cNvSpPr/>
          <p:nvPr/>
        </p:nvSpPr>
        <p:spPr>
          <a:xfrm>
            <a:off x="838200" y="4410075"/>
            <a:ext cx="3252688" cy="165100"/>
          </a:xfrm>
          <a:prstGeom prst="rect">
            <a:avLst/>
          </a:prstGeom>
          <a:noFill/>
          <a:ln/>
        </p:spPr>
        <p:txBody>
          <a:bodyPr wrap="none" lIns="0" tIns="0" rIns="0" bIns="0" rtlCol="0" anchor="ctr"/>
          <a:lstStyle/>
          <a:p>
            <a:pPr indent="0" marL="0">
              <a:buNone/>
            </a:pPr>
            <a:r>
              <a:rPr lang="zh-CN" altLang="en-US" sz="900" spc="1" kern="0" dirty="0">
                <a:solidFill>
                  <a:srgbClr val="5A6B85"/>
                </a:solidFill>
                <a:latin typeface="Heiti SC" pitchFamily="34" charset="0"/>
                <a:ea typeface="Heiti SC" pitchFamily="34" charset="-122"/>
                <a:cs typeface="Heiti SC" pitchFamily="34" charset="-120"/>
              </a:rPr>
              <a:t>AI+规则+人工三重审核，秒级过滤3000条短信，7×24小时值守</a:t>
            </a:r>
            <a:endParaRPr lang="zh-CN" sz="900" dirty="0"/>
          </a:p>
        </p:txBody>
      </p:sp>
      <p:sp>
        <p:nvSpPr>
          <p:cNvPr id="26" name="Text 24: 金融级防护标准"/>
          <p:cNvSpPr/>
          <p:nvPr/>
        </p:nvSpPr>
        <p:spPr>
          <a:xfrm>
            <a:off x="838200" y="5005388"/>
            <a:ext cx="1009650" cy="177800"/>
          </a:xfrm>
          <a:prstGeom prst="rect">
            <a:avLst/>
          </a:prstGeom>
          <a:noFill/>
          <a:ln/>
        </p:spPr>
        <p:txBody>
          <a:bodyPr wrap="none" lIns="0" tIns="0" rIns="0" bIns="0" rtlCol="0" anchor="ctr"/>
          <a:lstStyle/>
          <a:p>
            <a:pPr indent="0" marL="0">
              <a:buNone/>
            </a:pPr>
            <a:r>
              <a:rPr lang="zh-CN" altLang="en-US" sz="1050" b="1" dirty="0">
                <a:solidFill>
                  <a:srgbClr val="1B2A4A"/>
                </a:solidFill>
                <a:latin typeface="Heiti SC" pitchFamily="34" charset="0"/>
                <a:ea typeface="Heiti SC" pitchFamily="34" charset="-122"/>
                <a:cs typeface="Heiti SC" pitchFamily="34" charset="-120"/>
              </a:rPr>
              <a:t>金融级防护标准</a:t>
            </a:r>
            <a:endParaRPr lang="zh-CN" sz="1050" dirty="0"/>
          </a:p>
        </p:txBody>
      </p:sp>
      <p:sp>
        <p:nvSpPr>
          <p:cNvPr id="27" name="Text 25: 国密 SM4"/>
          <p:cNvSpPr/>
          <p:nvPr/>
        </p:nvSpPr>
        <p:spPr>
          <a:xfrm>
            <a:off x="5241727" y="5008563"/>
            <a:ext cx="614065" cy="171450"/>
          </a:xfrm>
          <a:prstGeom prst="rect">
            <a:avLst/>
          </a:prstGeom>
          <a:noFill/>
          <a:ln/>
        </p:spPr>
        <p:txBody>
          <a:bodyPr wrap="none" lIns="0" tIns="0" rIns="0" bIns="0" rtlCol="0" anchor="ctr"/>
          <a:lstStyle/>
          <a:p>
            <a:pPr indent="0" marL="0">
              <a:buNone/>
            </a:pPr>
            <a:r>
              <a:rPr lang="zh-CN" altLang="en-US" sz="975" b="1" spc="24" kern="0" dirty="0">
                <a:solidFill>
                  <a:srgbClr val="F02D4E"/>
                </a:solidFill>
                <a:latin typeface="Heiti SC" pitchFamily="34" charset="0"/>
                <a:ea typeface="Heiti SC" pitchFamily="34" charset="-122"/>
                <a:cs typeface="Heiti SC" pitchFamily="34" charset="-120"/>
              </a:rPr>
              <a:t>国密 SM4</a:t>
            </a:r>
            <a:endParaRPr lang="zh-CN" sz="975" dirty="0"/>
          </a:p>
        </p:txBody>
      </p:sp>
      <p:sp>
        <p:nvSpPr>
          <p:cNvPr id="28" name="Text 26: SM4国密加密传输，ISO27001认证存储，核心系统通过等"/>
          <p:cNvSpPr/>
          <p:nvPr/>
        </p:nvSpPr>
        <p:spPr>
          <a:xfrm>
            <a:off x="838200" y="5221287"/>
            <a:ext cx="3344069" cy="165100"/>
          </a:xfrm>
          <a:prstGeom prst="rect">
            <a:avLst/>
          </a:prstGeom>
          <a:noFill/>
          <a:ln/>
        </p:spPr>
        <p:txBody>
          <a:bodyPr wrap="none" lIns="0" tIns="0" rIns="0" bIns="0" rtlCol="0" anchor="ctr"/>
          <a:lstStyle/>
          <a:p>
            <a:pPr indent="0" marL="0">
              <a:buNone/>
            </a:pPr>
            <a:r>
              <a:rPr lang="zh-CN" altLang="en-US" sz="900" spc="7" kern="0" dirty="0">
                <a:solidFill>
                  <a:srgbClr val="5A6B85"/>
                </a:solidFill>
                <a:latin typeface="Heiti SC" pitchFamily="34" charset="0"/>
                <a:ea typeface="Heiti SC" pitchFamily="34" charset="-122"/>
                <a:cs typeface="Heiti SC" pitchFamily="34" charset="-120"/>
              </a:rPr>
              <a:t>SM4国密加密传输，ISO27001认证存储，核心系统通过等保三级</a:t>
            </a:r>
            <a:endParaRPr lang="zh-CN" sz="900" dirty="0"/>
          </a:p>
        </p:txBody>
      </p:sp>
      <p:sp>
        <p:nvSpPr>
          <p:cNvPr id="29" name="Text 27: 04"/>
          <p:cNvSpPr/>
          <p:nvPr/>
        </p:nvSpPr>
        <p:spPr>
          <a:xfrm>
            <a:off x="6412409" y="3641725"/>
            <a:ext cx="416719" cy="349250"/>
          </a:xfrm>
          <a:prstGeom prst="rect">
            <a:avLst/>
          </a:prstGeom>
          <a:noFill/>
          <a:ln/>
        </p:spPr>
        <p:txBody>
          <a:bodyPr wrap="none" lIns="0" tIns="0" rIns="0" bIns="0" rtlCol="0" anchor="ctr"/>
          <a:lstStyle/>
          <a:p>
            <a:pPr indent="0" marL="0">
              <a:buNone/>
            </a:pPr>
            <a:r>
              <a:rPr lang="zh-CN" altLang="en-US" sz="2250" b="1" spc="179" kern="0" dirty="0">
                <a:solidFill>
                  <a:srgbClr val="C0D4F8"/>
                </a:solidFill>
                <a:latin typeface="Arial" pitchFamily="34" charset="0"/>
                <a:ea typeface="Arial" pitchFamily="34" charset="-122"/>
                <a:cs typeface="Arial" pitchFamily="34" charset="-120"/>
              </a:rPr>
              <a:t>04</a:t>
            </a:r>
            <a:endParaRPr lang="zh-CN" sz="2250" dirty="0"/>
          </a:p>
        </p:txBody>
      </p:sp>
      <p:sp>
        <p:nvSpPr>
          <p:cNvPr id="30" name="Text 28: 研发创新实力"/>
          <p:cNvSpPr/>
          <p:nvPr/>
        </p:nvSpPr>
        <p:spPr>
          <a:xfrm>
            <a:off x="6867227" y="3708400"/>
            <a:ext cx="110490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研发创新实力</a:t>
            </a:r>
            <a:endParaRPr lang="zh-CN" sz="1350" dirty="0"/>
          </a:p>
        </p:txBody>
      </p:sp>
      <p:sp>
        <p:nvSpPr>
          <p:cNvPr id="31" name="Text 29: 技术壁垒"/>
          <p:cNvSpPr/>
          <p:nvPr/>
        </p:nvSpPr>
        <p:spPr>
          <a:xfrm>
            <a:off x="6412409" y="4194175"/>
            <a:ext cx="609600" cy="177800"/>
          </a:xfrm>
          <a:prstGeom prst="rect">
            <a:avLst/>
          </a:prstGeom>
          <a:noFill/>
          <a:ln/>
        </p:spPr>
        <p:txBody>
          <a:bodyPr wrap="none" lIns="0" tIns="0" rIns="0" bIns="0" rtlCol="0" anchor="ctr"/>
          <a:lstStyle/>
          <a:p>
            <a:pPr indent="0" marL="0">
              <a:buNone/>
            </a:pPr>
            <a:r>
              <a:rPr lang="zh-CN" altLang="en-US" sz="1050" b="1" dirty="0">
                <a:solidFill>
                  <a:srgbClr val="1B2A4A"/>
                </a:solidFill>
                <a:latin typeface="Heiti SC" pitchFamily="34" charset="0"/>
                <a:ea typeface="Heiti SC" pitchFamily="34" charset="-122"/>
                <a:cs typeface="Heiti SC" pitchFamily="34" charset="-120"/>
              </a:rPr>
              <a:t>技术壁垒</a:t>
            </a:r>
            <a:endParaRPr lang="zh-CN" sz="1050" dirty="0"/>
          </a:p>
        </p:txBody>
      </p:sp>
      <p:sp>
        <p:nvSpPr>
          <p:cNvPr id="32" name="Text 30: 46 项专利"/>
          <p:cNvSpPr/>
          <p:nvPr/>
        </p:nvSpPr>
        <p:spPr>
          <a:xfrm>
            <a:off x="10810379" y="4197350"/>
            <a:ext cx="619621" cy="171450"/>
          </a:xfrm>
          <a:prstGeom prst="rect">
            <a:avLst/>
          </a:prstGeom>
          <a:noFill/>
          <a:ln/>
        </p:spPr>
        <p:txBody>
          <a:bodyPr wrap="none" lIns="0" tIns="0" rIns="0" bIns="0" rtlCol="0" anchor="ctr"/>
          <a:lstStyle/>
          <a:p>
            <a:pPr indent="0" marL="0">
              <a:buNone/>
            </a:pPr>
            <a:r>
              <a:rPr lang="zh-CN" altLang="en-US" sz="975" b="1" spc="6" kern="0" dirty="0">
                <a:solidFill>
                  <a:srgbClr val="F02D4E"/>
                </a:solidFill>
                <a:latin typeface="Heiti SC" pitchFamily="34" charset="0"/>
                <a:ea typeface="Heiti SC" pitchFamily="34" charset="-122"/>
                <a:cs typeface="Heiti SC" pitchFamily="34" charset="-120"/>
              </a:rPr>
              <a:t>46 项专利</a:t>
            </a:r>
            <a:endParaRPr lang="zh-CN" sz="975" dirty="0"/>
          </a:p>
        </p:txBody>
      </p:sp>
      <p:sp>
        <p:nvSpPr>
          <p:cNvPr id="33" name="Text 31: 累计申请46项发明专利，8项已落地运营商项目"/>
          <p:cNvSpPr/>
          <p:nvPr/>
        </p:nvSpPr>
        <p:spPr>
          <a:xfrm>
            <a:off x="6412409" y="4410075"/>
            <a:ext cx="2442567" cy="165100"/>
          </a:xfrm>
          <a:prstGeom prst="rect">
            <a:avLst/>
          </a:prstGeom>
          <a:noFill/>
          <a:ln/>
        </p:spPr>
        <p:txBody>
          <a:bodyPr wrap="none" lIns="0" tIns="0" rIns="0" bIns="0" rtlCol="0" anchor="ctr"/>
          <a:lstStyle/>
          <a:p>
            <a:pPr indent="0" marL="0">
              <a:buNone/>
            </a:pPr>
            <a:r>
              <a:rPr lang="zh-CN" altLang="en-US" sz="900" spc="2" kern="0" dirty="0">
                <a:solidFill>
                  <a:srgbClr val="5A6B85"/>
                </a:solidFill>
                <a:latin typeface="Heiti SC" pitchFamily="34" charset="0"/>
                <a:ea typeface="Heiti SC" pitchFamily="34" charset="-122"/>
                <a:cs typeface="Heiti SC" pitchFamily="34" charset="-120"/>
              </a:rPr>
              <a:t>累计申请46项发明专利，8项已落地运营商项目</a:t>
            </a:r>
            <a:endParaRPr lang="zh-CN" sz="900" dirty="0"/>
          </a:p>
        </p:txBody>
      </p:sp>
      <p:sp>
        <p:nvSpPr>
          <p:cNvPr id="34" name="Text 32: 持续技术迭代"/>
          <p:cNvSpPr/>
          <p:nvPr/>
        </p:nvSpPr>
        <p:spPr>
          <a:xfrm>
            <a:off x="6412409" y="5005388"/>
            <a:ext cx="876300" cy="177800"/>
          </a:xfrm>
          <a:prstGeom prst="rect">
            <a:avLst/>
          </a:prstGeom>
          <a:noFill/>
          <a:ln/>
        </p:spPr>
        <p:txBody>
          <a:bodyPr wrap="none" lIns="0" tIns="0" rIns="0" bIns="0" rtlCol="0" anchor="ctr"/>
          <a:lstStyle/>
          <a:p>
            <a:pPr indent="0" marL="0">
              <a:buNone/>
            </a:pPr>
            <a:r>
              <a:rPr lang="zh-CN" altLang="en-US" sz="1050" b="1" dirty="0">
                <a:solidFill>
                  <a:srgbClr val="1B2A4A"/>
                </a:solidFill>
                <a:latin typeface="Heiti SC" pitchFamily="34" charset="0"/>
                <a:ea typeface="Heiti SC" pitchFamily="34" charset="-122"/>
                <a:cs typeface="Heiti SC" pitchFamily="34" charset="-120"/>
              </a:rPr>
              <a:t>持续技术迭代</a:t>
            </a:r>
            <a:endParaRPr lang="zh-CN" sz="1050" dirty="0"/>
          </a:p>
        </p:txBody>
      </p:sp>
      <p:sp>
        <p:nvSpPr>
          <p:cNvPr id="35" name="Text 33: 研发投入年增 85%"/>
          <p:cNvSpPr/>
          <p:nvPr/>
        </p:nvSpPr>
        <p:spPr>
          <a:xfrm>
            <a:off x="10318552" y="5008563"/>
            <a:ext cx="1111448" cy="171450"/>
          </a:xfrm>
          <a:prstGeom prst="rect">
            <a:avLst/>
          </a:prstGeom>
          <a:noFill/>
          <a:ln/>
        </p:spPr>
        <p:txBody>
          <a:bodyPr wrap="none" lIns="0" tIns="0" rIns="0" bIns="0" rtlCol="0" anchor="ctr"/>
          <a:lstStyle/>
          <a:p>
            <a:pPr indent="0" marL="0">
              <a:buNone/>
            </a:pPr>
            <a:r>
              <a:rPr lang="zh-CN" altLang="en-US" sz="975" b="1" spc="25" kern="0" dirty="0">
                <a:solidFill>
                  <a:srgbClr val="F02D4E"/>
                </a:solidFill>
                <a:latin typeface="Heiti SC" pitchFamily="34" charset="0"/>
                <a:ea typeface="Heiti SC" pitchFamily="34" charset="-122"/>
                <a:cs typeface="Heiti SC" pitchFamily="34" charset="-120"/>
              </a:rPr>
              <a:t>研发投入年增 85%</a:t>
            </a:r>
            <a:endParaRPr lang="zh-CN" sz="975" dirty="0"/>
          </a:p>
        </p:txBody>
      </p:sp>
      <p:sp>
        <p:nvSpPr>
          <p:cNvPr id="36" name="Text 34: 50+研发团队（占比40%），已布局5G消息/AIGC等前沿"/>
          <p:cNvSpPr/>
          <p:nvPr/>
        </p:nvSpPr>
        <p:spPr>
          <a:xfrm>
            <a:off x="6412409" y="5221287"/>
            <a:ext cx="3103166" cy="165100"/>
          </a:xfrm>
          <a:prstGeom prst="rect">
            <a:avLst/>
          </a:prstGeom>
          <a:noFill/>
          <a:ln/>
        </p:spPr>
        <p:txBody>
          <a:bodyPr wrap="none" lIns="0" tIns="0" rIns="0" bIns="0" rtlCol="0" anchor="ctr"/>
          <a:lstStyle/>
          <a:p>
            <a:pPr indent="0" marL="0">
              <a:buNone/>
            </a:pPr>
            <a:r>
              <a:rPr lang="zh-CN" altLang="en-US" sz="900" spc="-18" kern="0" dirty="0">
                <a:solidFill>
                  <a:srgbClr val="5A6B85"/>
                </a:solidFill>
                <a:latin typeface="Heiti SC" pitchFamily="34" charset="0"/>
                <a:ea typeface="Heiti SC" pitchFamily="34" charset="-122"/>
                <a:cs typeface="Heiti SC" pitchFamily="34" charset="-120"/>
              </a:rPr>
              <a:t>50+研发团队（占比40%），已布局5G消息/AIGC等前沿领域</a:t>
            </a:r>
            <a:endParaRPr lang="zh-CN" sz="900" dirty="0"/>
          </a:p>
        </p:txBody>
      </p:sp>
      <p:sp>
        <p:nvSpPr>
          <p:cNvPr id="37" name="Text 35: 09 / 25"/>
          <p:cNvSpPr/>
          <p:nvPr/>
        </p:nvSpPr>
        <p:spPr>
          <a:xfrm>
            <a:off x="11678047" y="6591300"/>
            <a:ext cx="463153" cy="165100"/>
          </a:xfrm>
          <a:prstGeom prst="rect">
            <a:avLst/>
          </a:prstGeom>
          <a:noFill/>
          <a:ln/>
        </p:spPr>
        <p:txBody>
          <a:bodyPr wrap="none" lIns="0" tIns="0" rIns="0" bIns="0" rtlCol="0" anchor="ctr"/>
          <a:lstStyle/>
          <a:p>
            <a:pPr indent="0" marL="0">
              <a:buNone/>
            </a:pPr>
            <a:r>
              <a:rPr lang="zh-CN" altLang="en-US" sz="900" spc="49" kern="0" dirty="0">
                <a:solidFill>
                  <a:srgbClr val="8A94A6"/>
                </a:solidFill>
                <a:latin typeface="Arial" pitchFamily="34" charset="0"/>
                <a:ea typeface="Arial" pitchFamily="34" charset="-122"/>
                <a:cs typeface="Arial" pitchFamily="34" charset="-120"/>
              </a:rPr>
              <a:t>09 / 25</a:t>
            </a:r>
            <a:endParaRPr lang="zh-CN"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joozo/WySync/ObBidding/wiki/pptx/UMC/build/generated/backgrounds/slide-10.png">    </p:cNvPr>
          <p:cNvPicPr>
            <a:picLocks noChangeAspect="1"/>
          </p:cNvPicPr>
          <p:nvPr/>
        </p:nvPicPr>
        <p:blipFill>
          <a:blip r:embed="rId1"/>
          <a:stretch>
            <a:fillRect/>
          </a:stretch>
        </p:blipFill>
        <p:spPr>
          <a:xfrm>
            <a:off x="0" y="0"/>
            <a:ext cx="12192000" cy="6858000"/>
          </a:xfrm>
          <a:prstGeom prst="rect">
            <a:avLst/>
          </a:prstGeom>
        </p:spPr>
      </p:pic>
      <p:sp>
        <p:nvSpPr>
          <p:cNvPr id="3" name="Text 1: 01 · 业务规模"/>
          <p:cNvSpPr/>
          <p:nvPr/>
        </p:nvSpPr>
        <p:spPr>
          <a:xfrm>
            <a:off x="609600" y="387350"/>
            <a:ext cx="1080691" cy="177800"/>
          </a:xfrm>
          <a:prstGeom prst="rect">
            <a:avLst/>
          </a:prstGeom>
          <a:noFill/>
          <a:ln/>
        </p:spPr>
        <p:txBody>
          <a:bodyPr wrap="none" lIns="0" tIns="0" rIns="0" bIns="0" rtlCol="0" anchor="ctr"/>
          <a:lstStyle/>
          <a:p>
            <a:pPr indent="0" marL="0">
              <a:buNone/>
            </a:pPr>
            <a:r>
              <a:rPr lang="zh-CN" altLang="en-US" sz="1000" b="1" spc="163" kern="0" dirty="0">
                <a:solidFill>
                  <a:srgbClr val="F02D4E"/>
                </a:solidFill>
                <a:latin typeface="Heiti SC" pitchFamily="34" charset="0"/>
                <a:ea typeface="Heiti SC" pitchFamily="34" charset="-122"/>
                <a:cs typeface="Heiti SC" pitchFamily="34" charset="-120"/>
              </a:rPr>
              <a:t>01 · 业务规模</a:t>
            </a:r>
            <a:endParaRPr lang="zh-CN" sz="1000" dirty="0"/>
          </a:p>
        </p:txBody>
      </p:sp>
      <p:sp>
        <p:nvSpPr>
          <p:cNvPr id="4" name="Text 2: 云通信服务优质品牌"/>
          <p:cNvSpPr/>
          <p:nvPr/>
        </p:nvSpPr>
        <p:spPr>
          <a:xfrm>
            <a:off x="609600" y="615950"/>
            <a:ext cx="2676525" cy="349250"/>
          </a:xfrm>
          <a:prstGeom prst="rect">
            <a:avLst/>
          </a:prstGeom>
          <a:noFill/>
          <a:ln/>
        </p:spPr>
        <p:txBody>
          <a:bodyPr wrap="none" lIns="0" tIns="0" rIns="0" bIns="0" rtlCol="0" anchor="ctr"/>
          <a:lstStyle/>
          <a:p>
            <a:pPr indent="0" marL="0">
              <a:buNone/>
            </a:pPr>
            <a:r>
              <a:rPr lang="zh-CN" altLang="en-US" sz="2250" b="1" spc="28" kern="0" dirty="0">
                <a:solidFill>
                  <a:srgbClr val="FFFFFF"/>
                </a:solidFill>
                <a:latin typeface="Heiti SC" pitchFamily="34" charset="0"/>
                <a:ea typeface="Heiti SC" pitchFamily="34" charset="-122"/>
                <a:cs typeface="Heiti SC" pitchFamily="34" charset="-120"/>
              </a:rPr>
              <a:t>云通信服务优质品牌</a:t>
            </a:r>
            <a:endParaRPr lang="zh-CN" sz="2250" dirty="0"/>
          </a:p>
        </p:txBody>
      </p:sp>
      <p:sp>
        <p:nvSpPr>
          <p:cNvPr id="5" name="Text 3: 99.9"/>
          <p:cNvSpPr/>
          <p:nvPr/>
        </p:nvSpPr>
        <p:spPr>
          <a:xfrm>
            <a:off x="1042789" y="1824037"/>
            <a:ext cx="1888927" cy="952500"/>
          </a:xfrm>
          <a:prstGeom prst="rect">
            <a:avLst/>
          </a:prstGeom>
          <a:noFill/>
          <a:ln/>
        </p:spPr>
        <p:txBody>
          <a:bodyPr wrap="none" lIns="0" tIns="0" rIns="0" bIns="0" rtlCol="0" anchor="ctr"/>
          <a:lstStyle/>
          <a:p>
            <a:pPr indent="0" marL="0">
              <a:buNone/>
            </a:pPr>
            <a:r>
              <a:rPr lang="zh-CN" altLang="en-US" sz="6600" b="1" spc="476" kern="0" dirty="0">
                <a:solidFill>
                  <a:srgbClr val="FFFFFF"/>
                </a:solidFill>
                <a:latin typeface="Arial" pitchFamily="34" charset="0"/>
                <a:ea typeface="Arial" pitchFamily="34" charset="-122"/>
                <a:cs typeface="Arial" pitchFamily="34" charset="-120"/>
              </a:rPr>
              <a:t>99.9</a:t>
            </a:r>
            <a:endParaRPr lang="zh-CN" sz="6600" dirty="0"/>
          </a:p>
        </p:txBody>
      </p:sp>
      <p:sp>
        <p:nvSpPr>
          <p:cNvPr id="6" name="Text 4: %"/>
          <p:cNvSpPr/>
          <p:nvPr/>
        </p:nvSpPr>
        <p:spPr>
          <a:xfrm>
            <a:off x="2855516" y="2224088"/>
            <a:ext cx="444996" cy="457200"/>
          </a:xfrm>
          <a:prstGeom prst="rect">
            <a:avLst/>
          </a:prstGeom>
          <a:noFill/>
          <a:ln/>
        </p:spPr>
        <p:txBody>
          <a:bodyPr wrap="none" lIns="0" tIns="0" rIns="0" bIns="0" rtlCol="0" anchor="ctr"/>
          <a:lstStyle/>
          <a:p>
            <a:pPr indent="0" marL="0">
              <a:buNone/>
            </a:pPr>
            <a:r>
              <a:rPr lang="zh-CN" altLang="en-US" sz="3000" b="1" dirty="0">
                <a:solidFill>
                  <a:srgbClr val="F02D4E"/>
                </a:solidFill>
                <a:latin typeface="Arial" pitchFamily="34" charset="0"/>
                <a:ea typeface="Arial" pitchFamily="34" charset="-122"/>
                <a:cs typeface="Arial" pitchFamily="34" charset="-120"/>
              </a:rPr>
              <a:t>%</a:t>
            </a:r>
            <a:endParaRPr lang="zh-CN" sz="3000" dirty="0"/>
          </a:p>
        </p:txBody>
      </p:sp>
      <p:sp>
        <p:nvSpPr>
          <p:cNvPr id="7" name="Text 5: 到达率高达"/>
          <p:cNvSpPr/>
          <p:nvPr/>
        </p:nvSpPr>
        <p:spPr>
          <a:xfrm>
            <a:off x="1704975" y="2827338"/>
            <a:ext cx="933450" cy="228600"/>
          </a:xfrm>
          <a:prstGeom prst="rect">
            <a:avLst/>
          </a:prstGeom>
          <a:noFill/>
          <a:ln/>
        </p:spPr>
        <p:txBody>
          <a:bodyPr wrap="none" lIns="0" tIns="0" rIns="0" bIns="0" rtlCol="0" anchor="ctr"/>
          <a:lstStyle/>
          <a:p>
            <a:pPr indent="0" marL="0">
              <a:buNone/>
            </a:pPr>
            <a:r>
              <a:rPr lang="zh-CN" altLang="en-US" sz="1350" b="1" dirty="0">
                <a:solidFill>
                  <a:srgbClr val="FFFFFF"/>
                </a:solidFill>
                <a:latin typeface="Heiti SC" pitchFamily="34" charset="0"/>
                <a:ea typeface="Heiti SC" pitchFamily="34" charset="-122"/>
                <a:cs typeface="Heiti SC" pitchFamily="34" charset="-120"/>
              </a:rPr>
              <a:t>到达率高达</a:t>
            </a:r>
            <a:endParaRPr lang="zh-CN" sz="1350" dirty="0"/>
          </a:p>
        </p:txBody>
      </p:sp>
      <p:sp>
        <p:nvSpPr>
          <p:cNvPr id="8" name="Text 6: 智能路由多通道保障"/>
          <p:cNvSpPr/>
          <p:nvPr/>
        </p:nvSpPr>
        <p:spPr>
          <a:xfrm>
            <a:off x="1562100" y="3170238"/>
            <a:ext cx="1219200" cy="177800"/>
          </a:xfrm>
          <a:prstGeom prst="rect">
            <a:avLst/>
          </a:prstGeom>
          <a:noFill/>
          <a:ln/>
        </p:spPr>
        <p:txBody>
          <a:bodyPr wrap="none" lIns="0" tIns="0" rIns="0" bIns="0" rtlCol="0" anchor="ctr"/>
          <a:lstStyle/>
          <a:p>
            <a:pPr indent="0" marL="0">
              <a:buNone/>
            </a:pPr>
            <a:r>
              <a:rPr lang="zh-CN" altLang="en-US" sz="1000" dirty="0">
                <a:solidFill>
                  <a:srgbClr val="9EAABE"/>
                </a:solidFill>
                <a:latin typeface="Heiti SC" pitchFamily="34" charset="0"/>
                <a:ea typeface="Heiti SC" pitchFamily="34" charset="-122"/>
                <a:cs typeface="Heiti SC" pitchFamily="34" charset="-120"/>
              </a:rPr>
              <a:t>智能路由多通道保障</a:t>
            </a:r>
            <a:endParaRPr lang="zh-CN" sz="1000" dirty="0"/>
          </a:p>
        </p:txBody>
      </p:sp>
      <p:sp>
        <p:nvSpPr>
          <p:cNvPr id="9" name="Text 7: 每一条消息稳定送达"/>
          <p:cNvSpPr/>
          <p:nvPr/>
        </p:nvSpPr>
        <p:spPr>
          <a:xfrm>
            <a:off x="1562100" y="3386138"/>
            <a:ext cx="1219200" cy="177800"/>
          </a:xfrm>
          <a:prstGeom prst="rect">
            <a:avLst/>
          </a:prstGeom>
          <a:noFill/>
          <a:ln/>
        </p:spPr>
        <p:txBody>
          <a:bodyPr wrap="none" lIns="0" tIns="0" rIns="0" bIns="0" rtlCol="0" anchor="ctr"/>
          <a:lstStyle/>
          <a:p>
            <a:pPr indent="0" marL="0">
              <a:buNone/>
            </a:pPr>
            <a:r>
              <a:rPr lang="zh-CN" altLang="en-US" sz="1000" dirty="0">
                <a:solidFill>
                  <a:srgbClr val="9EAABE"/>
                </a:solidFill>
                <a:latin typeface="Heiti SC" pitchFamily="34" charset="0"/>
                <a:ea typeface="Heiti SC" pitchFamily="34" charset="-122"/>
                <a:cs typeface="Heiti SC" pitchFamily="34" charset="-120"/>
              </a:rPr>
              <a:t>每一条消息稳定送达</a:t>
            </a:r>
            <a:endParaRPr lang="zh-CN" sz="1000" dirty="0"/>
          </a:p>
        </p:txBody>
      </p:sp>
      <p:sp>
        <p:nvSpPr>
          <p:cNvPr id="10" name="Text 8: 400"/>
          <p:cNvSpPr/>
          <p:nvPr/>
        </p:nvSpPr>
        <p:spPr>
          <a:xfrm>
            <a:off x="4347567" y="1561505"/>
            <a:ext cx="2737445" cy="1593850"/>
          </a:xfrm>
          <a:prstGeom prst="rect">
            <a:avLst/>
          </a:prstGeom>
          <a:noFill/>
          <a:ln/>
        </p:spPr>
        <p:txBody>
          <a:bodyPr wrap="none" lIns="0" tIns="0" rIns="0" bIns="0" rtlCol="0" anchor="ctr"/>
          <a:lstStyle/>
          <a:p>
            <a:pPr indent="0" marL="0">
              <a:buNone/>
            </a:pPr>
            <a:r>
              <a:rPr lang="zh-CN" altLang="en-US" sz="11250" b="1" spc="1092" kern="0" dirty="0">
                <a:solidFill>
                  <a:srgbClr val="FFFFFF"/>
                </a:solidFill>
                <a:latin typeface="Arial" pitchFamily="34" charset="0"/>
                <a:ea typeface="Arial" pitchFamily="34" charset="-122"/>
                <a:cs typeface="Arial" pitchFamily="34" charset="-120"/>
              </a:rPr>
              <a:t>400</a:t>
            </a:r>
            <a:endParaRPr lang="zh-CN" sz="11250" dirty="0"/>
          </a:p>
        </p:txBody>
      </p:sp>
      <p:sp>
        <p:nvSpPr>
          <p:cNvPr id="11" name="Text 9: 亿+"/>
          <p:cNvSpPr/>
          <p:nvPr/>
        </p:nvSpPr>
        <p:spPr>
          <a:xfrm>
            <a:off x="7008813" y="2367955"/>
            <a:ext cx="911721" cy="596900"/>
          </a:xfrm>
          <a:prstGeom prst="rect">
            <a:avLst/>
          </a:prstGeom>
          <a:noFill/>
          <a:ln/>
        </p:spPr>
        <p:txBody>
          <a:bodyPr wrap="none" lIns="0" tIns="0" rIns="0" bIns="0" rtlCol="0" anchor="ctr"/>
          <a:lstStyle/>
          <a:p>
            <a:pPr indent="0" marL="0">
              <a:buNone/>
            </a:pPr>
            <a:r>
              <a:rPr lang="zh-CN" altLang="en-US" sz="4050" b="1" spc="75" kern="0" dirty="0">
                <a:solidFill>
                  <a:srgbClr val="F02D4E"/>
                </a:solidFill>
                <a:latin typeface="Heiti SC" pitchFamily="34" charset="0"/>
                <a:ea typeface="Heiti SC" pitchFamily="34" charset="-122"/>
                <a:cs typeface="Heiti SC" pitchFamily="34" charset="-120"/>
              </a:rPr>
              <a:t>亿+</a:t>
            </a:r>
            <a:endParaRPr lang="zh-CN" sz="4050" dirty="0"/>
          </a:p>
        </p:txBody>
      </p:sp>
      <p:sp>
        <p:nvSpPr>
          <p:cNvPr id="12" name="Text 10: 年发送消息条数"/>
          <p:cNvSpPr/>
          <p:nvPr/>
        </p:nvSpPr>
        <p:spPr>
          <a:xfrm>
            <a:off x="5295900" y="3206155"/>
            <a:ext cx="1676400" cy="266700"/>
          </a:xfrm>
          <a:prstGeom prst="rect">
            <a:avLst/>
          </a:prstGeom>
          <a:noFill/>
          <a:ln/>
        </p:spPr>
        <p:txBody>
          <a:bodyPr wrap="none" lIns="0" tIns="0" rIns="0" bIns="0" rtlCol="0" anchor="ctr"/>
          <a:lstStyle/>
          <a:p>
            <a:pPr indent="0" marL="0">
              <a:buNone/>
            </a:pPr>
            <a:r>
              <a:rPr lang="zh-CN" altLang="en-US" sz="1650" b="1" spc="175" kern="0" dirty="0">
                <a:solidFill>
                  <a:srgbClr val="FFFFFF"/>
                </a:solidFill>
                <a:latin typeface="Heiti SC" pitchFamily="34" charset="0"/>
                <a:ea typeface="Heiti SC" pitchFamily="34" charset="-122"/>
                <a:cs typeface="Heiti SC" pitchFamily="34" charset="-120"/>
              </a:rPr>
              <a:t>年发送消息条数</a:t>
            </a:r>
            <a:endParaRPr lang="zh-CN" sz="1650" dirty="0"/>
          </a:p>
        </p:txBody>
      </p:sp>
      <p:sp>
        <p:nvSpPr>
          <p:cNvPr id="13" name="Text 11: 平台级吞吐规模，是稳定性最直接的压力证明"/>
          <p:cNvSpPr/>
          <p:nvPr/>
        </p:nvSpPr>
        <p:spPr>
          <a:xfrm>
            <a:off x="4762500" y="3612555"/>
            <a:ext cx="2743200" cy="177800"/>
          </a:xfrm>
          <a:prstGeom prst="rect">
            <a:avLst/>
          </a:prstGeom>
          <a:noFill/>
          <a:ln/>
        </p:spPr>
        <p:txBody>
          <a:bodyPr wrap="none" lIns="0" tIns="0" rIns="0" bIns="0" rtlCol="0" anchor="ctr"/>
          <a:lstStyle/>
          <a:p>
            <a:pPr indent="0" marL="0">
              <a:buNone/>
            </a:pPr>
            <a:r>
              <a:rPr lang="zh-CN" altLang="en-US" sz="1050" dirty="0">
                <a:solidFill>
                  <a:srgbClr val="ABB7CB"/>
                </a:solidFill>
                <a:latin typeface="Heiti SC" pitchFamily="34" charset="0"/>
                <a:ea typeface="Heiti SC" pitchFamily="34" charset="-122"/>
                <a:cs typeface="Heiti SC" pitchFamily="34" charset="-120"/>
              </a:rPr>
              <a:t>平台级吞吐规模，是稳定性最直接的压力证明</a:t>
            </a:r>
            <a:endParaRPr lang="zh-CN" sz="1050" dirty="0"/>
          </a:p>
        </p:txBody>
      </p:sp>
      <p:sp>
        <p:nvSpPr>
          <p:cNvPr id="14" name="Text 12: 5000"/>
          <p:cNvSpPr/>
          <p:nvPr/>
        </p:nvSpPr>
        <p:spPr>
          <a:xfrm>
            <a:off x="8902799" y="1824037"/>
            <a:ext cx="2146300" cy="952500"/>
          </a:xfrm>
          <a:prstGeom prst="rect">
            <a:avLst/>
          </a:prstGeom>
          <a:noFill/>
          <a:ln/>
        </p:spPr>
        <p:txBody>
          <a:bodyPr wrap="none" lIns="0" tIns="0" rIns="0" bIns="0" rtlCol="0" anchor="ctr"/>
          <a:lstStyle/>
          <a:p>
            <a:pPr indent="0" marL="0">
              <a:buNone/>
            </a:pPr>
            <a:r>
              <a:rPr lang="zh-CN" altLang="en-US" sz="6600" b="1" spc="539" kern="0" dirty="0">
                <a:solidFill>
                  <a:srgbClr val="FFFFFF"/>
                </a:solidFill>
                <a:latin typeface="Arial" pitchFamily="34" charset="0"/>
                <a:ea typeface="Arial" pitchFamily="34" charset="-122"/>
                <a:cs typeface="Arial" pitchFamily="34" charset="-120"/>
              </a:rPr>
              <a:t>5000</a:t>
            </a:r>
            <a:endParaRPr lang="zh-CN" sz="6600" dirty="0"/>
          </a:p>
        </p:txBody>
      </p:sp>
      <p:sp>
        <p:nvSpPr>
          <p:cNvPr id="15" name="Text 13: +"/>
          <p:cNvSpPr/>
          <p:nvPr/>
        </p:nvSpPr>
        <p:spPr>
          <a:xfrm>
            <a:off x="10972899" y="2224088"/>
            <a:ext cx="317202" cy="457200"/>
          </a:xfrm>
          <a:prstGeom prst="rect">
            <a:avLst/>
          </a:prstGeom>
          <a:noFill/>
          <a:ln/>
        </p:spPr>
        <p:txBody>
          <a:bodyPr wrap="none" lIns="0" tIns="0" rIns="0" bIns="0" rtlCol="0" anchor="ctr"/>
          <a:lstStyle/>
          <a:p>
            <a:pPr indent="0" marL="0">
              <a:buNone/>
            </a:pPr>
            <a:r>
              <a:rPr lang="zh-CN" altLang="en-US" sz="3000" b="1" dirty="0">
                <a:solidFill>
                  <a:srgbClr val="F02D4E"/>
                </a:solidFill>
                <a:latin typeface="Arial" pitchFamily="34" charset="0"/>
                <a:ea typeface="Arial" pitchFamily="34" charset="-122"/>
                <a:cs typeface="Arial" pitchFamily="34" charset="-120"/>
              </a:rPr>
              <a:t>+</a:t>
            </a:r>
            <a:endParaRPr lang="zh-CN" sz="3000" dirty="0"/>
          </a:p>
        </p:txBody>
      </p:sp>
      <p:sp>
        <p:nvSpPr>
          <p:cNvPr id="16" name="Text 14: 企业共同选择"/>
          <p:cNvSpPr/>
          <p:nvPr/>
        </p:nvSpPr>
        <p:spPr>
          <a:xfrm>
            <a:off x="9544050" y="2827338"/>
            <a:ext cx="1104900" cy="228600"/>
          </a:xfrm>
          <a:prstGeom prst="rect">
            <a:avLst/>
          </a:prstGeom>
          <a:noFill/>
          <a:ln/>
        </p:spPr>
        <p:txBody>
          <a:bodyPr wrap="none" lIns="0" tIns="0" rIns="0" bIns="0" rtlCol="0" anchor="ctr"/>
          <a:lstStyle/>
          <a:p>
            <a:pPr indent="0" marL="0">
              <a:buNone/>
            </a:pPr>
            <a:r>
              <a:rPr lang="zh-CN" altLang="en-US" sz="1350" b="1" dirty="0">
                <a:solidFill>
                  <a:srgbClr val="FFFFFF"/>
                </a:solidFill>
                <a:latin typeface="Heiti SC" pitchFamily="34" charset="0"/>
                <a:ea typeface="Heiti SC" pitchFamily="34" charset="-122"/>
                <a:cs typeface="Heiti SC" pitchFamily="34" charset="-120"/>
              </a:rPr>
              <a:t>企业共同选择</a:t>
            </a:r>
            <a:endParaRPr lang="zh-CN" sz="1350" dirty="0"/>
          </a:p>
        </p:txBody>
      </p:sp>
      <p:sp>
        <p:nvSpPr>
          <p:cNvPr id="17" name="Text 15: 覆盖金融、互联网、政企等"/>
          <p:cNvSpPr/>
          <p:nvPr/>
        </p:nvSpPr>
        <p:spPr>
          <a:xfrm>
            <a:off x="9296400" y="3170238"/>
            <a:ext cx="1600200" cy="177800"/>
          </a:xfrm>
          <a:prstGeom prst="rect">
            <a:avLst/>
          </a:prstGeom>
          <a:noFill/>
          <a:ln/>
        </p:spPr>
        <p:txBody>
          <a:bodyPr wrap="none" lIns="0" tIns="0" rIns="0" bIns="0" rtlCol="0" anchor="ctr"/>
          <a:lstStyle/>
          <a:p>
            <a:pPr indent="0" marL="0">
              <a:buNone/>
            </a:pPr>
            <a:r>
              <a:rPr lang="zh-CN" altLang="en-US" sz="1000" dirty="0">
                <a:solidFill>
                  <a:srgbClr val="A0AFC8"/>
                </a:solidFill>
                <a:latin typeface="Heiti SC" pitchFamily="34" charset="0"/>
                <a:ea typeface="Heiti SC" pitchFamily="34" charset="-122"/>
                <a:cs typeface="Heiti SC" pitchFamily="34" charset="-120"/>
              </a:rPr>
              <a:t>覆盖金融、互联网、政企等</a:t>
            </a:r>
            <a:endParaRPr lang="zh-CN" sz="1000" dirty="0"/>
          </a:p>
        </p:txBody>
      </p:sp>
      <p:sp>
        <p:nvSpPr>
          <p:cNvPr id="18" name="Text 16: 行业头部客户"/>
          <p:cNvSpPr/>
          <p:nvPr/>
        </p:nvSpPr>
        <p:spPr>
          <a:xfrm>
            <a:off x="9677400" y="3386138"/>
            <a:ext cx="838200" cy="177800"/>
          </a:xfrm>
          <a:prstGeom prst="rect">
            <a:avLst/>
          </a:prstGeom>
          <a:noFill/>
          <a:ln/>
        </p:spPr>
        <p:txBody>
          <a:bodyPr wrap="none" lIns="0" tIns="0" rIns="0" bIns="0" rtlCol="0" anchor="ctr"/>
          <a:lstStyle/>
          <a:p>
            <a:pPr indent="0" marL="0">
              <a:buNone/>
            </a:pPr>
            <a:r>
              <a:rPr lang="zh-CN" altLang="en-US" sz="1000" dirty="0">
                <a:solidFill>
                  <a:srgbClr val="A0B0C9"/>
                </a:solidFill>
                <a:latin typeface="Heiti SC" pitchFamily="34" charset="0"/>
                <a:ea typeface="Heiti SC" pitchFamily="34" charset="-122"/>
                <a:cs typeface="Heiti SC" pitchFamily="34" charset="-120"/>
              </a:rPr>
              <a:t>行业头部客户</a:t>
            </a:r>
            <a:endParaRPr lang="zh-CN" sz="1000" dirty="0"/>
          </a:p>
        </p:txBody>
      </p:sp>
      <p:sp>
        <p:nvSpPr>
          <p:cNvPr id="19" name="Text 17: 50%+"/>
          <p:cNvSpPr/>
          <p:nvPr/>
        </p:nvSpPr>
        <p:spPr>
          <a:xfrm>
            <a:off x="718245" y="4572595"/>
            <a:ext cx="874812" cy="349250"/>
          </a:xfrm>
          <a:prstGeom prst="rect">
            <a:avLst/>
          </a:prstGeom>
          <a:noFill/>
          <a:ln/>
        </p:spPr>
        <p:txBody>
          <a:bodyPr wrap="none" lIns="0" tIns="0" rIns="0" bIns="0" rtlCol="0" anchor="ctr"/>
          <a:lstStyle/>
          <a:p>
            <a:pPr indent="0" marL="0">
              <a:buNone/>
            </a:pPr>
            <a:r>
              <a:rPr lang="zh-CN" altLang="en-US" sz="2250" b="1" spc="157" kern="0" dirty="0">
                <a:solidFill>
                  <a:srgbClr val="FFFFFF"/>
                </a:solidFill>
                <a:latin typeface="Arial" pitchFamily="34" charset="0"/>
                <a:ea typeface="Arial" pitchFamily="34" charset="-122"/>
                <a:cs typeface="Arial" pitchFamily="34" charset="-120"/>
              </a:rPr>
              <a:t>50%+</a:t>
            </a:r>
            <a:endParaRPr lang="zh-CN" sz="2250" dirty="0"/>
          </a:p>
        </p:txBody>
      </p:sp>
      <p:sp>
        <p:nvSpPr>
          <p:cNvPr id="20" name="Text 18: 营收多年保持增长"/>
          <p:cNvSpPr/>
          <p:nvPr/>
        </p:nvSpPr>
        <p:spPr>
          <a:xfrm>
            <a:off x="609600" y="4959945"/>
            <a:ext cx="1092200" cy="177800"/>
          </a:xfrm>
          <a:prstGeom prst="rect">
            <a:avLst/>
          </a:prstGeom>
          <a:noFill/>
          <a:ln/>
        </p:spPr>
        <p:txBody>
          <a:bodyPr wrap="none" lIns="0" tIns="0" rIns="0" bIns="0" rtlCol="0" anchor="ctr"/>
          <a:lstStyle/>
          <a:p>
            <a:pPr indent="0" marL="0">
              <a:buNone/>
            </a:pPr>
            <a:r>
              <a:rPr lang="zh-CN" altLang="en-US" sz="1000" dirty="0">
                <a:solidFill>
                  <a:srgbClr val="A0AFC8"/>
                </a:solidFill>
                <a:latin typeface="Heiti SC" pitchFamily="34" charset="0"/>
                <a:ea typeface="Heiti SC" pitchFamily="34" charset="-122"/>
                <a:cs typeface="Heiti SC" pitchFamily="34" charset="-120"/>
              </a:rPr>
              <a:t>营收多年保持增长</a:t>
            </a:r>
            <a:endParaRPr lang="zh-CN" sz="1000" dirty="0"/>
          </a:p>
        </p:txBody>
      </p:sp>
      <p:sp>
        <p:nvSpPr>
          <p:cNvPr id="21" name="Text 19: 1000+"/>
          <p:cNvSpPr/>
          <p:nvPr/>
        </p:nvSpPr>
        <p:spPr>
          <a:xfrm>
            <a:off x="3252589" y="4572595"/>
            <a:ext cx="944463" cy="349250"/>
          </a:xfrm>
          <a:prstGeom prst="rect">
            <a:avLst/>
          </a:prstGeom>
          <a:noFill/>
          <a:ln/>
        </p:spPr>
        <p:txBody>
          <a:bodyPr wrap="none" lIns="0" tIns="0" rIns="0" bIns="0" rtlCol="0" anchor="ctr"/>
          <a:lstStyle/>
          <a:p>
            <a:pPr indent="0" marL="0">
              <a:buNone/>
            </a:pPr>
            <a:r>
              <a:rPr lang="zh-CN" altLang="en-US" sz="2250" b="1" spc="129" kern="0" dirty="0">
                <a:solidFill>
                  <a:srgbClr val="FFFFFF"/>
                </a:solidFill>
                <a:latin typeface="Arial" pitchFamily="34" charset="0"/>
                <a:ea typeface="Arial" pitchFamily="34" charset="-122"/>
                <a:cs typeface="Arial" pitchFamily="34" charset="-120"/>
              </a:rPr>
              <a:t>1000+</a:t>
            </a:r>
            <a:endParaRPr lang="zh-CN" sz="2250" dirty="0"/>
          </a:p>
        </p:txBody>
      </p:sp>
      <p:sp>
        <p:nvSpPr>
          <p:cNvPr id="22" name="Text 20: 平台接入通道数"/>
          <p:cNvSpPr/>
          <p:nvPr/>
        </p:nvSpPr>
        <p:spPr>
          <a:xfrm>
            <a:off x="3242270" y="4959945"/>
            <a:ext cx="965200" cy="177800"/>
          </a:xfrm>
          <a:prstGeom prst="rect">
            <a:avLst/>
          </a:prstGeom>
          <a:noFill/>
          <a:ln/>
        </p:spPr>
        <p:txBody>
          <a:bodyPr wrap="none" lIns="0" tIns="0" rIns="0" bIns="0" rtlCol="0" anchor="ctr"/>
          <a:lstStyle/>
          <a:p>
            <a:pPr indent="0" marL="0">
              <a:buNone/>
            </a:pPr>
            <a:r>
              <a:rPr lang="zh-CN" altLang="en-US" sz="1000" dirty="0">
                <a:solidFill>
                  <a:srgbClr val="9FADC4"/>
                </a:solidFill>
                <a:latin typeface="Heiti SC" pitchFamily="34" charset="0"/>
                <a:ea typeface="Heiti SC" pitchFamily="34" charset="-122"/>
                <a:cs typeface="Heiti SC" pitchFamily="34" charset="-120"/>
              </a:rPr>
              <a:t>平台接入通道数</a:t>
            </a:r>
            <a:endParaRPr lang="zh-CN" sz="1000" dirty="0"/>
          </a:p>
        </p:txBody>
      </p:sp>
      <p:sp>
        <p:nvSpPr>
          <p:cNvPr id="23" name="Text 21: 3 大"/>
          <p:cNvSpPr/>
          <p:nvPr/>
        </p:nvSpPr>
        <p:spPr>
          <a:xfrm>
            <a:off x="5942707" y="4623395"/>
            <a:ext cx="575766" cy="349250"/>
          </a:xfrm>
          <a:prstGeom prst="rect">
            <a:avLst/>
          </a:prstGeom>
          <a:noFill/>
          <a:ln/>
        </p:spPr>
        <p:txBody>
          <a:bodyPr wrap="none" lIns="0" tIns="0" rIns="0" bIns="0" rtlCol="0" anchor="ctr"/>
          <a:lstStyle/>
          <a:p>
            <a:pPr indent="0" marL="0">
              <a:buNone/>
            </a:pPr>
            <a:r>
              <a:rPr lang="zh-CN" altLang="en-US" sz="2250" b="1" spc="-63" kern="0" dirty="0">
                <a:solidFill>
                  <a:srgbClr val="FFFFFF"/>
                </a:solidFill>
                <a:latin typeface="Heiti SC" pitchFamily="34" charset="0"/>
                <a:ea typeface="Heiti SC" pitchFamily="34" charset="-122"/>
                <a:cs typeface="Heiti SC" pitchFamily="34" charset="-120"/>
              </a:rPr>
              <a:t>3 大</a:t>
            </a:r>
            <a:endParaRPr lang="zh-CN" sz="2250" dirty="0"/>
          </a:p>
        </p:txBody>
      </p:sp>
      <p:sp>
        <p:nvSpPr>
          <p:cNvPr id="24" name="Text 22: 运营商深度合作"/>
          <p:cNvSpPr/>
          <p:nvPr/>
        </p:nvSpPr>
        <p:spPr>
          <a:xfrm>
            <a:off x="5748040" y="5048845"/>
            <a:ext cx="965200" cy="177800"/>
          </a:xfrm>
          <a:prstGeom prst="rect">
            <a:avLst/>
          </a:prstGeom>
          <a:noFill/>
          <a:ln/>
        </p:spPr>
        <p:txBody>
          <a:bodyPr wrap="none" lIns="0" tIns="0" rIns="0" bIns="0" rtlCol="0" anchor="ctr"/>
          <a:lstStyle/>
          <a:p>
            <a:pPr indent="0" marL="0">
              <a:buNone/>
            </a:pPr>
            <a:r>
              <a:rPr lang="zh-CN" altLang="en-US" sz="1000" dirty="0">
                <a:solidFill>
                  <a:srgbClr val="A0AFC8"/>
                </a:solidFill>
                <a:latin typeface="Heiti SC" pitchFamily="34" charset="0"/>
                <a:ea typeface="Heiti SC" pitchFamily="34" charset="-122"/>
                <a:cs typeface="Heiti SC" pitchFamily="34" charset="-120"/>
              </a:rPr>
              <a:t>运营商深度合作</a:t>
            </a:r>
            <a:endParaRPr lang="zh-CN" sz="1000" dirty="0"/>
          </a:p>
        </p:txBody>
      </p:sp>
      <p:sp>
        <p:nvSpPr>
          <p:cNvPr id="25" name="Text 23: 14%"/>
          <p:cNvSpPr/>
          <p:nvPr/>
        </p:nvSpPr>
        <p:spPr>
          <a:xfrm>
            <a:off x="8451751" y="4572595"/>
            <a:ext cx="696119" cy="349250"/>
          </a:xfrm>
          <a:prstGeom prst="rect">
            <a:avLst/>
          </a:prstGeom>
          <a:noFill/>
          <a:ln/>
        </p:spPr>
        <p:txBody>
          <a:bodyPr wrap="none" lIns="0" tIns="0" rIns="0" bIns="0" rtlCol="0" anchor="ctr"/>
          <a:lstStyle/>
          <a:p>
            <a:pPr indent="0" marL="0">
              <a:buNone/>
            </a:pPr>
            <a:r>
              <a:rPr lang="zh-CN" altLang="en-US" sz="2250" b="1" spc="189" kern="0" dirty="0">
                <a:solidFill>
                  <a:srgbClr val="FFFFFF"/>
                </a:solidFill>
                <a:latin typeface="Arial" pitchFamily="34" charset="0"/>
                <a:ea typeface="Arial" pitchFamily="34" charset="-122"/>
                <a:cs typeface="Arial" pitchFamily="34" charset="-120"/>
              </a:rPr>
              <a:t>14%</a:t>
            </a:r>
            <a:endParaRPr lang="zh-CN" sz="2250" dirty="0"/>
          </a:p>
        </p:txBody>
      </p:sp>
      <p:sp>
        <p:nvSpPr>
          <p:cNvPr id="26" name="Text 24: 创新研发投入占比"/>
          <p:cNvSpPr/>
          <p:nvPr/>
        </p:nvSpPr>
        <p:spPr>
          <a:xfrm>
            <a:off x="8253710" y="4959945"/>
            <a:ext cx="1092200" cy="177800"/>
          </a:xfrm>
          <a:prstGeom prst="rect">
            <a:avLst/>
          </a:prstGeom>
          <a:noFill/>
          <a:ln/>
        </p:spPr>
        <p:txBody>
          <a:bodyPr wrap="none" lIns="0" tIns="0" rIns="0" bIns="0" rtlCol="0" anchor="ctr"/>
          <a:lstStyle/>
          <a:p>
            <a:pPr indent="0" marL="0">
              <a:buNone/>
            </a:pPr>
            <a:r>
              <a:rPr lang="zh-CN" altLang="en-US" sz="1000" dirty="0">
                <a:solidFill>
                  <a:srgbClr val="A0B1CB"/>
                </a:solidFill>
                <a:latin typeface="Heiti SC" pitchFamily="34" charset="0"/>
                <a:ea typeface="Heiti SC" pitchFamily="34" charset="-122"/>
                <a:cs typeface="Heiti SC" pitchFamily="34" charset="-120"/>
              </a:rPr>
              <a:t>创新研发投入占比</a:t>
            </a:r>
            <a:endParaRPr lang="zh-CN" sz="1000" dirty="0"/>
          </a:p>
        </p:txBody>
      </p:sp>
      <p:sp>
        <p:nvSpPr>
          <p:cNvPr id="27" name="Text 25: 100+"/>
          <p:cNvSpPr/>
          <p:nvPr/>
        </p:nvSpPr>
        <p:spPr>
          <a:xfrm>
            <a:off x="10886380" y="4572595"/>
            <a:ext cx="772220" cy="349250"/>
          </a:xfrm>
          <a:prstGeom prst="rect">
            <a:avLst/>
          </a:prstGeom>
          <a:noFill/>
          <a:ln/>
        </p:spPr>
        <p:txBody>
          <a:bodyPr wrap="none" lIns="0" tIns="0" rIns="0" bIns="0" rtlCol="0" anchor="ctr"/>
          <a:lstStyle/>
          <a:p>
            <a:pPr indent="0" marL="0">
              <a:buNone/>
            </a:pPr>
            <a:r>
              <a:rPr lang="zh-CN" altLang="en-US" sz="2250" b="1" spc="137" kern="0" dirty="0">
                <a:solidFill>
                  <a:srgbClr val="FFFFFF"/>
                </a:solidFill>
                <a:latin typeface="Arial" pitchFamily="34" charset="0"/>
                <a:ea typeface="Arial" pitchFamily="34" charset="-122"/>
                <a:cs typeface="Arial" pitchFamily="34" charset="-120"/>
              </a:rPr>
              <a:t>100+</a:t>
            </a:r>
            <a:endParaRPr lang="zh-CN" sz="2250" dirty="0"/>
          </a:p>
        </p:txBody>
      </p:sp>
      <p:sp>
        <p:nvSpPr>
          <p:cNvPr id="28" name="Text 26: 软件著作权"/>
          <p:cNvSpPr/>
          <p:nvPr/>
        </p:nvSpPr>
        <p:spPr>
          <a:xfrm>
            <a:off x="10916841" y="4959945"/>
            <a:ext cx="711200" cy="177800"/>
          </a:xfrm>
          <a:prstGeom prst="rect">
            <a:avLst/>
          </a:prstGeom>
          <a:noFill/>
          <a:ln/>
        </p:spPr>
        <p:txBody>
          <a:bodyPr wrap="none" lIns="0" tIns="0" rIns="0" bIns="0" rtlCol="0" anchor="ctr"/>
          <a:lstStyle/>
          <a:p>
            <a:pPr indent="0" marL="0">
              <a:buNone/>
            </a:pPr>
            <a:r>
              <a:rPr lang="zh-CN" altLang="en-US" sz="1000" dirty="0">
                <a:solidFill>
                  <a:srgbClr val="A2B4D0"/>
                </a:solidFill>
                <a:latin typeface="Heiti SC" pitchFamily="34" charset="0"/>
                <a:ea typeface="Heiti SC" pitchFamily="34" charset="-122"/>
                <a:cs typeface="Heiti SC" pitchFamily="34" charset="-120"/>
              </a:rPr>
              <a:t>软件著作权</a:t>
            </a:r>
            <a:endParaRPr lang="zh-CN" sz="1000" dirty="0"/>
          </a:p>
        </p:txBody>
      </p:sp>
      <p:sp>
        <p:nvSpPr>
          <p:cNvPr id="29" name="Text 27: 10 / 25"/>
          <p:cNvSpPr/>
          <p:nvPr/>
        </p:nvSpPr>
        <p:spPr>
          <a:xfrm>
            <a:off x="11683901" y="6591300"/>
            <a:ext cx="457299" cy="165100"/>
          </a:xfrm>
          <a:prstGeom prst="rect">
            <a:avLst/>
          </a:prstGeom>
          <a:noFill/>
          <a:ln/>
        </p:spPr>
        <p:txBody>
          <a:bodyPr wrap="none" lIns="0" tIns="0" rIns="0" bIns="0" rtlCol="0" anchor="ctr"/>
          <a:lstStyle/>
          <a:p>
            <a:pPr indent="0" marL="0">
              <a:buNone/>
            </a:pPr>
            <a:r>
              <a:rPr lang="zh-CN" altLang="en-US" sz="900" spc="41" kern="0" dirty="0">
                <a:solidFill>
                  <a:srgbClr val="819DC9"/>
                </a:solidFill>
                <a:latin typeface="Arial" pitchFamily="34" charset="0"/>
                <a:ea typeface="Arial" pitchFamily="34" charset="-122"/>
                <a:cs typeface="Arial" pitchFamily="34" charset="-120"/>
              </a:rPr>
              <a:t>10 / 25</a:t>
            </a:r>
            <a:endParaRPr lang="zh-CN"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joozo/WySync/ObBidding/wiki/pptx/UMC/build/generated/backgrounds/slide-11.png">    </p:cNvPr>
          <p:cNvPicPr>
            <a:picLocks noChangeAspect="1"/>
          </p:cNvPicPr>
          <p:nvPr/>
        </p:nvPicPr>
        <p:blipFill>
          <a:blip r:embed="rId1"/>
          <a:stretch>
            <a:fillRect/>
          </a:stretch>
        </p:blipFill>
        <p:spPr>
          <a:xfrm>
            <a:off x="0" y="0"/>
            <a:ext cx="12192000" cy="6858000"/>
          </a:xfrm>
          <a:prstGeom prst="rect">
            <a:avLst/>
          </a:prstGeom>
        </p:spPr>
      </p:pic>
      <p:sp>
        <p:nvSpPr>
          <p:cNvPr id="3" name="Text 1: PART 02"/>
          <p:cNvSpPr/>
          <p:nvPr/>
        </p:nvSpPr>
        <p:spPr>
          <a:xfrm>
            <a:off x="10737255" y="609600"/>
            <a:ext cx="845145" cy="177800"/>
          </a:xfrm>
          <a:prstGeom prst="rect">
            <a:avLst/>
          </a:prstGeom>
          <a:noFill/>
          <a:ln/>
        </p:spPr>
        <p:txBody>
          <a:bodyPr wrap="none" lIns="0" tIns="0" rIns="0" bIns="0" rtlCol="0" anchor="ctr"/>
          <a:lstStyle/>
          <a:p>
            <a:pPr indent="0" marL="0">
              <a:buNone/>
            </a:pPr>
            <a:r>
              <a:rPr lang="zh-CN" altLang="en-US" sz="1000" spc="348" kern="0" dirty="0">
                <a:solidFill>
                  <a:srgbClr val="82848C"/>
                </a:solidFill>
                <a:latin typeface="Arial" pitchFamily="34" charset="0"/>
                <a:ea typeface="Arial" pitchFamily="34" charset="-122"/>
                <a:cs typeface="Arial" pitchFamily="34" charset="-120"/>
              </a:rPr>
              <a:t>PART 02</a:t>
            </a:r>
            <a:endParaRPr lang="zh-CN" sz="1000" dirty="0"/>
          </a:p>
        </p:txBody>
      </p:sp>
      <p:sp>
        <p:nvSpPr>
          <p:cNvPr id="4" name="Text 2: 02"/>
          <p:cNvSpPr/>
          <p:nvPr/>
        </p:nvSpPr>
        <p:spPr>
          <a:xfrm>
            <a:off x="685800" y="2600325"/>
            <a:ext cx="2445643" cy="2108200"/>
          </a:xfrm>
          <a:prstGeom prst="rect">
            <a:avLst/>
          </a:prstGeom>
          <a:noFill/>
          <a:ln/>
        </p:spPr>
        <p:txBody>
          <a:bodyPr wrap="none" lIns="0" tIns="0" rIns="0" bIns="0" rtlCol="0" anchor="ctr"/>
          <a:lstStyle/>
          <a:p>
            <a:pPr indent="0" marL="0">
              <a:buNone/>
            </a:pPr>
            <a:r>
              <a:rPr lang="zh-CN" altLang="en-US" sz="15000" b="1" spc="1972" kern="0" dirty="0">
                <a:solidFill>
                  <a:srgbClr val="293542"/>
                </a:solidFill>
                <a:latin typeface="Arial" pitchFamily="34" charset="0"/>
                <a:ea typeface="Arial" pitchFamily="34" charset="-122"/>
                <a:cs typeface="Arial" pitchFamily="34" charset="-120"/>
              </a:rPr>
              <a:t>02</a:t>
            </a:r>
            <a:endParaRPr lang="zh-CN" sz="15000" dirty="0"/>
          </a:p>
        </p:txBody>
      </p:sp>
      <p:sp>
        <p:nvSpPr>
          <p:cNvPr id="5" name="Text 3: 业务介绍"/>
          <p:cNvSpPr/>
          <p:nvPr/>
        </p:nvSpPr>
        <p:spPr>
          <a:xfrm>
            <a:off x="3512443" y="2746474"/>
            <a:ext cx="2362200" cy="622300"/>
          </a:xfrm>
          <a:prstGeom prst="rect">
            <a:avLst/>
          </a:prstGeom>
          <a:noFill/>
          <a:ln/>
        </p:spPr>
        <p:txBody>
          <a:bodyPr wrap="none" lIns="0" tIns="0" rIns="0" bIns="0" rtlCol="0" anchor="ctr"/>
          <a:lstStyle/>
          <a:p>
            <a:pPr indent="0" marL="0">
              <a:buNone/>
            </a:pPr>
            <a:r>
              <a:rPr lang="zh-CN" altLang="en-US" sz="4200" b="1" spc="400" kern="0" dirty="0">
                <a:solidFill>
                  <a:srgbClr val="FFFFFF"/>
                </a:solidFill>
                <a:latin typeface="Heiti SC" pitchFamily="34" charset="0"/>
                <a:ea typeface="Heiti SC" pitchFamily="34" charset="-122"/>
                <a:cs typeface="Heiti SC" pitchFamily="34" charset="-120"/>
              </a:rPr>
              <a:t>业务介绍</a:t>
            </a:r>
            <a:endParaRPr lang="zh-CN" sz="4200" dirty="0"/>
          </a:p>
        </p:txBody>
      </p:sp>
      <p:sp>
        <p:nvSpPr>
          <p:cNvPr id="6" name="Text 4: OUR BUSINESS"/>
          <p:cNvSpPr/>
          <p:nvPr/>
        </p:nvSpPr>
        <p:spPr>
          <a:xfrm>
            <a:off x="3512443" y="3485555"/>
            <a:ext cx="1803301" cy="203200"/>
          </a:xfrm>
          <a:prstGeom prst="rect">
            <a:avLst/>
          </a:prstGeom>
          <a:noFill/>
          <a:ln/>
        </p:spPr>
        <p:txBody>
          <a:bodyPr wrap="none" lIns="0" tIns="0" rIns="0" bIns="0" rtlCol="0" anchor="ctr"/>
          <a:lstStyle/>
          <a:p>
            <a:pPr indent="0" marL="0">
              <a:buNone/>
            </a:pPr>
            <a:r>
              <a:rPr lang="zh-CN" altLang="en-US" sz="1200" spc="412" kern="0" dirty="0">
                <a:solidFill>
                  <a:srgbClr val="9DA2A8"/>
                </a:solidFill>
                <a:latin typeface="Arial" pitchFamily="34" charset="0"/>
                <a:ea typeface="Arial" pitchFamily="34" charset="-122"/>
                <a:cs typeface="Arial" pitchFamily="34" charset="-120"/>
              </a:rPr>
              <a:t>OUR BUSINESS</a:t>
            </a:r>
            <a:endParaRPr lang="zh-CN" sz="1200" dirty="0"/>
          </a:p>
        </p:txBody>
      </p:sp>
      <p:sp>
        <p:nvSpPr>
          <p:cNvPr id="7" name="Text 5: 产品服务矩阵 · GMP 本地化部署消息平台"/>
          <p:cNvSpPr/>
          <p:nvPr/>
        </p:nvSpPr>
        <p:spPr>
          <a:xfrm>
            <a:off x="3512443" y="3923705"/>
            <a:ext cx="2506266" cy="177800"/>
          </a:xfrm>
          <a:prstGeom prst="rect">
            <a:avLst/>
          </a:prstGeom>
          <a:noFill/>
          <a:ln/>
        </p:spPr>
        <p:txBody>
          <a:bodyPr wrap="none" lIns="0" tIns="0" rIns="0" bIns="0" rtlCol="0" anchor="ctr"/>
          <a:lstStyle/>
          <a:p>
            <a:pPr indent="0" marL="0">
              <a:buNone/>
            </a:pPr>
            <a:r>
              <a:rPr lang="zh-CN" altLang="en-US" sz="1050" spc="-45" kern="0" dirty="0">
                <a:solidFill>
                  <a:srgbClr val="848990"/>
                </a:solidFill>
                <a:latin typeface="Heiti SC" pitchFamily="34" charset="0"/>
                <a:ea typeface="Heiti SC" pitchFamily="34" charset="-122"/>
                <a:cs typeface="Heiti SC" pitchFamily="34" charset="-120"/>
              </a:rPr>
              <a:t>产品服务矩阵 · GMP 本地化部署消息平台</a:t>
            </a:r>
            <a:endParaRPr lang="zh-CN" sz="1050" dirty="0"/>
          </a:p>
        </p:txBody>
      </p:sp>
      <p:sp>
        <p:nvSpPr>
          <p:cNvPr id="8" name="Text 6: 企业短信 · 语音验证 · 语音线路 · 5G消息 · 富媒"/>
          <p:cNvSpPr/>
          <p:nvPr/>
        </p:nvSpPr>
        <p:spPr>
          <a:xfrm>
            <a:off x="3512443" y="4163715"/>
            <a:ext cx="3192959" cy="177800"/>
          </a:xfrm>
          <a:prstGeom prst="rect">
            <a:avLst/>
          </a:prstGeom>
          <a:noFill/>
          <a:ln/>
        </p:spPr>
        <p:txBody>
          <a:bodyPr wrap="none" lIns="0" tIns="0" rIns="0" bIns="0" rtlCol="0" anchor="ctr"/>
          <a:lstStyle/>
          <a:p>
            <a:pPr indent="0" marL="0">
              <a:buNone/>
            </a:pPr>
            <a:r>
              <a:rPr lang="zh-CN" altLang="en-US" sz="1050" spc="-100" kern="0" dirty="0">
                <a:solidFill>
                  <a:srgbClr val="83888F"/>
                </a:solidFill>
                <a:latin typeface="Heiti SC" pitchFamily="34" charset="0"/>
                <a:ea typeface="Heiti SC" pitchFamily="34" charset="-122"/>
                <a:cs typeface="Heiti SC" pitchFamily="34" charset="-120"/>
              </a:rPr>
              <a:t>企业短信 · 语音验证 · 语音线路 · 5G消息 · 富媒体消息</a:t>
            </a:r>
            <a:endParaRPr lang="zh-CN" sz="1050" dirty="0"/>
          </a:p>
        </p:txBody>
      </p:sp>
      <p:sp>
        <p:nvSpPr>
          <p:cNvPr id="9" name="Text 7: 11 / 25"/>
          <p:cNvSpPr/>
          <p:nvPr/>
        </p:nvSpPr>
        <p:spPr>
          <a:xfrm>
            <a:off x="11689755" y="6591300"/>
            <a:ext cx="451445" cy="165100"/>
          </a:xfrm>
          <a:prstGeom prst="rect">
            <a:avLst/>
          </a:prstGeom>
          <a:noFill/>
          <a:ln/>
        </p:spPr>
        <p:txBody>
          <a:bodyPr wrap="none" lIns="0" tIns="0" rIns="0" bIns="0" rtlCol="0" anchor="ctr"/>
          <a:lstStyle/>
          <a:p>
            <a:pPr indent="0" marL="0">
              <a:buNone/>
            </a:pPr>
            <a:r>
              <a:rPr lang="zh-CN" altLang="en-US" sz="900" spc="45" kern="0" dirty="0">
                <a:solidFill>
                  <a:srgbClr val="777078"/>
                </a:solidFill>
                <a:latin typeface="Arial" pitchFamily="34" charset="0"/>
                <a:ea typeface="Arial" pitchFamily="34" charset="-122"/>
                <a:cs typeface="Arial" pitchFamily="34" charset="-120"/>
              </a:rPr>
              <a:t>11 / 25</a:t>
            </a:r>
            <a:endParaRPr lang="zh-CN"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joozo/WySync/ObBidding/wiki/pptx/UMC/build/generated/backgrounds/slide-12.png">    </p:cNvPr>
          <p:cNvPicPr>
            <a:picLocks noChangeAspect="1"/>
          </p:cNvPicPr>
          <p:nvPr/>
        </p:nvPicPr>
        <p:blipFill>
          <a:blip r:embed="rId1"/>
          <a:stretch>
            <a:fillRect/>
          </a:stretch>
        </p:blipFill>
        <p:spPr>
          <a:xfrm>
            <a:off x="0" y="0"/>
            <a:ext cx="12192000" cy="6858000"/>
          </a:xfrm>
          <a:prstGeom prst="rect">
            <a:avLst/>
          </a:prstGeom>
        </p:spPr>
      </p:pic>
      <p:sp>
        <p:nvSpPr>
          <p:cNvPr id="3" name="Text 1: 02 · 产品服务矩阵"/>
          <p:cNvSpPr/>
          <p:nvPr/>
        </p:nvSpPr>
        <p:spPr>
          <a:xfrm>
            <a:off x="609600" y="285750"/>
            <a:ext cx="1287066" cy="177800"/>
          </a:xfrm>
          <a:prstGeom prst="rect">
            <a:avLst/>
          </a:prstGeom>
          <a:noFill/>
          <a:ln/>
        </p:spPr>
        <p:txBody>
          <a:bodyPr wrap="none" lIns="0" tIns="0" rIns="0" bIns="0" rtlCol="0" anchor="ctr"/>
          <a:lstStyle/>
          <a:p>
            <a:pPr indent="0" marL="0">
              <a:buNone/>
            </a:pPr>
            <a:r>
              <a:rPr lang="zh-CN" altLang="en-US" sz="1000" b="1" spc="93" kern="0" dirty="0">
                <a:solidFill>
                  <a:srgbClr val="F02D4E"/>
                </a:solidFill>
                <a:latin typeface="Heiti SC" pitchFamily="34" charset="0"/>
                <a:ea typeface="Heiti SC" pitchFamily="34" charset="-122"/>
                <a:cs typeface="Heiti SC" pitchFamily="34" charset="-120"/>
              </a:rPr>
              <a:t>02 · 产品服务矩阵</a:t>
            </a:r>
            <a:endParaRPr lang="zh-CN" sz="1000" dirty="0"/>
          </a:p>
        </p:txBody>
      </p:sp>
      <p:sp>
        <p:nvSpPr>
          <p:cNvPr id="4" name="Text 2: 云通信产品服务矩阵"/>
          <p:cNvSpPr/>
          <p:nvPr/>
        </p:nvSpPr>
        <p:spPr>
          <a:xfrm>
            <a:off x="609600" y="546100"/>
            <a:ext cx="2676525" cy="349250"/>
          </a:xfrm>
          <a:prstGeom prst="rect">
            <a:avLst/>
          </a:prstGeom>
          <a:noFill/>
          <a:ln/>
        </p:spPr>
        <p:txBody>
          <a:bodyPr wrap="none" lIns="0" tIns="0" rIns="0" bIns="0" rtlCol="0" anchor="ctr"/>
          <a:lstStyle/>
          <a:p>
            <a:pPr indent="0" marL="0">
              <a:buNone/>
            </a:pPr>
            <a:r>
              <a:rPr lang="zh-CN" altLang="en-US" sz="2250" b="1" spc="28" kern="0" dirty="0">
                <a:solidFill>
                  <a:srgbClr val="0A1F44"/>
                </a:solidFill>
                <a:latin typeface="Heiti SC" pitchFamily="34" charset="0"/>
                <a:ea typeface="Heiti SC" pitchFamily="34" charset="-122"/>
                <a:cs typeface="Heiti SC" pitchFamily="34" charset="-120"/>
              </a:rPr>
              <a:t>云通信产品服务矩阵</a:t>
            </a:r>
            <a:endParaRPr lang="zh-CN" sz="2250" dirty="0"/>
          </a:p>
        </p:txBody>
      </p:sp>
      <p:sp>
        <p:nvSpPr>
          <p:cNvPr id="5" name="Text 3: ONE-STOP"/>
          <p:cNvSpPr/>
          <p:nvPr/>
        </p:nvSpPr>
        <p:spPr>
          <a:xfrm>
            <a:off x="895350" y="1479550"/>
            <a:ext cx="970558" cy="177800"/>
          </a:xfrm>
          <a:prstGeom prst="rect">
            <a:avLst/>
          </a:prstGeom>
          <a:noFill/>
          <a:ln/>
        </p:spPr>
        <p:txBody>
          <a:bodyPr wrap="none" lIns="0" tIns="0" rIns="0" bIns="0" rtlCol="0" anchor="ctr"/>
          <a:lstStyle/>
          <a:p>
            <a:pPr indent="0" marL="0">
              <a:buNone/>
            </a:pPr>
            <a:r>
              <a:rPr lang="zh-CN" altLang="en-US" sz="1000" spc="263" kern="0" dirty="0">
                <a:solidFill>
                  <a:srgbClr val="9DA7B7"/>
                </a:solidFill>
                <a:latin typeface="Arial" pitchFamily="34" charset="0"/>
                <a:ea typeface="Arial" pitchFamily="34" charset="-122"/>
                <a:cs typeface="Arial" pitchFamily="34" charset="-120"/>
              </a:rPr>
              <a:t>ONE-STOP</a:t>
            </a:r>
            <a:endParaRPr lang="zh-CN" sz="1000" dirty="0"/>
          </a:p>
        </p:txBody>
      </p:sp>
      <p:sp>
        <p:nvSpPr>
          <p:cNvPr id="6" name="Text 4: 一体化"/>
          <p:cNvSpPr/>
          <p:nvPr/>
        </p:nvSpPr>
        <p:spPr>
          <a:xfrm>
            <a:off x="895350" y="1803400"/>
            <a:ext cx="800100" cy="298450"/>
          </a:xfrm>
          <a:prstGeom prst="rect">
            <a:avLst/>
          </a:prstGeom>
          <a:noFill/>
          <a:ln/>
        </p:spPr>
        <p:txBody>
          <a:bodyPr wrap="none" lIns="0" tIns="0" rIns="0" bIns="0" rtlCol="0" anchor="ctr"/>
          <a:lstStyle/>
          <a:p>
            <a:pPr indent="0" marL="0">
              <a:buNone/>
            </a:pPr>
            <a:r>
              <a:rPr lang="zh-CN" altLang="en-US" sz="1900" b="1" dirty="0">
                <a:solidFill>
                  <a:srgbClr val="FFFFFF"/>
                </a:solidFill>
                <a:latin typeface="Heiti SC" pitchFamily="34" charset="0"/>
                <a:ea typeface="Heiti SC" pitchFamily="34" charset="-122"/>
                <a:cs typeface="Heiti SC" pitchFamily="34" charset="-120"/>
              </a:rPr>
              <a:t>一体化</a:t>
            </a:r>
            <a:endParaRPr lang="zh-CN" sz="1900" dirty="0"/>
          </a:p>
        </p:txBody>
      </p:sp>
      <p:sp>
        <p:nvSpPr>
          <p:cNvPr id="7" name="Text 5: 云通信服务"/>
          <p:cNvSpPr/>
          <p:nvPr/>
        </p:nvSpPr>
        <p:spPr>
          <a:xfrm>
            <a:off x="895350" y="2165350"/>
            <a:ext cx="1282700" cy="298450"/>
          </a:xfrm>
          <a:prstGeom prst="rect">
            <a:avLst/>
          </a:prstGeom>
          <a:noFill/>
          <a:ln/>
        </p:spPr>
        <p:txBody>
          <a:bodyPr wrap="none" lIns="0" tIns="0" rIns="0" bIns="0" rtlCol="0" anchor="ctr"/>
          <a:lstStyle/>
          <a:p>
            <a:pPr indent="0" marL="0">
              <a:buNone/>
            </a:pPr>
            <a:r>
              <a:rPr lang="zh-CN" altLang="en-US" sz="1900" b="1" dirty="0">
                <a:solidFill>
                  <a:srgbClr val="FFFFFF"/>
                </a:solidFill>
                <a:latin typeface="Heiti SC" pitchFamily="34" charset="0"/>
                <a:ea typeface="Heiti SC" pitchFamily="34" charset="-122"/>
                <a:cs typeface="Heiti SC" pitchFamily="34" charset="-120"/>
              </a:rPr>
              <a:t>云通信服务</a:t>
            </a:r>
            <a:endParaRPr lang="zh-CN" sz="1900" dirty="0"/>
          </a:p>
        </p:txBody>
      </p:sp>
      <p:sp>
        <p:nvSpPr>
          <p:cNvPr id="8" name="Text 6: 融合短信、语音验证、富媒体消息、"/>
          <p:cNvSpPr/>
          <p:nvPr/>
        </p:nvSpPr>
        <p:spPr>
          <a:xfrm>
            <a:off x="895350" y="2654300"/>
            <a:ext cx="2209800" cy="177800"/>
          </a:xfrm>
          <a:prstGeom prst="rect">
            <a:avLst/>
          </a:prstGeom>
          <a:noFill/>
          <a:ln/>
        </p:spPr>
        <p:txBody>
          <a:bodyPr wrap="none" lIns="0" tIns="0" rIns="0" bIns="0" rtlCol="0" anchor="ctr"/>
          <a:lstStyle/>
          <a:p>
            <a:pPr indent="0" marL="0">
              <a:buNone/>
            </a:pPr>
            <a:r>
              <a:rPr lang="zh-CN" altLang="en-US" sz="1050" dirty="0">
                <a:solidFill>
                  <a:srgbClr val="AAB4C4"/>
                </a:solidFill>
                <a:latin typeface="Heiti SC" pitchFamily="34" charset="0"/>
                <a:ea typeface="Heiti SC" pitchFamily="34" charset="-122"/>
                <a:cs typeface="Heiti SC" pitchFamily="34" charset="-120"/>
              </a:rPr>
              <a:t>融合短信、语音验证、富媒体消息、</a:t>
            </a:r>
            <a:endParaRPr lang="zh-CN" sz="1050" dirty="0"/>
          </a:p>
        </p:txBody>
      </p:sp>
      <p:sp>
        <p:nvSpPr>
          <p:cNvPr id="9" name="Text 7: 5G消息等能力，一个平台全覆盖。"/>
          <p:cNvSpPr/>
          <p:nvPr/>
        </p:nvSpPr>
        <p:spPr>
          <a:xfrm>
            <a:off x="895350" y="2894310"/>
            <a:ext cx="2125464" cy="177800"/>
          </a:xfrm>
          <a:prstGeom prst="rect">
            <a:avLst/>
          </a:prstGeom>
          <a:noFill/>
          <a:ln/>
        </p:spPr>
        <p:txBody>
          <a:bodyPr wrap="none" lIns="0" tIns="0" rIns="0" bIns="0" rtlCol="0" anchor="ctr"/>
          <a:lstStyle/>
          <a:p>
            <a:pPr indent="0" marL="0">
              <a:buNone/>
            </a:pPr>
            <a:r>
              <a:rPr lang="zh-CN" altLang="en-US" sz="1050" spc="-4" kern="0" dirty="0">
                <a:solidFill>
                  <a:srgbClr val="AAB4C5"/>
                </a:solidFill>
                <a:latin typeface="Heiti SC" pitchFamily="34" charset="0"/>
                <a:ea typeface="Heiti SC" pitchFamily="34" charset="-122"/>
                <a:cs typeface="Heiti SC" pitchFamily="34" charset="-120"/>
              </a:rPr>
              <a:t>5G消息等能力，一个平台全覆盖。</a:t>
            </a:r>
            <a:endParaRPr lang="zh-CN" sz="1050" dirty="0"/>
          </a:p>
        </p:txBody>
      </p:sp>
      <p:sp>
        <p:nvSpPr>
          <p:cNvPr id="10" name="Text 8: 覆盖行业"/>
          <p:cNvSpPr/>
          <p:nvPr/>
        </p:nvSpPr>
        <p:spPr>
          <a:xfrm>
            <a:off x="895350" y="4978400"/>
            <a:ext cx="660400" cy="177800"/>
          </a:xfrm>
          <a:prstGeom prst="rect">
            <a:avLst/>
          </a:prstGeom>
          <a:noFill/>
          <a:ln/>
        </p:spPr>
        <p:txBody>
          <a:bodyPr wrap="none" lIns="0" tIns="0" rIns="0" bIns="0" rtlCol="0" anchor="ctr"/>
          <a:lstStyle/>
          <a:p>
            <a:pPr indent="0" marL="0">
              <a:buNone/>
            </a:pPr>
            <a:r>
              <a:rPr lang="zh-CN" altLang="en-US" sz="1000" spc="200" kern="0" dirty="0">
                <a:solidFill>
                  <a:srgbClr val="93A3BD"/>
                </a:solidFill>
                <a:latin typeface="Heiti SC" pitchFamily="34" charset="0"/>
                <a:ea typeface="Heiti SC" pitchFamily="34" charset="-122"/>
                <a:cs typeface="Heiti SC" pitchFamily="34" charset="-120"/>
              </a:rPr>
              <a:t>覆盖行业</a:t>
            </a:r>
            <a:endParaRPr lang="zh-CN" sz="1000" dirty="0"/>
          </a:p>
        </p:txBody>
      </p:sp>
      <p:sp>
        <p:nvSpPr>
          <p:cNvPr id="11" name="Text 9: 金融"/>
          <p:cNvSpPr/>
          <p:nvPr/>
        </p:nvSpPr>
        <p:spPr>
          <a:xfrm>
            <a:off x="1054100" y="5334000"/>
            <a:ext cx="330200" cy="177800"/>
          </a:xfrm>
          <a:prstGeom prst="rect">
            <a:avLst/>
          </a:prstGeom>
          <a:noFill/>
          <a:ln/>
        </p:spPr>
        <p:txBody>
          <a:bodyPr wrap="none" lIns="0" tIns="0" rIns="0" bIns="0" rtlCol="0" anchor="ctr"/>
          <a:lstStyle/>
          <a:p>
            <a:pPr indent="0" marL="0">
              <a:buNone/>
            </a:pPr>
            <a:r>
              <a:rPr lang="zh-CN" altLang="en-US" sz="1000" dirty="0">
                <a:solidFill>
                  <a:srgbClr val="FFFFFF"/>
                </a:solidFill>
                <a:latin typeface="Heiti SC" pitchFamily="34" charset="0"/>
                <a:ea typeface="Heiti SC" pitchFamily="34" charset="-122"/>
                <a:cs typeface="Heiti SC" pitchFamily="34" charset="-120"/>
              </a:rPr>
              <a:t>金融</a:t>
            </a:r>
            <a:endParaRPr lang="zh-CN" sz="1000" dirty="0"/>
          </a:p>
        </p:txBody>
      </p:sp>
      <p:sp>
        <p:nvSpPr>
          <p:cNvPr id="12" name="Text 10: 互联网"/>
          <p:cNvSpPr/>
          <p:nvPr/>
        </p:nvSpPr>
        <p:spPr>
          <a:xfrm>
            <a:off x="1720850" y="5334000"/>
            <a:ext cx="457200" cy="177800"/>
          </a:xfrm>
          <a:prstGeom prst="rect">
            <a:avLst/>
          </a:prstGeom>
          <a:noFill/>
          <a:ln/>
        </p:spPr>
        <p:txBody>
          <a:bodyPr wrap="none" lIns="0" tIns="0" rIns="0" bIns="0" rtlCol="0" anchor="ctr"/>
          <a:lstStyle/>
          <a:p>
            <a:pPr indent="0" marL="0">
              <a:buNone/>
            </a:pPr>
            <a:r>
              <a:rPr lang="zh-CN" altLang="en-US" sz="1000" dirty="0">
                <a:solidFill>
                  <a:srgbClr val="FFFFFF"/>
                </a:solidFill>
                <a:latin typeface="Heiti SC" pitchFamily="34" charset="0"/>
                <a:ea typeface="Heiti SC" pitchFamily="34" charset="-122"/>
                <a:cs typeface="Heiti SC" pitchFamily="34" charset="-120"/>
              </a:rPr>
              <a:t>互联网</a:t>
            </a:r>
            <a:endParaRPr lang="zh-CN" sz="1000" dirty="0"/>
          </a:p>
        </p:txBody>
      </p:sp>
      <p:sp>
        <p:nvSpPr>
          <p:cNvPr id="13" name="Text 11: 政企"/>
          <p:cNvSpPr/>
          <p:nvPr/>
        </p:nvSpPr>
        <p:spPr>
          <a:xfrm>
            <a:off x="2514600" y="5334000"/>
            <a:ext cx="330200" cy="177800"/>
          </a:xfrm>
          <a:prstGeom prst="rect">
            <a:avLst/>
          </a:prstGeom>
          <a:noFill/>
          <a:ln/>
        </p:spPr>
        <p:txBody>
          <a:bodyPr wrap="none" lIns="0" tIns="0" rIns="0" bIns="0" rtlCol="0" anchor="ctr"/>
          <a:lstStyle/>
          <a:p>
            <a:pPr indent="0" marL="0">
              <a:buNone/>
            </a:pPr>
            <a:r>
              <a:rPr lang="zh-CN" altLang="en-US" sz="1000" dirty="0">
                <a:solidFill>
                  <a:srgbClr val="FFFFFF"/>
                </a:solidFill>
                <a:latin typeface="Heiti SC" pitchFamily="34" charset="0"/>
                <a:ea typeface="Heiti SC" pitchFamily="34" charset="-122"/>
                <a:cs typeface="Heiti SC" pitchFamily="34" charset="-120"/>
              </a:rPr>
              <a:t>政企</a:t>
            </a:r>
            <a:endParaRPr lang="zh-CN" sz="1000" dirty="0"/>
          </a:p>
        </p:txBody>
      </p:sp>
      <p:sp>
        <p:nvSpPr>
          <p:cNvPr id="14" name="Text 12: 短信"/>
          <p:cNvSpPr/>
          <p:nvPr/>
        </p:nvSpPr>
        <p:spPr>
          <a:xfrm>
            <a:off x="3810000" y="2733675"/>
            <a:ext cx="4064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短信</a:t>
            </a:r>
            <a:endParaRPr lang="zh-CN" sz="1300" dirty="0"/>
          </a:p>
        </p:txBody>
      </p:sp>
      <p:sp>
        <p:nvSpPr>
          <p:cNvPr id="15" name="Text 13: 国内短信、国际短信；验证码、行业通知、会员营销"/>
          <p:cNvSpPr/>
          <p:nvPr/>
        </p:nvSpPr>
        <p:spPr>
          <a:xfrm>
            <a:off x="3810000" y="3044825"/>
            <a:ext cx="2997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国内短信、国际短信；验证码、行业通知、会员营销</a:t>
            </a:r>
            <a:endParaRPr lang="zh-CN" sz="1000" dirty="0"/>
          </a:p>
        </p:txBody>
      </p:sp>
      <p:sp>
        <p:nvSpPr>
          <p:cNvPr id="16" name="Text 14: 语音验证"/>
          <p:cNvSpPr/>
          <p:nvPr/>
        </p:nvSpPr>
        <p:spPr>
          <a:xfrm>
            <a:off x="7867650" y="2733675"/>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语音验证</a:t>
            </a:r>
            <a:endParaRPr lang="zh-CN" sz="1300" dirty="0"/>
          </a:p>
        </p:txBody>
      </p:sp>
      <p:sp>
        <p:nvSpPr>
          <p:cNvPr id="17" name="Text 15: 语音验证码、语音通知等语音服务能力"/>
          <p:cNvSpPr/>
          <p:nvPr/>
        </p:nvSpPr>
        <p:spPr>
          <a:xfrm>
            <a:off x="7867650" y="3044825"/>
            <a:ext cx="2235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语音验证码、语音通知等语音服务能力</a:t>
            </a:r>
            <a:endParaRPr lang="zh-CN" sz="1000" dirty="0"/>
          </a:p>
        </p:txBody>
      </p:sp>
      <p:sp>
        <p:nvSpPr>
          <p:cNvPr id="18" name="Text 16: 5G消息 / 视频短信"/>
          <p:cNvSpPr/>
          <p:nvPr/>
        </p:nvSpPr>
        <p:spPr>
          <a:xfrm>
            <a:off x="3810000" y="4972050"/>
            <a:ext cx="1411684" cy="215900"/>
          </a:xfrm>
          <a:prstGeom prst="rect">
            <a:avLst/>
          </a:prstGeom>
          <a:noFill/>
          <a:ln/>
        </p:spPr>
        <p:txBody>
          <a:bodyPr wrap="none" lIns="0" tIns="0" rIns="0" bIns="0" rtlCol="0" anchor="ctr"/>
          <a:lstStyle/>
          <a:p>
            <a:pPr indent="0" marL="0">
              <a:buNone/>
            </a:pPr>
            <a:r>
              <a:rPr lang="zh-CN" altLang="en-US" sz="1300" b="1" spc="-36" kern="0" dirty="0">
                <a:solidFill>
                  <a:srgbClr val="0A1F44"/>
                </a:solidFill>
                <a:latin typeface="Heiti SC" pitchFamily="34" charset="0"/>
                <a:ea typeface="Heiti SC" pitchFamily="34" charset="-122"/>
                <a:cs typeface="Heiti SC" pitchFamily="34" charset="-120"/>
              </a:rPr>
              <a:t>5G消息 / 视频短信</a:t>
            </a:r>
            <a:endParaRPr lang="zh-CN" sz="1300" dirty="0"/>
          </a:p>
        </p:txBody>
      </p:sp>
      <p:sp>
        <p:nvSpPr>
          <p:cNvPr id="19" name="Text 17: 手机终端原生短信的新升级、新服务、新生态；集影、音、文"/>
          <p:cNvSpPr/>
          <p:nvPr/>
        </p:nvSpPr>
        <p:spPr>
          <a:xfrm>
            <a:off x="3810000" y="5283200"/>
            <a:ext cx="3505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手机终端原生短信的新升级、新服务、新生态；集影、音、文</a:t>
            </a:r>
            <a:endParaRPr lang="zh-CN" sz="1000" dirty="0"/>
          </a:p>
        </p:txBody>
      </p:sp>
      <p:sp>
        <p:nvSpPr>
          <p:cNvPr id="20" name="Text 18: 字一体"/>
          <p:cNvSpPr/>
          <p:nvPr/>
        </p:nvSpPr>
        <p:spPr>
          <a:xfrm>
            <a:off x="3810000" y="5492750"/>
            <a:ext cx="457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字一体</a:t>
            </a:r>
            <a:endParaRPr lang="zh-CN" sz="1000" dirty="0"/>
          </a:p>
        </p:txBody>
      </p:sp>
      <p:sp>
        <p:nvSpPr>
          <p:cNvPr id="21" name="Text 19: GMP 本地化部署消息平台"/>
          <p:cNvSpPr/>
          <p:nvPr/>
        </p:nvSpPr>
        <p:spPr>
          <a:xfrm>
            <a:off x="7867650" y="5181600"/>
            <a:ext cx="1975148" cy="215900"/>
          </a:xfrm>
          <a:prstGeom prst="rect">
            <a:avLst/>
          </a:prstGeom>
          <a:noFill/>
          <a:ln/>
        </p:spPr>
        <p:txBody>
          <a:bodyPr wrap="none" lIns="0" tIns="0" rIns="0" bIns="0" rtlCol="0" anchor="ctr"/>
          <a:lstStyle/>
          <a:p>
            <a:pPr indent="0" marL="0">
              <a:buNone/>
            </a:pPr>
            <a:r>
              <a:rPr lang="zh-CN" altLang="en-US" sz="1300" b="1" spc="-14" kern="0" dirty="0">
                <a:solidFill>
                  <a:srgbClr val="0A1F44"/>
                </a:solidFill>
                <a:latin typeface="Heiti SC" pitchFamily="34" charset="0"/>
                <a:ea typeface="Heiti SC" pitchFamily="34" charset="-122"/>
                <a:cs typeface="Heiti SC" pitchFamily="34" charset="-120"/>
              </a:rPr>
              <a:t>GMP 本地化部署消息平台</a:t>
            </a:r>
            <a:endParaRPr lang="zh-CN" sz="1300" dirty="0"/>
          </a:p>
        </p:txBody>
      </p:sp>
      <p:sp>
        <p:nvSpPr>
          <p:cNvPr id="22" name="Text 20: 基于跨平台 Java 技术开发的消息发送与管理平台"/>
          <p:cNvSpPr/>
          <p:nvPr/>
        </p:nvSpPr>
        <p:spPr>
          <a:xfrm>
            <a:off x="7867650" y="5492750"/>
            <a:ext cx="2814538" cy="177800"/>
          </a:xfrm>
          <a:prstGeom prst="rect">
            <a:avLst/>
          </a:prstGeom>
          <a:noFill/>
          <a:ln/>
        </p:spPr>
        <p:txBody>
          <a:bodyPr wrap="none" lIns="0" tIns="0" rIns="0" bIns="0" rtlCol="0" anchor="ctr"/>
          <a:lstStyle/>
          <a:p>
            <a:pPr indent="0" marL="0">
              <a:buNone/>
            </a:pPr>
            <a:r>
              <a:rPr lang="zh-CN" altLang="en-US" sz="1000" spc="-14" kern="0" dirty="0">
                <a:solidFill>
                  <a:srgbClr val="5A6B85"/>
                </a:solidFill>
                <a:latin typeface="Heiti SC" pitchFamily="34" charset="0"/>
                <a:ea typeface="Heiti SC" pitchFamily="34" charset="-122"/>
                <a:cs typeface="Heiti SC" pitchFamily="34" charset="-120"/>
              </a:rPr>
              <a:t>基于跨平台 Java 技术开发的消息发送与管理平台</a:t>
            </a:r>
            <a:endParaRPr lang="zh-CN" sz="1000" dirty="0"/>
          </a:p>
        </p:txBody>
      </p:sp>
      <p:sp>
        <p:nvSpPr>
          <p:cNvPr id="23" name="Text 21: 12 / 25"/>
          <p:cNvSpPr/>
          <p:nvPr/>
        </p:nvSpPr>
        <p:spPr>
          <a:xfrm>
            <a:off x="11684496" y="6591300"/>
            <a:ext cx="456704" cy="165100"/>
          </a:xfrm>
          <a:prstGeom prst="rect">
            <a:avLst/>
          </a:prstGeom>
          <a:noFill/>
          <a:ln/>
        </p:spPr>
        <p:txBody>
          <a:bodyPr wrap="none" lIns="0" tIns="0" rIns="0" bIns="0" rtlCol="0" anchor="ctr"/>
          <a:lstStyle/>
          <a:p>
            <a:pPr indent="0" marL="0">
              <a:buNone/>
            </a:pPr>
            <a:r>
              <a:rPr lang="zh-CN" altLang="en-US" sz="900" spc="41" kern="0" dirty="0">
                <a:solidFill>
                  <a:srgbClr val="8A94A6"/>
                </a:solidFill>
                <a:latin typeface="Arial" pitchFamily="34" charset="0"/>
                <a:ea typeface="Arial" pitchFamily="34" charset="-122"/>
                <a:cs typeface="Arial" pitchFamily="34" charset="-120"/>
              </a:rPr>
              <a:t>12 / 25</a:t>
            </a:r>
            <a:endParaRPr lang="zh-CN"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joozo/WySync/ObBidding/wiki/pptx/UMC/build/generated/backgrounds/slide-13.png">    </p:cNvPr>
          <p:cNvPicPr>
            <a:picLocks noChangeAspect="1"/>
          </p:cNvPicPr>
          <p:nvPr/>
        </p:nvPicPr>
        <p:blipFill>
          <a:blip r:embed="rId1"/>
          <a:stretch>
            <a:fillRect/>
          </a:stretch>
        </p:blipFill>
        <p:spPr>
          <a:xfrm>
            <a:off x="0" y="0"/>
            <a:ext cx="12192000" cy="6858000"/>
          </a:xfrm>
          <a:prstGeom prst="rect">
            <a:avLst/>
          </a:prstGeom>
        </p:spPr>
      </p:pic>
      <p:sp>
        <p:nvSpPr>
          <p:cNvPr id="3" name="Text 1: 02 · GMP 本地化部署消息平台"/>
          <p:cNvSpPr/>
          <p:nvPr/>
        </p:nvSpPr>
        <p:spPr>
          <a:xfrm>
            <a:off x="609600" y="285750"/>
            <a:ext cx="2113558" cy="177800"/>
          </a:xfrm>
          <a:prstGeom prst="rect">
            <a:avLst/>
          </a:prstGeom>
          <a:noFill/>
          <a:ln/>
        </p:spPr>
        <p:txBody>
          <a:bodyPr wrap="none" lIns="0" tIns="0" rIns="0" bIns="0" rtlCol="0" anchor="ctr"/>
          <a:lstStyle/>
          <a:p>
            <a:pPr indent="0" marL="0">
              <a:buNone/>
            </a:pPr>
            <a:r>
              <a:rPr lang="zh-CN" altLang="en-US" sz="1000" b="1" spc="106" kern="0" dirty="0">
                <a:solidFill>
                  <a:srgbClr val="F02D4E"/>
                </a:solidFill>
                <a:latin typeface="Heiti SC" pitchFamily="34" charset="0"/>
                <a:ea typeface="Heiti SC" pitchFamily="34" charset="-122"/>
                <a:cs typeface="Heiti SC" pitchFamily="34" charset="-120"/>
              </a:rPr>
              <a:t>02 · GMP 本地化部署消息平台</a:t>
            </a:r>
            <a:endParaRPr lang="zh-CN" sz="1000" dirty="0"/>
          </a:p>
        </p:txBody>
      </p:sp>
      <p:sp>
        <p:nvSpPr>
          <p:cNvPr id="4" name="Text 2: GMP 聚合消息服务平台"/>
          <p:cNvSpPr/>
          <p:nvPr/>
        </p:nvSpPr>
        <p:spPr>
          <a:xfrm>
            <a:off x="609600" y="546100"/>
            <a:ext cx="3115072" cy="349250"/>
          </a:xfrm>
          <a:prstGeom prst="rect">
            <a:avLst/>
          </a:prstGeom>
          <a:noFill/>
          <a:ln/>
        </p:spPr>
        <p:txBody>
          <a:bodyPr wrap="none" lIns="0" tIns="0" rIns="0" bIns="0" rtlCol="0" anchor="ctr"/>
          <a:lstStyle/>
          <a:p>
            <a:pPr indent="0" marL="0">
              <a:buNone/>
            </a:pPr>
            <a:r>
              <a:rPr lang="zh-CN" altLang="en-US" sz="2250" b="1" spc="0" kern="0" dirty="0">
                <a:solidFill>
                  <a:srgbClr val="0A1F44"/>
                </a:solidFill>
                <a:latin typeface="Heiti SC" pitchFamily="34" charset="0"/>
                <a:ea typeface="Heiti SC" pitchFamily="34" charset="-122"/>
                <a:cs typeface="Heiti SC" pitchFamily="34" charset="-120"/>
              </a:rPr>
              <a:t>GMP 聚合消息服务平台</a:t>
            </a:r>
            <a:endParaRPr lang="zh-CN" sz="2250" dirty="0"/>
          </a:p>
        </p:txBody>
      </p:sp>
      <p:sp>
        <p:nvSpPr>
          <p:cNvPr id="5" name="Text 3: GMP"/>
          <p:cNvSpPr/>
          <p:nvPr/>
        </p:nvSpPr>
        <p:spPr>
          <a:xfrm>
            <a:off x="609600" y="1685330"/>
            <a:ext cx="1536700" cy="698500"/>
          </a:xfrm>
          <a:prstGeom prst="rect">
            <a:avLst/>
          </a:prstGeom>
          <a:noFill/>
          <a:ln/>
        </p:spPr>
        <p:txBody>
          <a:bodyPr wrap="none" lIns="0" tIns="0" rIns="0" bIns="0" rtlCol="0" anchor="ctr"/>
          <a:lstStyle/>
          <a:p>
            <a:pPr indent="0" marL="0">
              <a:buNone/>
            </a:pPr>
            <a:r>
              <a:rPr lang="zh-CN" altLang="en-US" sz="4800" b="1" spc="283" kern="0" dirty="0">
                <a:solidFill>
                  <a:srgbClr val="0A1F44"/>
                </a:solidFill>
                <a:latin typeface="Arial" pitchFamily="34" charset="0"/>
                <a:ea typeface="Arial" pitchFamily="34" charset="-122"/>
                <a:cs typeface="Arial" pitchFamily="34" charset="-120"/>
              </a:rPr>
              <a:t>GMP</a:t>
            </a:r>
            <a:endParaRPr lang="zh-CN" sz="4800" dirty="0"/>
          </a:p>
        </p:txBody>
      </p:sp>
      <p:sp>
        <p:nvSpPr>
          <p:cNvPr id="6" name="Text 4: GLOBAL MESSAGE PLATFORM"/>
          <p:cNvSpPr/>
          <p:nvPr/>
        </p:nvSpPr>
        <p:spPr>
          <a:xfrm>
            <a:off x="609600" y="2377480"/>
            <a:ext cx="2945606" cy="177800"/>
          </a:xfrm>
          <a:prstGeom prst="rect">
            <a:avLst/>
          </a:prstGeom>
          <a:noFill/>
          <a:ln/>
        </p:spPr>
        <p:txBody>
          <a:bodyPr wrap="none" lIns="0" tIns="0" rIns="0" bIns="0" rtlCol="0" anchor="ctr"/>
          <a:lstStyle/>
          <a:p>
            <a:pPr indent="0" marL="0">
              <a:buNone/>
            </a:pPr>
            <a:r>
              <a:rPr lang="zh-CN" altLang="en-US" sz="1050" b="1" spc="299" kern="0" dirty="0">
                <a:solidFill>
                  <a:srgbClr val="F02D4E"/>
                </a:solidFill>
                <a:latin typeface="Arial" pitchFamily="34" charset="0"/>
                <a:ea typeface="Arial" pitchFamily="34" charset="-122"/>
                <a:cs typeface="Arial" pitchFamily="34" charset="-120"/>
              </a:rPr>
              <a:t>GLOBAL MESSAGE PLATFORM</a:t>
            </a:r>
            <a:endParaRPr lang="zh-CN" sz="1050" dirty="0"/>
          </a:p>
        </p:txBody>
      </p:sp>
      <p:sp>
        <p:nvSpPr>
          <p:cNvPr id="7" name="Text 5: GMP 是一款基于跨平台 Java 技术开发的消息发送与管理"/>
          <p:cNvSpPr/>
          <p:nvPr/>
        </p:nvSpPr>
        <p:spPr>
          <a:xfrm>
            <a:off x="609600" y="2777530"/>
            <a:ext cx="4608612" cy="196850"/>
          </a:xfrm>
          <a:prstGeom prst="rect">
            <a:avLst/>
          </a:prstGeom>
          <a:noFill/>
          <a:ln/>
        </p:spPr>
        <p:txBody>
          <a:bodyPr wrap="none" lIns="0" tIns="0" rIns="0" bIns="0" rtlCol="0" anchor="ctr"/>
          <a:lstStyle/>
          <a:p>
            <a:pPr indent="0" marL="0">
              <a:buNone/>
            </a:pPr>
            <a:r>
              <a:rPr lang="zh-CN" altLang="en-US" sz="1150" spc="-16" kern="0" dirty="0">
                <a:solidFill>
                  <a:srgbClr val="3A4A66"/>
                </a:solidFill>
                <a:latin typeface="Heiti SC" pitchFamily="34" charset="0"/>
                <a:ea typeface="Heiti SC" pitchFamily="34" charset="-122"/>
                <a:cs typeface="Heiti SC" pitchFamily="34" charset="-120"/>
              </a:rPr>
              <a:t>GMP 是一款基于跨平台 Java 技术开发的消息发送与管理平台，专为满</a:t>
            </a:r>
            <a:endParaRPr lang="zh-CN" sz="1150" dirty="0"/>
          </a:p>
        </p:txBody>
      </p:sp>
      <p:sp>
        <p:nvSpPr>
          <p:cNvPr id="8" name="Text 6: 足企业"/>
          <p:cNvSpPr/>
          <p:nvPr/>
        </p:nvSpPr>
        <p:spPr>
          <a:xfrm>
            <a:off x="609600" y="3040360"/>
            <a:ext cx="514350" cy="196850"/>
          </a:xfrm>
          <a:prstGeom prst="rect">
            <a:avLst/>
          </a:prstGeom>
          <a:noFill/>
          <a:ln/>
        </p:spPr>
        <p:txBody>
          <a:bodyPr wrap="none" lIns="0" tIns="0" rIns="0" bIns="0" rtlCol="0" anchor="ctr"/>
          <a:lstStyle/>
          <a:p>
            <a:pPr indent="0" marL="0">
              <a:buNone/>
            </a:pPr>
            <a:r>
              <a:rPr lang="zh-CN" altLang="en-US" sz="1150" dirty="0">
                <a:solidFill>
                  <a:srgbClr val="3A4A66"/>
                </a:solidFill>
                <a:latin typeface="Heiti SC" pitchFamily="34" charset="0"/>
                <a:ea typeface="Heiti SC" pitchFamily="34" charset="-122"/>
                <a:cs typeface="Heiti SC" pitchFamily="34" charset="-120"/>
              </a:rPr>
              <a:t>足企业</a:t>
            </a:r>
            <a:endParaRPr lang="zh-CN" sz="1150" dirty="0"/>
          </a:p>
        </p:txBody>
      </p:sp>
      <p:sp>
        <p:nvSpPr>
          <p:cNvPr id="9" name="Text 7: 本地化部署"/>
          <p:cNvSpPr/>
          <p:nvPr/>
        </p:nvSpPr>
        <p:spPr>
          <a:xfrm>
            <a:off x="1047750" y="3040360"/>
            <a:ext cx="806450" cy="196850"/>
          </a:xfrm>
          <a:prstGeom prst="rect">
            <a:avLst/>
          </a:prstGeom>
          <a:noFill/>
          <a:ln/>
        </p:spPr>
        <p:txBody>
          <a:bodyPr wrap="none" lIns="0" tIns="0" rIns="0" bIns="0" rtlCol="0" anchor="ctr"/>
          <a:lstStyle/>
          <a:p>
            <a:pPr indent="0" marL="0">
              <a:buNone/>
            </a:pPr>
            <a:r>
              <a:rPr lang="zh-CN" altLang="en-US" sz="1150" b="1" dirty="0">
                <a:solidFill>
                  <a:srgbClr val="0A1F44"/>
                </a:solidFill>
                <a:latin typeface="Heiti SC" pitchFamily="34" charset="0"/>
                <a:ea typeface="Heiti SC" pitchFamily="34" charset="-122"/>
                <a:cs typeface="Heiti SC" pitchFamily="34" charset="-120"/>
              </a:rPr>
              <a:t>本地化部署</a:t>
            </a:r>
            <a:endParaRPr lang="zh-CN" sz="1150" dirty="0"/>
          </a:p>
        </p:txBody>
      </p:sp>
      <p:sp>
        <p:nvSpPr>
          <p:cNvPr id="10" name="Text 8: 的需求而设计，提供安全、兼容的解决方案，为企业"/>
          <p:cNvSpPr/>
          <p:nvPr/>
        </p:nvSpPr>
        <p:spPr>
          <a:xfrm>
            <a:off x="1778000" y="3040360"/>
            <a:ext cx="3435350" cy="196850"/>
          </a:xfrm>
          <a:prstGeom prst="rect">
            <a:avLst/>
          </a:prstGeom>
          <a:noFill/>
          <a:ln/>
        </p:spPr>
        <p:txBody>
          <a:bodyPr wrap="none" lIns="0" tIns="0" rIns="0" bIns="0" rtlCol="0" anchor="ctr"/>
          <a:lstStyle/>
          <a:p>
            <a:pPr indent="0" marL="0">
              <a:buNone/>
            </a:pPr>
            <a:r>
              <a:rPr lang="zh-CN" altLang="en-US" sz="1150" dirty="0">
                <a:solidFill>
                  <a:srgbClr val="3A4A66"/>
                </a:solidFill>
                <a:latin typeface="Heiti SC" pitchFamily="34" charset="0"/>
                <a:ea typeface="Heiti SC" pitchFamily="34" charset="-122"/>
                <a:cs typeface="Heiti SC" pitchFamily="34" charset="-120"/>
              </a:rPr>
              <a:t>的需求而设计，提供安全、兼容的解决方案，为企业</a:t>
            </a:r>
            <a:endParaRPr lang="zh-CN" sz="1150" dirty="0"/>
          </a:p>
        </p:txBody>
      </p:sp>
      <p:sp>
        <p:nvSpPr>
          <p:cNvPr id="11" name="Text 9: 带来更具定制化和全面性的即时通讯服务。"/>
          <p:cNvSpPr/>
          <p:nvPr/>
        </p:nvSpPr>
        <p:spPr>
          <a:xfrm>
            <a:off x="609600" y="3303191"/>
            <a:ext cx="2851150" cy="196850"/>
          </a:xfrm>
          <a:prstGeom prst="rect">
            <a:avLst/>
          </a:prstGeom>
          <a:noFill/>
          <a:ln/>
        </p:spPr>
        <p:txBody>
          <a:bodyPr wrap="none" lIns="0" tIns="0" rIns="0" bIns="0" rtlCol="0" anchor="ctr"/>
          <a:lstStyle/>
          <a:p>
            <a:pPr indent="0" marL="0">
              <a:buNone/>
            </a:pPr>
            <a:r>
              <a:rPr lang="zh-CN" altLang="en-US" sz="1150" dirty="0">
                <a:solidFill>
                  <a:srgbClr val="3A4A66"/>
                </a:solidFill>
                <a:latin typeface="Heiti SC" pitchFamily="34" charset="0"/>
                <a:ea typeface="Heiti SC" pitchFamily="34" charset="-122"/>
                <a:cs typeface="Heiti SC" pitchFamily="34" charset="-120"/>
              </a:rPr>
              <a:t>带来更具定制化和全面性的即时通讯服务。</a:t>
            </a:r>
            <a:endParaRPr lang="zh-CN" sz="1150" dirty="0"/>
          </a:p>
        </p:txBody>
      </p:sp>
      <p:sp>
        <p:nvSpPr>
          <p:cNvPr id="12" name="Text 10: 本地部署环境独立部署"/>
          <p:cNvSpPr/>
          <p:nvPr/>
        </p:nvSpPr>
        <p:spPr>
          <a:xfrm>
            <a:off x="1104900" y="3877171"/>
            <a:ext cx="1536700" cy="196850"/>
          </a:xfrm>
          <a:prstGeom prst="rect">
            <a:avLst/>
          </a:prstGeom>
          <a:noFill/>
          <a:ln/>
        </p:spPr>
        <p:txBody>
          <a:bodyPr wrap="none" lIns="0" tIns="0" rIns="0" bIns="0" rtlCol="0" anchor="ctr"/>
          <a:lstStyle/>
          <a:p>
            <a:pPr indent="0" marL="0">
              <a:buNone/>
            </a:pPr>
            <a:r>
              <a:rPr lang="zh-CN" altLang="en-US" sz="1150" b="1" dirty="0">
                <a:solidFill>
                  <a:srgbClr val="1B2A4A"/>
                </a:solidFill>
                <a:latin typeface="Heiti SC" pitchFamily="34" charset="0"/>
                <a:ea typeface="Heiti SC" pitchFamily="34" charset="-122"/>
                <a:cs typeface="Heiti SC" pitchFamily="34" charset="-120"/>
              </a:rPr>
              <a:t>本地部署环境独立部署</a:t>
            </a:r>
            <a:endParaRPr lang="zh-CN" sz="1150" dirty="0"/>
          </a:p>
        </p:txBody>
      </p:sp>
      <p:sp>
        <p:nvSpPr>
          <p:cNvPr id="13" name="Text 11: 定制化、全面性即时通讯服务"/>
          <p:cNvSpPr/>
          <p:nvPr/>
        </p:nvSpPr>
        <p:spPr>
          <a:xfrm>
            <a:off x="1104900" y="4448671"/>
            <a:ext cx="1974850" cy="196850"/>
          </a:xfrm>
          <a:prstGeom prst="rect">
            <a:avLst/>
          </a:prstGeom>
          <a:noFill/>
          <a:ln/>
        </p:spPr>
        <p:txBody>
          <a:bodyPr wrap="none" lIns="0" tIns="0" rIns="0" bIns="0" rtlCol="0" anchor="ctr"/>
          <a:lstStyle/>
          <a:p>
            <a:pPr indent="0" marL="0">
              <a:buNone/>
            </a:pPr>
            <a:r>
              <a:rPr lang="zh-CN" altLang="en-US" sz="1150" b="1" dirty="0">
                <a:solidFill>
                  <a:srgbClr val="1B2A4A"/>
                </a:solidFill>
                <a:latin typeface="Heiti SC" pitchFamily="34" charset="0"/>
                <a:ea typeface="Heiti SC" pitchFamily="34" charset="-122"/>
                <a:cs typeface="Heiti SC" pitchFamily="34" charset="-120"/>
              </a:rPr>
              <a:t>定制化、全面性即时通讯服务</a:t>
            </a:r>
            <a:endParaRPr lang="zh-CN" sz="1150" dirty="0"/>
          </a:p>
        </p:txBody>
      </p:sp>
      <p:sp>
        <p:nvSpPr>
          <p:cNvPr id="14" name="Text 12: 安全、兼容的企业级解决方案"/>
          <p:cNvSpPr/>
          <p:nvPr/>
        </p:nvSpPr>
        <p:spPr>
          <a:xfrm>
            <a:off x="1104900" y="5020171"/>
            <a:ext cx="1974850" cy="196850"/>
          </a:xfrm>
          <a:prstGeom prst="rect">
            <a:avLst/>
          </a:prstGeom>
          <a:noFill/>
          <a:ln/>
        </p:spPr>
        <p:txBody>
          <a:bodyPr wrap="none" lIns="0" tIns="0" rIns="0" bIns="0" rtlCol="0" anchor="ctr"/>
          <a:lstStyle/>
          <a:p>
            <a:pPr indent="0" marL="0">
              <a:buNone/>
            </a:pPr>
            <a:r>
              <a:rPr lang="zh-CN" altLang="en-US" sz="1150" b="1" dirty="0">
                <a:solidFill>
                  <a:srgbClr val="1B2A4A"/>
                </a:solidFill>
                <a:latin typeface="Heiti SC" pitchFamily="34" charset="0"/>
                <a:ea typeface="Heiti SC" pitchFamily="34" charset="-122"/>
                <a:cs typeface="Heiti SC" pitchFamily="34" charset="-120"/>
              </a:rPr>
              <a:t>安全、兼容的企业级解决方案</a:t>
            </a:r>
            <a:endParaRPr lang="zh-CN" sz="1150" dirty="0"/>
          </a:p>
        </p:txBody>
      </p:sp>
      <p:sp>
        <p:nvSpPr>
          <p:cNvPr id="15" name="Text 13: GMP 平台管理后台 · 实时数据概览"/>
          <p:cNvSpPr/>
          <p:nvPr/>
        </p:nvSpPr>
        <p:spPr>
          <a:xfrm>
            <a:off x="6310312" y="1511300"/>
            <a:ext cx="1816298" cy="165100"/>
          </a:xfrm>
          <a:prstGeom prst="rect">
            <a:avLst/>
          </a:prstGeom>
          <a:noFill/>
          <a:ln/>
        </p:spPr>
        <p:txBody>
          <a:bodyPr wrap="none" lIns="0" tIns="0" rIns="0" bIns="0" rtlCol="0" anchor="ctr"/>
          <a:lstStyle/>
          <a:p>
            <a:pPr indent="0" marL="0">
              <a:buNone/>
            </a:pPr>
            <a:r>
              <a:rPr lang="zh-CN" altLang="en-US" sz="900" spc="-45" kern="0" dirty="0">
                <a:solidFill>
                  <a:srgbClr val="5A6B85"/>
                </a:solidFill>
                <a:latin typeface="Heiti SC" pitchFamily="34" charset="0"/>
                <a:ea typeface="Heiti SC" pitchFamily="34" charset="-122"/>
                <a:cs typeface="Heiti SC" pitchFamily="34" charset="-120"/>
              </a:rPr>
              <a:t>GMP 平台管理后台 · 实时数据概览</a:t>
            </a:r>
            <a:endParaRPr lang="zh-CN" sz="900" dirty="0"/>
          </a:p>
        </p:txBody>
      </p:sp>
      <p:sp>
        <p:nvSpPr>
          <p:cNvPr id="16" name="Text 14: 13 / 25"/>
          <p:cNvSpPr/>
          <p:nvPr/>
        </p:nvSpPr>
        <p:spPr>
          <a:xfrm>
            <a:off x="11683802" y="6591300"/>
            <a:ext cx="457398" cy="165100"/>
          </a:xfrm>
          <a:prstGeom prst="rect">
            <a:avLst/>
          </a:prstGeom>
          <a:noFill/>
          <a:ln/>
        </p:spPr>
        <p:txBody>
          <a:bodyPr wrap="none" lIns="0" tIns="0" rIns="0" bIns="0" rtlCol="0" anchor="ctr"/>
          <a:lstStyle/>
          <a:p>
            <a:pPr indent="0" marL="0">
              <a:buNone/>
            </a:pPr>
            <a:r>
              <a:rPr lang="zh-CN" altLang="en-US" sz="900" spc="42" kern="0" dirty="0">
                <a:solidFill>
                  <a:srgbClr val="8A94A6"/>
                </a:solidFill>
                <a:latin typeface="Arial" pitchFamily="34" charset="0"/>
                <a:ea typeface="Arial" pitchFamily="34" charset="-122"/>
                <a:cs typeface="Arial" pitchFamily="34" charset="-120"/>
              </a:rPr>
              <a:t>13 / 25</a:t>
            </a:r>
            <a:endParaRPr lang="zh-CN"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joozo/WySync/ObBidding/wiki/pptx/UMC/build/generated/backgrounds/slide-14.png">    </p:cNvPr>
          <p:cNvPicPr>
            <a:picLocks noChangeAspect="1"/>
          </p:cNvPicPr>
          <p:nvPr/>
        </p:nvPicPr>
        <p:blipFill>
          <a:blip r:embed="rId1"/>
          <a:stretch>
            <a:fillRect/>
          </a:stretch>
        </p:blipFill>
        <p:spPr>
          <a:xfrm>
            <a:off x="0" y="0"/>
            <a:ext cx="12192000" cy="6858000"/>
          </a:xfrm>
          <a:prstGeom prst="rect">
            <a:avLst/>
          </a:prstGeom>
        </p:spPr>
      </p:pic>
      <p:sp>
        <p:nvSpPr>
          <p:cNvPr id="3" name="Text 1: 02 · GMP 本地化部署消息平台"/>
          <p:cNvSpPr/>
          <p:nvPr/>
        </p:nvSpPr>
        <p:spPr>
          <a:xfrm>
            <a:off x="609600" y="285750"/>
            <a:ext cx="2113558" cy="177800"/>
          </a:xfrm>
          <a:prstGeom prst="rect">
            <a:avLst/>
          </a:prstGeom>
          <a:noFill/>
          <a:ln/>
        </p:spPr>
        <p:txBody>
          <a:bodyPr wrap="none" lIns="0" tIns="0" rIns="0" bIns="0" rtlCol="0" anchor="ctr"/>
          <a:lstStyle/>
          <a:p>
            <a:pPr indent="0" marL="0">
              <a:buNone/>
            </a:pPr>
            <a:r>
              <a:rPr lang="zh-CN" altLang="en-US" sz="1000" b="1" spc="106" kern="0" dirty="0">
                <a:solidFill>
                  <a:srgbClr val="F02D4E"/>
                </a:solidFill>
                <a:latin typeface="Heiti SC" pitchFamily="34" charset="0"/>
                <a:ea typeface="Heiti SC" pitchFamily="34" charset="-122"/>
                <a:cs typeface="Heiti SC" pitchFamily="34" charset="-120"/>
              </a:rPr>
              <a:t>02 · GMP 本地化部署消息平台</a:t>
            </a:r>
            <a:endParaRPr lang="zh-CN" sz="1000" dirty="0"/>
          </a:p>
        </p:txBody>
      </p:sp>
      <p:sp>
        <p:nvSpPr>
          <p:cNvPr id="4" name="Text 2: GMP 平台功能"/>
          <p:cNvSpPr/>
          <p:nvPr/>
        </p:nvSpPr>
        <p:spPr>
          <a:xfrm>
            <a:off x="609600" y="546100"/>
            <a:ext cx="1959372" cy="349250"/>
          </a:xfrm>
          <a:prstGeom prst="rect">
            <a:avLst/>
          </a:prstGeom>
          <a:noFill/>
          <a:ln/>
        </p:spPr>
        <p:txBody>
          <a:bodyPr wrap="none" lIns="0" tIns="0" rIns="0" bIns="0" rtlCol="0" anchor="ctr"/>
          <a:lstStyle/>
          <a:p>
            <a:pPr indent="0" marL="0">
              <a:buNone/>
            </a:pPr>
            <a:r>
              <a:rPr lang="zh-CN" altLang="en-US" sz="2250" b="1" spc="-14" kern="0" dirty="0">
                <a:solidFill>
                  <a:srgbClr val="0A1F44"/>
                </a:solidFill>
                <a:latin typeface="Heiti SC" pitchFamily="34" charset="0"/>
                <a:ea typeface="Heiti SC" pitchFamily="34" charset="-122"/>
                <a:cs typeface="Heiti SC" pitchFamily="34" charset="-120"/>
              </a:rPr>
              <a:t>GMP 平台功能</a:t>
            </a:r>
            <a:endParaRPr lang="zh-CN" sz="2250" dirty="0"/>
          </a:p>
        </p:txBody>
      </p:sp>
      <p:sp>
        <p:nvSpPr>
          <p:cNvPr id="5" name="Text 3: 发送"/>
          <p:cNvSpPr/>
          <p:nvPr/>
        </p:nvSpPr>
        <p:spPr>
          <a:xfrm>
            <a:off x="1238250" y="1352550"/>
            <a:ext cx="495300" cy="266700"/>
          </a:xfrm>
          <a:prstGeom prst="rect">
            <a:avLst/>
          </a:prstGeom>
          <a:noFill/>
          <a:ln/>
        </p:spPr>
        <p:txBody>
          <a:bodyPr wrap="none" lIns="0" tIns="0" rIns="0" bIns="0" rtlCol="0" anchor="ctr"/>
          <a:lstStyle/>
          <a:p>
            <a:pPr indent="0" marL="0">
              <a:buNone/>
            </a:pPr>
            <a:r>
              <a:rPr lang="zh-CN" altLang="en-US" sz="1650" b="1" dirty="0">
                <a:solidFill>
                  <a:srgbClr val="FFFFFF"/>
                </a:solidFill>
                <a:latin typeface="Heiti SC" pitchFamily="34" charset="0"/>
                <a:ea typeface="Heiti SC" pitchFamily="34" charset="-122"/>
                <a:cs typeface="Heiti SC" pitchFamily="34" charset="-120"/>
              </a:rPr>
              <a:t>发送</a:t>
            </a:r>
            <a:endParaRPr lang="zh-CN" sz="1650" dirty="0"/>
          </a:p>
        </p:txBody>
      </p:sp>
      <p:sp>
        <p:nvSpPr>
          <p:cNvPr id="6" name="Text 4: SEND"/>
          <p:cNvSpPr/>
          <p:nvPr/>
        </p:nvSpPr>
        <p:spPr>
          <a:xfrm>
            <a:off x="1238250" y="1623020"/>
            <a:ext cx="512762" cy="165100"/>
          </a:xfrm>
          <a:prstGeom prst="rect">
            <a:avLst/>
          </a:prstGeom>
          <a:noFill/>
          <a:ln/>
        </p:spPr>
        <p:txBody>
          <a:bodyPr wrap="none" lIns="0" tIns="0" rIns="0" bIns="0" rtlCol="0" anchor="ctr"/>
          <a:lstStyle/>
          <a:p>
            <a:pPr indent="0" marL="0">
              <a:buNone/>
            </a:pPr>
            <a:r>
              <a:rPr lang="zh-CN" altLang="en-US" sz="900" spc="312" kern="0" dirty="0">
                <a:solidFill>
                  <a:srgbClr val="B7BFCE"/>
                </a:solidFill>
                <a:latin typeface="Arial" pitchFamily="34" charset="0"/>
                <a:ea typeface="Arial" pitchFamily="34" charset="-122"/>
                <a:cs typeface="Arial" pitchFamily="34" charset="-120"/>
              </a:rPr>
              <a:t>SEND</a:t>
            </a:r>
            <a:endParaRPr lang="zh-CN" sz="900" dirty="0"/>
          </a:p>
        </p:txBody>
      </p:sp>
      <p:sp>
        <p:nvSpPr>
          <p:cNvPr id="7" name="Text 5: 短信消息"/>
          <p:cNvSpPr/>
          <p:nvPr/>
        </p:nvSpPr>
        <p:spPr>
          <a:xfrm>
            <a:off x="1028700" y="22421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短信消息</a:t>
            </a:r>
            <a:endParaRPr lang="zh-CN" sz="1150" dirty="0"/>
          </a:p>
        </p:txBody>
      </p:sp>
      <p:sp>
        <p:nvSpPr>
          <p:cNvPr id="8" name="Text 6: 微信消息"/>
          <p:cNvSpPr/>
          <p:nvPr/>
        </p:nvSpPr>
        <p:spPr>
          <a:xfrm>
            <a:off x="1028700" y="26612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微信消息</a:t>
            </a:r>
            <a:endParaRPr lang="zh-CN" sz="1150" dirty="0"/>
          </a:p>
        </p:txBody>
      </p:sp>
      <p:sp>
        <p:nvSpPr>
          <p:cNvPr id="9" name="Text 7: 邮件消息"/>
          <p:cNvSpPr/>
          <p:nvPr/>
        </p:nvSpPr>
        <p:spPr>
          <a:xfrm>
            <a:off x="1028700" y="30803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邮件消息</a:t>
            </a:r>
            <a:endParaRPr lang="zh-CN" sz="1150" dirty="0"/>
          </a:p>
        </p:txBody>
      </p:sp>
      <p:sp>
        <p:nvSpPr>
          <p:cNvPr id="10" name="Text 8: APP 消息"/>
          <p:cNvSpPr/>
          <p:nvPr/>
        </p:nvSpPr>
        <p:spPr>
          <a:xfrm>
            <a:off x="1028700" y="3499445"/>
            <a:ext cx="687685" cy="196850"/>
          </a:xfrm>
          <a:prstGeom prst="rect">
            <a:avLst/>
          </a:prstGeom>
          <a:noFill/>
          <a:ln/>
        </p:spPr>
        <p:txBody>
          <a:bodyPr wrap="none" lIns="0" tIns="0" rIns="0" bIns="0" rtlCol="0" anchor="ctr"/>
          <a:lstStyle/>
          <a:p>
            <a:pPr indent="0" marL="0">
              <a:buNone/>
            </a:pPr>
            <a:r>
              <a:rPr lang="zh-CN" altLang="en-US" sz="1150" spc="3" kern="0" dirty="0">
                <a:solidFill>
                  <a:srgbClr val="1B2A4A"/>
                </a:solidFill>
                <a:latin typeface="Heiti SC" pitchFamily="34" charset="0"/>
                <a:ea typeface="Heiti SC" pitchFamily="34" charset="-122"/>
                <a:cs typeface="Heiti SC" pitchFamily="34" charset="-120"/>
              </a:rPr>
              <a:t>APP 消息</a:t>
            </a:r>
            <a:endParaRPr lang="zh-CN" sz="1150" dirty="0"/>
          </a:p>
        </p:txBody>
      </p:sp>
      <p:sp>
        <p:nvSpPr>
          <p:cNvPr id="11" name="Text 9: 其它消息"/>
          <p:cNvSpPr/>
          <p:nvPr/>
        </p:nvSpPr>
        <p:spPr>
          <a:xfrm>
            <a:off x="1028700" y="39185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其它消息</a:t>
            </a:r>
            <a:endParaRPr lang="zh-CN" sz="1150" dirty="0"/>
          </a:p>
        </p:txBody>
      </p:sp>
      <p:sp>
        <p:nvSpPr>
          <p:cNvPr id="12" name="Text 10: 组合消息"/>
          <p:cNvSpPr/>
          <p:nvPr/>
        </p:nvSpPr>
        <p:spPr>
          <a:xfrm>
            <a:off x="1028700" y="43376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组合消息</a:t>
            </a:r>
            <a:endParaRPr lang="zh-CN" sz="1150" dirty="0"/>
          </a:p>
        </p:txBody>
      </p:sp>
      <p:sp>
        <p:nvSpPr>
          <p:cNvPr id="13" name="Text 11: 管理"/>
          <p:cNvSpPr/>
          <p:nvPr/>
        </p:nvSpPr>
        <p:spPr>
          <a:xfrm>
            <a:off x="4959350" y="1352550"/>
            <a:ext cx="495300" cy="266700"/>
          </a:xfrm>
          <a:prstGeom prst="rect">
            <a:avLst/>
          </a:prstGeom>
          <a:noFill/>
          <a:ln/>
        </p:spPr>
        <p:txBody>
          <a:bodyPr wrap="none" lIns="0" tIns="0" rIns="0" bIns="0" rtlCol="0" anchor="ctr"/>
          <a:lstStyle/>
          <a:p>
            <a:pPr indent="0" marL="0">
              <a:buNone/>
            </a:pPr>
            <a:r>
              <a:rPr lang="zh-CN" altLang="en-US" sz="1650" b="1" dirty="0">
                <a:solidFill>
                  <a:srgbClr val="FFFFFF"/>
                </a:solidFill>
                <a:latin typeface="Heiti SC" pitchFamily="34" charset="0"/>
                <a:ea typeface="Heiti SC" pitchFamily="34" charset="-122"/>
                <a:cs typeface="Heiti SC" pitchFamily="34" charset="-120"/>
              </a:rPr>
              <a:t>管理</a:t>
            </a:r>
            <a:endParaRPr lang="zh-CN" sz="1650" dirty="0"/>
          </a:p>
        </p:txBody>
      </p:sp>
      <p:sp>
        <p:nvSpPr>
          <p:cNvPr id="14" name="Text 12: MANAGE"/>
          <p:cNvSpPr/>
          <p:nvPr/>
        </p:nvSpPr>
        <p:spPr>
          <a:xfrm>
            <a:off x="4959350" y="1623020"/>
            <a:ext cx="751384" cy="165100"/>
          </a:xfrm>
          <a:prstGeom prst="rect">
            <a:avLst/>
          </a:prstGeom>
          <a:noFill/>
          <a:ln/>
        </p:spPr>
        <p:txBody>
          <a:bodyPr wrap="none" lIns="0" tIns="0" rIns="0" bIns="0" rtlCol="0" anchor="ctr"/>
          <a:lstStyle/>
          <a:p>
            <a:pPr indent="0" marL="0">
              <a:buNone/>
            </a:pPr>
            <a:r>
              <a:rPr lang="zh-CN" altLang="en-US" sz="900" spc="283" kern="0" dirty="0">
                <a:solidFill>
                  <a:srgbClr val="C4D7FA"/>
                </a:solidFill>
                <a:latin typeface="Arial" pitchFamily="34" charset="0"/>
                <a:ea typeface="Arial" pitchFamily="34" charset="-122"/>
                <a:cs typeface="Arial" pitchFamily="34" charset="-120"/>
              </a:rPr>
              <a:t>MANAGE</a:t>
            </a:r>
            <a:endParaRPr lang="zh-CN" sz="900" dirty="0"/>
          </a:p>
        </p:txBody>
      </p:sp>
      <p:sp>
        <p:nvSpPr>
          <p:cNvPr id="15" name="Text 13: 账号管理"/>
          <p:cNvSpPr/>
          <p:nvPr/>
        </p:nvSpPr>
        <p:spPr>
          <a:xfrm>
            <a:off x="4749800" y="22421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账号管理</a:t>
            </a:r>
            <a:endParaRPr lang="zh-CN" sz="1150" dirty="0"/>
          </a:p>
        </p:txBody>
      </p:sp>
      <p:sp>
        <p:nvSpPr>
          <p:cNvPr id="16" name="Text 14: 审核管理"/>
          <p:cNvSpPr/>
          <p:nvPr/>
        </p:nvSpPr>
        <p:spPr>
          <a:xfrm>
            <a:off x="4749800" y="26612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审核管理</a:t>
            </a:r>
            <a:endParaRPr lang="zh-CN" sz="1150" dirty="0"/>
          </a:p>
        </p:txBody>
      </p:sp>
      <p:sp>
        <p:nvSpPr>
          <p:cNvPr id="17" name="Text 15: 渠道管理"/>
          <p:cNvSpPr/>
          <p:nvPr/>
        </p:nvSpPr>
        <p:spPr>
          <a:xfrm>
            <a:off x="4749800" y="30803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渠道管理</a:t>
            </a:r>
            <a:endParaRPr lang="zh-CN" sz="1150" dirty="0"/>
          </a:p>
        </p:txBody>
      </p:sp>
      <p:sp>
        <p:nvSpPr>
          <p:cNvPr id="18" name="Text 16: 报表管理"/>
          <p:cNvSpPr/>
          <p:nvPr/>
        </p:nvSpPr>
        <p:spPr>
          <a:xfrm>
            <a:off x="4749800" y="34994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报表管理</a:t>
            </a:r>
            <a:endParaRPr lang="zh-CN" sz="1150" dirty="0"/>
          </a:p>
        </p:txBody>
      </p:sp>
      <p:sp>
        <p:nvSpPr>
          <p:cNvPr id="19" name="Text 17: 费用管理"/>
          <p:cNvSpPr/>
          <p:nvPr/>
        </p:nvSpPr>
        <p:spPr>
          <a:xfrm>
            <a:off x="4749800" y="39185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费用管理</a:t>
            </a:r>
            <a:endParaRPr lang="zh-CN" sz="1150" dirty="0"/>
          </a:p>
        </p:txBody>
      </p:sp>
      <p:sp>
        <p:nvSpPr>
          <p:cNvPr id="20" name="Text 18: 基础数据"/>
          <p:cNvSpPr/>
          <p:nvPr/>
        </p:nvSpPr>
        <p:spPr>
          <a:xfrm>
            <a:off x="4749800" y="43376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基础数据</a:t>
            </a:r>
            <a:endParaRPr lang="zh-CN" sz="1150" dirty="0"/>
          </a:p>
        </p:txBody>
      </p:sp>
      <p:sp>
        <p:nvSpPr>
          <p:cNvPr id="21" name="Text 19: 系统管理"/>
          <p:cNvSpPr/>
          <p:nvPr/>
        </p:nvSpPr>
        <p:spPr>
          <a:xfrm>
            <a:off x="4749800" y="47567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系统管理</a:t>
            </a:r>
            <a:endParaRPr lang="zh-CN" sz="1150" dirty="0"/>
          </a:p>
        </p:txBody>
      </p:sp>
      <p:sp>
        <p:nvSpPr>
          <p:cNvPr id="22" name="Text 20: 监控"/>
          <p:cNvSpPr/>
          <p:nvPr/>
        </p:nvSpPr>
        <p:spPr>
          <a:xfrm>
            <a:off x="8680450" y="1352550"/>
            <a:ext cx="495300" cy="266700"/>
          </a:xfrm>
          <a:prstGeom prst="rect">
            <a:avLst/>
          </a:prstGeom>
          <a:noFill/>
          <a:ln/>
        </p:spPr>
        <p:txBody>
          <a:bodyPr wrap="none" lIns="0" tIns="0" rIns="0" bIns="0" rtlCol="0" anchor="ctr"/>
          <a:lstStyle/>
          <a:p>
            <a:pPr indent="0" marL="0">
              <a:buNone/>
            </a:pPr>
            <a:r>
              <a:rPr lang="zh-CN" altLang="en-US" sz="1650" b="1" dirty="0">
                <a:solidFill>
                  <a:srgbClr val="FFFFFF"/>
                </a:solidFill>
                <a:latin typeface="Heiti SC" pitchFamily="34" charset="0"/>
                <a:ea typeface="Heiti SC" pitchFamily="34" charset="-122"/>
                <a:cs typeface="Heiti SC" pitchFamily="34" charset="-120"/>
              </a:rPr>
              <a:t>监控</a:t>
            </a:r>
            <a:endParaRPr lang="zh-CN" sz="1650" dirty="0"/>
          </a:p>
        </p:txBody>
      </p:sp>
      <p:sp>
        <p:nvSpPr>
          <p:cNvPr id="23" name="Text 21: MONITOR"/>
          <p:cNvSpPr/>
          <p:nvPr/>
        </p:nvSpPr>
        <p:spPr>
          <a:xfrm>
            <a:off x="8680450" y="1623020"/>
            <a:ext cx="817662" cy="165100"/>
          </a:xfrm>
          <a:prstGeom prst="rect">
            <a:avLst/>
          </a:prstGeom>
          <a:noFill/>
          <a:ln/>
        </p:spPr>
        <p:txBody>
          <a:bodyPr wrap="none" lIns="0" tIns="0" rIns="0" bIns="0" rtlCol="0" anchor="ctr"/>
          <a:lstStyle/>
          <a:p>
            <a:pPr indent="0" marL="0">
              <a:buNone/>
            </a:pPr>
            <a:r>
              <a:rPr lang="zh-CN" altLang="en-US" sz="900" spc="268" kern="0" dirty="0">
                <a:solidFill>
                  <a:srgbClr val="FBC8D1"/>
                </a:solidFill>
                <a:latin typeface="Arial" pitchFamily="34" charset="0"/>
                <a:ea typeface="Arial" pitchFamily="34" charset="-122"/>
                <a:cs typeface="Arial" pitchFamily="34" charset="-120"/>
              </a:rPr>
              <a:t>MONITOR</a:t>
            </a:r>
            <a:endParaRPr lang="zh-CN" sz="900" dirty="0"/>
          </a:p>
        </p:txBody>
      </p:sp>
      <p:sp>
        <p:nvSpPr>
          <p:cNvPr id="24" name="Text 22: 业务监控"/>
          <p:cNvSpPr/>
          <p:nvPr/>
        </p:nvSpPr>
        <p:spPr>
          <a:xfrm>
            <a:off x="8470900" y="22421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业务监控</a:t>
            </a:r>
            <a:endParaRPr lang="zh-CN" sz="1150" dirty="0"/>
          </a:p>
        </p:txBody>
      </p:sp>
      <p:sp>
        <p:nvSpPr>
          <p:cNvPr id="25" name="Text 23: 渠道监控"/>
          <p:cNvSpPr/>
          <p:nvPr/>
        </p:nvSpPr>
        <p:spPr>
          <a:xfrm>
            <a:off x="8470900" y="26612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渠道监控</a:t>
            </a:r>
            <a:endParaRPr lang="zh-CN" sz="1150" dirty="0"/>
          </a:p>
        </p:txBody>
      </p:sp>
      <p:sp>
        <p:nvSpPr>
          <p:cNvPr id="26" name="Text 24: 应用程序监控"/>
          <p:cNvSpPr/>
          <p:nvPr/>
        </p:nvSpPr>
        <p:spPr>
          <a:xfrm>
            <a:off x="8470900" y="3080345"/>
            <a:ext cx="9525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应用程序监控</a:t>
            </a:r>
            <a:endParaRPr lang="zh-CN" sz="1150" dirty="0"/>
          </a:p>
        </p:txBody>
      </p:sp>
      <p:sp>
        <p:nvSpPr>
          <p:cNvPr id="27" name="Text 25: 服务器监控"/>
          <p:cNvSpPr/>
          <p:nvPr/>
        </p:nvSpPr>
        <p:spPr>
          <a:xfrm>
            <a:off x="8470900" y="3499445"/>
            <a:ext cx="80645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服务器监控</a:t>
            </a:r>
            <a:endParaRPr lang="zh-CN" sz="1150" dirty="0"/>
          </a:p>
        </p:txBody>
      </p:sp>
      <p:sp>
        <p:nvSpPr>
          <p:cNvPr id="28" name="Text 26: 告警设置"/>
          <p:cNvSpPr/>
          <p:nvPr/>
        </p:nvSpPr>
        <p:spPr>
          <a:xfrm>
            <a:off x="8470900" y="3918545"/>
            <a:ext cx="660400" cy="196850"/>
          </a:xfrm>
          <a:prstGeom prst="rect">
            <a:avLst/>
          </a:prstGeom>
          <a:noFill/>
          <a:ln/>
        </p:spPr>
        <p:txBody>
          <a:bodyPr wrap="none" lIns="0" tIns="0" rIns="0" bIns="0" rtlCol="0" anchor="ctr"/>
          <a:lstStyle/>
          <a:p>
            <a:pPr indent="0" marL="0">
              <a:buNone/>
            </a:pPr>
            <a:r>
              <a:rPr lang="zh-CN" altLang="en-US" sz="1150" dirty="0">
                <a:solidFill>
                  <a:srgbClr val="1B2A4A"/>
                </a:solidFill>
                <a:latin typeface="Heiti SC" pitchFamily="34" charset="0"/>
                <a:ea typeface="Heiti SC" pitchFamily="34" charset="-122"/>
                <a:cs typeface="Heiti SC" pitchFamily="34" charset="-120"/>
              </a:rPr>
              <a:t>告警设置</a:t>
            </a:r>
            <a:endParaRPr lang="zh-CN" sz="1150" dirty="0"/>
          </a:p>
        </p:txBody>
      </p:sp>
      <p:sp>
        <p:nvSpPr>
          <p:cNvPr id="29" name="Text 27: 14 / 25"/>
          <p:cNvSpPr/>
          <p:nvPr/>
        </p:nvSpPr>
        <p:spPr>
          <a:xfrm>
            <a:off x="11685885" y="6591300"/>
            <a:ext cx="455315" cy="165100"/>
          </a:xfrm>
          <a:prstGeom prst="rect">
            <a:avLst/>
          </a:prstGeom>
          <a:noFill/>
          <a:ln/>
        </p:spPr>
        <p:txBody>
          <a:bodyPr wrap="none" lIns="0" tIns="0" rIns="0" bIns="0" rtlCol="0" anchor="ctr"/>
          <a:lstStyle/>
          <a:p>
            <a:pPr indent="0" marL="0">
              <a:buNone/>
            </a:pPr>
            <a:r>
              <a:rPr lang="zh-CN" altLang="en-US" sz="900" spc="39" kern="0" dirty="0">
                <a:solidFill>
                  <a:srgbClr val="8A94A6"/>
                </a:solidFill>
                <a:latin typeface="Arial" pitchFamily="34" charset="0"/>
                <a:ea typeface="Arial" pitchFamily="34" charset="-122"/>
                <a:cs typeface="Arial" pitchFamily="34" charset="-120"/>
              </a:rPr>
              <a:t>14 / 25</a:t>
            </a:r>
            <a:endParaRPr lang="zh-CN"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Users/joozo/WySync/ObBidding/wiki/pptx/UMC/build/generated/backgrounds/slide-15.png">    </p:cNvPr>
          <p:cNvPicPr>
            <a:picLocks noChangeAspect="1"/>
          </p:cNvPicPr>
          <p:nvPr/>
        </p:nvPicPr>
        <p:blipFill>
          <a:blip r:embed="rId1"/>
          <a:stretch>
            <a:fillRect/>
          </a:stretch>
        </p:blipFill>
        <p:spPr>
          <a:xfrm>
            <a:off x="0" y="0"/>
            <a:ext cx="12192000" cy="6858000"/>
          </a:xfrm>
          <a:prstGeom prst="rect">
            <a:avLst/>
          </a:prstGeom>
        </p:spPr>
      </p:pic>
      <p:sp>
        <p:nvSpPr>
          <p:cNvPr id="3" name="Text 1: 02 · 企业短信"/>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02 · 企业短信</a:t>
            </a:r>
            <a:endParaRPr lang="zh-CN" sz="1000" dirty="0"/>
          </a:p>
        </p:txBody>
      </p:sp>
      <p:sp>
        <p:nvSpPr>
          <p:cNvPr id="4" name="Text 2: 让每条消息及时准确送达"/>
          <p:cNvSpPr/>
          <p:nvPr/>
        </p:nvSpPr>
        <p:spPr>
          <a:xfrm>
            <a:off x="609600" y="546100"/>
            <a:ext cx="3254375" cy="349250"/>
          </a:xfrm>
          <a:prstGeom prst="rect">
            <a:avLst/>
          </a:prstGeom>
          <a:noFill/>
          <a:ln/>
        </p:spPr>
        <p:txBody>
          <a:bodyPr wrap="none" lIns="0" tIns="0" rIns="0" bIns="0" rtlCol="0" anchor="ctr"/>
          <a:lstStyle/>
          <a:p>
            <a:pPr indent="0" marL="0">
              <a:buNone/>
            </a:pPr>
            <a:r>
              <a:rPr lang="zh-CN" altLang="en-US" sz="2250" b="1" spc="28" kern="0" dirty="0">
                <a:solidFill>
                  <a:srgbClr val="0A1F44"/>
                </a:solidFill>
                <a:latin typeface="Heiti SC" pitchFamily="34" charset="0"/>
                <a:ea typeface="Heiti SC" pitchFamily="34" charset="-122"/>
                <a:cs typeface="Heiti SC" pitchFamily="34" charset="-120"/>
              </a:rPr>
              <a:t>让每条消息及时准确送达</a:t>
            </a:r>
            <a:endParaRPr lang="zh-CN" sz="2250" dirty="0"/>
          </a:p>
        </p:txBody>
      </p:sp>
      <p:sp>
        <p:nvSpPr>
          <p:cNvPr id="5" name="Text 3: 验证码 · 行业通知 · 会员营销"/>
          <p:cNvSpPr/>
          <p:nvPr/>
        </p:nvSpPr>
        <p:spPr>
          <a:xfrm>
            <a:off x="819150" y="5568950"/>
            <a:ext cx="1987947" cy="177800"/>
          </a:xfrm>
          <a:prstGeom prst="rect">
            <a:avLst/>
          </a:prstGeom>
          <a:noFill/>
          <a:ln/>
        </p:spPr>
        <p:txBody>
          <a:bodyPr wrap="none" lIns="0" tIns="0" rIns="0" bIns="0" rtlCol="0" anchor="ctr"/>
          <a:lstStyle/>
          <a:p>
            <a:pPr indent="0" marL="0">
              <a:buNone/>
            </a:pPr>
            <a:r>
              <a:rPr lang="zh-CN" altLang="en-US" sz="1000" spc="66" kern="0" dirty="0">
                <a:solidFill>
                  <a:srgbClr val="DBDEE2"/>
                </a:solidFill>
                <a:latin typeface="Heiti SC" pitchFamily="34" charset="0"/>
                <a:ea typeface="Heiti SC" pitchFamily="34" charset="-122"/>
                <a:cs typeface="Heiti SC" pitchFamily="34" charset="-120"/>
              </a:rPr>
              <a:t>验证码 · 行业通知 · 会员营销</a:t>
            </a:r>
            <a:endParaRPr lang="zh-CN" sz="1000" dirty="0"/>
          </a:p>
        </p:txBody>
      </p:sp>
      <p:sp>
        <p:nvSpPr>
          <p:cNvPr id="6" name="Text 4: 企业短信服务基于互联网和运营商网络，采用文字、图片、语音、视"/>
          <p:cNvSpPr/>
          <p:nvPr/>
        </p:nvSpPr>
        <p:spPr>
          <a:xfrm>
            <a:off x="5257800" y="1890712"/>
            <a:ext cx="6343650" cy="177800"/>
          </a:xfrm>
          <a:prstGeom prst="rect">
            <a:avLst/>
          </a:prstGeom>
          <a:noFill/>
          <a:ln/>
        </p:spPr>
        <p:txBody>
          <a:bodyPr wrap="none" lIns="0" tIns="0" rIns="0" bIns="0" rtlCol="0" anchor="ctr"/>
          <a:lstStyle/>
          <a:p>
            <a:pPr indent="0" marL="0">
              <a:buNone/>
            </a:pPr>
            <a:r>
              <a:rPr lang="zh-CN" altLang="en-US" sz="1050" dirty="0">
                <a:solidFill>
                  <a:srgbClr val="3A4A66"/>
                </a:solidFill>
                <a:latin typeface="Heiti SC" pitchFamily="34" charset="0"/>
                <a:ea typeface="Heiti SC" pitchFamily="34" charset="-122"/>
                <a:cs typeface="Heiti SC" pitchFamily="34" charset="-120"/>
              </a:rPr>
              <a:t>企业短信服务基于互联网和运营商网络，采用文字、图片、语音、视频等方式实现企业面向用户的跨平台消</a:t>
            </a:r>
            <a:endParaRPr lang="zh-CN" sz="1050" dirty="0"/>
          </a:p>
        </p:txBody>
      </p:sp>
      <p:sp>
        <p:nvSpPr>
          <p:cNvPr id="7" name="Text 5: 息通知发送，涵盖验证码、行业通知、会员营销等场景，最大程度满"/>
          <p:cNvSpPr/>
          <p:nvPr/>
        </p:nvSpPr>
        <p:spPr>
          <a:xfrm>
            <a:off x="5257800" y="2124075"/>
            <a:ext cx="5543550" cy="177800"/>
          </a:xfrm>
          <a:prstGeom prst="rect">
            <a:avLst/>
          </a:prstGeom>
          <a:noFill/>
          <a:ln/>
        </p:spPr>
        <p:txBody>
          <a:bodyPr wrap="none" lIns="0" tIns="0" rIns="0" bIns="0" rtlCol="0" anchor="ctr"/>
          <a:lstStyle/>
          <a:p>
            <a:pPr indent="0" marL="0">
              <a:buNone/>
            </a:pPr>
            <a:r>
              <a:rPr lang="zh-CN" altLang="en-US" sz="1050" dirty="0">
                <a:solidFill>
                  <a:srgbClr val="3A4A66"/>
                </a:solidFill>
                <a:latin typeface="Heiti SC" pitchFamily="34" charset="0"/>
                <a:ea typeface="Heiti SC" pitchFamily="34" charset="-122"/>
                <a:cs typeface="Heiti SC" pitchFamily="34" charset="-120"/>
              </a:rPr>
              <a:t>息通知发送，涵盖验证码、行业通知、会员营销等场景，最大程度满足企业的消息发送需求。</a:t>
            </a:r>
            <a:endParaRPr lang="zh-CN" sz="1050" dirty="0"/>
          </a:p>
        </p:txBody>
      </p:sp>
      <p:sp>
        <p:nvSpPr>
          <p:cNvPr id="8" name="Text 6: 验证类"/>
          <p:cNvSpPr/>
          <p:nvPr/>
        </p:nvSpPr>
        <p:spPr>
          <a:xfrm>
            <a:off x="5448300" y="2624138"/>
            <a:ext cx="533400"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Heiti SC" pitchFamily="34" charset="0"/>
                <a:ea typeface="Heiti SC" pitchFamily="34" charset="-122"/>
                <a:cs typeface="Heiti SC" pitchFamily="34" charset="-120"/>
              </a:rPr>
              <a:t>验证类</a:t>
            </a:r>
            <a:endParaRPr lang="zh-CN" sz="1200" dirty="0"/>
          </a:p>
        </p:txBody>
      </p:sp>
      <p:sp>
        <p:nvSpPr>
          <p:cNvPr id="9" name="Text 7: VERIFICATION"/>
          <p:cNvSpPr/>
          <p:nvPr/>
        </p:nvSpPr>
        <p:spPr>
          <a:xfrm>
            <a:off x="6019800" y="2643188"/>
            <a:ext cx="1051620" cy="158750"/>
          </a:xfrm>
          <a:prstGeom prst="rect">
            <a:avLst/>
          </a:prstGeom>
          <a:noFill/>
          <a:ln/>
        </p:spPr>
        <p:txBody>
          <a:bodyPr wrap="none" lIns="0" tIns="0" rIns="0" bIns="0" rtlCol="0" anchor="ctr"/>
          <a:lstStyle/>
          <a:p>
            <a:pPr indent="0" marL="0">
              <a:buNone/>
            </a:pPr>
            <a:r>
              <a:rPr lang="zh-CN" altLang="en-US" sz="850" spc="163" kern="0" dirty="0">
                <a:solidFill>
                  <a:srgbClr val="8A94A6"/>
                </a:solidFill>
                <a:latin typeface="Arial" pitchFamily="34" charset="0"/>
                <a:ea typeface="Arial" pitchFamily="34" charset="-122"/>
                <a:cs typeface="Arial" pitchFamily="34" charset="-120"/>
              </a:rPr>
              <a:t>VERIFICATION</a:t>
            </a:r>
            <a:endParaRPr lang="zh-CN" sz="850" dirty="0"/>
          </a:p>
        </p:txBody>
      </p:sp>
      <p:sp>
        <p:nvSpPr>
          <p:cNvPr id="10" name="Text 8: 验证码"/>
          <p:cNvSpPr/>
          <p:nvPr/>
        </p:nvSpPr>
        <p:spPr>
          <a:xfrm>
            <a:off x="5562600" y="2960687"/>
            <a:ext cx="4191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验证码</a:t>
            </a:r>
            <a:endParaRPr lang="zh-CN" sz="900" dirty="0"/>
          </a:p>
        </p:txBody>
      </p:sp>
      <p:sp>
        <p:nvSpPr>
          <p:cNvPr id="11" name="Text 9: 用户注册"/>
          <p:cNvSpPr/>
          <p:nvPr/>
        </p:nvSpPr>
        <p:spPr>
          <a:xfrm>
            <a:off x="6210300" y="29606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用户注册</a:t>
            </a:r>
            <a:endParaRPr lang="zh-CN" sz="900" dirty="0"/>
          </a:p>
        </p:txBody>
      </p:sp>
      <p:sp>
        <p:nvSpPr>
          <p:cNvPr id="12" name="Text 10: 登录保护"/>
          <p:cNvSpPr/>
          <p:nvPr/>
        </p:nvSpPr>
        <p:spPr>
          <a:xfrm>
            <a:off x="6972300" y="29606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登录保护</a:t>
            </a:r>
            <a:endParaRPr lang="zh-CN" sz="900" dirty="0"/>
          </a:p>
        </p:txBody>
      </p:sp>
      <p:sp>
        <p:nvSpPr>
          <p:cNvPr id="13" name="Text 11: 身份认证"/>
          <p:cNvSpPr/>
          <p:nvPr/>
        </p:nvSpPr>
        <p:spPr>
          <a:xfrm>
            <a:off x="7734300" y="29606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身份认证</a:t>
            </a:r>
            <a:endParaRPr lang="zh-CN" sz="900" dirty="0"/>
          </a:p>
        </p:txBody>
      </p:sp>
      <p:sp>
        <p:nvSpPr>
          <p:cNvPr id="14" name="Text 12: 交易确认"/>
          <p:cNvSpPr/>
          <p:nvPr/>
        </p:nvSpPr>
        <p:spPr>
          <a:xfrm>
            <a:off x="8496300" y="29606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交易确认</a:t>
            </a:r>
            <a:endParaRPr lang="zh-CN" sz="900" dirty="0"/>
          </a:p>
        </p:txBody>
      </p:sp>
      <p:sp>
        <p:nvSpPr>
          <p:cNvPr id="15" name="Text 13: 通知类"/>
          <p:cNvSpPr/>
          <p:nvPr/>
        </p:nvSpPr>
        <p:spPr>
          <a:xfrm>
            <a:off x="5448300" y="3582988"/>
            <a:ext cx="5334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通知类</a:t>
            </a:r>
            <a:endParaRPr lang="zh-CN" sz="1200" dirty="0"/>
          </a:p>
        </p:txBody>
      </p:sp>
      <p:sp>
        <p:nvSpPr>
          <p:cNvPr id="16" name="Text 14: NOTIFICATION"/>
          <p:cNvSpPr/>
          <p:nvPr/>
        </p:nvSpPr>
        <p:spPr>
          <a:xfrm>
            <a:off x="6019800" y="3602037"/>
            <a:ext cx="1057573" cy="158750"/>
          </a:xfrm>
          <a:prstGeom prst="rect">
            <a:avLst/>
          </a:prstGeom>
          <a:noFill/>
          <a:ln/>
        </p:spPr>
        <p:txBody>
          <a:bodyPr wrap="none" lIns="0" tIns="0" rIns="0" bIns="0" rtlCol="0" anchor="ctr"/>
          <a:lstStyle/>
          <a:p>
            <a:pPr indent="0" marL="0">
              <a:buNone/>
            </a:pPr>
            <a:r>
              <a:rPr lang="zh-CN" altLang="en-US" sz="850" spc="163" kern="0" dirty="0">
                <a:solidFill>
                  <a:srgbClr val="8A94A6"/>
                </a:solidFill>
                <a:latin typeface="Arial" pitchFamily="34" charset="0"/>
                <a:ea typeface="Arial" pitchFamily="34" charset="-122"/>
                <a:cs typeface="Arial" pitchFamily="34" charset="-120"/>
              </a:rPr>
              <a:t>NOTIFICATION</a:t>
            </a:r>
            <a:endParaRPr lang="zh-CN" sz="850" dirty="0"/>
          </a:p>
        </p:txBody>
      </p:sp>
      <p:sp>
        <p:nvSpPr>
          <p:cNvPr id="17" name="Text 15: 动账通知"/>
          <p:cNvSpPr/>
          <p:nvPr/>
        </p:nvSpPr>
        <p:spPr>
          <a:xfrm>
            <a:off x="5562600" y="391953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动账通知</a:t>
            </a:r>
            <a:endParaRPr lang="zh-CN" sz="900" dirty="0"/>
          </a:p>
        </p:txBody>
      </p:sp>
      <p:sp>
        <p:nvSpPr>
          <p:cNvPr id="18" name="Text 16: 订票信息"/>
          <p:cNvSpPr/>
          <p:nvPr/>
        </p:nvSpPr>
        <p:spPr>
          <a:xfrm>
            <a:off x="6324600" y="391953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订票信息</a:t>
            </a:r>
            <a:endParaRPr lang="zh-CN" sz="900" dirty="0"/>
          </a:p>
        </p:txBody>
      </p:sp>
      <p:sp>
        <p:nvSpPr>
          <p:cNvPr id="19" name="Text 17: 订单通知"/>
          <p:cNvSpPr/>
          <p:nvPr/>
        </p:nvSpPr>
        <p:spPr>
          <a:xfrm>
            <a:off x="7086600" y="391953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订单通知</a:t>
            </a:r>
            <a:endParaRPr lang="zh-CN" sz="900" dirty="0"/>
          </a:p>
        </p:txBody>
      </p:sp>
      <p:sp>
        <p:nvSpPr>
          <p:cNvPr id="20" name="Text 18: 物流提醒"/>
          <p:cNvSpPr/>
          <p:nvPr/>
        </p:nvSpPr>
        <p:spPr>
          <a:xfrm>
            <a:off x="7848600" y="391953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物流提醒</a:t>
            </a:r>
            <a:endParaRPr lang="zh-CN" sz="900" dirty="0"/>
          </a:p>
        </p:txBody>
      </p:sp>
      <p:sp>
        <p:nvSpPr>
          <p:cNvPr id="21" name="Text 19: 系统通知"/>
          <p:cNvSpPr/>
          <p:nvPr/>
        </p:nvSpPr>
        <p:spPr>
          <a:xfrm>
            <a:off x="8610600" y="391953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系统通知</a:t>
            </a:r>
            <a:endParaRPr lang="zh-CN" sz="900" dirty="0"/>
          </a:p>
        </p:txBody>
      </p:sp>
      <p:sp>
        <p:nvSpPr>
          <p:cNvPr id="22" name="Text 20: 营销类"/>
          <p:cNvSpPr/>
          <p:nvPr/>
        </p:nvSpPr>
        <p:spPr>
          <a:xfrm>
            <a:off x="5448300" y="4541838"/>
            <a:ext cx="533400" cy="203200"/>
          </a:xfrm>
          <a:prstGeom prst="rect">
            <a:avLst/>
          </a:prstGeom>
          <a:noFill/>
          <a:ln/>
        </p:spPr>
        <p:txBody>
          <a:bodyPr wrap="none" lIns="0" tIns="0" rIns="0" bIns="0" rtlCol="0" anchor="ctr"/>
          <a:lstStyle/>
          <a:p>
            <a:pPr indent="0" marL="0">
              <a:buNone/>
            </a:pPr>
            <a:r>
              <a:rPr lang="zh-CN" altLang="en-US" sz="1200" b="1" dirty="0">
                <a:solidFill>
                  <a:srgbClr val="F02D4E"/>
                </a:solidFill>
                <a:latin typeface="Heiti SC" pitchFamily="34" charset="0"/>
                <a:ea typeface="Heiti SC" pitchFamily="34" charset="-122"/>
                <a:cs typeface="Heiti SC" pitchFamily="34" charset="-120"/>
              </a:rPr>
              <a:t>营销类</a:t>
            </a:r>
            <a:endParaRPr lang="zh-CN" sz="1200" dirty="0"/>
          </a:p>
        </p:txBody>
      </p:sp>
      <p:sp>
        <p:nvSpPr>
          <p:cNvPr id="23" name="Text 21: MARKETING"/>
          <p:cNvSpPr/>
          <p:nvPr/>
        </p:nvSpPr>
        <p:spPr>
          <a:xfrm>
            <a:off x="6019800" y="4560888"/>
            <a:ext cx="895350" cy="158750"/>
          </a:xfrm>
          <a:prstGeom prst="rect">
            <a:avLst/>
          </a:prstGeom>
          <a:noFill/>
          <a:ln/>
        </p:spPr>
        <p:txBody>
          <a:bodyPr wrap="none" lIns="0" tIns="0" rIns="0" bIns="0" rtlCol="0" anchor="ctr"/>
          <a:lstStyle/>
          <a:p>
            <a:pPr indent="0" marL="0">
              <a:buNone/>
            </a:pPr>
            <a:r>
              <a:rPr lang="zh-CN" altLang="en-US" sz="850" spc="175" kern="0" dirty="0">
                <a:solidFill>
                  <a:srgbClr val="8A94A6"/>
                </a:solidFill>
                <a:latin typeface="Arial" pitchFamily="34" charset="0"/>
                <a:ea typeface="Arial" pitchFamily="34" charset="-122"/>
                <a:cs typeface="Arial" pitchFamily="34" charset="-120"/>
              </a:rPr>
              <a:t>MARKETING</a:t>
            </a:r>
            <a:endParaRPr lang="zh-CN" sz="850" dirty="0"/>
          </a:p>
        </p:txBody>
      </p:sp>
      <p:sp>
        <p:nvSpPr>
          <p:cNvPr id="24" name="Text 22: 优惠促销"/>
          <p:cNvSpPr/>
          <p:nvPr/>
        </p:nvSpPr>
        <p:spPr>
          <a:xfrm>
            <a:off x="5562600" y="48783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优惠促销</a:t>
            </a:r>
            <a:endParaRPr lang="zh-CN" sz="900" dirty="0"/>
          </a:p>
        </p:txBody>
      </p:sp>
      <p:sp>
        <p:nvSpPr>
          <p:cNvPr id="25" name="Text 23: 活动推广"/>
          <p:cNvSpPr/>
          <p:nvPr/>
        </p:nvSpPr>
        <p:spPr>
          <a:xfrm>
            <a:off x="6324600" y="48783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活动推广</a:t>
            </a:r>
            <a:endParaRPr lang="zh-CN" sz="900" dirty="0"/>
          </a:p>
        </p:txBody>
      </p:sp>
      <p:sp>
        <p:nvSpPr>
          <p:cNvPr id="26" name="Text 24: 新品上线"/>
          <p:cNvSpPr/>
          <p:nvPr/>
        </p:nvSpPr>
        <p:spPr>
          <a:xfrm>
            <a:off x="7086600" y="48783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新品上线</a:t>
            </a:r>
            <a:endParaRPr lang="zh-CN" sz="900" dirty="0"/>
          </a:p>
        </p:txBody>
      </p:sp>
      <p:sp>
        <p:nvSpPr>
          <p:cNvPr id="27" name="Text 25: 会员推广"/>
          <p:cNvSpPr/>
          <p:nvPr/>
        </p:nvSpPr>
        <p:spPr>
          <a:xfrm>
            <a:off x="7848600" y="48783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会员推广</a:t>
            </a:r>
            <a:endParaRPr lang="zh-CN" sz="900" dirty="0"/>
          </a:p>
        </p:txBody>
      </p:sp>
      <p:sp>
        <p:nvSpPr>
          <p:cNvPr id="28" name="Text 26: 品牌推广"/>
          <p:cNvSpPr/>
          <p:nvPr/>
        </p:nvSpPr>
        <p:spPr>
          <a:xfrm>
            <a:off x="8610600" y="4878387"/>
            <a:ext cx="533400" cy="165100"/>
          </a:xfrm>
          <a:prstGeom prst="rect">
            <a:avLst/>
          </a:prstGeom>
          <a:noFill/>
          <a:ln/>
        </p:spPr>
        <p:txBody>
          <a:bodyPr wrap="none" lIns="0" tIns="0" rIns="0" bIns="0" rtlCol="0" anchor="ctr"/>
          <a:lstStyle/>
          <a:p>
            <a:pPr indent="0" marL="0">
              <a:buNone/>
            </a:pPr>
            <a:r>
              <a:rPr lang="zh-CN" altLang="en-US" sz="900" dirty="0">
                <a:solidFill>
                  <a:srgbClr val="3A4A66"/>
                </a:solidFill>
                <a:latin typeface="Heiti SC" pitchFamily="34" charset="0"/>
                <a:ea typeface="Heiti SC" pitchFamily="34" charset="-122"/>
                <a:cs typeface="Heiti SC" pitchFamily="34" charset="-120"/>
              </a:rPr>
              <a:t>品牌推广</a:t>
            </a:r>
            <a:endParaRPr lang="zh-CN" sz="900" dirty="0"/>
          </a:p>
        </p:txBody>
      </p:sp>
      <p:sp>
        <p:nvSpPr>
          <p:cNvPr id="29" name="Text 27: 15 / 25"/>
          <p:cNvSpPr/>
          <p:nvPr/>
        </p:nvSpPr>
        <p:spPr>
          <a:xfrm>
            <a:off x="11684099" y="6591300"/>
            <a:ext cx="457101" cy="165100"/>
          </a:xfrm>
          <a:prstGeom prst="rect">
            <a:avLst/>
          </a:prstGeom>
          <a:noFill/>
          <a:ln/>
        </p:spPr>
        <p:txBody>
          <a:bodyPr wrap="none" lIns="0" tIns="0" rIns="0" bIns="0" rtlCol="0" anchor="ctr"/>
          <a:lstStyle/>
          <a:p>
            <a:pPr indent="0" marL="0">
              <a:buNone/>
            </a:pPr>
            <a:r>
              <a:rPr lang="zh-CN" altLang="en-US" sz="900" spc="41" kern="0" dirty="0">
                <a:solidFill>
                  <a:srgbClr val="8A94A6"/>
                </a:solidFill>
                <a:latin typeface="Arial" pitchFamily="34" charset="0"/>
                <a:ea typeface="Arial" pitchFamily="34" charset="-122"/>
                <a:cs typeface="Arial" pitchFamily="34" charset="-120"/>
              </a:rPr>
              <a:t>15 / 25</a:t>
            </a:r>
            <a:endParaRPr lang="zh-CN"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Users/joozo/WySync/ObBidding/wiki/pptx/UMC/build/generated/backgrounds/slide-16.png">    </p:cNvPr>
          <p:cNvPicPr>
            <a:picLocks noChangeAspect="1"/>
          </p:cNvPicPr>
          <p:nvPr/>
        </p:nvPicPr>
        <p:blipFill>
          <a:blip r:embed="rId1"/>
          <a:stretch>
            <a:fillRect/>
          </a:stretch>
        </p:blipFill>
        <p:spPr>
          <a:xfrm>
            <a:off x="0" y="0"/>
            <a:ext cx="12192000" cy="6858000"/>
          </a:xfrm>
          <a:prstGeom prst="rect">
            <a:avLst/>
          </a:prstGeom>
        </p:spPr>
      </p:pic>
      <p:sp>
        <p:nvSpPr>
          <p:cNvPr id="3" name="Text 1: 02 · 企业短信 · UMC"/>
          <p:cNvSpPr/>
          <p:nvPr/>
        </p:nvSpPr>
        <p:spPr>
          <a:xfrm>
            <a:off x="609600" y="285750"/>
            <a:ext cx="1493044" cy="177800"/>
          </a:xfrm>
          <a:prstGeom prst="rect">
            <a:avLst/>
          </a:prstGeom>
          <a:noFill/>
          <a:ln/>
        </p:spPr>
        <p:txBody>
          <a:bodyPr wrap="none" lIns="0" tIns="0" rIns="0" bIns="0" rtlCol="0" anchor="ctr"/>
          <a:lstStyle/>
          <a:p>
            <a:pPr indent="0" marL="0">
              <a:buNone/>
            </a:pPr>
            <a:r>
              <a:rPr lang="zh-CN" altLang="en-US" sz="1000" b="1" spc="47" kern="0" dirty="0">
                <a:solidFill>
                  <a:srgbClr val="F02D4E"/>
                </a:solidFill>
                <a:latin typeface="Heiti SC" pitchFamily="34" charset="0"/>
                <a:ea typeface="Heiti SC" pitchFamily="34" charset="-122"/>
                <a:cs typeface="Heiti SC" pitchFamily="34" charset="-120"/>
              </a:rPr>
              <a:t>02 · 企业短信 · UMC</a:t>
            </a:r>
            <a:endParaRPr lang="zh-CN" sz="1000" dirty="0"/>
          </a:p>
        </p:txBody>
      </p:sp>
      <p:sp>
        <p:nvSpPr>
          <p:cNvPr id="4" name="Text 2: 高效、专业、极致的 UMC 云通信服务"/>
          <p:cNvSpPr/>
          <p:nvPr/>
        </p:nvSpPr>
        <p:spPr>
          <a:xfrm>
            <a:off x="609600" y="546100"/>
            <a:ext cx="4921250" cy="349250"/>
          </a:xfrm>
          <a:prstGeom prst="rect">
            <a:avLst/>
          </a:prstGeom>
          <a:noFill/>
          <a:ln/>
        </p:spPr>
        <p:txBody>
          <a:bodyPr wrap="none" lIns="0" tIns="0" rIns="0" bIns="0" rtlCol="0" anchor="ctr"/>
          <a:lstStyle/>
          <a:p>
            <a:pPr indent="0" marL="0">
              <a:buNone/>
            </a:pPr>
            <a:r>
              <a:rPr lang="zh-CN" altLang="en-US" sz="2250" b="1" spc="9" kern="0" dirty="0">
                <a:solidFill>
                  <a:srgbClr val="0A1F44"/>
                </a:solidFill>
                <a:latin typeface="Heiti SC" pitchFamily="34" charset="0"/>
                <a:ea typeface="Heiti SC" pitchFamily="34" charset="-122"/>
                <a:cs typeface="Heiti SC" pitchFamily="34" charset="-120"/>
              </a:rPr>
              <a:t>高效、专业、极致的 UMC 云通信服务</a:t>
            </a:r>
            <a:endParaRPr lang="zh-CN" sz="2250" dirty="0"/>
          </a:p>
        </p:txBody>
      </p:sp>
      <p:sp>
        <p:nvSpPr>
          <p:cNvPr id="5" name="Text 3: 以运营商级基础设施承载企业消息触达 —— 双机房容灾、分布式"/>
          <p:cNvSpPr/>
          <p:nvPr/>
        </p:nvSpPr>
        <p:spPr>
          <a:xfrm>
            <a:off x="914400" y="1352550"/>
            <a:ext cx="6417469" cy="196850"/>
          </a:xfrm>
          <a:prstGeom prst="rect">
            <a:avLst/>
          </a:prstGeom>
          <a:noFill/>
          <a:ln/>
        </p:spPr>
        <p:txBody>
          <a:bodyPr wrap="none" lIns="0" tIns="0" rIns="0" bIns="0" rtlCol="0" anchor="ctr"/>
          <a:lstStyle/>
          <a:p>
            <a:pPr indent="0" marL="0">
              <a:buNone/>
            </a:pPr>
            <a:r>
              <a:rPr lang="zh-CN" altLang="en-US" sz="1150" spc="-2" kern="0" dirty="0">
                <a:solidFill>
                  <a:srgbClr val="FFFFFF"/>
                </a:solidFill>
                <a:latin typeface="Heiti SC" pitchFamily="34" charset="0"/>
                <a:ea typeface="Heiti SC" pitchFamily="34" charset="-122"/>
                <a:cs typeface="Heiti SC" pitchFamily="34" charset="-120"/>
              </a:rPr>
              <a:t>以运营商级基础设施承载企业消息触达 —— 双机房容灾、分布式部署、全时监控，保障每一条消息</a:t>
            </a:r>
            <a:endParaRPr lang="zh-CN" sz="1150" dirty="0"/>
          </a:p>
        </p:txBody>
      </p:sp>
      <p:sp>
        <p:nvSpPr>
          <p:cNvPr id="6" name="Text 4: 稳定、高速、准确"/>
          <p:cNvSpPr/>
          <p:nvPr/>
        </p:nvSpPr>
        <p:spPr>
          <a:xfrm>
            <a:off x="7255669" y="1352550"/>
            <a:ext cx="1244600" cy="196850"/>
          </a:xfrm>
          <a:prstGeom prst="rect">
            <a:avLst/>
          </a:prstGeom>
          <a:noFill/>
          <a:ln/>
        </p:spPr>
        <p:txBody>
          <a:bodyPr wrap="none" lIns="0" tIns="0" rIns="0" bIns="0" rtlCol="0" anchor="ctr"/>
          <a:lstStyle/>
          <a:p>
            <a:pPr indent="0" marL="0">
              <a:buNone/>
            </a:pPr>
            <a:r>
              <a:rPr lang="zh-CN" altLang="en-US" sz="1150" b="1" dirty="0">
                <a:solidFill>
                  <a:srgbClr val="F02D4E"/>
                </a:solidFill>
                <a:latin typeface="Heiti SC" pitchFamily="34" charset="0"/>
                <a:ea typeface="Heiti SC" pitchFamily="34" charset="-122"/>
                <a:cs typeface="Heiti SC" pitchFamily="34" charset="-120"/>
              </a:rPr>
              <a:t>稳定、高速、准确</a:t>
            </a:r>
            <a:endParaRPr lang="zh-CN" sz="1150" dirty="0"/>
          </a:p>
        </p:txBody>
      </p:sp>
      <p:sp>
        <p:nvSpPr>
          <p:cNvPr id="7" name="Text 5: 地送达"/>
          <p:cNvSpPr/>
          <p:nvPr/>
        </p:nvSpPr>
        <p:spPr>
          <a:xfrm>
            <a:off x="8424069" y="1352550"/>
            <a:ext cx="514350" cy="196850"/>
          </a:xfrm>
          <a:prstGeom prst="rect">
            <a:avLst/>
          </a:prstGeom>
          <a:noFill/>
          <a:ln/>
        </p:spPr>
        <p:txBody>
          <a:bodyPr wrap="none" lIns="0" tIns="0" rIns="0" bIns="0" rtlCol="0" anchor="ctr"/>
          <a:lstStyle/>
          <a:p>
            <a:pPr indent="0" marL="0">
              <a:buNone/>
            </a:pPr>
            <a:r>
              <a:rPr lang="zh-CN" altLang="en-US" sz="1150" dirty="0">
                <a:solidFill>
                  <a:srgbClr val="FFFFFF"/>
                </a:solidFill>
                <a:latin typeface="Heiti SC" pitchFamily="34" charset="0"/>
                <a:ea typeface="Heiti SC" pitchFamily="34" charset="-122"/>
                <a:cs typeface="Heiti SC" pitchFamily="34" charset="-120"/>
              </a:rPr>
              <a:t>地送达</a:t>
            </a:r>
            <a:endParaRPr lang="zh-CN" sz="1150" dirty="0"/>
          </a:p>
        </p:txBody>
      </p:sp>
      <p:sp>
        <p:nvSpPr>
          <p:cNvPr id="8" name="Text 6: 用户。"/>
          <p:cNvSpPr/>
          <p:nvPr/>
        </p:nvSpPr>
        <p:spPr>
          <a:xfrm>
            <a:off x="914400" y="1600795"/>
            <a:ext cx="514350" cy="196850"/>
          </a:xfrm>
          <a:prstGeom prst="rect">
            <a:avLst/>
          </a:prstGeom>
          <a:noFill/>
          <a:ln/>
        </p:spPr>
        <p:txBody>
          <a:bodyPr wrap="none" lIns="0" tIns="0" rIns="0" bIns="0" rtlCol="0" anchor="ctr"/>
          <a:lstStyle/>
          <a:p>
            <a:pPr indent="0" marL="0">
              <a:buNone/>
            </a:pPr>
            <a:r>
              <a:rPr lang="zh-CN" altLang="en-US" sz="1150" dirty="0">
                <a:solidFill>
                  <a:srgbClr val="FFFFFF"/>
                </a:solidFill>
                <a:latin typeface="Heiti SC" pitchFamily="34" charset="0"/>
                <a:ea typeface="Heiti SC" pitchFamily="34" charset="-122"/>
                <a:cs typeface="Heiti SC" pitchFamily="34" charset="-120"/>
              </a:rPr>
              <a:t>用户。</a:t>
            </a:r>
            <a:endParaRPr lang="zh-CN" sz="1150" dirty="0"/>
          </a:p>
        </p:txBody>
      </p:sp>
      <p:sp>
        <p:nvSpPr>
          <p:cNvPr id="9" name="Text 7: UMC CLOUD COMMUNICATION"/>
          <p:cNvSpPr/>
          <p:nvPr/>
        </p:nvSpPr>
        <p:spPr>
          <a:xfrm>
            <a:off x="9138940" y="1492845"/>
            <a:ext cx="2214860" cy="165100"/>
          </a:xfrm>
          <a:prstGeom prst="rect">
            <a:avLst/>
          </a:prstGeom>
          <a:noFill/>
          <a:ln/>
        </p:spPr>
        <p:txBody>
          <a:bodyPr wrap="none" lIns="0" tIns="0" rIns="0" bIns="0" rtlCol="0" anchor="ctr"/>
          <a:lstStyle/>
          <a:p>
            <a:pPr indent="0" marL="0">
              <a:buNone/>
            </a:pPr>
            <a:r>
              <a:rPr lang="zh-CN" altLang="en-US" sz="900" spc="155" kern="0" dirty="0">
                <a:solidFill>
                  <a:srgbClr val="889BB9"/>
                </a:solidFill>
                <a:latin typeface="Arial" pitchFamily="34" charset="0"/>
                <a:ea typeface="Arial" pitchFamily="34" charset="-122"/>
                <a:cs typeface="Arial" pitchFamily="34" charset="-120"/>
              </a:rPr>
              <a:t>UMC CLOUD COMMUNICATION</a:t>
            </a:r>
            <a:endParaRPr lang="zh-CN" sz="900" dirty="0"/>
          </a:p>
        </p:txBody>
      </p:sp>
      <p:sp>
        <p:nvSpPr>
          <p:cNvPr id="10" name="Text 8: 双机房"/>
          <p:cNvSpPr/>
          <p:nvPr/>
        </p:nvSpPr>
        <p:spPr>
          <a:xfrm>
            <a:off x="857250" y="2439591"/>
            <a:ext cx="1085850" cy="406400"/>
          </a:xfrm>
          <a:prstGeom prst="rect">
            <a:avLst/>
          </a:prstGeom>
          <a:noFill/>
          <a:ln/>
        </p:spPr>
        <p:txBody>
          <a:bodyPr wrap="none" lIns="0" tIns="0" rIns="0" bIns="0" rtlCol="0" anchor="ctr"/>
          <a:lstStyle/>
          <a:p>
            <a:pPr indent="0" marL="0">
              <a:buNone/>
            </a:pPr>
            <a:r>
              <a:rPr lang="zh-CN" altLang="en-US" sz="2700" b="1" spc="-75" kern="0" dirty="0">
                <a:solidFill>
                  <a:srgbClr val="0A1F44"/>
                </a:solidFill>
                <a:latin typeface="Heiti SC" pitchFamily="34" charset="0"/>
                <a:ea typeface="Heiti SC" pitchFamily="34" charset="-122"/>
                <a:cs typeface="Heiti SC" pitchFamily="34" charset="-120"/>
              </a:rPr>
              <a:t>双机房</a:t>
            </a:r>
            <a:endParaRPr lang="zh-CN" sz="2700" dirty="0"/>
          </a:p>
        </p:txBody>
      </p:sp>
      <p:sp>
        <p:nvSpPr>
          <p:cNvPr id="11" name="Text 9: 容灾"/>
          <p:cNvSpPr/>
          <p:nvPr/>
        </p:nvSpPr>
        <p:spPr>
          <a:xfrm>
            <a:off x="1924050" y="2604691"/>
            <a:ext cx="381000"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Heiti SC" pitchFamily="34" charset="0"/>
                <a:ea typeface="Heiti SC" pitchFamily="34" charset="-122"/>
                <a:cs typeface="Heiti SC" pitchFamily="34" charset="-120"/>
              </a:rPr>
              <a:t>容灾</a:t>
            </a:r>
            <a:endParaRPr lang="zh-CN" sz="1200" dirty="0"/>
          </a:p>
        </p:txBody>
      </p:sp>
      <p:sp>
        <p:nvSpPr>
          <p:cNvPr id="12" name="Text 10: 异地双活，故障秒级切换"/>
          <p:cNvSpPr/>
          <p:nvPr/>
        </p:nvSpPr>
        <p:spPr>
          <a:xfrm>
            <a:off x="857250" y="3536950"/>
            <a:ext cx="15430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异地双活，故障秒级切换</a:t>
            </a:r>
            <a:endParaRPr lang="zh-CN" sz="1050" dirty="0"/>
          </a:p>
        </p:txBody>
      </p:sp>
      <p:sp>
        <p:nvSpPr>
          <p:cNvPr id="13" name="Text 11: 分布式"/>
          <p:cNvSpPr/>
          <p:nvPr/>
        </p:nvSpPr>
        <p:spPr>
          <a:xfrm>
            <a:off x="4565650" y="2439591"/>
            <a:ext cx="1085850" cy="406400"/>
          </a:xfrm>
          <a:prstGeom prst="rect">
            <a:avLst/>
          </a:prstGeom>
          <a:noFill/>
          <a:ln/>
        </p:spPr>
        <p:txBody>
          <a:bodyPr wrap="none" lIns="0" tIns="0" rIns="0" bIns="0" rtlCol="0" anchor="ctr"/>
          <a:lstStyle/>
          <a:p>
            <a:pPr indent="0" marL="0">
              <a:buNone/>
            </a:pPr>
            <a:r>
              <a:rPr lang="zh-CN" altLang="en-US" sz="2700" b="1" spc="-75" kern="0" dirty="0">
                <a:solidFill>
                  <a:srgbClr val="0A1F44"/>
                </a:solidFill>
                <a:latin typeface="Heiti SC" pitchFamily="34" charset="0"/>
                <a:ea typeface="Heiti SC" pitchFamily="34" charset="-122"/>
                <a:cs typeface="Heiti SC" pitchFamily="34" charset="-120"/>
              </a:rPr>
              <a:t>分布式</a:t>
            </a:r>
            <a:endParaRPr lang="zh-CN" sz="2700" dirty="0"/>
          </a:p>
        </p:txBody>
      </p:sp>
      <p:sp>
        <p:nvSpPr>
          <p:cNvPr id="14" name="Text 12: 部署"/>
          <p:cNvSpPr/>
          <p:nvPr/>
        </p:nvSpPr>
        <p:spPr>
          <a:xfrm>
            <a:off x="5632450" y="2604691"/>
            <a:ext cx="381000"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Heiti SC" pitchFamily="34" charset="0"/>
                <a:ea typeface="Heiti SC" pitchFamily="34" charset="-122"/>
                <a:cs typeface="Heiti SC" pitchFamily="34" charset="-120"/>
              </a:rPr>
              <a:t>部署</a:t>
            </a:r>
            <a:endParaRPr lang="zh-CN" sz="1200" dirty="0"/>
          </a:p>
        </p:txBody>
      </p:sp>
      <p:sp>
        <p:nvSpPr>
          <p:cNvPr id="15" name="Text 13: 多节点弹性扩展"/>
          <p:cNvSpPr/>
          <p:nvPr/>
        </p:nvSpPr>
        <p:spPr>
          <a:xfrm>
            <a:off x="4565650" y="3536950"/>
            <a:ext cx="10096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多节点弹性扩展</a:t>
            </a:r>
            <a:endParaRPr lang="zh-CN" sz="1050" dirty="0"/>
          </a:p>
        </p:txBody>
      </p:sp>
      <p:sp>
        <p:nvSpPr>
          <p:cNvPr id="16" name="Text 14: 20000"/>
          <p:cNvSpPr/>
          <p:nvPr/>
        </p:nvSpPr>
        <p:spPr>
          <a:xfrm>
            <a:off x="8274050" y="2376091"/>
            <a:ext cx="1116211" cy="406400"/>
          </a:xfrm>
          <a:prstGeom prst="rect">
            <a:avLst/>
          </a:prstGeom>
          <a:noFill/>
          <a:ln/>
        </p:spPr>
        <p:txBody>
          <a:bodyPr wrap="none" lIns="0" tIns="0" rIns="0" bIns="0" rtlCol="0" anchor="ctr"/>
          <a:lstStyle/>
          <a:p>
            <a:pPr indent="0" marL="0">
              <a:buNone/>
            </a:pPr>
            <a:r>
              <a:rPr lang="zh-CN" altLang="en-US" sz="2700" b="1" spc="170" kern="0" dirty="0">
                <a:solidFill>
                  <a:srgbClr val="F02D4E"/>
                </a:solidFill>
                <a:latin typeface="Arial" pitchFamily="34" charset="0"/>
                <a:ea typeface="Arial" pitchFamily="34" charset="-122"/>
                <a:cs typeface="Arial" pitchFamily="34" charset="-120"/>
              </a:rPr>
              <a:t>20000</a:t>
            </a:r>
            <a:endParaRPr lang="zh-CN" sz="2700" dirty="0"/>
          </a:p>
        </p:txBody>
      </p:sp>
      <p:sp>
        <p:nvSpPr>
          <p:cNvPr id="17" name="Text 15: TPS"/>
          <p:cNvSpPr/>
          <p:nvPr/>
        </p:nvSpPr>
        <p:spPr>
          <a:xfrm>
            <a:off x="9371211" y="2541191"/>
            <a:ext cx="381298" cy="203200"/>
          </a:xfrm>
          <a:prstGeom prst="rect">
            <a:avLst/>
          </a:prstGeom>
          <a:noFill/>
          <a:ln/>
        </p:spPr>
        <p:txBody>
          <a:bodyPr wrap="none" lIns="0" tIns="0" rIns="0" bIns="0" rtlCol="0" anchor="ctr"/>
          <a:lstStyle/>
          <a:p>
            <a:pPr indent="0" marL="0">
              <a:buNone/>
            </a:pPr>
            <a:r>
              <a:rPr lang="zh-CN" altLang="en-US" sz="1200" b="1" spc="34" kern="0" dirty="0">
                <a:solidFill>
                  <a:srgbClr val="2E6FE8"/>
                </a:solidFill>
                <a:latin typeface="Arial" pitchFamily="34" charset="0"/>
                <a:ea typeface="Arial" pitchFamily="34" charset="-122"/>
                <a:cs typeface="Arial" pitchFamily="34" charset="-120"/>
              </a:rPr>
              <a:t>TPS</a:t>
            </a:r>
            <a:endParaRPr lang="zh-CN" sz="1200" dirty="0"/>
          </a:p>
        </p:txBody>
      </p:sp>
      <p:sp>
        <p:nvSpPr>
          <p:cNvPr id="18" name="Text 16: 高并发峰值处理能力"/>
          <p:cNvSpPr/>
          <p:nvPr/>
        </p:nvSpPr>
        <p:spPr>
          <a:xfrm>
            <a:off x="8274050" y="3536950"/>
            <a:ext cx="12763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高并发峰值处理能力</a:t>
            </a:r>
            <a:endParaRPr lang="zh-CN" sz="1050" dirty="0"/>
          </a:p>
        </p:txBody>
      </p:sp>
      <p:sp>
        <p:nvSpPr>
          <p:cNvPr id="19" name="Text 17: 99.9%"/>
          <p:cNvSpPr/>
          <p:nvPr/>
        </p:nvSpPr>
        <p:spPr>
          <a:xfrm>
            <a:off x="857250" y="4328120"/>
            <a:ext cx="1134070" cy="406400"/>
          </a:xfrm>
          <a:prstGeom prst="rect">
            <a:avLst/>
          </a:prstGeom>
          <a:noFill/>
          <a:ln/>
        </p:spPr>
        <p:txBody>
          <a:bodyPr wrap="none" lIns="0" tIns="0" rIns="0" bIns="0" rtlCol="0" anchor="ctr"/>
          <a:lstStyle/>
          <a:p>
            <a:pPr indent="0" marL="0">
              <a:buNone/>
            </a:pPr>
            <a:r>
              <a:rPr lang="zh-CN" altLang="en-US" sz="2700" b="1" spc="168" kern="0" dirty="0">
                <a:solidFill>
                  <a:srgbClr val="F02D4E"/>
                </a:solidFill>
                <a:latin typeface="Arial" pitchFamily="34" charset="0"/>
                <a:ea typeface="Arial" pitchFamily="34" charset="-122"/>
                <a:cs typeface="Arial" pitchFamily="34" charset="-120"/>
              </a:rPr>
              <a:t>99.9%</a:t>
            </a:r>
            <a:endParaRPr lang="zh-CN" sz="2700" dirty="0"/>
          </a:p>
        </p:txBody>
      </p:sp>
      <p:sp>
        <p:nvSpPr>
          <p:cNvPr id="20" name="Text 18: 到达率"/>
          <p:cNvSpPr/>
          <p:nvPr/>
        </p:nvSpPr>
        <p:spPr>
          <a:xfrm>
            <a:off x="1972270" y="4493220"/>
            <a:ext cx="533400"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Heiti SC" pitchFamily="34" charset="0"/>
                <a:ea typeface="Heiti SC" pitchFamily="34" charset="-122"/>
                <a:cs typeface="Heiti SC" pitchFamily="34" charset="-120"/>
              </a:rPr>
              <a:t>到达率</a:t>
            </a:r>
            <a:endParaRPr lang="zh-CN" sz="1200" dirty="0"/>
          </a:p>
        </p:txBody>
      </p:sp>
      <p:sp>
        <p:nvSpPr>
          <p:cNvPr id="21" name="Text 19: 智能路由保障送达"/>
          <p:cNvSpPr/>
          <p:nvPr/>
        </p:nvSpPr>
        <p:spPr>
          <a:xfrm>
            <a:off x="857250" y="5488980"/>
            <a:ext cx="114300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智能路由保障送达</a:t>
            </a:r>
            <a:endParaRPr lang="zh-CN" sz="1050" dirty="0"/>
          </a:p>
        </p:txBody>
      </p:sp>
      <p:sp>
        <p:nvSpPr>
          <p:cNvPr id="22" name="Text 20: 7×24"/>
          <p:cNvSpPr/>
          <p:nvPr/>
        </p:nvSpPr>
        <p:spPr>
          <a:xfrm>
            <a:off x="4565650" y="4328120"/>
            <a:ext cx="916980" cy="406400"/>
          </a:xfrm>
          <a:prstGeom prst="rect">
            <a:avLst/>
          </a:prstGeom>
          <a:noFill/>
          <a:ln/>
        </p:spPr>
        <p:txBody>
          <a:bodyPr wrap="none" lIns="0" tIns="0" rIns="0" bIns="0" rtlCol="0" anchor="ctr"/>
          <a:lstStyle/>
          <a:p>
            <a:pPr indent="0" marL="0">
              <a:buNone/>
            </a:pPr>
            <a:r>
              <a:rPr lang="zh-CN" altLang="en-US" sz="2700" b="1" spc="180" kern="0" dirty="0">
                <a:solidFill>
                  <a:srgbClr val="0A1F44"/>
                </a:solidFill>
                <a:latin typeface="Arial" pitchFamily="34" charset="0"/>
                <a:ea typeface="Arial" pitchFamily="34" charset="-122"/>
                <a:cs typeface="Arial" pitchFamily="34" charset="-120"/>
              </a:rPr>
              <a:t>7×24</a:t>
            </a:r>
            <a:endParaRPr lang="zh-CN" sz="2700" dirty="0"/>
          </a:p>
        </p:txBody>
      </p:sp>
      <p:sp>
        <p:nvSpPr>
          <p:cNvPr id="23" name="Text 21: 全时监控"/>
          <p:cNvSpPr/>
          <p:nvPr/>
        </p:nvSpPr>
        <p:spPr>
          <a:xfrm>
            <a:off x="5463580" y="4493220"/>
            <a:ext cx="685800"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Heiti SC" pitchFamily="34" charset="0"/>
                <a:ea typeface="Heiti SC" pitchFamily="34" charset="-122"/>
                <a:cs typeface="Heiti SC" pitchFamily="34" charset="-120"/>
              </a:rPr>
              <a:t>全时监控</a:t>
            </a:r>
            <a:endParaRPr lang="zh-CN" sz="1200" dirty="0"/>
          </a:p>
        </p:txBody>
      </p:sp>
      <p:sp>
        <p:nvSpPr>
          <p:cNvPr id="24" name="Text 22: 小时级实时监测"/>
          <p:cNvSpPr/>
          <p:nvPr/>
        </p:nvSpPr>
        <p:spPr>
          <a:xfrm>
            <a:off x="4565650" y="5488980"/>
            <a:ext cx="10096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小时级实时监测</a:t>
            </a:r>
            <a:endParaRPr lang="zh-CN" sz="1050" dirty="0"/>
          </a:p>
        </p:txBody>
      </p:sp>
      <p:sp>
        <p:nvSpPr>
          <p:cNvPr id="25" name="Text 23: 99.99%"/>
          <p:cNvSpPr/>
          <p:nvPr/>
        </p:nvSpPr>
        <p:spPr>
          <a:xfrm>
            <a:off x="8274050" y="4328120"/>
            <a:ext cx="1342033" cy="406400"/>
          </a:xfrm>
          <a:prstGeom prst="rect">
            <a:avLst/>
          </a:prstGeom>
          <a:noFill/>
          <a:ln/>
        </p:spPr>
        <p:txBody>
          <a:bodyPr wrap="none" lIns="0" tIns="0" rIns="0" bIns="0" rtlCol="0" anchor="ctr"/>
          <a:lstStyle/>
          <a:p>
            <a:pPr indent="0" marL="0">
              <a:buNone/>
            </a:pPr>
            <a:r>
              <a:rPr lang="zh-CN" altLang="en-US" sz="2700" b="1" spc="162" kern="0" dirty="0">
                <a:solidFill>
                  <a:srgbClr val="F02D4E"/>
                </a:solidFill>
                <a:latin typeface="Arial" pitchFamily="34" charset="0"/>
                <a:ea typeface="Arial" pitchFamily="34" charset="-122"/>
                <a:cs typeface="Arial" pitchFamily="34" charset="-120"/>
              </a:rPr>
              <a:t>99.99%</a:t>
            </a:r>
            <a:endParaRPr lang="zh-CN" sz="2700" dirty="0"/>
          </a:p>
        </p:txBody>
      </p:sp>
      <p:sp>
        <p:nvSpPr>
          <p:cNvPr id="26" name="Text 24: 可用性"/>
          <p:cNvSpPr/>
          <p:nvPr/>
        </p:nvSpPr>
        <p:spPr>
          <a:xfrm>
            <a:off x="9597033" y="4493220"/>
            <a:ext cx="533400"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Heiti SC" pitchFamily="34" charset="0"/>
                <a:ea typeface="Heiti SC" pitchFamily="34" charset="-122"/>
                <a:cs typeface="Heiti SC" pitchFamily="34" charset="-120"/>
              </a:rPr>
              <a:t>可用性</a:t>
            </a:r>
            <a:endParaRPr lang="zh-CN" sz="1200" dirty="0"/>
          </a:p>
        </p:txBody>
      </p:sp>
      <p:sp>
        <p:nvSpPr>
          <p:cNvPr id="27" name="Text 25: 服务可用性保障"/>
          <p:cNvSpPr/>
          <p:nvPr/>
        </p:nvSpPr>
        <p:spPr>
          <a:xfrm>
            <a:off x="8274050" y="5488980"/>
            <a:ext cx="10096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服务可用性保障</a:t>
            </a:r>
            <a:endParaRPr lang="zh-CN" sz="1050" dirty="0"/>
          </a:p>
        </p:txBody>
      </p:sp>
      <p:sp>
        <p:nvSpPr>
          <p:cNvPr id="28" name="Text 26: 16 / 25"/>
          <p:cNvSpPr/>
          <p:nvPr/>
        </p:nvSpPr>
        <p:spPr>
          <a:xfrm>
            <a:off x="11683802" y="6591300"/>
            <a:ext cx="457398" cy="165100"/>
          </a:xfrm>
          <a:prstGeom prst="rect">
            <a:avLst/>
          </a:prstGeom>
          <a:noFill/>
          <a:ln/>
        </p:spPr>
        <p:txBody>
          <a:bodyPr wrap="none" lIns="0" tIns="0" rIns="0" bIns="0" rtlCol="0" anchor="ctr"/>
          <a:lstStyle/>
          <a:p>
            <a:pPr indent="0" marL="0">
              <a:buNone/>
            </a:pPr>
            <a:r>
              <a:rPr lang="zh-CN" altLang="en-US" sz="900" spc="42" kern="0" dirty="0">
                <a:solidFill>
                  <a:srgbClr val="8A94A6"/>
                </a:solidFill>
                <a:latin typeface="Arial" pitchFamily="34" charset="0"/>
                <a:ea typeface="Arial" pitchFamily="34" charset="-122"/>
                <a:cs typeface="Arial" pitchFamily="34" charset="-120"/>
              </a:rPr>
              <a:t>16 / 25</a:t>
            </a:r>
            <a:endParaRPr lang="zh-CN"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Users/joozo/WySync/ObBidding/wiki/pptx/UMC/build/generated/backgrounds/slide-17.png">    </p:cNvPr>
          <p:cNvPicPr>
            <a:picLocks noChangeAspect="1"/>
          </p:cNvPicPr>
          <p:nvPr/>
        </p:nvPicPr>
        <p:blipFill>
          <a:blip r:embed="rId1"/>
          <a:stretch>
            <a:fillRect/>
          </a:stretch>
        </p:blipFill>
        <p:spPr>
          <a:xfrm>
            <a:off x="0" y="0"/>
            <a:ext cx="12192000" cy="6858000"/>
          </a:xfrm>
          <a:prstGeom prst="rect">
            <a:avLst/>
          </a:prstGeom>
        </p:spPr>
      </p:pic>
      <p:sp>
        <p:nvSpPr>
          <p:cNvPr id="3" name="Text 1: 02 · 语音验证"/>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02 · 语音验证</a:t>
            </a:r>
            <a:endParaRPr lang="zh-CN" sz="1000" dirty="0"/>
          </a:p>
        </p:txBody>
      </p:sp>
      <p:sp>
        <p:nvSpPr>
          <p:cNvPr id="4" name="Text 2: 语音验证"/>
          <p:cNvSpPr/>
          <p:nvPr/>
        </p:nvSpPr>
        <p:spPr>
          <a:xfrm>
            <a:off x="609600" y="546100"/>
            <a:ext cx="1231900" cy="349250"/>
          </a:xfrm>
          <a:prstGeom prst="rect">
            <a:avLst/>
          </a:prstGeom>
          <a:noFill/>
          <a:ln/>
        </p:spPr>
        <p:txBody>
          <a:bodyPr wrap="none" lIns="0" tIns="0" rIns="0" bIns="0" rtlCol="0" anchor="ctr"/>
          <a:lstStyle/>
          <a:p>
            <a:pPr indent="0" marL="0">
              <a:buNone/>
            </a:pPr>
            <a:r>
              <a:rPr lang="zh-CN" altLang="en-US" sz="2250" b="1" spc="33" kern="0" dirty="0">
                <a:solidFill>
                  <a:srgbClr val="0A1F44"/>
                </a:solidFill>
                <a:latin typeface="Heiti SC" pitchFamily="34" charset="0"/>
                <a:ea typeface="Heiti SC" pitchFamily="34" charset="-122"/>
                <a:cs typeface="Heiti SC" pitchFamily="34" charset="-120"/>
              </a:rPr>
              <a:t>语音验证</a:t>
            </a:r>
            <a:endParaRPr lang="zh-CN" sz="2250" dirty="0"/>
          </a:p>
        </p:txBody>
      </p:sp>
      <p:sp>
        <p:nvSpPr>
          <p:cNvPr id="5" name="Text 3: 短信到不了的场景，"/>
          <p:cNvSpPr/>
          <p:nvPr/>
        </p:nvSpPr>
        <p:spPr>
          <a:xfrm>
            <a:off x="914400" y="2758380"/>
            <a:ext cx="2133600" cy="292100"/>
          </a:xfrm>
          <a:prstGeom prst="rect">
            <a:avLst/>
          </a:prstGeom>
          <a:noFill/>
          <a:ln/>
        </p:spPr>
        <p:txBody>
          <a:bodyPr wrap="none" lIns="0" tIns="0" rIns="0" bIns="0" rtlCol="0" anchor="ctr"/>
          <a:lstStyle/>
          <a:p>
            <a:pPr indent="0" marL="0">
              <a:buNone/>
            </a:pPr>
            <a:r>
              <a:rPr lang="zh-CN" altLang="en-US" sz="1800" b="1" dirty="0">
                <a:solidFill>
                  <a:srgbClr val="FFFFFF"/>
                </a:solidFill>
                <a:latin typeface="Heiti SC" pitchFamily="34" charset="0"/>
                <a:ea typeface="Heiti SC" pitchFamily="34" charset="-122"/>
                <a:cs typeface="Heiti SC" pitchFamily="34" charset="-120"/>
              </a:rPr>
              <a:t>短信到不了的场景，</a:t>
            </a:r>
            <a:endParaRPr lang="zh-CN" sz="1800" dirty="0"/>
          </a:p>
        </p:txBody>
      </p:sp>
      <p:sp>
        <p:nvSpPr>
          <p:cNvPr id="6" name="Text 4: 语音来兜底"/>
          <p:cNvSpPr/>
          <p:nvPr/>
        </p:nvSpPr>
        <p:spPr>
          <a:xfrm>
            <a:off x="914400" y="3101280"/>
            <a:ext cx="1219200" cy="292100"/>
          </a:xfrm>
          <a:prstGeom prst="rect">
            <a:avLst/>
          </a:prstGeom>
          <a:noFill/>
          <a:ln/>
        </p:spPr>
        <p:txBody>
          <a:bodyPr wrap="none" lIns="0" tIns="0" rIns="0" bIns="0" rtlCol="0" anchor="ctr"/>
          <a:lstStyle/>
          <a:p>
            <a:pPr indent="0" marL="0">
              <a:buNone/>
            </a:pPr>
            <a:r>
              <a:rPr lang="zh-CN" altLang="en-US" sz="1800" b="1" dirty="0">
                <a:solidFill>
                  <a:srgbClr val="FFFFFF"/>
                </a:solidFill>
                <a:latin typeface="Heiti SC" pitchFamily="34" charset="0"/>
                <a:ea typeface="Heiti SC" pitchFamily="34" charset="-122"/>
                <a:cs typeface="Heiti SC" pitchFamily="34" charset="-120"/>
              </a:rPr>
              <a:t>语音来兜底</a:t>
            </a:r>
            <a:endParaRPr lang="zh-CN" sz="1800" dirty="0"/>
          </a:p>
        </p:txBody>
      </p:sp>
      <p:sp>
        <p:nvSpPr>
          <p:cNvPr id="7" name="Text 5: 语音验证基于云服务提供语音通信能力，为"/>
          <p:cNvSpPr/>
          <p:nvPr/>
        </p:nvSpPr>
        <p:spPr>
          <a:xfrm>
            <a:off x="914400" y="3583880"/>
            <a:ext cx="2609850" cy="177800"/>
          </a:xfrm>
          <a:prstGeom prst="rect">
            <a:avLst/>
          </a:prstGeom>
          <a:noFill/>
          <a:ln/>
        </p:spPr>
        <p:txBody>
          <a:bodyPr wrap="none" lIns="0" tIns="0" rIns="0" bIns="0" rtlCol="0" anchor="ctr"/>
          <a:lstStyle/>
          <a:p>
            <a:pPr indent="0" marL="0">
              <a:buNone/>
            </a:pPr>
            <a:r>
              <a:rPr lang="zh-CN" altLang="en-US" sz="1050" dirty="0">
                <a:solidFill>
                  <a:srgbClr val="ABB6C7"/>
                </a:solidFill>
                <a:latin typeface="Heiti SC" pitchFamily="34" charset="0"/>
                <a:ea typeface="Heiti SC" pitchFamily="34" charset="-122"/>
                <a:cs typeface="Heiti SC" pitchFamily="34" charset="-120"/>
              </a:rPr>
              <a:t>语音验证基于云服务提供语音通信能力，为</a:t>
            </a:r>
            <a:endParaRPr lang="zh-CN" sz="1050" dirty="0"/>
          </a:p>
        </p:txBody>
      </p:sp>
      <p:sp>
        <p:nvSpPr>
          <p:cNvPr id="8" name="Text 6: 企业客户提供语音通知、语音验证码等服"/>
          <p:cNvSpPr/>
          <p:nvPr/>
        </p:nvSpPr>
        <p:spPr>
          <a:xfrm>
            <a:off x="914400" y="3830538"/>
            <a:ext cx="2476500" cy="177800"/>
          </a:xfrm>
          <a:prstGeom prst="rect">
            <a:avLst/>
          </a:prstGeom>
          <a:noFill/>
          <a:ln/>
        </p:spPr>
        <p:txBody>
          <a:bodyPr wrap="none" lIns="0" tIns="0" rIns="0" bIns="0" rtlCol="0" anchor="ctr"/>
          <a:lstStyle/>
          <a:p>
            <a:pPr indent="0" marL="0">
              <a:buNone/>
            </a:pPr>
            <a:r>
              <a:rPr lang="zh-CN" altLang="en-US" sz="1050" dirty="0">
                <a:solidFill>
                  <a:srgbClr val="ABB6C8"/>
                </a:solidFill>
                <a:latin typeface="Heiti SC" pitchFamily="34" charset="0"/>
                <a:ea typeface="Heiti SC" pitchFamily="34" charset="-122"/>
                <a:cs typeface="Heiti SC" pitchFamily="34" charset="-120"/>
              </a:rPr>
              <a:t>企业客户提供语音通知、语音验证码等服</a:t>
            </a:r>
            <a:endParaRPr lang="zh-CN" sz="1050" dirty="0"/>
          </a:p>
        </p:txBody>
      </p:sp>
      <p:sp>
        <p:nvSpPr>
          <p:cNvPr id="9" name="Text 7: 务，解决因客观因素无法接收短信验证码的"/>
          <p:cNvSpPr/>
          <p:nvPr/>
        </p:nvSpPr>
        <p:spPr>
          <a:xfrm>
            <a:off x="914400" y="4077196"/>
            <a:ext cx="2609850" cy="177800"/>
          </a:xfrm>
          <a:prstGeom prst="rect">
            <a:avLst/>
          </a:prstGeom>
          <a:noFill/>
          <a:ln/>
        </p:spPr>
        <p:txBody>
          <a:bodyPr wrap="none" lIns="0" tIns="0" rIns="0" bIns="0" rtlCol="0" anchor="ctr"/>
          <a:lstStyle/>
          <a:p>
            <a:pPr indent="0" marL="0">
              <a:buNone/>
            </a:pPr>
            <a:r>
              <a:rPr lang="zh-CN" altLang="en-US" sz="1050" dirty="0">
                <a:solidFill>
                  <a:srgbClr val="ABB6C9"/>
                </a:solidFill>
                <a:latin typeface="Heiti SC" pitchFamily="34" charset="0"/>
                <a:ea typeface="Heiti SC" pitchFamily="34" charset="-122"/>
                <a:cs typeface="Heiti SC" pitchFamily="34" charset="-120"/>
              </a:rPr>
              <a:t>务，解决因客观因素无法接收短信验证码的</a:t>
            </a:r>
            <a:endParaRPr lang="zh-CN" sz="1050" dirty="0"/>
          </a:p>
        </p:txBody>
      </p:sp>
      <p:sp>
        <p:nvSpPr>
          <p:cNvPr id="10" name="Text 8: 问题，提升验证的实时有效性、安全性和沟"/>
          <p:cNvSpPr/>
          <p:nvPr/>
        </p:nvSpPr>
        <p:spPr>
          <a:xfrm>
            <a:off x="914400" y="4323854"/>
            <a:ext cx="2609850" cy="177800"/>
          </a:xfrm>
          <a:prstGeom prst="rect">
            <a:avLst/>
          </a:prstGeom>
          <a:noFill/>
          <a:ln/>
        </p:spPr>
        <p:txBody>
          <a:bodyPr wrap="none" lIns="0" tIns="0" rIns="0" bIns="0" rtlCol="0" anchor="ctr"/>
          <a:lstStyle/>
          <a:p>
            <a:pPr indent="0" marL="0">
              <a:buNone/>
            </a:pPr>
            <a:r>
              <a:rPr lang="zh-CN" altLang="en-US" sz="1050" dirty="0">
                <a:solidFill>
                  <a:srgbClr val="ABB7CA"/>
                </a:solidFill>
                <a:latin typeface="Heiti SC" pitchFamily="34" charset="0"/>
                <a:ea typeface="Heiti SC" pitchFamily="34" charset="-122"/>
                <a:cs typeface="Heiti SC" pitchFamily="34" charset="-120"/>
              </a:rPr>
              <a:t>问题，提升验证的实时有效性、安全性和沟</a:t>
            </a:r>
            <a:endParaRPr lang="zh-CN" sz="1050" dirty="0"/>
          </a:p>
        </p:txBody>
      </p:sp>
      <p:sp>
        <p:nvSpPr>
          <p:cNvPr id="11" name="Text 9: 通效率。"/>
          <p:cNvSpPr/>
          <p:nvPr/>
        </p:nvSpPr>
        <p:spPr>
          <a:xfrm>
            <a:off x="914400" y="4570512"/>
            <a:ext cx="609600" cy="177800"/>
          </a:xfrm>
          <a:prstGeom prst="rect">
            <a:avLst/>
          </a:prstGeom>
          <a:noFill/>
          <a:ln/>
        </p:spPr>
        <p:txBody>
          <a:bodyPr wrap="none" lIns="0" tIns="0" rIns="0" bIns="0" rtlCol="0" anchor="ctr"/>
          <a:lstStyle/>
          <a:p>
            <a:pPr indent="0" marL="0">
              <a:buNone/>
            </a:pPr>
            <a:r>
              <a:rPr lang="zh-CN" altLang="en-US" sz="1050" dirty="0">
                <a:solidFill>
                  <a:srgbClr val="ABB7CA"/>
                </a:solidFill>
                <a:latin typeface="Heiti SC" pitchFamily="34" charset="0"/>
                <a:ea typeface="Heiti SC" pitchFamily="34" charset="-122"/>
                <a:cs typeface="Heiti SC" pitchFamily="34" charset="-120"/>
              </a:rPr>
              <a:t>通效率。</a:t>
            </a:r>
            <a:endParaRPr lang="zh-CN" sz="1050" dirty="0"/>
          </a:p>
        </p:txBody>
      </p:sp>
      <p:sp>
        <p:nvSpPr>
          <p:cNvPr id="12" name="Text 10: VOICE VERIFICATION"/>
          <p:cNvSpPr/>
          <p:nvPr/>
        </p:nvSpPr>
        <p:spPr>
          <a:xfrm>
            <a:off x="914400" y="5391150"/>
            <a:ext cx="1587500" cy="165100"/>
          </a:xfrm>
          <a:prstGeom prst="rect">
            <a:avLst/>
          </a:prstGeom>
          <a:noFill/>
          <a:ln/>
        </p:spPr>
        <p:txBody>
          <a:bodyPr wrap="none" lIns="0" tIns="0" rIns="0" bIns="0" rtlCol="0" anchor="ctr"/>
          <a:lstStyle/>
          <a:p>
            <a:pPr indent="0" marL="0">
              <a:buNone/>
            </a:pPr>
            <a:r>
              <a:rPr lang="zh-CN" altLang="en-US" sz="900" spc="154" kern="0" dirty="0">
                <a:solidFill>
                  <a:srgbClr val="7C90B0"/>
                </a:solidFill>
                <a:latin typeface="Arial" pitchFamily="34" charset="0"/>
                <a:ea typeface="Arial" pitchFamily="34" charset="-122"/>
                <a:cs typeface="Arial" pitchFamily="34" charset="-120"/>
              </a:rPr>
              <a:t>VOICE VERIFICATION</a:t>
            </a:r>
            <a:endParaRPr lang="zh-CN" sz="900" dirty="0"/>
          </a:p>
        </p:txBody>
      </p:sp>
      <p:sp>
        <p:nvSpPr>
          <p:cNvPr id="13" name="Text 11: 1"/>
          <p:cNvSpPr/>
          <p:nvPr/>
        </p:nvSpPr>
        <p:spPr>
          <a:xfrm>
            <a:off x="4956076" y="1454150"/>
            <a:ext cx="165199"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Arial" pitchFamily="34" charset="0"/>
                <a:ea typeface="Arial" pitchFamily="34" charset="-122"/>
                <a:cs typeface="Arial" pitchFamily="34" charset="-120"/>
              </a:rPr>
              <a:t>1</a:t>
            </a:r>
            <a:endParaRPr lang="zh-CN" sz="1200" dirty="0"/>
          </a:p>
        </p:txBody>
      </p:sp>
      <p:sp>
        <p:nvSpPr>
          <p:cNvPr id="14" name="Text 12: 短信验证码下发"/>
          <p:cNvSpPr/>
          <p:nvPr/>
        </p:nvSpPr>
        <p:spPr>
          <a:xfrm>
            <a:off x="4556125" y="1803400"/>
            <a:ext cx="965200" cy="177800"/>
          </a:xfrm>
          <a:prstGeom prst="rect">
            <a:avLst/>
          </a:prstGeom>
          <a:noFill/>
          <a:ln/>
        </p:spPr>
        <p:txBody>
          <a:bodyPr wrap="none" lIns="0" tIns="0" rIns="0" bIns="0" rtlCol="0" anchor="ctr"/>
          <a:lstStyle/>
          <a:p>
            <a:pPr indent="0" marL="0">
              <a:buNone/>
            </a:pPr>
            <a:r>
              <a:rPr lang="zh-CN" altLang="en-US" sz="1000" b="1" dirty="0">
                <a:solidFill>
                  <a:srgbClr val="0A1F44"/>
                </a:solidFill>
                <a:latin typeface="Heiti SC" pitchFamily="34" charset="0"/>
                <a:ea typeface="Heiti SC" pitchFamily="34" charset="-122"/>
                <a:cs typeface="Heiti SC" pitchFamily="34" charset="-120"/>
              </a:rPr>
              <a:t>短信验证码下发</a:t>
            </a:r>
            <a:endParaRPr lang="zh-CN" sz="1000" dirty="0"/>
          </a:p>
        </p:txBody>
      </p:sp>
      <p:sp>
        <p:nvSpPr>
          <p:cNvPr id="15" name="Text 13: 默认通道"/>
          <p:cNvSpPr/>
          <p:nvPr/>
        </p:nvSpPr>
        <p:spPr>
          <a:xfrm>
            <a:off x="4784725" y="2038350"/>
            <a:ext cx="508000" cy="158750"/>
          </a:xfrm>
          <a:prstGeom prst="rect">
            <a:avLst/>
          </a:prstGeom>
          <a:noFill/>
          <a:ln/>
        </p:spPr>
        <p:txBody>
          <a:bodyPr wrap="none" lIns="0" tIns="0" rIns="0" bIns="0" rtlCol="0" anchor="ctr"/>
          <a:lstStyle/>
          <a:p>
            <a:pPr indent="0" marL="0">
              <a:buNone/>
            </a:pPr>
            <a:r>
              <a:rPr lang="zh-CN" altLang="en-US" sz="850" dirty="0">
                <a:solidFill>
                  <a:srgbClr val="8A94A6"/>
                </a:solidFill>
                <a:latin typeface="Heiti SC" pitchFamily="34" charset="0"/>
                <a:ea typeface="Heiti SC" pitchFamily="34" charset="-122"/>
                <a:cs typeface="Heiti SC" pitchFamily="34" charset="-120"/>
              </a:rPr>
              <a:t>默认通道</a:t>
            </a:r>
            <a:endParaRPr lang="zh-CN" sz="850" dirty="0"/>
          </a:p>
        </p:txBody>
      </p:sp>
      <p:sp>
        <p:nvSpPr>
          <p:cNvPr id="16" name="Text 14: 2"/>
          <p:cNvSpPr/>
          <p:nvPr/>
        </p:nvSpPr>
        <p:spPr>
          <a:xfrm>
            <a:off x="6854726" y="1454150"/>
            <a:ext cx="165199"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Arial" pitchFamily="34" charset="0"/>
                <a:ea typeface="Arial" pitchFamily="34" charset="-122"/>
                <a:cs typeface="Arial" pitchFamily="34" charset="-120"/>
              </a:rPr>
              <a:t>2</a:t>
            </a:r>
            <a:endParaRPr lang="zh-CN" sz="1200" dirty="0"/>
          </a:p>
        </p:txBody>
      </p:sp>
      <p:sp>
        <p:nvSpPr>
          <p:cNvPr id="17" name="Text 15: 检测未送达"/>
          <p:cNvSpPr/>
          <p:nvPr/>
        </p:nvSpPr>
        <p:spPr>
          <a:xfrm>
            <a:off x="6581775" y="1803400"/>
            <a:ext cx="711200" cy="177800"/>
          </a:xfrm>
          <a:prstGeom prst="rect">
            <a:avLst/>
          </a:prstGeom>
          <a:noFill/>
          <a:ln/>
        </p:spPr>
        <p:txBody>
          <a:bodyPr wrap="none" lIns="0" tIns="0" rIns="0" bIns="0" rtlCol="0" anchor="ctr"/>
          <a:lstStyle/>
          <a:p>
            <a:pPr indent="0" marL="0">
              <a:buNone/>
            </a:pPr>
            <a:r>
              <a:rPr lang="zh-CN" altLang="en-US" sz="1000" b="1" dirty="0">
                <a:solidFill>
                  <a:srgbClr val="0A1F44"/>
                </a:solidFill>
                <a:latin typeface="Heiti SC" pitchFamily="34" charset="0"/>
                <a:ea typeface="Heiti SC" pitchFamily="34" charset="-122"/>
                <a:cs typeface="Heiti SC" pitchFamily="34" charset="-120"/>
              </a:rPr>
              <a:t>检测未送达</a:t>
            </a:r>
            <a:endParaRPr lang="zh-CN" sz="1000" dirty="0"/>
          </a:p>
        </p:txBody>
      </p:sp>
      <p:sp>
        <p:nvSpPr>
          <p:cNvPr id="18" name="Text 16: 智能识别"/>
          <p:cNvSpPr/>
          <p:nvPr/>
        </p:nvSpPr>
        <p:spPr>
          <a:xfrm>
            <a:off x="6683375" y="2038350"/>
            <a:ext cx="508000" cy="158750"/>
          </a:xfrm>
          <a:prstGeom prst="rect">
            <a:avLst/>
          </a:prstGeom>
          <a:noFill/>
          <a:ln/>
        </p:spPr>
        <p:txBody>
          <a:bodyPr wrap="none" lIns="0" tIns="0" rIns="0" bIns="0" rtlCol="0" anchor="ctr"/>
          <a:lstStyle/>
          <a:p>
            <a:pPr indent="0" marL="0">
              <a:buNone/>
            </a:pPr>
            <a:r>
              <a:rPr lang="zh-CN" altLang="en-US" sz="850" dirty="0">
                <a:solidFill>
                  <a:srgbClr val="8A94A6"/>
                </a:solidFill>
                <a:latin typeface="Heiti SC" pitchFamily="34" charset="0"/>
                <a:ea typeface="Heiti SC" pitchFamily="34" charset="-122"/>
                <a:cs typeface="Heiti SC" pitchFamily="34" charset="-120"/>
              </a:rPr>
              <a:t>智能识别</a:t>
            </a:r>
            <a:endParaRPr lang="zh-CN" sz="850" dirty="0"/>
          </a:p>
        </p:txBody>
      </p:sp>
      <p:sp>
        <p:nvSpPr>
          <p:cNvPr id="19" name="Text 17: 3"/>
          <p:cNvSpPr/>
          <p:nvPr/>
        </p:nvSpPr>
        <p:spPr>
          <a:xfrm>
            <a:off x="8753376" y="1454150"/>
            <a:ext cx="165199" cy="203200"/>
          </a:xfrm>
          <a:prstGeom prst="rect">
            <a:avLst/>
          </a:prstGeom>
          <a:noFill/>
          <a:ln/>
        </p:spPr>
        <p:txBody>
          <a:bodyPr wrap="none" lIns="0" tIns="0" rIns="0" bIns="0" rtlCol="0" anchor="ctr"/>
          <a:lstStyle/>
          <a:p>
            <a:pPr indent="0" marL="0">
              <a:buNone/>
            </a:pPr>
            <a:r>
              <a:rPr lang="zh-CN" altLang="en-US" sz="1200" b="1" dirty="0">
                <a:solidFill>
                  <a:srgbClr val="2E6FE8"/>
                </a:solidFill>
                <a:latin typeface="Arial" pitchFamily="34" charset="0"/>
                <a:ea typeface="Arial" pitchFamily="34" charset="-122"/>
                <a:cs typeface="Arial" pitchFamily="34" charset="-120"/>
              </a:rPr>
              <a:t>3</a:t>
            </a:r>
            <a:endParaRPr lang="zh-CN" sz="1200" dirty="0"/>
          </a:p>
        </p:txBody>
      </p:sp>
      <p:sp>
        <p:nvSpPr>
          <p:cNvPr id="20" name="Text 18: 主动切换语音通道"/>
          <p:cNvSpPr/>
          <p:nvPr/>
        </p:nvSpPr>
        <p:spPr>
          <a:xfrm>
            <a:off x="8289925" y="1803400"/>
            <a:ext cx="1092200" cy="177800"/>
          </a:xfrm>
          <a:prstGeom prst="rect">
            <a:avLst/>
          </a:prstGeom>
          <a:noFill/>
          <a:ln/>
        </p:spPr>
        <p:txBody>
          <a:bodyPr wrap="none" lIns="0" tIns="0" rIns="0" bIns="0" rtlCol="0" anchor="ctr"/>
          <a:lstStyle/>
          <a:p>
            <a:pPr indent="0" marL="0">
              <a:buNone/>
            </a:pPr>
            <a:r>
              <a:rPr lang="zh-CN" altLang="en-US" sz="1000" b="1" dirty="0">
                <a:solidFill>
                  <a:srgbClr val="0A1F44"/>
                </a:solidFill>
                <a:latin typeface="Heiti SC" pitchFamily="34" charset="0"/>
                <a:ea typeface="Heiti SC" pitchFamily="34" charset="-122"/>
                <a:cs typeface="Heiti SC" pitchFamily="34" charset="-120"/>
              </a:rPr>
              <a:t>主动切换语音通道</a:t>
            </a:r>
            <a:endParaRPr lang="zh-CN" sz="1000" dirty="0"/>
          </a:p>
        </p:txBody>
      </p:sp>
      <p:sp>
        <p:nvSpPr>
          <p:cNvPr id="21" name="Text 19: 自动播报"/>
          <p:cNvSpPr/>
          <p:nvPr/>
        </p:nvSpPr>
        <p:spPr>
          <a:xfrm>
            <a:off x="8582025" y="2038350"/>
            <a:ext cx="508000" cy="158750"/>
          </a:xfrm>
          <a:prstGeom prst="rect">
            <a:avLst/>
          </a:prstGeom>
          <a:noFill/>
          <a:ln/>
        </p:spPr>
        <p:txBody>
          <a:bodyPr wrap="none" lIns="0" tIns="0" rIns="0" bIns="0" rtlCol="0" anchor="ctr"/>
          <a:lstStyle/>
          <a:p>
            <a:pPr indent="0" marL="0">
              <a:buNone/>
            </a:pPr>
            <a:r>
              <a:rPr lang="zh-CN" altLang="en-US" sz="850" dirty="0">
                <a:solidFill>
                  <a:srgbClr val="8A94A6"/>
                </a:solidFill>
                <a:latin typeface="Heiti SC" pitchFamily="34" charset="0"/>
                <a:ea typeface="Heiti SC" pitchFamily="34" charset="-122"/>
                <a:cs typeface="Heiti SC" pitchFamily="34" charset="-120"/>
              </a:rPr>
              <a:t>自动播报</a:t>
            </a:r>
            <a:endParaRPr lang="zh-CN" sz="850" dirty="0"/>
          </a:p>
        </p:txBody>
      </p:sp>
      <p:sp>
        <p:nvSpPr>
          <p:cNvPr id="22" name="Text 20: 4"/>
          <p:cNvSpPr/>
          <p:nvPr/>
        </p:nvSpPr>
        <p:spPr>
          <a:xfrm>
            <a:off x="10652026" y="1454150"/>
            <a:ext cx="165298" cy="203200"/>
          </a:xfrm>
          <a:prstGeom prst="rect">
            <a:avLst/>
          </a:prstGeom>
          <a:noFill/>
          <a:ln/>
        </p:spPr>
        <p:txBody>
          <a:bodyPr wrap="none" lIns="0" tIns="0" rIns="0" bIns="0" rtlCol="0" anchor="ctr"/>
          <a:lstStyle/>
          <a:p>
            <a:pPr indent="0" marL="0">
              <a:buNone/>
            </a:pPr>
            <a:r>
              <a:rPr lang="zh-CN" altLang="en-US" sz="1200" b="1" dirty="0">
                <a:solidFill>
                  <a:srgbClr val="FFFFFF"/>
                </a:solidFill>
                <a:latin typeface="Arial" pitchFamily="34" charset="0"/>
                <a:ea typeface="Arial" pitchFamily="34" charset="-122"/>
                <a:cs typeface="Arial" pitchFamily="34" charset="-120"/>
              </a:rPr>
              <a:t>4</a:t>
            </a:r>
            <a:endParaRPr lang="zh-CN" sz="1200" dirty="0"/>
          </a:p>
        </p:txBody>
      </p:sp>
      <p:sp>
        <p:nvSpPr>
          <p:cNvPr id="23" name="Text 21: 完成验证"/>
          <p:cNvSpPr/>
          <p:nvPr/>
        </p:nvSpPr>
        <p:spPr>
          <a:xfrm>
            <a:off x="10442575" y="1803400"/>
            <a:ext cx="584200" cy="177800"/>
          </a:xfrm>
          <a:prstGeom prst="rect">
            <a:avLst/>
          </a:prstGeom>
          <a:noFill/>
          <a:ln/>
        </p:spPr>
        <p:txBody>
          <a:bodyPr wrap="none" lIns="0" tIns="0" rIns="0" bIns="0" rtlCol="0" anchor="ctr"/>
          <a:lstStyle/>
          <a:p>
            <a:pPr indent="0" marL="0">
              <a:buNone/>
            </a:pPr>
            <a:r>
              <a:rPr lang="zh-CN" altLang="en-US" sz="1000" b="1" dirty="0">
                <a:solidFill>
                  <a:srgbClr val="0A1F44"/>
                </a:solidFill>
                <a:latin typeface="Heiti SC" pitchFamily="34" charset="0"/>
                <a:ea typeface="Heiti SC" pitchFamily="34" charset="-122"/>
                <a:cs typeface="Heiti SC" pitchFamily="34" charset="-120"/>
              </a:rPr>
              <a:t>完成验证</a:t>
            </a:r>
            <a:endParaRPr lang="zh-CN" sz="1000" dirty="0"/>
          </a:p>
        </p:txBody>
      </p:sp>
      <p:sp>
        <p:nvSpPr>
          <p:cNvPr id="24" name="Text 22: 零等待"/>
          <p:cNvSpPr/>
          <p:nvPr/>
        </p:nvSpPr>
        <p:spPr>
          <a:xfrm>
            <a:off x="10534650" y="2038350"/>
            <a:ext cx="400050" cy="158750"/>
          </a:xfrm>
          <a:prstGeom prst="rect">
            <a:avLst/>
          </a:prstGeom>
          <a:noFill/>
          <a:ln/>
        </p:spPr>
        <p:txBody>
          <a:bodyPr wrap="none" lIns="0" tIns="0" rIns="0" bIns="0" rtlCol="0" anchor="ctr"/>
          <a:lstStyle/>
          <a:p>
            <a:pPr indent="0" marL="0">
              <a:buNone/>
            </a:pPr>
            <a:r>
              <a:rPr lang="zh-CN" altLang="en-US" sz="850" dirty="0">
                <a:solidFill>
                  <a:srgbClr val="8A94A6"/>
                </a:solidFill>
                <a:latin typeface="Heiti SC" pitchFamily="34" charset="0"/>
                <a:ea typeface="Heiti SC" pitchFamily="34" charset="-122"/>
                <a:cs typeface="Heiti SC" pitchFamily="34" charset="-120"/>
              </a:rPr>
              <a:t>零等待</a:t>
            </a:r>
            <a:endParaRPr lang="zh-CN" sz="850" dirty="0"/>
          </a:p>
        </p:txBody>
      </p:sp>
      <p:sp>
        <p:nvSpPr>
          <p:cNvPr id="25" name="Text 23: 秒级响应"/>
          <p:cNvSpPr/>
          <p:nvPr/>
        </p:nvSpPr>
        <p:spPr>
          <a:xfrm>
            <a:off x="4953000" y="2980234"/>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秒级响应</a:t>
            </a:r>
            <a:endParaRPr lang="zh-CN" sz="1300" dirty="0"/>
          </a:p>
        </p:txBody>
      </p:sp>
      <p:sp>
        <p:nvSpPr>
          <p:cNvPr id="26" name="Text 24: 语音呼叫即时触达，验证零等待"/>
          <p:cNvSpPr/>
          <p:nvPr/>
        </p:nvSpPr>
        <p:spPr>
          <a:xfrm>
            <a:off x="6172200" y="2999284"/>
            <a:ext cx="194310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语音呼叫即时触达，验证零等待</a:t>
            </a:r>
            <a:endParaRPr lang="zh-CN" sz="1050" dirty="0"/>
          </a:p>
        </p:txBody>
      </p:sp>
      <p:sp>
        <p:nvSpPr>
          <p:cNvPr id="27" name="Text 25: 智能识别"/>
          <p:cNvSpPr/>
          <p:nvPr/>
        </p:nvSpPr>
        <p:spPr>
          <a:xfrm>
            <a:off x="4953000" y="4140101"/>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智能识别</a:t>
            </a:r>
            <a:endParaRPr lang="zh-CN" sz="1300" dirty="0"/>
          </a:p>
        </p:txBody>
      </p:sp>
      <p:sp>
        <p:nvSpPr>
          <p:cNvPr id="28" name="Text 26: 智能识别接听状态，自动播报"/>
          <p:cNvSpPr/>
          <p:nvPr/>
        </p:nvSpPr>
        <p:spPr>
          <a:xfrm>
            <a:off x="6172200" y="4159151"/>
            <a:ext cx="180975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智能识别接听状态，自动播报</a:t>
            </a:r>
            <a:endParaRPr lang="zh-CN" sz="1050" dirty="0"/>
          </a:p>
        </p:txBody>
      </p:sp>
      <p:sp>
        <p:nvSpPr>
          <p:cNvPr id="29" name="Text 27: 主动切换"/>
          <p:cNvSpPr/>
          <p:nvPr/>
        </p:nvSpPr>
        <p:spPr>
          <a:xfrm>
            <a:off x="4953000" y="5300067"/>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主动切换</a:t>
            </a:r>
            <a:endParaRPr lang="zh-CN" sz="1300" dirty="0"/>
          </a:p>
        </p:txBody>
      </p:sp>
      <p:sp>
        <p:nvSpPr>
          <p:cNvPr id="30" name="Text 28: 短信未达主动切换语音通道"/>
          <p:cNvSpPr/>
          <p:nvPr/>
        </p:nvSpPr>
        <p:spPr>
          <a:xfrm>
            <a:off x="6172200" y="5319117"/>
            <a:ext cx="167640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短信未达主动切换语音通道</a:t>
            </a:r>
            <a:endParaRPr lang="zh-CN" sz="1050" dirty="0"/>
          </a:p>
        </p:txBody>
      </p:sp>
      <p:sp>
        <p:nvSpPr>
          <p:cNvPr id="31" name="Text 29: 17 / 25"/>
          <p:cNvSpPr/>
          <p:nvPr/>
        </p:nvSpPr>
        <p:spPr>
          <a:xfrm>
            <a:off x="11686183" y="6591300"/>
            <a:ext cx="455017" cy="165100"/>
          </a:xfrm>
          <a:prstGeom prst="rect">
            <a:avLst/>
          </a:prstGeom>
          <a:noFill/>
          <a:ln/>
        </p:spPr>
        <p:txBody>
          <a:bodyPr wrap="none" lIns="0" tIns="0" rIns="0" bIns="0" rtlCol="0" anchor="ctr"/>
          <a:lstStyle/>
          <a:p>
            <a:pPr indent="0" marL="0">
              <a:buNone/>
            </a:pPr>
            <a:r>
              <a:rPr lang="zh-CN" altLang="en-US" sz="900" spc="38" kern="0" dirty="0">
                <a:solidFill>
                  <a:srgbClr val="8A94A6"/>
                </a:solidFill>
                <a:latin typeface="Arial" pitchFamily="34" charset="0"/>
                <a:ea typeface="Arial" pitchFamily="34" charset="-122"/>
                <a:cs typeface="Arial" pitchFamily="34" charset="-120"/>
              </a:rPr>
              <a:t>17 / 25</a:t>
            </a:r>
            <a:endParaRPr lang="zh-CN"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Users/joozo/WySync/ObBidding/wiki/pptx/UMC/build/generated/backgrounds/slide-18.png">    </p:cNvPr>
          <p:cNvPicPr>
            <a:picLocks noChangeAspect="1"/>
          </p:cNvPicPr>
          <p:nvPr/>
        </p:nvPicPr>
        <p:blipFill>
          <a:blip r:embed="rId1"/>
          <a:stretch>
            <a:fillRect/>
          </a:stretch>
        </p:blipFill>
        <p:spPr>
          <a:xfrm>
            <a:off x="0" y="0"/>
            <a:ext cx="12192000" cy="6858000"/>
          </a:xfrm>
          <a:prstGeom prst="rect">
            <a:avLst/>
          </a:prstGeom>
        </p:spPr>
      </p:pic>
      <p:sp>
        <p:nvSpPr>
          <p:cNvPr id="3" name="Text 1: 02 · 语音线路"/>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02 · 语音线路</a:t>
            </a:r>
            <a:endParaRPr lang="zh-CN" sz="1000" dirty="0"/>
          </a:p>
        </p:txBody>
      </p:sp>
      <p:sp>
        <p:nvSpPr>
          <p:cNvPr id="4" name="Text 2: 语音线路"/>
          <p:cNvSpPr/>
          <p:nvPr/>
        </p:nvSpPr>
        <p:spPr>
          <a:xfrm>
            <a:off x="609600" y="546100"/>
            <a:ext cx="1231900" cy="349250"/>
          </a:xfrm>
          <a:prstGeom prst="rect">
            <a:avLst/>
          </a:prstGeom>
          <a:noFill/>
          <a:ln/>
        </p:spPr>
        <p:txBody>
          <a:bodyPr wrap="none" lIns="0" tIns="0" rIns="0" bIns="0" rtlCol="0" anchor="ctr"/>
          <a:lstStyle/>
          <a:p>
            <a:pPr indent="0" marL="0">
              <a:buNone/>
            </a:pPr>
            <a:r>
              <a:rPr lang="zh-CN" altLang="en-US" sz="2250" b="1" spc="33" kern="0" dirty="0">
                <a:solidFill>
                  <a:srgbClr val="0A1F44"/>
                </a:solidFill>
                <a:latin typeface="Heiti SC" pitchFamily="34" charset="0"/>
                <a:ea typeface="Heiti SC" pitchFamily="34" charset="-122"/>
                <a:cs typeface="Heiti SC" pitchFamily="34" charset="-120"/>
              </a:rPr>
              <a:t>语音线路</a:t>
            </a:r>
            <a:endParaRPr lang="zh-CN" sz="2250" dirty="0"/>
          </a:p>
        </p:txBody>
      </p:sp>
      <p:sp>
        <p:nvSpPr>
          <p:cNvPr id="5" name="Text 3: 运营商级语音通道"/>
          <p:cNvSpPr/>
          <p:nvPr/>
        </p:nvSpPr>
        <p:spPr>
          <a:xfrm>
            <a:off x="1638300" y="1743075"/>
            <a:ext cx="1193800" cy="165100"/>
          </a:xfrm>
          <a:prstGeom prst="rect">
            <a:avLst/>
          </a:prstGeom>
          <a:noFill/>
          <a:ln/>
        </p:spPr>
        <p:txBody>
          <a:bodyPr wrap="none" lIns="0" tIns="0" rIns="0" bIns="0" rtlCol="0" anchor="ctr"/>
          <a:lstStyle/>
          <a:p>
            <a:pPr indent="0" marL="0">
              <a:buNone/>
            </a:pPr>
            <a:r>
              <a:rPr lang="zh-CN" altLang="en-US" sz="900" spc="229" kern="0" dirty="0">
                <a:solidFill>
                  <a:srgbClr val="919DB0"/>
                </a:solidFill>
                <a:latin typeface="Heiti SC" pitchFamily="34" charset="0"/>
                <a:ea typeface="Heiti SC" pitchFamily="34" charset="-122"/>
                <a:cs typeface="Heiti SC" pitchFamily="34" charset="-120"/>
              </a:rPr>
              <a:t>运营商级语音通道</a:t>
            </a:r>
            <a:endParaRPr lang="zh-CN" sz="900" dirty="0"/>
          </a:p>
        </p:txBody>
      </p:sp>
      <p:sp>
        <p:nvSpPr>
          <p:cNvPr id="6" name="Text 4: 关键消息，"/>
          <p:cNvSpPr/>
          <p:nvPr/>
        </p:nvSpPr>
        <p:spPr>
          <a:xfrm>
            <a:off x="914400" y="2758380"/>
            <a:ext cx="1219200" cy="292100"/>
          </a:xfrm>
          <a:prstGeom prst="rect">
            <a:avLst/>
          </a:prstGeom>
          <a:noFill/>
          <a:ln/>
        </p:spPr>
        <p:txBody>
          <a:bodyPr wrap="none" lIns="0" tIns="0" rIns="0" bIns="0" rtlCol="0" anchor="ctr"/>
          <a:lstStyle/>
          <a:p>
            <a:pPr indent="0" marL="0">
              <a:buNone/>
            </a:pPr>
            <a:r>
              <a:rPr lang="zh-CN" altLang="en-US" sz="1800" b="1" dirty="0">
                <a:solidFill>
                  <a:srgbClr val="FFFFFF"/>
                </a:solidFill>
                <a:latin typeface="Heiti SC" pitchFamily="34" charset="0"/>
                <a:ea typeface="Heiti SC" pitchFamily="34" charset="-122"/>
                <a:cs typeface="Heiti SC" pitchFamily="34" charset="-120"/>
              </a:rPr>
              <a:t>关键消息，</a:t>
            </a:r>
            <a:endParaRPr lang="zh-CN" sz="1800" dirty="0"/>
          </a:p>
        </p:txBody>
      </p:sp>
      <p:sp>
        <p:nvSpPr>
          <p:cNvPr id="7" name="Text 5: 电话直达"/>
          <p:cNvSpPr/>
          <p:nvPr/>
        </p:nvSpPr>
        <p:spPr>
          <a:xfrm>
            <a:off x="914400" y="3101280"/>
            <a:ext cx="990600" cy="292100"/>
          </a:xfrm>
          <a:prstGeom prst="rect">
            <a:avLst/>
          </a:prstGeom>
          <a:noFill/>
          <a:ln/>
        </p:spPr>
        <p:txBody>
          <a:bodyPr wrap="none" lIns="0" tIns="0" rIns="0" bIns="0" rtlCol="0" anchor="ctr"/>
          <a:lstStyle/>
          <a:p>
            <a:pPr indent="0" marL="0">
              <a:buNone/>
            </a:pPr>
            <a:r>
              <a:rPr lang="zh-CN" altLang="en-US" sz="1800" b="1" dirty="0">
                <a:solidFill>
                  <a:srgbClr val="FFFFFF"/>
                </a:solidFill>
                <a:latin typeface="Heiti SC" pitchFamily="34" charset="0"/>
                <a:ea typeface="Heiti SC" pitchFamily="34" charset="-122"/>
                <a:cs typeface="Heiti SC" pitchFamily="34" charset="-120"/>
              </a:rPr>
              <a:t>电话直达</a:t>
            </a:r>
            <a:endParaRPr lang="zh-CN" sz="1800" dirty="0"/>
          </a:p>
        </p:txBody>
      </p:sp>
      <p:sp>
        <p:nvSpPr>
          <p:cNvPr id="8" name="Text 6: 语音线路基于运营商语音通道，以电话呼入"/>
          <p:cNvSpPr/>
          <p:nvPr/>
        </p:nvSpPr>
        <p:spPr>
          <a:xfrm>
            <a:off x="914400" y="3583880"/>
            <a:ext cx="2609850" cy="177800"/>
          </a:xfrm>
          <a:prstGeom prst="rect">
            <a:avLst/>
          </a:prstGeom>
          <a:noFill/>
          <a:ln/>
        </p:spPr>
        <p:txBody>
          <a:bodyPr wrap="none" lIns="0" tIns="0" rIns="0" bIns="0" rtlCol="0" anchor="ctr"/>
          <a:lstStyle/>
          <a:p>
            <a:pPr indent="0" marL="0">
              <a:buNone/>
            </a:pPr>
            <a:r>
              <a:rPr lang="zh-CN" altLang="en-US" sz="1050" dirty="0">
                <a:solidFill>
                  <a:srgbClr val="ABB6C7"/>
                </a:solidFill>
                <a:latin typeface="Heiti SC" pitchFamily="34" charset="0"/>
                <a:ea typeface="Heiti SC" pitchFamily="34" charset="-122"/>
                <a:cs typeface="Heiti SC" pitchFamily="34" charset="-120"/>
              </a:rPr>
              <a:t>语音线路基于运营商语音通道，以电话呼入</a:t>
            </a:r>
            <a:endParaRPr lang="zh-CN" sz="1050" dirty="0"/>
          </a:p>
        </p:txBody>
      </p:sp>
      <p:sp>
        <p:nvSpPr>
          <p:cNvPr id="9" name="Text 7: 方式为企业播报通知、提醒与告警：TTS 模"/>
          <p:cNvSpPr/>
          <p:nvPr/>
        </p:nvSpPr>
        <p:spPr>
          <a:xfrm>
            <a:off x="914400" y="3830538"/>
            <a:ext cx="2622352" cy="177800"/>
          </a:xfrm>
          <a:prstGeom prst="rect">
            <a:avLst/>
          </a:prstGeom>
          <a:noFill/>
          <a:ln/>
        </p:spPr>
        <p:txBody>
          <a:bodyPr wrap="none" lIns="0" tIns="0" rIns="0" bIns="0" rtlCol="0" anchor="ctr"/>
          <a:lstStyle/>
          <a:p>
            <a:pPr indent="0" marL="0">
              <a:buNone/>
            </a:pPr>
            <a:r>
              <a:rPr lang="zh-CN" altLang="en-US" sz="1050" spc="26" kern="0" dirty="0">
                <a:solidFill>
                  <a:srgbClr val="ABB6C8"/>
                </a:solidFill>
                <a:latin typeface="Heiti SC" pitchFamily="34" charset="0"/>
                <a:ea typeface="Heiti SC" pitchFamily="34" charset="-122"/>
                <a:cs typeface="Heiti SC" pitchFamily="34" charset="-120"/>
              </a:rPr>
              <a:t>方式为企业播报通知、提醒与告警：TTS 模</a:t>
            </a:r>
            <a:endParaRPr lang="zh-CN" sz="1050" dirty="0"/>
          </a:p>
        </p:txBody>
      </p:sp>
      <p:sp>
        <p:nvSpPr>
          <p:cNvPr id="10" name="Text 8: 板化播报、状态全程回执、失败智能重拨，"/>
          <p:cNvSpPr/>
          <p:nvPr/>
        </p:nvSpPr>
        <p:spPr>
          <a:xfrm>
            <a:off x="914400" y="4077196"/>
            <a:ext cx="2609850" cy="177800"/>
          </a:xfrm>
          <a:prstGeom prst="rect">
            <a:avLst/>
          </a:prstGeom>
          <a:noFill/>
          <a:ln/>
        </p:spPr>
        <p:txBody>
          <a:bodyPr wrap="none" lIns="0" tIns="0" rIns="0" bIns="0" rtlCol="0" anchor="ctr"/>
          <a:lstStyle/>
          <a:p>
            <a:pPr indent="0" marL="0">
              <a:buNone/>
            </a:pPr>
            <a:r>
              <a:rPr lang="zh-CN" altLang="en-US" sz="1050" dirty="0">
                <a:solidFill>
                  <a:srgbClr val="ABB6C9"/>
                </a:solidFill>
                <a:latin typeface="Heiti SC" pitchFamily="34" charset="0"/>
                <a:ea typeface="Heiti SC" pitchFamily="34" charset="-122"/>
                <a:cs typeface="Heiti SC" pitchFamily="34" charset="-120"/>
              </a:rPr>
              <a:t>板化播报、状态全程回执、失败智能重拨，</a:t>
            </a:r>
            <a:endParaRPr lang="zh-CN" sz="1050" dirty="0"/>
          </a:p>
        </p:txBody>
      </p:sp>
      <p:sp>
        <p:nvSpPr>
          <p:cNvPr id="11" name="Text 9: 与短信通道互为补充，构建「必达」的消息"/>
          <p:cNvSpPr/>
          <p:nvPr/>
        </p:nvSpPr>
        <p:spPr>
          <a:xfrm>
            <a:off x="914400" y="4323854"/>
            <a:ext cx="2609850" cy="177800"/>
          </a:xfrm>
          <a:prstGeom prst="rect">
            <a:avLst/>
          </a:prstGeom>
          <a:noFill/>
          <a:ln/>
        </p:spPr>
        <p:txBody>
          <a:bodyPr wrap="none" lIns="0" tIns="0" rIns="0" bIns="0" rtlCol="0" anchor="ctr"/>
          <a:lstStyle/>
          <a:p>
            <a:pPr indent="0" marL="0">
              <a:buNone/>
            </a:pPr>
            <a:r>
              <a:rPr lang="zh-CN" altLang="en-US" sz="1050" dirty="0">
                <a:solidFill>
                  <a:srgbClr val="ABB7CA"/>
                </a:solidFill>
                <a:latin typeface="Heiti SC" pitchFamily="34" charset="0"/>
                <a:ea typeface="Heiti SC" pitchFamily="34" charset="-122"/>
                <a:cs typeface="Heiti SC" pitchFamily="34" charset="-120"/>
              </a:rPr>
              <a:t>与短信通道互为补充，构建「必达」的消息</a:t>
            </a:r>
            <a:endParaRPr lang="zh-CN" sz="1050" dirty="0"/>
          </a:p>
        </p:txBody>
      </p:sp>
      <p:sp>
        <p:nvSpPr>
          <p:cNvPr id="12" name="Text 10: 触达闭环。"/>
          <p:cNvSpPr/>
          <p:nvPr/>
        </p:nvSpPr>
        <p:spPr>
          <a:xfrm>
            <a:off x="914400" y="4570512"/>
            <a:ext cx="742950" cy="177800"/>
          </a:xfrm>
          <a:prstGeom prst="rect">
            <a:avLst/>
          </a:prstGeom>
          <a:noFill/>
          <a:ln/>
        </p:spPr>
        <p:txBody>
          <a:bodyPr wrap="none" lIns="0" tIns="0" rIns="0" bIns="0" rtlCol="0" anchor="ctr"/>
          <a:lstStyle/>
          <a:p>
            <a:pPr indent="0" marL="0">
              <a:buNone/>
            </a:pPr>
            <a:r>
              <a:rPr lang="zh-CN" altLang="en-US" sz="1050" dirty="0">
                <a:solidFill>
                  <a:srgbClr val="ABB7CA"/>
                </a:solidFill>
                <a:latin typeface="Heiti SC" pitchFamily="34" charset="0"/>
                <a:ea typeface="Heiti SC" pitchFamily="34" charset="-122"/>
                <a:cs typeface="Heiti SC" pitchFamily="34" charset="-120"/>
              </a:rPr>
              <a:t>触达闭环。</a:t>
            </a:r>
            <a:endParaRPr lang="zh-CN" sz="1050" dirty="0"/>
          </a:p>
        </p:txBody>
      </p:sp>
      <p:sp>
        <p:nvSpPr>
          <p:cNvPr id="13" name="Text 11: VOICE LINE · CALL NOTIFICATION"/>
          <p:cNvSpPr/>
          <p:nvPr/>
        </p:nvSpPr>
        <p:spPr>
          <a:xfrm>
            <a:off x="914400" y="5391150"/>
            <a:ext cx="2469158" cy="165100"/>
          </a:xfrm>
          <a:prstGeom prst="rect">
            <a:avLst/>
          </a:prstGeom>
          <a:noFill/>
          <a:ln/>
        </p:spPr>
        <p:txBody>
          <a:bodyPr wrap="none" lIns="0" tIns="0" rIns="0" bIns="0" rtlCol="0" anchor="ctr"/>
          <a:lstStyle/>
          <a:p>
            <a:pPr indent="0" marL="0">
              <a:buNone/>
            </a:pPr>
            <a:r>
              <a:rPr lang="zh-CN" altLang="en-US" sz="900" spc="145" kern="0" dirty="0">
                <a:solidFill>
                  <a:srgbClr val="7C90B1"/>
                </a:solidFill>
                <a:latin typeface="Arial" pitchFamily="34" charset="0"/>
                <a:ea typeface="Arial" pitchFamily="34" charset="-122"/>
                <a:cs typeface="Arial" pitchFamily="34" charset="-120"/>
              </a:rPr>
              <a:t>VOICE LINE · CALL NOTIFICATION</a:t>
            </a:r>
            <a:endParaRPr lang="zh-CN" sz="900" dirty="0"/>
          </a:p>
        </p:txBody>
      </p:sp>
      <p:sp>
        <p:nvSpPr>
          <p:cNvPr id="14" name="Text 12: 电话强提醒"/>
          <p:cNvSpPr/>
          <p:nvPr/>
        </p:nvSpPr>
        <p:spPr>
          <a:xfrm>
            <a:off x="4343400" y="2006600"/>
            <a:ext cx="9017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电话强提醒</a:t>
            </a:r>
            <a:endParaRPr lang="zh-CN" sz="1300" dirty="0"/>
          </a:p>
        </p:txBody>
      </p:sp>
      <p:sp>
        <p:nvSpPr>
          <p:cNvPr id="15" name="Text 13: 订单异常、风险预警、服务提醒等"/>
          <p:cNvSpPr/>
          <p:nvPr/>
        </p:nvSpPr>
        <p:spPr>
          <a:xfrm>
            <a:off x="4343400" y="2374900"/>
            <a:ext cx="1981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订单异常、风险预警、服务提醒等</a:t>
            </a:r>
            <a:endParaRPr lang="zh-CN" sz="1000" dirty="0"/>
          </a:p>
        </p:txBody>
      </p:sp>
      <p:sp>
        <p:nvSpPr>
          <p:cNvPr id="16" name="Text 14: 关键事件，以电话播报强制触达"/>
          <p:cNvSpPr/>
          <p:nvPr/>
        </p:nvSpPr>
        <p:spPr>
          <a:xfrm>
            <a:off x="4343400" y="2590800"/>
            <a:ext cx="1854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关键事件，以电话播报强制触达</a:t>
            </a:r>
            <a:endParaRPr lang="zh-CN" sz="1000" dirty="0"/>
          </a:p>
        </p:txBody>
      </p:sp>
      <p:sp>
        <p:nvSpPr>
          <p:cNvPr id="17" name="Text 15: TTS 模板播报"/>
          <p:cNvSpPr/>
          <p:nvPr/>
        </p:nvSpPr>
        <p:spPr>
          <a:xfrm>
            <a:off x="6889750" y="2006600"/>
            <a:ext cx="1092795" cy="215900"/>
          </a:xfrm>
          <a:prstGeom prst="rect">
            <a:avLst/>
          </a:prstGeom>
          <a:noFill/>
          <a:ln/>
        </p:spPr>
        <p:txBody>
          <a:bodyPr wrap="none" lIns="0" tIns="0" rIns="0" bIns="0" rtlCol="0" anchor="ctr"/>
          <a:lstStyle/>
          <a:p>
            <a:pPr indent="0" marL="0">
              <a:buNone/>
            </a:pPr>
            <a:r>
              <a:rPr lang="zh-CN" altLang="en-US" sz="1300" b="1" spc="104" kern="0" dirty="0">
                <a:solidFill>
                  <a:srgbClr val="0A1F44"/>
                </a:solidFill>
                <a:latin typeface="Heiti SC" pitchFamily="34" charset="0"/>
                <a:ea typeface="Heiti SC" pitchFamily="34" charset="-122"/>
                <a:cs typeface="Heiti SC" pitchFamily="34" charset="-120"/>
              </a:rPr>
              <a:t>TTS 模板播报</a:t>
            </a:r>
            <a:endParaRPr lang="zh-CN" sz="1300" dirty="0"/>
          </a:p>
        </p:txBody>
      </p:sp>
      <p:sp>
        <p:nvSpPr>
          <p:cNvPr id="18" name="Text 16: 文本转语音模板化播报，支持变量"/>
          <p:cNvSpPr/>
          <p:nvPr/>
        </p:nvSpPr>
        <p:spPr>
          <a:xfrm>
            <a:off x="6889750" y="2374900"/>
            <a:ext cx="1981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文本转语音模板化播报，支持变量</a:t>
            </a:r>
            <a:endParaRPr lang="zh-CN" sz="1000" dirty="0"/>
          </a:p>
        </p:txBody>
      </p:sp>
      <p:sp>
        <p:nvSpPr>
          <p:cNvPr id="19" name="Text 17: 替换、多音色选择与试听审核"/>
          <p:cNvSpPr/>
          <p:nvPr/>
        </p:nvSpPr>
        <p:spPr>
          <a:xfrm>
            <a:off x="6889750" y="2590800"/>
            <a:ext cx="1727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替换、多音色选择与试听审核</a:t>
            </a:r>
            <a:endParaRPr lang="zh-CN" sz="1000" dirty="0"/>
          </a:p>
        </p:txBody>
      </p:sp>
      <p:sp>
        <p:nvSpPr>
          <p:cNvPr id="20" name="Text 18: 按键确认"/>
          <p:cNvSpPr/>
          <p:nvPr/>
        </p:nvSpPr>
        <p:spPr>
          <a:xfrm>
            <a:off x="9436100" y="2006600"/>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按键确认</a:t>
            </a:r>
            <a:endParaRPr lang="zh-CN" sz="1300" dirty="0"/>
          </a:p>
        </p:txBody>
      </p:sp>
      <p:sp>
        <p:nvSpPr>
          <p:cNvPr id="21" name="Text 19: 支持 DTMF 按键回执，确认、拒"/>
          <p:cNvSpPr/>
          <p:nvPr/>
        </p:nvSpPr>
        <p:spPr>
          <a:xfrm>
            <a:off x="9436100" y="2374900"/>
            <a:ext cx="1874639" cy="177800"/>
          </a:xfrm>
          <a:prstGeom prst="rect">
            <a:avLst/>
          </a:prstGeom>
          <a:noFill/>
          <a:ln/>
        </p:spPr>
        <p:txBody>
          <a:bodyPr wrap="none" lIns="0" tIns="0" rIns="0" bIns="0" rtlCol="0" anchor="ctr"/>
          <a:lstStyle/>
          <a:p>
            <a:pPr indent="0" marL="0">
              <a:buNone/>
            </a:pPr>
            <a:r>
              <a:rPr lang="zh-CN" altLang="en-US" sz="1000" spc="5" kern="0" dirty="0">
                <a:solidFill>
                  <a:srgbClr val="5A6B85"/>
                </a:solidFill>
                <a:latin typeface="Heiti SC" pitchFamily="34" charset="0"/>
                <a:ea typeface="Heiti SC" pitchFamily="34" charset="-122"/>
                <a:cs typeface="Heiti SC" pitchFamily="34" charset="-120"/>
              </a:rPr>
              <a:t>支持 DTMF 按键回执，确认、拒</a:t>
            </a:r>
            <a:endParaRPr lang="zh-CN" sz="1000" dirty="0"/>
          </a:p>
        </p:txBody>
      </p:sp>
      <p:sp>
        <p:nvSpPr>
          <p:cNvPr id="22" name="Text 20: 绝、转人工状态实时回传"/>
          <p:cNvSpPr/>
          <p:nvPr/>
        </p:nvSpPr>
        <p:spPr>
          <a:xfrm>
            <a:off x="9436100" y="2590800"/>
            <a:ext cx="1473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绝、转人工状态实时回传</a:t>
            </a:r>
            <a:endParaRPr lang="zh-CN" sz="1000" dirty="0"/>
          </a:p>
        </p:txBody>
      </p:sp>
      <p:sp>
        <p:nvSpPr>
          <p:cNvPr id="23" name="Text 21: 失败重拨"/>
          <p:cNvSpPr/>
          <p:nvPr/>
        </p:nvSpPr>
        <p:spPr>
          <a:xfrm>
            <a:off x="4343400" y="4473575"/>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失败重拨</a:t>
            </a:r>
            <a:endParaRPr lang="zh-CN" sz="1300" dirty="0"/>
          </a:p>
        </p:txBody>
      </p:sp>
      <p:sp>
        <p:nvSpPr>
          <p:cNvPr id="24" name="Text 22: 未接、占线、失败按策略重拨，支"/>
          <p:cNvSpPr/>
          <p:nvPr/>
        </p:nvSpPr>
        <p:spPr>
          <a:xfrm>
            <a:off x="4343400" y="4841875"/>
            <a:ext cx="1981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未接、占线、失败按策略重拨，支</a:t>
            </a:r>
            <a:endParaRPr lang="zh-CN" sz="1000" dirty="0"/>
          </a:p>
        </p:txBody>
      </p:sp>
      <p:sp>
        <p:nvSpPr>
          <p:cNvPr id="25" name="Text 23: 持呼叫时段控制，避免无效打扰"/>
          <p:cNvSpPr/>
          <p:nvPr/>
        </p:nvSpPr>
        <p:spPr>
          <a:xfrm>
            <a:off x="4343400" y="5057775"/>
            <a:ext cx="1854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持呼叫时段控制，避免无效打扰</a:t>
            </a:r>
            <a:endParaRPr lang="zh-CN" sz="1000" dirty="0"/>
          </a:p>
        </p:txBody>
      </p:sp>
      <p:sp>
        <p:nvSpPr>
          <p:cNvPr id="26" name="Text 24: 多人轮呼"/>
          <p:cNvSpPr/>
          <p:nvPr/>
        </p:nvSpPr>
        <p:spPr>
          <a:xfrm>
            <a:off x="6889750" y="4473575"/>
            <a:ext cx="7366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多人轮呼</a:t>
            </a:r>
            <a:endParaRPr lang="zh-CN" sz="1300" dirty="0"/>
          </a:p>
        </p:txBody>
      </p:sp>
      <p:sp>
        <p:nvSpPr>
          <p:cNvPr id="27" name="Text 25: 告警场景按值班表顺序轮呼，未接"/>
          <p:cNvSpPr/>
          <p:nvPr/>
        </p:nvSpPr>
        <p:spPr>
          <a:xfrm>
            <a:off x="6889750" y="4841875"/>
            <a:ext cx="1981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告警场景按值班表顺序轮呼，未接</a:t>
            </a:r>
            <a:endParaRPr lang="zh-CN" sz="1000" dirty="0"/>
          </a:p>
        </p:txBody>
      </p:sp>
      <p:sp>
        <p:nvSpPr>
          <p:cNvPr id="28" name="Text 26: 自动升级至负责人"/>
          <p:cNvSpPr/>
          <p:nvPr/>
        </p:nvSpPr>
        <p:spPr>
          <a:xfrm>
            <a:off x="6889750" y="5057775"/>
            <a:ext cx="1092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自动升级至负责人</a:t>
            </a:r>
            <a:endParaRPr lang="zh-CN" sz="1000" dirty="0"/>
          </a:p>
        </p:txBody>
      </p:sp>
      <p:sp>
        <p:nvSpPr>
          <p:cNvPr id="29" name="Text 27: 合规可审计"/>
          <p:cNvSpPr/>
          <p:nvPr/>
        </p:nvSpPr>
        <p:spPr>
          <a:xfrm>
            <a:off x="9436100" y="4473575"/>
            <a:ext cx="9017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合规可审计</a:t>
            </a:r>
            <a:endParaRPr lang="zh-CN" sz="1300" dirty="0"/>
          </a:p>
        </p:txBody>
      </p:sp>
      <p:sp>
        <p:nvSpPr>
          <p:cNvPr id="30" name="Text 28: 模板、号码、频次、呼叫时段全程"/>
          <p:cNvSpPr/>
          <p:nvPr/>
        </p:nvSpPr>
        <p:spPr>
          <a:xfrm>
            <a:off x="9436100" y="4841875"/>
            <a:ext cx="1981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模板、号码、频次、呼叫时段全程</a:t>
            </a:r>
            <a:endParaRPr lang="zh-CN" sz="1000" dirty="0"/>
          </a:p>
        </p:txBody>
      </p:sp>
      <p:sp>
        <p:nvSpPr>
          <p:cNvPr id="31" name="Text 29: 留痕，满足企业采购审计要求"/>
          <p:cNvSpPr/>
          <p:nvPr/>
        </p:nvSpPr>
        <p:spPr>
          <a:xfrm>
            <a:off x="9436100" y="5057775"/>
            <a:ext cx="1727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留痕，满足企业采购审计要求</a:t>
            </a:r>
            <a:endParaRPr lang="zh-CN" sz="1000" dirty="0"/>
          </a:p>
        </p:txBody>
      </p:sp>
      <p:sp>
        <p:nvSpPr>
          <p:cNvPr id="32" name="Text 30: 18 / 25"/>
          <p:cNvSpPr/>
          <p:nvPr/>
        </p:nvSpPr>
        <p:spPr>
          <a:xfrm>
            <a:off x="11683802" y="6591300"/>
            <a:ext cx="457398" cy="165100"/>
          </a:xfrm>
          <a:prstGeom prst="rect">
            <a:avLst/>
          </a:prstGeom>
          <a:noFill/>
          <a:ln/>
        </p:spPr>
        <p:txBody>
          <a:bodyPr wrap="none" lIns="0" tIns="0" rIns="0" bIns="0" rtlCol="0" anchor="ctr"/>
          <a:lstStyle/>
          <a:p>
            <a:pPr indent="0" marL="0">
              <a:buNone/>
            </a:pPr>
            <a:r>
              <a:rPr lang="zh-CN" altLang="en-US" sz="900" spc="42" kern="0" dirty="0">
                <a:solidFill>
                  <a:srgbClr val="8A94A6"/>
                </a:solidFill>
                <a:latin typeface="Arial" pitchFamily="34" charset="0"/>
                <a:ea typeface="Arial" pitchFamily="34" charset="-122"/>
                <a:cs typeface="Arial" pitchFamily="34" charset="-120"/>
              </a:rPr>
              <a:t>18 / 25</a:t>
            </a:r>
            <a:endParaRPr lang="zh-CN"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Users/joozo/WySync/ObBidding/wiki/pptx/UMC/build/generated/backgrounds/slide-19.png">    </p:cNvPr>
          <p:cNvPicPr>
            <a:picLocks noChangeAspect="1"/>
          </p:cNvPicPr>
          <p:nvPr/>
        </p:nvPicPr>
        <p:blipFill>
          <a:blip r:embed="rId1"/>
          <a:stretch>
            <a:fillRect/>
          </a:stretch>
        </p:blipFill>
        <p:spPr>
          <a:xfrm>
            <a:off x="0" y="0"/>
            <a:ext cx="12192000" cy="6858000"/>
          </a:xfrm>
          <a:prstGeom prst="rect">
            <a:avLst/>
          </a:prstGeom>
        </p:spPr>
      </p:pic>
      <p:sp>
        <p:nvSpPr>
          <p:cNvPr id="3" name="Text 1: 02 · 语音线路"/>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02 · 语音线路</a:t>
            </a:r>
            <a:endParaRPr lang="zh-CN" sz="1000" dirty="0"/>
          </a:p>
        </p:txBody>
      </p:sp>
      <p:sp>
        <p:nvSpPr>
          <p:cNvPr id="4" name="Text 2: 场景与触发策略"/>
          <p:cNvSpPr/>
          <p:nvPr/>
        </p:nvSpPr>
        <p:spPr>
          <a:xfrm>
            <a:off x="609600" y="546100"/>
            <a:ext cx="2098675" cy="349250"/>
          </a:xfrm>
          <a:prstGeom prst="rect">
            <a:avLst/>
          </a:prstGeom>
          <a:noFill/>
          <a:ln/>
        </p:spPr>
        <p:txBody>
          <a:bodyPr wrap="none" lIns="0" tIns="0" rIns="0" bIns="0" rtlCol="0" anchor="ctr"/>
          <a:lstStyle/>
          <a:p>
            <a:pPr indent="0" marL="0">
              <a:buNone/>
            </a:pPr>
            <a:r>
              <a:rPr lang="zh-CN" altLang="en-US" sz="2250" b="1" spc="29" kern="0" dirty="0">
                <a:solidFill>
                  <a:srgbClr val="0A1F44"/>
                </a:solidFill>
                <a:latin typeface="Heiti SC" pitchFamily="34" charset="0"/>
                <a:ea typeface="Heiti SC" pitchFamily="34" charset="-122"/>
                <a:cs typeface="Heiti SC" pitchFamily="34" charset="-120"/>
              </a:rPr>
              <a:t>场景与触发策略</a:t>
            </a:r>
            <a:endParaRPr lang="zh-CN" sz="2250" dirty="0"/>
          </a:p>
        </p:txBody>
      </p:sp>
      <p:sp>
        <p:nvSpPr>
          <p:cNvPr id="5" name="Text 3: 订单异常强提醒"/>
          <p:cNvSpPr/>
          <p:nvPr/>
        </p:nvSpPr>
        <p:spPr>
          <a:xfrm>
            <a:off x="1409700" y="1438970"/>
            <a:ext cx="11430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订单异常强提醒</a:t>
            </a:r>
            <a:endParaRPr lang="zh-CN" sz="1200" dirty="0"/>
          </a:p>
        </p:txBody>
      </p:sp>
      <p:sp>
        <p:nvSpPr>
          <p:cNvPr id="6" name="Text 4: 付款超时、派送失败、预约临期等「必须处理」事件，电话播报及"/>
          <p:cNvSpPr/>
          <p:nvPr/>
        </p:nvSpPr>
        <p:spPr>
          <a:xfrm>
            <a:off x="1409700" y="1686620"/>
            <a:ext cx="3575050" cy="171450"/>
          </a:xfrm>
          <a:prstGeom prst="rect">
            <a:avLst/>
          </a:prstGeom>
          <a:noFill/>
          <a:ln/>
        </p:spPr>
        <p:txBody>
          <a:bodyPr wrap="none" lIns="0" tIns="0" rIns="0" bIns="0" rtlCol="0" anchor="ctr"/>
          <a:lstStyle/>
          <a:p>
            <a:pPr indent="0" marL="0">
              <a:buNone/>
            </a:pPr>
            <a:r>
              <a:rPr lang="zh-CN" altLang="en-US" sz="950" dirty="0">
                <a:solidFill>
                  <a:srgbClr val="5A6B85"/>
                </a:solidFill>
                <a:latin typeface="Heiti SC" pitchFamily="34" charset="0"/>
                <a:ea typeface="Heiti SC" pitchFamily="34" charset="-122"/>
                <a:cs typeface="Heiti SC" pitchFamily="34" charset="-120"/>
              </a:rPr>
              <a:t>付款超时、派送失败、预约临期等「必须处理」事件，电话播报及</a:t>
            </a:r>
            <a:endParaRPr lang="zh-CN" sz="950" dirty="0"/>
          </a:p>
        </p:txBody>
      </p:sp>
      <p:sp>
        <p:nvSpPr>
          <p:cNvPr id="7" name="Text 5: 时触达，支持订单号、金额、预约时间变量播报"/>
          <p:cNvSpPr/>
          <p:nvPr/>
        </p:nvSpPr>
        <p:spPr>
          <a:xfrm>
            <a:off x="1409700" y="1879600"/>
            <a:ext cx="2609850" cy="171450"/>
          </a:xfrm>
          <a:prstGeom prst="rect">
            <a:avLst/>
          </a:prstGeom>
          <a:noFill/>
          <a:ln/>
        </p:spPr>
        <p:txBody>
          <a:bodyPr wrap="none" lIns="0" tIns="0" rIns="0" bIns="0" rtlCol="0" anchor="ctr"/>
          <a:lstStyle/>
          <a:p>
            <a:pPr indent="0" marL="0">
              <a:buNone/>
            </a:pPr>
            <a:r>
              <a:rPr lang="zh-CN" altLang="en-US" sz="950" dirty="0">
                <a:solidFill>
                  <a:srgbClr val="5A6B85"/>
                </a:solidFill>
                <a:latin typeface="Heiti SC" pitchFamily="34" charset="0"/>
                <a:ea typeface="Heiti SC" pitchFamily="34" charset="-122"/>
                <a:cs typeface="Heiti SC" pitchFamily="34" charset="-120"/>
              </a:rPr>
              <a:t>时触达，支持订单号、金额、预约时间变量播报</a:t>
            </a:r>
            <a:endParaRPr lang="zh-CN" sz="950" dirty="0"/>
          </a:p>
        </p:txBody>
      </p:sp>
      <p:sp>
        <p:nvSpPr>
          <p:cNvPr id="8" name="Text 6: 92.8%"/>
          <p:cNvSpPr/>
          <p:nvPr/>
        </p:nvSpPr>
        <p:spPr>
          <a:xfrm>
            <a:off x="5102721" y="1520825"/>
            <a:ext cx="771029" cy="292100"/>
          </a:xfrm>
          <a:prstGeom prst="rect">
            <a:avLst/>
          </a:prstGeom>
          <a:noFill/>
          <a:ln/>
        </p:spPr>
        <p:txBody>
          <a:bodyPr wrap="none" lIns="0" tIns="0" rIns="0" bIns="0" rtlCol="0" anchor="ctr"/>
          <a:lstStyle/>
          <a:p>
            <a:pPr indent="0" marL="0">
              <a:buNone/>
            </a:pPr>
            <a:r>
              <a:rPr lang="zh-CN" altLang="en-US" sz="1800" b="1" spc="92" kern="0" dirty="0">
                <a:solidFill>
                  <a:srgbClr val="F02D4E"/>
                </a:solidFill>
                <a:latin typeface="Arial" pitchFamily="34" charset="0"/>
                <a:ea typeface="Arial" pitchFamily="34" charset="-122"/>
                <a:cs typeface="Arial" pitchFamily="34" charset="-120"/>
              </a:rPr>
              <a:t>92.8%</a:t>
            </a:r>
            <a:endParaRPr lang="zh-CN" sz="1800" dirty="0"/>
          </a:p>
        </p:txBody>
      </p:sp>
      <p:sp>
        <p:nvSpPr>
          <p:cNvPr id="9" name="Text 7: 关键提醒接通率"/>
          <p:cNvSpPr/>
          <p:nvPr/>
        </p:nvSpPr>
        <p:spPr>
          <a:xfrm>
            <a:off x="5086350" y="1819275"/>
            <a:ext cx="787400" cy="146050"/>
          </a:xfrm>
          <a:prstGeom prst="rect">
            <a:avLst/>
          </a:prstGeom>
          <a:noFill/>
          <a:ln/>
        </p:spPr>
        <p:txBody>
          <a:bodyPr wrap="none" lIns="0" tIns="0" rIns="0" bIns="0" rtlCol="0" anchor="ctr"/>
          <a:lstStyle/>
          <a:p>
            <a:pPr indent="0" marL="0">
              <a:buNone/>
            </a:pPr>
            <a:r>
              <a:rPr lang="zh-CN" altLang="en-US" sz="800" dirty="0">
                <a:solidFill>
                  <a:srgbClr val="8A94A6"/>
                </a:solidFill>
                <a:latin typeface="Heiti SC" pitchFamily="34" charset="0"/>
                <a:ea typeface="Heiti SC" pitchFamily="34" charset="-122"/>
                <a:cs typeface="Heiti SC" pitchFamily="34" charset="-120"/>
              </a:rPr>
              <a:t>关键提醒接通率</a:t>
            </a:r>
            <a:endParaRPr lang="zh-CN" sz="800" dirty="0"/>
          </a:p>
        </p:txBody>
      </p:sp>
      <p:sp>
        <p:nvSpPr>
          <p:cNvPr id="10" name="Text 8: 金融账单提醒"/>
          <p:cNvSpPr/>
          <p:nvPr/>
        </p:nvSpPr>
        <p:spPr>
          <a:xfrm>
            <a:off x="1409700" y="2759770"/>
            <a:ext cx="9906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金融账单提醒</a:t>
            </a:r>
            <a:endParaRPr lang="zh-CN" sz="1200" dirty="0"/>
          </a:p>
        </p:txBody>
      </p:sp>
      <p:sp>
        <p:nvSpPr>
          <p:cNvPr id="11" name="Text 9: 账单提醒只靠短信易被漏看，语音作为补充提醒，按键确认形成业务"/>
          <p:cNvSpPr/>
          <p:nvPr/>
        </p:nvSpPr>
        <p:spPr>
          <a:xfrm>
            <a:off x="1409700" y="3007420"/>
            <a:ext cx="3695700" cy="171450"/>
          </a:xfrm>
          <a:prstGeom prst="rect">
            <a:avLst/>
          </a:prstGeom>
          <a:noFill/>
          <a:ln/>
        </p:spPr>
        <p:txBody>
          <a:bodyPr wrap="none" lIns="0" tIns="0" rIns="0" bIns="0" rtlCol="0" anchor="ctr"/>
          <a:lstStyle/>
          <a:p>
            <a:pPr indent="0" marL="0">
              <a:buNone/>
            </a:pPr>
            <a:r>
              <a:rPr lang="zh-CN" altLang="en-US" sz="950" dirty="0">
                <a:solidFill>
                  <a:srgbClr val="5A6B85"/>
                </a:solidFill>
                <a:latin typeface="Heiti SC" pitchFamily="34" charset="0"/>
                <a:ea typeface="Heiti SC" pitchFamily="34" charset="-122"/>
                <a:cs typeface="Heiti SC" pitchFamily="34" charset="-120"/>
              </a:rPr>
              <a:t>账单提醒只靠短信易被漏看，语音作为补充提醒，按键确认形成业务</a:t>
            </a:r>
            <a:endParaRPr lang="zh-CN" sz="950" dirty="0"/>
          </a:p>
        </p:txBody>
      </p:sp>
      <p:sp>
        <p:nvSpPr>
          <p:cNvPr id="12" name="Text 10: 闭环，回执全部入库可查"/>
          <p:cNvSpPr/>
          <p:nvPr/>
        </p:nvSpPr>
        <p:spPr>
          <a:xfrm>
            <a:off x="1409700" y="3200400"/>
            <a:ext cx="1403350" cy="171450"/>
          </a:xfrm>
          <a:prstGeom prst="rect">
            <a:avLst/>
          </a:prstGeom>
          <a:noFill/>
          <a:ln/>
        </p:spPr>
        <p:txBody>
          <a:bodyPr wrap="none" lIns="0" tIns="0" rIns="0" bIns="0" rtlCol="0" anchor="ctr"/>
          <a:lstStyle/>
          <a:p>
            <a:pPr indent="0" marL="0">
              <a:buNone/>
            </a:pPr>
            <a:r>
              <a:rPr lang="zh-CN" altLang="en-US" sz="950" dirty="0">
                <a:solidFill>
                  <a:srgbClr val="5A6B85"/>
                </a:solidFill>
                <a:latin typeface="Heiti SC" pitchFamily="34" charset="0"/>
                <a:ea typeface="Heiti SC" pitchFamily="34" charset="-122"/>
                <a:cs typeface="Heiti SC" pitchFamily="34" charset="-120"/>
              </a:rPr>
              <a:t>闭环，回执全部入库可查</a:t>
            </a:r>
            <a:endParaRPr lang="zh-CN" sz="950" dirty="0"/>
          </a:p>
        </p:txBody>
      </p:sp>
      <p:sp>
        <p:nvSpPr>
          <p:cNvPr id="13" name="Text 11: -36%"/>
          <p:cNvSpPr/>
          <p:nvPr/>
        </p:nvSpPr>
        <p:spPr>
          <a:xfrm>
            <a:off x="5226645" y="2841625"/>
            <a:ext cx="647105" cy="292100"/>
          </a:xfrm>
          <a:prstGeom prst="rect">
            <a:avLst/>
          </a:prstGeom>
          <a:noFill/>
          <a:ln/>
        </p:spPr>
        <p:txBody>
          <a:bodyPr wrap="none" lIns="0" tIns="0" rIns="0" bIns="0" rtlCol="0" anchor="ctr"/>
          <a:lstStyle/>
          <a:p>
            <a:pPr indent="0" marL="0">
              <a:buNone/>
            </a:pPr>
            <a:r>
              <a:rPr lang="zh-CN" altLang="en-US" sz="1800" b="1" spc="98" kern="0" dirty="0">
                <a:solidFill>
                  <a:srgbClr val="F02D4E"/>
                </a:solidFill>
                <a:latin typeface="Arial" pitchFamily="34" charset="0"/>
                <a:ea typeface="Arial" pitchFamily="34" charset="-122"/>
                <a:cs typeface="Arial" pitchFamily="34" charset="-120"/>
              </a:rPr>
              <a:t>-36%</a:t>
            </a:r>
            <a:endParaRPr lang="zh-CN" sz="1800" dirty="0"/>
          </a:p>
        </p:txBody>
      </p:sp>
      <p:sp>
        <p:nvSpPr>
          <p:cNvPr id="14" name="Text 12: 漏看提醒下降"/>
          <p:cNvSpPr/>
          <p:nvPr/>
        </p:nvSpPr>
        <p:spPr>
          <a:xfrm>
            <a:off x="5187950" y="3140075"/>
            <a:ext cx="685800" cy="146050"/>
          </a:xfrm>
          <a:prstGeom prst="rect">
            <a:avLst/>
          </a:prstGeom>
          <a:noFill/>
          <a:ln/>
        </p:spPr>
        <p:txBody>
          <a:bodyPr wrap="none" lIns="0" tIns="0" rIns="0" bIns="0" rtlCol="0" anchor="ctr"/>
          <a:lstStyle/>
          <a:p>
            <a:pPr indent="0" marL="0">
              <a:buNone/>
            </a:pPr>
            <a:r>
              <a:rPr lang="zh-CN" altLang="en-US" sz="800" dirty="0">
                <a:solidFill>
                  <a:srgbClr val="8A94A6"/>
                </a:solidFill>
                <a:latin typeface="Heiti SC" pitchFamily="34" charset="0"/>
                <a:ea typeface="Heiti SC" pitchFamily="34" charset="-122"/>
                <a:cs typeface="Heiti SC" pitchFamily="34" charset="-120"/>
              </a:rPr>
              <a:t>漏看提醒下降</a:t>
            </a:r>
            <a:endParaRPr lang="zh-CN" sz="800" dirty="0"/>
          </a:p>
        </p:txBody>
      </p:sp>
      <p:sp>
        <p:nvSpPr>
          <p:cNvPr id="15" name="Text 13: 告警值班轮呼"/>
          <p:cNvSpPr/>
          <p:nvPr/>
        </p:nvSpPr>
        <p:spPr>
          <a:xfrm>
            <a:off x="1409700" y="4080570"/>
            <a:ext cx="9906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告警值班轮呼</a:t>
            </a:r>
            <a:endParaRPr lang="zh-CN" sz="1200" dirty="0"/>
          </a:p>
        </p:txBody>
      </p:sp>
      <p:sp>
        <p:nvSpPr>
          <p:cNvPr id="16" name="Text 14: P1 告警直接语音呼叫值班人，未接按策略自动升级负责人，比 "/>
          <p:cNvSpPr/>
          <p:nvPr/>
        </p:nvSpPr>
        <p:spPr>
          <a:xfrm>
            <a:off x="1409700" y="4328220"/>
            <a:ext cx="3687068" cy="171450"/>
          </a:xfrm>
          <a:prstGeom prst="rect">
            <a:avLst/>
          </a:prstGeom>
          <a:noFill/>
          <a:ln/>
        </p:spPr>
        <p:txBody>
          <a:bodyPr wrap="none" lIns="0" tIns="0" rIns="0" bIns="0" rtlCol="0" anchor="ctr"/>
          <a:lstStyle/>
          <a:p>
            <a:pPr indent="0" marL="0">
              <a:buNone/>
            </a:pPr>
            <a:r>
              <a:rPr lang="zh-CN" altLang="en-US" sz="950" spc="-3" kern="0" dirty="0">
                <a:solidFill>
                  <a:srgbClr val="5A6B85"/>
                </a:solidFill>
                <a:latin typeface="Heiti SC" pitchFamily="34" charset="0"/>
                <a:ea typeface="Heiti SC" pitchFamily="34" charset="-122"/>
                <a:cs typeface="Heiti SC" pitchFamily="34" charset="-120"/>
              </a:rPr>
              <a:t>P1 告警直接语音呼叫值班人，未接按策略自动升级负责人，比 IM 群</a:t>
            </a:r>
            <a:endParaRPr lang="zh-CN" sz="950" dirty="0"/>
          </a:p>
        </p:txBody>
      </p:sp>
      <p:sp>
        <p:nvSpPr>
          <p:cNvPr id="17" name="Text 15: 提醒更可靠"/>
          <p:cNvSpPr/>
          <p:nvPr/>
        </p:nvSpPr>
        <p:spPr>
          <a:xfrm>
            <a:off x="1409700" y="4521200"/>
            <a:ext cx="679450" cy="171450"/>
          </a:xfrm>
          <a:prstGeom prst="rect">
            <a:avLst/>
          </a:prstGeom>
          <a:noFill/>
          <a:ln/>
        </p:spPr>
        <p:txBody>
          <a:bodyPr wrap="none" lIns="0" tIns="0" rIns="0" bIns="0" rtlCol="0" anchor="ctr"/>
          <a:lstStyle/>
          <a:p>
            <a:pPr indent="0" marL="0">
              <a:buNone/>
            </a:pPr>
            <a:r>
              <a:rPr lang="zh-CN" altLang="en-US" sz="950" dirty="0">
                <a:solidFill>
                  <a:srgbClr val="5A6B85"/>
                </a:solidFill>
                <a:latin typeface="Heiti SC" pitchFamily="34" charset="0"/>
                <a:ea typeface="Heiti SC" pitchFamily="34" charset="-122"/>
                <a:cs typeface="Heiti SC" pitchFamily="34" charset="-120"/>
              </a:rPr>
              <a:t>提醒更可靠</a:t>
            </a:r>
            <a:endParaRPr lang="zh-CN" sz="950" dirty="0"/>
          </a:p>
        </p:txBody>
      </p:sp>
      <p:sp>
        <p:nvSpPr>
          <p:cNvPr id="18" name="Text 16: 0"/>
          <p:cNvSpPr/>
          <p:nvPr/>
        </p:nvSpPr>
        <p:spPr>
          <a:xfrm>
            <a:off x="5661025" y="4162425"/>
            <a:ext cx="212725" cy="292100"/>
          </a:xfrm>
          <a:prstGeom prst="rect">
            <a:avLst/>
          </a:prstGeom>
          <a:noFill/>
          <a:ln/>
        </p:spPr>
        <p:txBody>
          <a:bodyPr wrap="none" lIns="0" tIns="0" rIns="0" bIns="0" rtlCol="0" anchor="ctr"/>
          <a:lstStyle/>
          <a:p>
            <a:pPr indent="0" marL="0">
              <a:buNone/>
            </a:pPr>
            <a:r>
              <a:rPr lang="zh-CN" altLang="en-US" sz="1800" b="1" dirty="0">
                <a:solidFill>
                  <a:srgbClr val="F02D4E"/>
                </a:solidFill>
                <a:latin typeface="Arial" pitchFamily="34" charset="0"/>
                <a:ea typeface="Arial" pitchFamily="34" charset="-122"/>
                <a:cs typeface="Arial" pitchFamily="34" charset="-120"/>
              </a:rPr>
              <a:t>0</a:t>
            </a:r>
            <a:endParaRPr lang="zh-CN" sz="1800" dirty="0"/>
          </a:p>
        </p:txBody>
      </p:sp>
      <p:sp>
        <p:nvSpPr>
          <p:cNvPr id="19" name="Text 17: 漏处理告警"/>
          <p:cNvSpPr/>
          <p:nvPr/>
        </p:nvSpPr>
        <p:spPr>
          <a:xfrm>
            <a:off x="5289550" y="4460875"/>
            <a:ext cx="584200" cy="146050"/>
          </a:xfrm>
          <a:prstGeom prst="rect">
            <a:avLst/>
          </a:prstGeom>
          <a:noFill/>
          <a:ln/>
        </p:spPr>
        <p:txBody>
          <a:bodyPr wrap="none" lIns="0" tIns="0" rIns="0" bIns="0" rtlCol="0" anchor="ctr"/>
          <a:lstStyle/>
          <a:p>
            <a:pPr indent="0" marL="0">
              <a:buNone/>
            </a:pPr>
            <a:r>
              <a:rPr lang="zh-CN" altLang="en-US" sz="800" dirty="0">
                <a:solidFill>
                  <a:srgbClr val="8A94A6"/>
                </a:solidFill>
                <a:latin typeface="Heiti SC" pitchFamily="34" charset="0"/>
                <a:ea typeface="Heiti SC" pitchFamily="34" charset="-122"/>
                <a:cs typeface="Heiti SC" pitchFamily="34" charset="-120"/>
              </a:rPr>
              <a:t>漏处理告警</a:t>
            </a:r>
            <a:endParaRPr lang="zh-CN" sz="800" dirty="0"/>
          </a:p>
        </p:txBody>
      </p:sp>
      <p:sp>
        <p:nvSpPr>
          <p:cNvPr id="20" name="Text 18: 语音线路 vs 短信单通道"/>
          <p:cNvSpPr/>
          <p:nvPr/>
        </p:nvSpPr>
        <p:spPr>
          <a:xfrm>
            <a:off x="6445250" y="1390650"/>
            <a:ext cx="1675606" cy="203200"/>
          </a:xfrm>
          <a:prstGeom prst="rect">
            <a:avLst/>
          </a:prstGeom>
          <a:noFill/>
          <a:ln/>
        </p:spPr>
        <p:txBody>
          <a:bodyPr wrap="none" lIns="0" tIns="0" rIns="0" bIns="0" rtlCol="0" anchor="ctr"/>
          <a:lstStyle/>
          <a:p>
            <a:pPr indent="0" marL="0">
              <a:buNone/>
            </a:pPr>
            <a:r>
              <a:rPr lang="zh-CN" altLang="en-US" sz="1200" b="1" spc="5" kern="0" dirty="0">
                <a:solidFill>
                  <a:srgbClr val="0A1F44"/>
                </a:solidFill>
                <a:latin typeface="Heiti SC" pitchFamily="34" charset="0"/>
                <a:ea typeface="Heiti SC" pitchFamily="34" charset="-122"/>
                <a:cs typeface="Heiti SC" pitchFamily="34" charset="-120"/>
              </a:rPr>
              <a:t>语音线路 vs 短信单通道</a:t>
            </a:r>
            <a:endParaRPr lang="zh-CN" sz="1200" dirty="0"/>
          </a:p>
        </p:txBody>
      </p:sp>
      <p:sp>
        <p:nvSpPr>
          <p:cNvPr id="21" name="Text 19: COMPARISON"/>
          <p:cNvSpPr/>
          <p:nvPr/>
        </p:nvSpPr>
        <p:spPr>
          <a:xfrm>
            <a:off x="8146256" y="1435100"/>
            <a:ext cx="899319" cy="146050"/>
          </a:xfrm>
          <a:prstGeom prst="rect">
            <a:avLst/>
          </a:prstGeom>
          <a:noFill/>
          <a:ln/>
        </p:spPr>
        <p:txBody>
          <a:bodyPr wrap="none" lIns="0" tIns="0" rIns="0" bIns="0" rtlCol="0" anchor="ctr"/>
          <a:lstStyle/>
          <a:p>
            <a:pPr indent="0" marL="0">
              <a:buNone/>
            </a:pPr>
            <a:r>
              <a:rPr lang="zh-CN" altLang="en-US" sz="800" spc="119" kern="0" dirty="0">
                <a:solidFill>
                  <a:srgbClr val="8A94A6"/>
                </a:solidFill>
                <a:latin typeface="Arial" pitchFamily="34" charset="0"/>
                <a:ea typeface="Arial" pitchFamily="34" charset="-122"/>
                <a:cs typeface="Arial" pitchFamily="34" charset="-120"/>
              </a:rPr>
              <a:t>COMPARISON</a:t>
            </a:r>
            <a:endParaRPr lang="zh-CN" sz="800" dirty="0"/>
          </a:p>
        </p:txBody>
      </p:sp>
      <p:sp>
        <p:nvSpPr>
          <p:cNvPr id="22" name="Text 20: 对比维度"/>
          <p:cNvSpPr/>
          <p:nvPr/>
        </p:nvSpPr>
        <p:spPr>
          <a:xfrm>
            <a:off x="6445250" y="1746250"/>
            <a:ext cx="533400" cy="158750"/>
          </a:xfrm>
          <a:prstGeom prst="rect">
            <a:avLst/>
          </a:prstGeom>
          <a:noFill/>
          <a:ln/>
        </p:spPr>
        <p:txBody>
          <a:bodyPr wrap="none" lIns="0" tIns="0" rIns="0" bIns="0" rtlCol="0" anchor="ctr"/>
          <a:lstStyle/>
          <a:p>
            <a:pPr indent="0" marL="0">
              <a:buNone/>
            </a:pPr>
            <a:r>
              <a:rPr lang="zh-CN" altLang="en-US" sz="850" b="1" spc="67" kern="0" dirty="0">
                <a:solidFill>
                  <a:srgbClr val="5A6B85"/>
                </a:solidFill>
                <a:latin typeface="Heiti SC" pitchFamily="34" charset="0"/>
                <a:ea typeface="Heiti SC" pitchFamily="34" charset="-122"/>
                <a:cs typeface="Heiti SC" pitchFamily="34" charset="-120"/>
              </a:rPr>
              <a:t>对比维度</a:t>
            </a:r>
            <a:endParaRPr lang="zh-CN" sz="850" dirty="0"/>
          </a:p>
        </p:txBody>
      </p:sp>
      <p:sp>
        <p:nvSpPr>
          <p:cNvPr id="23" name="Text 21: 语音线路"/>
          <p:cNvSpPr/>
          <p:nvPr/>
        </p:nvSpPr>
        <p:spPr>
          <a:xfrm>
            <a:off x="7397750" y="1746250"/>
            <a:ext cx="533400" cy="158750"/>
          </a:xfrm>
          <a:prstGeom prst="rect">
            <a:avLst/>
          </a:prstGeom>
          <a:noFill/>
          <a:ln/>
        </p:spPr>
        <p:txBody>
          <a:bodyPr wrap="none" lIns="0" tIns="0" rIns="0" bIns="0" rtlCol="0" anchor="ctr"/>
          <a:lstStyle/>
          <a:p>
            <a:pPr indent="0" marL="0">
              <a:buNone/>
            </a:pPr>
            <a:r>
              <a:rPr lang="zh-CN" altLang="en-US" sz="850" b="1" spc="67" kern="0" dirty="0">
                <a:solidFill>
                  <a:srgbClr val="0A1F44"/>
                </a:solidFill>
                <a:latin typeface="Heiti SC" pitchFamily="34" charset="0"/>
                <a:ea typeface="Heiti SC" pitchFamily="34" charset="-122"/>
                <a:cs typeface="Heiti SC" pitchFamily="34" charset="-120"/>
              </a:rPr>
              <a:t>语音线路</a:t>
            </a:r>
            <a:endParaRPr lang="zh-CN" sz="850" dirty="0"/>
          </a:p>
        </p:txBody>
      </p:sp>
      <p:sp>
        <p:nvSpPr>
          <p:cNvPr id="24" name="Text 22: 短信单通道"/>
          <p:cNvSpPr/>
          <p:nvPr/>
        </p:nvSpPr>
        <p:spPr>
          <a:xfrm>
            <a:off x="9493349" y="1746250"/>
            <a:ext cx="647700" cy="158750"/>
          </a:xfrm>
          <a:prstGeom prst="rect">
            <a:avLst/>
          </a:prstGeom>
          <a:noFill/>
          <a:ln/>
        </p:spPr>
        <p:txBody>
          <a:bodyPr wrap="none" lIns="0" tIns="0" rIns="0" bIns="0" rtlCol="0" anchor="ctr"/>
          <a:lstStyle/>
          <a:p>
            <a:pPr indent="0" marL="0">
              <a:buNone/>
            </a:pPr>
            <a:r>
              <a:rPr lang="zh-CN" altLang="en-US" sz="850" spc="63" kern="0" dirty="0">
                <a:solidFill>
                  <a:srgbClr val="8A94A6"/>
                </a:solidFill>
                <a:latin typeface="Heiti SC" pitchFamily="34" charset="0"/>
                <a:ea typeface="Heiti SC" pitchFamily="34" charset="-122"/>
                <a:cs typeface="Heiti SC" pitchFamily="34" charset="-120"/>
              </a:rPr>
              <a:t>短信单通道</a:t>
            </a:r>
            <a:endParaRPr lang="zh-CN" sz="850" dirty="0"/>
          </a:p>
        </p:txBody>
      </p:sp>
      <p:sp>
        <p:nvSpPr>
          <p:cNvPr id="25" name="Text 23: 提醒强度"/>
          <p:cNvSpPr/>
          <p:nvPr/>
        </p:nvSpPr>
        <p:spPr>
          <a:xfrm>
            <a:off x="6445250" y="2179241"/>
            <a:ext cx="558800" cy="171450"/>
          </a:xfrm>
          <a:prstGeom prst="rect">
            <a:avLst/>
          </a:prstGeom>
          <a:noFill/>
          <a:ln/>
        </p:spPr>
        <p:txBody>
          <a:bodyPr wrap="none" lIns="0" tIns="0" rIns="0" bIns="0" rtlCol="0" anchor="ctr"/>
          <a:lstStyle/>
          <a:p>
            <a:pPr indent="0" marL="0">
              <a:buNone/>
            </a:pPr>
            <a:r>
              <a:rPr lang="zh-CN" altLang="en-US" sz="950" b="1" dirty="0">
                <a:solidFill>
                  <a:srgbClr val="5A6B85"/>
                </a:solidFill>
                <a:latin typeface="Heiti SC" pitchFamily="34" charset="0"/>
                <a:ea typeface="Heiti SC" pitchFamily="34" charset="-122"/>
                <a:cs typeface="Heiti SC" pitchFamily="34" charset="-120"/>
              </a:rPr>
              <a:t>提醒强度</a:t>
            </a:r>
            <a:endParaRPr lang="zh-CN" sz="950" dirty="0"/>
          </a:p>
        </p:txBody>
      </p:sp>
      <p:sp>
        <p:nvSpPr>
          <p:cNvPr id="26" name="Text 24: 电话呼入播报"/>
          <p:cNvSpPr/>
          <p:nvPr/>
        </p:nvSpPr>
        <p:spPr>
          <a:xfrm>
            <a:off x="7512050" y="2179241"/>
            <a:ext cx="800100" cy="171450"/>
          </a:xfrm>
          <a:prstGeom prst="rect">
            <a:avLst/>
          </a:prstGeom>
          <a:noFill/>
          <a:ln/>
        </p:spPr>
        <p:txBody>
          <a:bodyPr wrap="none" lIns="0" tIns="0" rIns="0" bIns="0" rtlCol="0" anchor="ctr"/>
          <a:lstStyle/>
          <a:p>
            <a:pPr indent="0" marL="0">
              <a:buNone/>
            </a:pPr>
            <a:r>
              <a:rPr lang="zh-CN" altLang="en-US" sz="950" b="1" dirty="0">
                <a:solidFill>
                  <a:srgbClr val="0A1F44"/>
                </a:solidFill>
                <a:latin typeface="Heiti SC" pitchFamily="34" charset="0"/>
                <a:ea typeface="Heiti SC" pitchFamily="34" charset="-122"/>
                <a:cs typeface="Heiti SC" pitchFamily="34" charset="-120"/>
              </a:rPr>
              <a:t>电话呼入播报</a:t>
            </a:r>
            <a:endParaRPr lang="zh-CN" sz="950" dirty="0"/>
          </a:p>
        </p:txBody>
      </p:sp>
      <p:sp>
        <p:nvSpPr>
          <p:cNvPr id="27" name="Text 25: 用户需主动查看"/>
          <p:cNvSpPr/>
          <p:nvPr/>
        </p:nvSpPr>
        <p:spPr>
          <a:xfrm>
            <a:off x="9493349" y="2179241"/>
            <a:ext cx="920750" cy="171450"/>
          </a:xfrm>
          <a:prstGeom prst="rect">
            <a:avLst/>
          </a:prstGeom>
          <a:noFill/>
          <a:ln/>
        </p:spPr>
        <p:txBody>
          <a:bodyPr wrap="none" lIns="0" tIns="0" rIns="0" bIns="0" rtlCol="0" anchor="ctr"/>
          <a:lstStyle/>
          <a:p>
            <a:pPr indent="0" marL="0">
              <a:buNone/>
            </a:pPr>
            <a:r>
              <a:rPr lang="zh-CN" altLang="en-US" sz="950" dirty="0">
                <a:solidFill>
                  <a:srgbClr val="8A94A6"/>
                </a:solidFill>
                <a:latin typeface="Heiti SC" pitchFamily="34" charset="0"/>
                <a:ea typeface="Heiti SC" pitchFamily="34" charset="-122"/>
                <a:cs typeface="Heiti SC" pitchFamily="34" charset="-120"/>
              </a:rPr>
              <a:t>用户需主动查看</a:t>
            </a:r>
            <a:endParaRPr lang="zh-CN" sz="950" dirty="0"/>
          </a:p>
        </p:txBody>
      </p:sp>
      <p:sp>
        <p:nvSpPr>
          <p:cNvPr id="28" name="Text 26: 接收状态"/>
          <p:cNvSpPr/>
          <p:nvPr/>
        </p:nvSpPr>
        <p:spPr>
          <a:xfrm>
            <a:off x="6445250" y="2734270"/>
            <a:ext cx="558800" cy="171450"/>
          </a:xfrm>
          <a:prstGeom prst="rect">
            <a:avLst/>
          </a:prstGeom>
          <a:noFill/>
          <a:ln/>
        </p:spPr>
        <p:txBody>
          <a:bodyPr wrap="none" lIns="0" tIns="0" rIns="0" bIns="0" rtlCol="0" anchor="ctr"/>
          <a:lstStyle/>
          <a:p>
            <a:pPr indent="0" marL="0">
              <a:buNone/>
            </a:pPr>
            <a:r>
              <a:rPr lang="zh-CN" altLang="en-US" sz="950" b="1" dirty="0">
                <a:solidFill>
                  <a:srgbClr val="5A6B85"/>
                </a:solidFill>
                <a:latin typeface="Heiti SC" pitchFamily="34" charset="0"/>
                <a:ea typeface="Heiti SC" pitchFamily="34" charset="-122"/>
                <a:cs typeface="Heiti SC" pitchFamily="34" charset="-120"/>
              </a:rPr>
              <a:t>接收状态</a:t>
            </a:r>
            <a:endParaRPr lang="zh-CN" sz="950" dirty="0"/>
          </a:p>
        </p:txBody>
      </p:sp>
      <p:sp>
        <p:nvSpPr>
          <p:cNvPr id="29" name="Text 27: 接通 / 未接 / 拒接"/>
          <p:cNvSpPr/>
          <p:nvPr/>
        </p:nvSpPr>
        <p:spPr>
          <a:xfrm>
            <a:off x="7512050" y="2734270"/>
            <a:ext cx="966887" cy="171450"/>
          </a:xfrm>
          <a:prstGeom prst="rect">
            <a:avLst/>
          </a:prstGeom>
          <a:noFill/>
          <a:ln/>
        </p:spPr>
        <p:txBody>
          <a:bodyPr wrap="none" lIns="0" tIns="0" rIns="0" bIns="0" rtlCol="0" anchor="ctr"/>
          <a:lstStyle/>
          <a:p>
            <a:pPr indent="0" marL="0">
              <a:buNone/>
            </a:pPr>
            <a:r>
              <a:rPr lang="zh-CN" altLang="en-US" sz="950" b="1" spc="-42" kern="0" dirty="0">
                <a:solidFill>
                  <a:srgbClr val="0A1F44"/>
                </a:solidFill>
                <a:latin typeface="Heiti SC" pitchFamily="34" charset="0"/>
                <a:ea typeface="Heiti SC" pitchFamily="34" charset="-122"/>
                <a:cs typeface="Heiti SC" pitchFamily="34" charset="-120"/>
              </a:rPr>
              <a:t>接通 / 未接 / 拒接</a:t>
            </a:r>
            <a:endParaRPr lang="zh-CN" sz="950" dirty="0"/>
          </a:p>
        </p:txBody>
      </p:sp>
      <p:sp>
        <p:nvSpPr>
          <p:cNvPr id="30" name="Text 28: 仅发送到达回执"/>
          <p:cNvSpPr/>
          <p:nvPr/>
        </p:nvSpPr>
        <p:spPr>
          <a:xfrm>
            <a:off x="9493349" y="2734270"/>
            <a:ext cx="920750" cy="171450"/>
          </a:xfrm>
          <a:prstGeom prst="rect">
            <a:avLst/>
          </a:prstGeom>
          <a:noFill/>
          <a:ln/>
        </p:spPr>
        <p:txBody>
          <a:bodyPr wrap="none" lIns="0" tIns="0" rIns="0" bIns="0" rtlCol="0" anchor="ctr"/>
          <a:lstStyle/>
          <a:p>
            <a:pPr indent="0" marL="0">
              <a:buNone/>
            </a:pPr>
            <a:r>
              <a:rPr lang="zh-CN" altLang="en-US" sz="950" dirty="0">
                <a:solidFill>
                  <a:srgbClr val="8A94A6"/>
                </a:solidFill>
                <a:latin typeface="Heiti SC" pitchFamily="34" charset="0"/>
                <a:ea typeface="Heiti SC" pitchFamily="34" charset="-122"/>
                <a:cs typeface="Heiti SC" pitchFamily="34" charset="-120"/>
              </a:rPr>
              <a:t>仅发送到达回执</a:t>
            </a:r>
            <a:endParaRPr lang="zh-CN" sz="950" dirty="0"/>
          </a:p>
        </p:txBody>
      </p:sp>
      <p:sp>
        <p:nvSpPr>
          <p:cNvPr id="31" name="Text 29: 用户确认"/>
          <p:cNvSpPr/>
          <p:nvPr/>
        </p:nvSpPr>
        <p:spPr>
          <a:xfrm>
            <a:off x="6445250" y="3289201"/>
            <a:ext cx="558800" cy="171450"/>
          </a:xfrm>
          <a:prstGeom prst="rect">
            <a:avLst/>
          </a:prstGeom>
          <a:noFill/>
          <a:ln/>
        </p:spPr>
        <p:txBody>
          <a:bodyPr wrap="none" lIns="0" tIns="0" rIns="0" bIns="0" rtlCol="0" anchor="ctr"/>
          <a:lstStyle/>
          <a:p>
            <a:pPr indent="0" marL="0">
              <a:buNone/>
            </a:pPr>
            <a:r>
              <a:rPr lang="zh-CN" altLang="en-US" sz="950" b="1" dirty="0">
                <a:solidFill>
                  <a:srgbClr val="5A6B85"/>
                </a:solidFill>
                <a:latin typeface="Heiti SC" pitchFamily="34" charset="0"/>
                <a:ea typeface="Heiti SC" pitchFamily="34" charset="-122"/>
                <a:cs typeface="Heiti SC" pitchFamily="34" charset="-120"/>
              </a:rPr>
              <a:t>用户确认</a:t>
            </a:r>
            <a:endParaRPr lang="zh-CN" sz="950" dirty="0"/>
          </a:p>
        </p:txBody>
      </p:sp>
      <p:sp>
        <p:nvSpPr>
          <p:cNvPr id="32" name="Text 30: 支持按键确认"/>
          <p:cNvSpPr/>
          <p:nvPr/>
        </p:nvSpPr>
        <p:spPr>
          <a:xfrm>
            <a:off x="7512050" y="3289201"/>
            <a:ext cx="800100" cy="171450"/>
          </a:xfrm>
          <a:prstGeom prst="rect">
            <a:avLst/>
          </a:prstGeom>
          <a:noFill/>
          <a:ln/>
        </p:spPr>
        <p:txBody>
          <a:bodyPr wrap="none" lIns="0" tIns="0" rIns="0" bIns="0" rtlCol="0" anchor="ctr"/>
          <a:lstStyle/>
          <a:p>
            <a:pPr indent="0" marL="0">
              <a:buNone/>
            </a:pPr>
            <a:r>
              <a:rPr lang="zh-CN" altLang="en-US" sz="950" b="1" dirty="0">
                <a:solidFill>
                  <a:srgbClr val="0A1F44"/>
                </a:solidFill>
                <a:latin typeface="Heiti SC" pitchFamily="34" charset="0"/>
                <a:ea typeface="Heiti SC" pitchFamily="34" charset="-122"/>
                <a:cs typeface="Heiti SC" pitchFamily="34" charset="-120"/>
              </a:rPr>
              <a:t>支持按键确认</a:t>
            </a:r>
            <a:endParaRPr lang="zh-CN" sz="950" dirty="0"/>
          </a:p>
        </p:txBody>
      </p:sp>
      <p:sp>
        <p:nvSpPr>
          <p:cNvPr id="33" name="Text 31: 需跳转或回复"/>
          <p:cNvSpPr/>
          <p:nvPr/>
        </p:nvSpPr>
        <p:spPr>
          <a:xfrm>
            <a:off x="9493349" y="3289201"/>
            <a:ext cx="800100" cy="171450"/>
          </a:xfrm>
          <a:prstGeom prst="rect">
            <a:avLst/>
          </a:prstGeom>
          <a:noFill/>
          <a:ln/>
        </p:spPr>
        <p:txBody>
          <a:bodyPr wrap="none" lIns="0" tIns="0" rIns="0" bIns="0" rtlCol="0" anchor="ctr"/>
          <a:lstStyle/>
          <a:p>
            <a:pPr indent="0" marL="0">
              <a:buNone/>
            </a:pPr>
            <a:r>
              <a:rPr lang="zh-CN" altLang="en-US" sz="950" dirty="0">
                <a:solidFill>
                  <a:srgbClr val="8A94A6"/>
                </a:solidFill>
                <a:latin typeface="Heiti SC" pitchFamily="34" charset="0"/>
                <a:ea typeface="Heiti SC" pitchFamily="34" charset="-122"/>
                <a:cs typeface="Heiti SC" pitchFamily="34" charset="-120"/>
              </a:rPr>
              <a:t>需跳转或回复</a:t>
            </a:r>
            <a:endParaRPr lang="zh-CN" sz="950" dirty="0"/>
          </a:p>
        </p:txBody>
      </p:sp>
      <p:sp>
        <p:nvSpPr>
          <p:cNvPr id="34" name="Text 32: 失败处理"/>
          <p:cNvSpPr/>
          <p:nvPr/>
        </p:nvSpPr>
        <p:spPr>
          <a:xfrm>
            <a:off x="6445250" y="3844230"/>
            <a:ext cx="558800" cy="171450"/>
          </a:xfrm>
          <a:prstGeom prst="rect">
            <a:avLst/>
          </a:prstGeom>
          <a:noFill/>
          <a:ln/>
        </p:spPr>
        <p:txBody>
          <a:bodyPr wrap="none" lIns="0" tIns="0" rIns="0" bIns="0" rtlCol="0" anchor="ctr"/>
          <a:lstStyle/>
          <a:p>
            <a:pPr indent="0" marL="0">
              <a:buNone/>
            </a:pPr>
            <a:r>
              <a:rPr lang="zh-CN" altLang="en-US" sz="950" b="1" dirty="0">
                <a:solidFill>
                  <a:srgbClr val="5A6B85"/>
                </a:solidFill>
                <a:latin typeface="Heiti SC" pitchFamily="34" charset="0"/>
                <a:ea typeface="Heiti SC" pitchFamily="34" charset="-122"/>
                <a:cs typeface="Heiti SC" pitchFamily="34" charset="-120"/>
              </a:rPr>
              <a:t>失败处理</a:t>
            </a:r>
            <a:endParaRPr lang="zh-CN" sz="950" dirty="0"/>
          </a:p>
        </p:txBody>
      </p:sp>
      <p:sp>
        <p:nvSpPr>
          <p:cNvPr id="35" name="Text 33: 按策略智能重拨"/>
          <p:cNvSpPr/>
          <p:nvPr/>
        </p:nvSpPr>
        <p:spPr>
          <a:xfrm>
            <a:off x="7512050" y="3844230"/>
            <a:ext cx="920750" cy="171450"/>
          </a:xfrm>
          <a:prstGeom prst="rect">
            <a:avLst/>
          </a:prstGeom>
          <a:noFill/>
          <a:ln/>
        </p:spPr>
        <p:txBody>
          <a:bodyPr wrap="none" lIns="0" tIns="0" rIns="0" bIns="0" rtlCol="0" anchor="ctr"/>
          <a:lstStyle/>
          <a:p>
            <a:pPr indent="0" marL="0">
              <a:buNone/>
            </a:pPr>
            <a:r>
              <a:rPr lang="zh-CN" altLang="en-US" sz="950" b="1" dirty="0">
                <a:solidFill>
                  <a:srgbClr val="0A1F44"/>
                </a:solidFill>
                <a:latin typeface="Heiti SC" pitchFamily="34" charset="0"/>
                <a:ea typeface="Heiti SC" pitchFamily="34" charset="-122"/>
                <a:cs typeface="Heiti SC" pitchFamily="34" charset="-120"/>
              </a:rPr>
              <a:t>按策略智能重拨</a:t>
            </a:r>
            <a:endParaRPr lang="zh-CN" sz="950" dirty="0"/>
          </a:p>
        </p:txBody>
      </p:sp>
      <p:sp>
        <p:nvSpPr>
          <p:cNvPr id="36" name="Text 34: 通常仅重发短信"/>
          <p:cNvSpPr/>
          <p:nvPr/>
        </p:nvSpPr>
        <p:spPr>
          <a:xfrm>
            <a:off x="9493349" y="3844230"/>
            <a:ext cx="920750" cy="171450"/>
          </a:xfrm>
          <a:prstGeom prst="rect">
            <a:avLst/>
          </a:prstGeom>
          <a:noFill/>
          <a:ln/>
        </p:spPr>
        <p:txBody>
          <a:bodyPr wrap="none" lIns="0" tIns="0" rIns="0" bIns="0" rtlCol="0" anchor="ctr"/>
          <a:lstStyle/>
          <a:p>
            <a:pPr indent="0" marL="0">
              <a:buNone/>
            </a:pPr>
            <a:r>
              <a:rPr lang="zh-CN" altLang="en-US" sz="950" dirty="0">
                <a:solidFill>
                  <a:srgbClr val="8A94A6"/>
                </a:solidFill>
                <a:latin typeface="Heiti SC" pitchFamily="34" charset="0"/>
                <a:ea typeface="Heiti SC" pitchFamily="34" charset="-122"/>
                <a:cs typeface="Heiti SC" pitchFamily="34" charset="-120"/>
              </a:rPr>
              <a:t>通常仅重发短信</a:t>
            </a:r>
            <a:endParaRPr lang="zh-CN" sz="950" dirty="0"/>
          </a:p>
        </p:txBody>
      </p:sp>
      <p:sp>
        <p:nvSpPr>
          <p:cNvPr id="37" name="Text 35: 人工成本"/>
          <p:cNvSpPr/>
          <p:nvPr/>
        </p:nvSpPr>
        <p:spPr>
          <a:xfrm>
            <a:off x="6445250" y="4399260"/>
            <a:ext cx="558800" cy="171450"/>
          </a:xfrm>
          <a:prstGeom prst="rect">
            <a:avLst/>
          </a:prstGeom>
          <a:noFill/>
          <a:ln/>
        </p:spPr>
        <p:txBody>
          <a:bodyPr wrap="none" lIns="0" tIns="0" rIns="0" bIns="0" rtlCol="0" anchor="ctr"/>
          <a:lstStyle/>
          <a:p>
            <a:pPr indent="0" marL="0">
              <a:buNone/>
            </a:pPr>
            <a:r>
              <a:rPr lang="zh-CN" altLang="en-US" sz="950" b="1" dirty="0">
                <a:solidFill>
                  <a:srgbClr val="5A6B85"/>
                </a:solidFill>
                <a:latin typeface="Heiti SC" pitchFamily="34" charset="0"/>
                <a:ea typeface="Heiti SC" pitchFamily="34" charset="-122"/>
                <a:cs typeface="Heiti SC" pitchFamily="34" charset="-120"/>
              </a:rPr>
              <a:t>人工成本</a:t>
            </a:r>
            <a:endParaRPr lang="zh-CN" sz="950" dirty="0"/>
          </a:p>
        </p:txBody>
      </p:sp>
      <p:sp>
        <p:nvSpPr>
          <p:cNvPr id="38" name="Text 36: API 自动触发"/>
          <p:cNvSpPr/>
          <p:nvPr/>
        </p:nvSpPr>
        <p:spPr>
          <a:xfrm>
            <a:off x="7512050" y="4399260"/>
            <a:ext cx="788293" cy="171450"/>
          </a:xfrm>
          <a:prstGeom prst="rect">
            <a:avLst/>
          </a:prstGeom>
          <a:noFill/>
          <a:ln/>
        </p:spPr>
        <p:txBody>
          <a:bodyPr wrap="none" lIns="0" tIns="0" rIns="0" bIns="0" rtlCol="0" anchor="ctr"/>
          <a:lstStyle/>
          <a:p>
            <a:pPr indent="0" marL="0">
              <a:buNone/>
            </a:pPr>
            <a:r>
              <a:rPr lang="zh-CN" altLang="en-US" sz="950" b="1" spc="13" kern="0" dirty="0">
                <a:solidFill>
                  <a:srgbClr val="0A1F44"/>
                </a:solidFill>
                <a:latin typeface="Heiti SC" pitchFamily="34" charset="0"/>
                <a:ea typeface="Heiti SC" pitchFamily="34" charset="-122"/>
                <a:cs typeface="Heiti SC" pitchFamily="34" charset="-120"/>
              </a:rPr>
              <a:t>API 自动触发</a:t>
            </a:r>
            <a:endParaRPr lang="zh-CN" sz="950" dirty="0"/>
          </a:p>
        </p:txBody>
      </p:sp>
      <p:sp>
        <p:nvSpPr>
          <p:cNvPr id="39" name="Text 37: 需人工外呼兜底"/>
          <p:cNvSpPr/>
          <p:nvPr/>
        </p:nvSpPr>
        <p:spPr>
          <a:xfrm>
            <a:off x="9493349" y="4399260"/>
            <a:ext cx="920750" cy="171450"/>
          </a:xfrm>
          <a:prstGeom prst="rect">
            <a:avLst/>
          </a:prstGeom>
          <a:noFill/>
          <a:ln/>
        </p:spPr>
        <p:txBody>
          <a:bodyPr wrap="none" lIns="0" tIns="0" rIns="0" bIns="0" rtlCol="0" anchor="ctr"/>
          <a:lstStyle/>
          <a:p>
            <a:pPr indent="0" marL="0">
              <a:buNone/>
            </a:pPr>
            <a:r>
              <a:rPr lang="zh-CN" altLang="en-US" sz="950" dirty="0">
                <a:solidFill>
                  <a:srgbClr val="8A94A6"/>
                </a:solidFill>
                <a:latin typeface="Heiti SC" pitchFamily="34" charset="0"/>
                <a:ea typeface="Heiti SC" pitchFamily="34" charset="-122"/>
                <a:cs typeface="Heiti SC" pitchFamily="34" charset="-120"/>
              </a:rPr>
              <a:t>需人工外呼兜底</a:t>
            </a:r>
            <a:endParaRPr lang="zh-CN" sz="950" dirty="0"/>
          </a:p>
        </p:txBody>
      </p:sp>
      <p:sp>
        <p:nvSpPr>
          <p:cNvPr id="40" name="Text 38: 推荐触发策略"/>
          <p:cNvSpPr/>
          <p:nvPr/>
        </p:nvSpPr>
        <p:spPr>
          <a:xfrm>
            <a:off x="876300" y="5448300"/>
            <a:ext cx="914400" cy="190500"/>
          </a:xfrm>
          <a:prstGeom prst="rect">
            <a:avLst/>
          </a:prstGeom>
          <a:noFill/>
          <a:ln/>
        </p:spPr>
        <p:txBody>
          <a:bodyPr wrap="none" lIns="0" tIns="0" rIns="0" bIns="0" rtlCol="0" anchor="ctr"/>
          <a:lstStyle/>
          <a:p>
            <a:pPr indent="0" marL="0">
              <a:buNone/>
            </a:pPr>
            <a:r>
              <a:rPr lang="zh-CN" altLang="en-US" sz="1100" b="1" dirty="0">
                <a:solidFill>
                  <a:srgbClr val="FFFFFF"/>
                </a:solidFill>
                <a:latin typeface="Heiti SC" pitchFamily="34" charset="0"/>
                <a:ea typeface="Heiti SC" pitchFamily="34" charset="-122"/>
                <a:cs typeface="Heiti SC" pitchFamily="34" charset="-120"/>
              </a:rPr>
              <a:t>推荐触发策略</a:t>
            </a:r>
            <a:endParaRPr lang="zh-CN" sz="1100" dirty="0"/>
          </a:p>
        </p:txBody>
      </p:sp>
      <p:sp>
        <p:nvSpPr>
          <p:cNvPr id="41" name="Text 39: 短信 3 分钟未读，自动补语音提醒"/>
          <p:cNvSpPr/>
          <p:nvPr/>
        </p:nvSpPr>
        <p:spPr>
          <a:xfrm>
            <a:off x="2070100" y="5454650"/>
            <a:ext cx="1884958" cy="171450"/>
          </a:xfrm>
          <a:prstGeom prst="rect">
            <a:avLst/>
          </a:prstGeom>
          <a:noFill/>
          <a:ln/>
        </p:spPr>
        <p:txBody>
          <a:bodyPr wrap="none" lIns="0" tIns="0" rIns="0" bIns="0" rtlCol="0" anchor="ctr"/>
          <a:lstStyle/>
          <a:p>
            <a:pPr indent="0" marL="0">
              <a:buNone/>
            </a:pPr>
            <a:r>
              <a:rPr lang="zh-CN" altLang="en-US" sz="950" spc="-4" kern="0" dirty="0">
                <a:solidFill>
                  <a:srgbClr val="CED3DC"/>
                </a:solidFill>
                <a:latin typeface="Heiti SC" pitchFamily="34" charset="0"/>
                <a:ea typeface="Heiti SC" pitchFamily="34" charset="-122"/>
                <a:cs typeface="Heiti SC" pitchFamily="34" charset="-120"/>
              </a:rPr>
              <a:t>短信 3 分钟未读，自动补语音提醒</a:t>
            </a:r>
            <a:endParaRPr lang="zh-CN" sz="950" dirty="0"/>
          </a:p>
        </p:txBody>
      </p:sp>
      <p:sp>
        <p:nvSpPr>
          <p:cNvPr id="42" name="Text 40: 订单类提醒限 9:00–21:00 呼叫"/>
          <p:cNvSpPr/>
          <p:nvPr/>
        </p:nvSpPr>
        <p:spPr>
          <a:xfrm>
            <a:off x="4196358" y="5454650"/>
            <a:ext cx="1710035" cy="171450"/>
          </a:xfrm>
          <a:prstGeom prst="rect">
            <a:avLst/>
          </a:prstGeom>
          <a:noFill/>
          <a:ln/>
        </p:spPr>
        <p:txBody>
          <a:bodyPr wrap="none" lIns="0" tIns="0" rIns="0" bIns="0" rtlCol="0" anchor="ctr"/>
          <a:lstStyle/>
          <a:p>
            <a:pPr indent="0" marL="0">
              <a:buNone/>
            </a:pPr>
            <a:r>
              <a:rPr lang="zh-CN" altLang="en-US" sz="950" spc="5" kern="0" dirty="0">
                <a:solidFill>
                  <a:srgbClr val="CFD4DE"/>
                </a:solidFill>
                <a:latin typeface="Heiti SC" pitchFamily="34" charset="0"/>
                <a:ea typeface="Heiti SC" pitchFamily="34" charset="-122"/>
                <a:cs typeface="Heiti SC" pitchFamily="34" charset="-120"/>
              </a:rPr>
              <a:t>订单类提醒限 9:00–21:00 呼叫</a:t>
            </a:r>
            <a:endParaRPr lang="zh-CN" sz="950" dirty="0"/>
          </a:p>
        </p:txBody>
      </p:sp>
      <p:sp>
        <p:nvSpPr>
          <p:cNvPr id="43" name="Text 41: P1 告警直呼值班人，未接逐级升级"/>
          <p:cNvSpPr/>
          <p:nvPr/>
        </p:nvSpPr>
        <p:spPr>
          <a:xfrm>
            <a:off x="6147693" y="5454650"/>
            <a:ext cx="1933674" cy="171450"/>
          </a:xfrm>
          <a:prstGeom prst="rect">
            <a:avLst/>
          </a:prstGeom>
          <a:noFill/>
          <a:ln/>
        </p:spPr>
        <p:txBody>
          <a:bodyPr wrap="none" lIns="0" tIns="0" rIns="0" bIns="0" rtlCol="0" anchor="ctr"/>
          <a:lstStyle/>
          <a:p>
            <a:pPr indent="0" marL="0">
              <a:buNone/>
            </a:pPr>
            <a:r>
              <a:rPr lang="zh-CN" altLang="en-US" sz="950" spc="0" kern="0" dirty="0">
                <a:solidFill>
                  <a:srgbClr val="CFD5E0"/>
                </a:solidFill>
                <a:latin typeface="Heiti SC" pitchFamily="34" charset="0"/>
                <a:ea typeface="Heiti SC" pitchFamily="34" charset="-122"/>
                <a:cs typeface="Heiti SC" pitchFamily="34" charset="-120"/>
              </a:rPr>
              <a:t>P1 告警直呼值班人，未接逐级升级</a:t>
            </a:r>
            <a:endParaRPr lang="zh-CN" sz="950" dirty="0"/>
          </a:p>
        </p:txBody>
      </p:sp>
      <p:sp>
        <p:nvSpPr>
          <p:cNvPr id="44" name="Text 42: 服务确认类启用按键回执闭环"/>
          <p:cNvSpPr/>
          <p:nvPr/>
        </p:nvSpPr>
        <p:spPr>
          <a:xfrm>
            <a:off x="8322667" y="5454650"/>
            <a:ext cx="1644650" cy="171450"/>
          </a:xfrm>
          <a:prstGeom prst="rect">
            <a:avLst/>
          </a:prstGeom>
          <a:noFill/>
          <a:ln/>
        </p:spPr>
        <p:txBody>
          <a:bodyPr wrap="none" lIns="0" tIns="0" rIns="0" bIns="0" rtlCol="0" anchor="ctr"/>
          <a:lstStyle/>
          <a:p>
            <a:pPr indent="0" marL="0">
              <a:buNone/>
            </a:pPr>
            <a:r>
              <a:rPr lang="zh-CN" altLang="en-US" sz="950" dirty="0">
                <a:solidFill>
                  <a:srgbClr val="CFD6E2"/>
                </a:solidFill>
                <a:latin typeface="Heiti SC" pitchFamily="34" charset="0"/>
                <a:ea typeface="Heiti SC" pitchFamily="34" charset="-122"/>
                <a:cs typeface="Heiti SC" pitchFamily="34" charset="-120"/>
              </a:rPr>
              <a:t>服务确认类启用按键回执闭环</a:t>
            </a:r>
            <a:endParaRPr lang="zh-CN" sz="950" dirty="0"/>
          </a:p>
        </p:txBody>
      </p:sp>
      <p:sp>
        <p:nvSpPr>
          <p:cNvPr id="45" name="Text 43: 19 / 25"/>
          <p:cNvSpPr/>
          <p:nvPr/>
        </p:nvSpPr>
        <p:spPr>
          <a:xfrm>
            <a:off x="11683901" y="6591300"/>
            <a:ext cx="457299" cy="165100"/>
          </a:xfrm>
          <a:prstGeom prst="rect">
            <a:avLst/>
          </a:prstGeom>
          <a:noFill/>
          <a:ln/>
        </p:spPr>
        <p:txBody>
          <a:bodyPr wrap="none" lIns="0" tIns="0" rIns="0" bIns="0" rtlCol="0" anchor="ctr"/>
          <a:lstStyle/>
          <a:p>
            <a:pPr indent="0" marL="0">
              <a:buNone/>
            </a:pPr>
            <a:r>
              <a:rPr lang="zh-CN" altLang="en-US" sz="900" spc="41" kern="0" dirty="0">
                <a:solidFill>
                  <a:srgbClr val="8A94A6"/>
                </a:solidFill>
                <a:latin typeface="Arial" pitchFamily="34" charset="0"/>
                <a:ea typeface="Arial" pitchFamily="34" charset="-122"/>
                <a:cs typeface="Arial" pitchFamily="34" charset="-120"/>
              </a:rPr>
              <a:t>19 / 25</a:t>
            </a:r>
            <a:endParaRPr lang="zh-CN"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Users/joozo/WySync/ObBidding/wiki/pptx/UMC/build/generated/backgrounds/slide-20.png">    </p:cNvPr>
          <p:cNvPicPr>
            <a:picLocks noChangeAspect="1"/>
          </p:cNvPicPr>
          <p:nvPr/>
        </p:nvPicPr>
        <p:blipFill>
          <a:blip r:embed="rId1"/>
          <a:stretch>
            <a:fillRect/>
          </a:stretch>
        </p:blipFill>
        <p:spPr>
          <a:xfrm>
            <a:off x="0" y="0"/>
            <a:ext cx="12192000" cy="6858000"/>
          </a:xfrm>
          <a:prstGeom prst="rect">
            <a:avLst/>
          </a:prstGeom>
        </p:spPr>
      </p:pic>
      <p:sp>
        <p:nvSpPr>
          <p:cNvPr id="3" name="Text 1: 02 · 5G消息"/>
          <p:cNvSpPr/>
          <p:nvPr/>
        </p:nvSpPr>
        <p:spPr>
          <a:xfrm>
            <a:off x="609600" y="285750"/>
            <a:ext cx="914797" cy="177800"/>
          </a:xfrm>
          <a:prstGeom prst="rect">
            <a:avLst/>
          </a:prstGeom>
          <a:noFill/>
          <a:ln/>
        </p:spPr>
        <p:txBody>
          <a:bodyPr wrap="none" lIns="0" tIns="0" rIns="0" bIns="0" rtlCol="0" anchor="ctr"/>
          <a:lstStyle/>
          <a:p>
            <a:pPr indent="0" marL="0">
              <a:buNone/>
            </a:pPr>
            <a:r>
              <a:rPr lang="zh-CN" altLang="en-US" sz="1000" b="1" spc="71" kern="0" dirty="0">
                <a:solidFill>
                  <a:srgbClr val="F02D4E"/>
                </a:solidFill>
                <a:latin typeface="Heiti SC" pitchFamily="34" charset="0"/>
                <a:ea typeface="Heiti SC" pitchFamily="34" charset="-122"/>
                <a:cs typeface="Heiti SC" pitchFamily="34" charset="-120"/>
              </a:rPr>
              <a:t>02 · 5G消息</a:t>
            </a:r>
            <a:endParaRPr lang="zh-CN" sz="1000" dirty="0"/>
          </a:p>
        </p:txBody>
      </p:sp>
      <p:sp>
        <p:nvSpPr>
          <p:cNvPr id="4" name="Text 2: 5G 消息 · 全新的信息生态平台"/>
          <p:cNvSpPr/>
          <p:nvPr/>
        </p:nvSpPr>
        <p:spPr>
          <a:xfrm>
            <a:off x="609600" y="546100"/>
            <a:ext cx="3935710" cy="349250"/>
          </a:xfrm>
          <a:prstGeom prst="rect">
            <a:avLst/>
          </a:prstGeom>
          <a:noFill/>
          <a:ln/>
        </p:spPr>
        <p:txBody>
          <a:bodyPr wrap="none" lIns="0" tIns="0" rIns="0" bIns="0" rtlCol="0" anchor="ctr"/>
          <a:lstStyle/>
          <a:p>
            <a:pPr indent="0" marL="0">
              <a:buNone/>
            </a:pPr>
            <a:r>
              <a:rPr lang="zh-CN" altLang="en-US" sz="2250" b="1" spc="-94" kern="0" dirty="0">
                <a:solidFill>
                  <a:srgbClr val="0A1F44"/>
                </a:solidFill>
                <a:latin typeface="Heiti SC" pitchFamily="34" charset="0"/>
                <a:ea typeface="Heiti SC" pitchFamily="34" charset="-122"/>
                <a:cs typeface="Heiti SC" pitchFamily="34" charset="-120"/>
              </a:rPr>
              <a:t>5G 消息 · 全新的信息生态平台</a:t>
            </a:r>
            <a:endParaRPr lang="zh-CN" sz="2250" dirty="0"/>
          </a:p>
        </p:txBody>
      </p:sp>
      <p:sp>
        <p:nvSpPr>
          <p:cNvPr id="5" name="Text 3: 5G 行业消息以聊天机器人 chatbot 的形态，让用户在"/>
          <p:cNvSpPr/>
          <p:nvPr/>
        </p:nvSpPr>
        <p:spPr>
          <a:xfrm>
            <a:off x="609600" y="1725613"/>
            <a:ext cx="5990431" cy="177800"/>
          </a:xfrm>
          <a:prstGeom prst="rect">
            <a:avLst/>
          </a:prstGeom>
          <a:noFill/>
          <a:ln/>
        </p:spPr>
        <p:txBody>
          <a:bodyPr wrap="none" lIns="0" tIns="0" rIns="0" bIns="0" rtlCol="0" anchor="ctr"/>
          <a:lstStyle/>
          <a:p>
            <a:pPr indent="0" marL="0">
              <a:buNone/>
            </a:pPr>
            <a:r>
              <a:rPr lang="zh-CN" altLang="en-US" sz="1050" spc="-16" kern="0" dirty="0">
                <a:solidFill>
                  <a:srgbClr val="3A4A66"/>
                </a:solidFill>
                <a:latin typeface="Heiti SC" pitchFamily="34" charset="0"/>
                <a:ea typeface="Heiti SC" pitchFamily="34" charset="-122"/>
                <a:cs typeface="Heiti SC" pitchFamily="34" charset="-120"/>
              </a:rPr>
              <a:t>5G 行业消息以聊天机器人 chatbot 的形态，让用户在消息窗口内完成搜索、发现、交互、支付等一站</a:t>
            </a:r>
            <a:endParaRPr lang="zh-CN" sz="1050" dirty="0"/>
          </a:p>
        </p:txBody>
      </p:sp>
      <p:sp>
        <p:nvSpPr>
          <p:cNvPr id="6" name="Text 4: 式业务体验，通过富媒体及人工智能为企业建立全新生态体系。"/>
          <p:cNvSpPr/>
          <p:nvPr/>
        </p:nvSpPr>
        <p:spPr>
          <a:xfrm>
            <a:off x="609600" y="1958975"/>
            <a:ext cx="3810000" cy="177800"/>
          </a:xfrm>
          <a:prstGeom prst="rect">
            <a:avLst/>
          </a:prstGeom>
          <a:noFill/>
          <a:ln/>
        </p:spPr>
        <p:txBody>
          <a:bodyPr wrap="none" lIns="0" tIns="0" rIns="0" bIns="0" rtlCol="0" anchor="ctr"/>
          <a:lstStyle/>
          <a:p>
            <a:pPr indent="0" marL="0">
              <a:buNone/>
            </a:pPr>
            <a:r>
              <a:rPr lang="zh-CN" altLang="en-US" sz="1050" dirty="0">
                <a:solidFill>
                  <a:srgbClr val="3A4A66"/>
                </a:solidFill>
                <a:latin typeface="Heiti SC" pitchFamily="34" charset="0"/>
                <a:ea typeface="Heiti SC" pitchFamily="34" charset="-122"/>
                <a:cs typeface="Heiti SC" pitchFamily="34" charset="-120"/>
              </a:rPr>
              <a:t>式业务体验，通过富媒体及人工智能为企业建立全新生态体系。</a:t>
            </a:r>
            <a:endParaRPr lang="zh-CN" sz="1050" dirty="0"/>
          </a:p>
        </p:txBody>
      </p:sp>
      <p:sp>
        <p:nvSpPr>
          <p:cNvPr id="7" name="Text 5: 01"/>
          <p:cNvSpPr/>
          <p:nvPr/>
        </p:nvSpPr>
        <p:spPr>
          <a:xfrm>
            <a:off x="819150" y="2408238"/>
            <a:ext cx="349448" cy="292100"/>
          </a:xfrm>
          <a:prstGeom prst="rect">
            <a:avLst/>
          </a:prstGeom>
          <a:noFill/>
          <a:ln/>
        </p:spPr>
        <p:txBody>
          <a:bodyPr wrap="none" lIns="0" tIns="0" rIns="0" bIns="0" rtlCol="0" anchor="ctr"/>
          <a:lstStyle/>
          <a:p>
            <a:pPr indent="0" marL="0">
              <a:buNone/>
            </a:pPr>
            <a:r>
              <a:rPr lang="zh-CN" altLang="en-US" sz="1800" b="1" spc="149" kern="0" dirty="0">
                <a:solidFill>
                  <a:srgbClr val="A1BEF5"/>
                </a:solidFill>
                <a:latin typeface="Arial" pitchFamily="34" charset="0"/>
                <a:ea typeface="Arial" pitchFamily="34" charset="-122"/>
                <a:cs typeface="Arial" pitchFamily="34" charset="-120"/>
              </a:rPr>
              <a:t>01</a:t>
            </a:r>
            <a:endParaRPr lang="zh-CN" sz="1800" dirty="0"/>
          </a:p>
        </p:txBody>
      </p:sp>
      <p:sp>
        <p:nvSpPr>
          <p:cNvPr id="8" name="Text 6: 强入口"/>
          <p:cNvSpPr/>
          <p:nvPr/>
        </p:nvSpPr>
        <p:spPr>
          <a:xfrm>
            <a:off x="1409700" y="2449513"/>
            <a:ext cx="5715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强入口</a:t>
            </a:r>
            <a:endParaRPr lang="zh-CN" sz="1300" dirty="0"/>
          </a:p>
        </p:txBody>
      </p:sp>
      <p:sp>
        <p:nvSpPr>
          <p:cNvPr id="9" name="Text 7: 原生消息入口、免安装、免登录"/>
          <p:cNvSpPr/>
          <p:nvPr/>
        </p:nvSpPr>
        <p:spPr>
          <a:xfrm>
            <a:off x="2457450" y="2465388"/>
            <a:ext cx="1854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原生消息入口、免安装、免登录</a:t>
            </a:r>
            <a:endParaRPr lang="zh-CN" sz="1000" dirty="0"/>
          </a:p>
        </p:txBody>
      </p:sp>
      <p:sp>
        <p:nvSpPr>
          <p:cNvPr id="10" name="Text 8: 02"/>
          <p:cNvSpPr/>
          <p:nvPr/>
        </p:nvSpPr>
        <p:spPr>
          <a:xfrm>
            <a:off x="819150" y="3049588"/>
            <a:ext cx="349448" cy="292100"/>
          </a:xfrm>
          <a:prstGeom prst="rect">
            <a:avLst/>
          </a:prstGeom>
          <a:noFill/>
          <a:ln/>
        </p:spPr>
        <p:txBody>
          <a:bodyPr wrap="none" lIns="0" tIns="0" rIns="0" bIns="0" rtlCol="0" anchor="ctr"/>
          <a:lstStyle/>
          <a:p>
            <a:pPr indent="0" marL="0">
              <a:buNone/>
            </a:pPr>
            <a:r>
              <a:rPr lang="zh-CN" altLang="en-US" sz="1800" b="1" spc="149" kern="0" dirty="0">
                <a:solidFill>
                  <a:srgbClr val="A1BEF5"/>
                </a:solidFill>
                <a:latin typeface="Arial" pitchFamily="34" charset="0"/>
                <a:ea typeface="Arial" pitchFamily="34" charset="-122"/>
                <a:cs typeface="Arial" pitchFamily="34" charset="-120"/>
              </a:rPr>
              <a:t>02</a:t>
            </a:r>
            <a:endParaRPr lang="zh-CN" sz="1800" dirty="0"/>
          </a:p>
        </p:txBody>
      </p:sp>
      <p:sp>
        <p:nvSpPr>
          <p:cNvPr id="11" name="Text 9: 强交互"/>
          <p:cNvSpPr/>
          <p:nvPr/>
        </p:nvSpPr>
        <p:spPr>
          <a:xfrm>
            <a:off x="1409700" y="3090862"/>
            <a:ext cx="5715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强交互</a:t>
            </a:r>
            <a:endParaRPr lang="zh-CN" sz="1300" dirty="0"/>
          </a:p>
        </p:txBody>
      </p:sp>
      <p:sp>
        <p:nvSpPr>
          <p:cNvPr id="12" name="Text 10: chatbot 形式、AI 智能识别、引导式交互"/>
          <p:cNvSpPr/>
          <p:nvPr/>
        </p:nvSpPr>
        <p:spPr>
          <a:xfrm>
            <a:off x="2457450" y="3106738"/>
            <a:ext cx="2327176" cy="177800"/>
          </a:xfrm>
          <a:prstGeom prst="rect">
            <a:avLst/>
          </a:prstGeom>
          <a:noFill/>
          <a:ln/>
        </p:spPr>
        <p:txBody>
          <a:bodyPr wrap="none" lIns="0" tIns="0" rIns="0" bIns="0" rtlCol="0" anchor="ctr"/>
          <a:lstStyle/>
          <a:p>
            <a:pPr indent="0" marL="0">
              <a:buNone/>
            </a:pPr>
            <a:r>
              <a:rPr lang="zh-CN" altLang="en-US" sz="1000" spc="-30" kern="0" dirty="0">
                <a:solidFill>
                  <a:srgbClr val="5A6B85"/>
                </a:solidFill>
                <a:latin typeface="Heiti SC" pitchFamily="34" charset="0"/>
                <a:ea typeface="Heiti SC" pitchFamily="34" charset="-122"/>
                <a:cs typeface="Heiti SC" pitchFamily="34" charset="-120"/>
              </a:rPr>
              <a:t>chatbot 形式、AI 智能识别、引导式交互</a:t>
            </a:r>
            <a:endParaRPr lang="zh-CN" sz="1000" dirty="0"/>
          </a:p>
        </p:txBody>
      </p:sp>
      <p:sp>
        <p:nvSpPr>
          <p:cNvPr id="13" name="Text 11: 03"/>
          <p:cNvSpPr/>
          <p:nvPr/>
        </p:nvSpPr>
        <p:spPr>
          <a:xfrm>
            <a:off x="819150" y="3690937"/>
            <a:ext cx="349448" cy="292100"/>
          </a:xfrm>
          <a:prstGeom prst="rect">
            <a:avLst/>
          </a:prstGeom>
          <a:noFill/>
          <a:ln/>
        </p:spPr>
        <p:txBody>
          <a:bodyPr wrap="none" lIns="0" tIns="0" rIns="0" bIns="0" rtlCol="0" anchor="ctr"/>
          <a:lstStyle/>
          <a:p>
            <a:pPr indent="0" marL="0">
              <a:buNone/>
            </a:pPr>
            <a:r>
              <a:rPr lang="zh-CN" altLang="en-US" sz="1800" b="1" spc="149" kern="0" dirty="0">
                <a:solidFill>
                  <a:srgbClr val="A1BEF5"/>
                </a:solidFill>
                <a:latin typeface="Arial" pitchFamily="34" charset="0"/>
                <a:ea typeface="Arial" pitchFamily="34" charset="-122"/>
                <a:cs typeface="Arial" pitchFamily="34" charset="-120"/>
              </a:rPr>
              <a:t>03</a:t>
            </a:r>
            <a:endParaRPr lang="zh-CN" sz="1800" dirty="0"/>
          </a:p>
        </p:txBody>
      </p:sp>
      <p:sp>
        <p:nvSpPr>
          <p:cNvPr id="14" name="Text 12: 富媒体"/>
          <p:cNvSpPr/>
          <p:nvPr/>
        </p:nvSpPr>
        <p:spPr>
          <a:xfrm>
            <a:off x="1409700" y="3732213"/>
            <a:ext cx="5715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富媒体</a:t>
            </a:r>
            <a:endParaRPr lang="zh-CN" sz="1300" dirty="0"/>
          </a:p>
        </p:txBody>
      </p:sp>
      <p:sp>
        <p:nvSpPr>
          <p:cNvPr id="15" name="Text 13: 支持文字、图片、音视频、位置等展现形式"/>
          <p:cNvSpPr/>
          <p:nvPr/>
        </p:nvSpPr>
        <p:spPr>
          <a:xfrm>
            <a:off x="2457450" y="3748087"/>
            <a:ext cx="2489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支持文字、图片、音视频、位置等展现形式</a:t>
            </a:r>
            <a:endParaRPr lang="zh-CN" sz="1000" dirty="0"/>
          </a:p>
        </p:txBody>
      </p:sp>
      <p:sp>
        <p:nvSpPr>
          <p:cNvPr id="16" name="Text 14: 04"/>
          <p:cNvSpPr/>
          <p:nvPr/>
        </p:nvSpPr>
        <p:spPr>
          <a:xfrm>
            <a:off x="819150" y="4332288"/>
            <a:ext cx="349548" cy="292100"/>
          </a:xfrm>
          <a:prstGeom prst="rect">
            <a:avLst/>
          </a:prstGeom>
          <a:noFill/>
          <a:ln/>
        </p:spPr>
        <p:txBody>
          <a:bodyPr wrap="none" lIns="0" tIns="0" rIns="0" bIns="0" rtlCol="0" anchor="ctr"/>
          <a:lstStyle/>
          <a:p>
            <a:pPr indent="0" marL="0">
              <a:buNone/>
            </a:pPr>
            <a:r>
              <a:rPr lang="zh-CN" altLang="en-US" sz="1800" b="1" spc="150" kern="0" dirty="0">
                <a:solidFill>
                  <a:srgbClr val="A1BEF5"/>
                </a:solidFill>
                <a:latin typeface="Arial" pitchFamily="34" charset="0"/>
                <a:ea typeface="Arial" pitchFamily="34" charset="-122"/>
                <a:cs typeface="Arial" pitchFamily="34" charset="-120"/>
              </a:rPr>
              <a:t>04</a:t>
            </a:r>
            <a:endParaRPr lang="zh-CN" sz="1800" dirty="0"/>
          </a:p>
        </p:txBody>
      </p:sp>
      <p:sp>
        <p:nvSpPr>
          <p:cNvPr id="17" name="Text 15: 新服务"/>
          <p:cNvSpPr/>
          <p:nvPr/>
        </p:nvSpPr>
        <p:spPr>
          <a:xfrm>
            <a:off x="1409700" y="4373563"/>
            <a:ext cx="5715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新服务</a:t>
            </a:r>
            <a:endParaRPr lang="zh-CN" sz="1300" dirty="0"/>
          </a:p>
        </p:txBody>
      </p:sp>
      <p:sp>
        <p:nvSpPr>
          <p:cNvPr id="18" name="Text 16: 低门槛、直达用户、消息内一站式服务"/>
          <p:cNvSpPr/>
          <p:nvPr/>
        </p:nvSpPr>
        <p:spPr>
          <a:xfrm>
            <a:off x="2457450" y="4389438"/>
            <a:ext cx="2235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低门槛、直达用户、消息内一站式服务</a:t>
            </a:r>
            <a:endParaRPr lang="zh-CN" sz="1000" dirty="0"/>
          </a:p>
        </p:txBody>
      </p:sp>
      <p:sp>
        <p:nvSpPr>
          <p:cNvPr id="19" name="Text 17: 05"/>
          <p:cNvSpPr/>
          <p:nvPr/>
        </p:nvSpPr>
        <p:spPr>
          <a:xfrm>
            <a:off x="819150" y="4973638"/>
            <a:ext cx="349250" cy="292100"/>
          </a:xfrm>
          <a:prstGeom prst="rect">
            <a:avLst/>
          </a:prstGeom>
          <a:noFill/>
          <a:ln/>
        </p:spPr>
        <p:txBody>
          <a:bodyPr wrap="none" lIns="0" tIns="0" rIns="0" bIns="0" rtlCol="0" anchor="ctr"/>
          <a:lstStyle/>
          <a:p>
            <a:pPr indent="0" marL="0">
              <a:buNone/>
            </a:pPr>
            <a:r>
              <a:rPr lang="zh-CN" altLang="en-US" sz="1800" b="1" spc="148" kern="0" dirty="0">
                <a:solidFill>
                  <a:srgbClr val="F02D4E"/>
                </a:solidFill>
                <a:latin typeface="Arial" pitchFamily="34" charset="0"/>
                <a:ea typeface="Arial" pitchFamily="34" charset="-122"/>
                <a:cs typeface="Arial" pitchFamily="34" charset="-120"/>
              </a:rPr>
              <a:t>05</a:t>
            </a:r>
            <a:endParaRPr lang="zh-CN" sz="1800" dirty="0"/>
          </a:p>
        </p:txBody>
      </p:sp>
      <p:sp>
        <p:nvSpPr>
          <p:cNvPr id="20" name="Text 18: 新生态"/>
          <p:cNvSpPr/>
          <p:nvPr/>
        </p:nvSpPr>
        <p:spPr>
          <a:xfrm>
            <a:off x="1409700" y="5014913"/>
            <a:ext cx="571500" cy="215900"/>
          </a:xfrm>
          <a:prstGeom prst="rect">
            <a:avLst/>
          </a:prstGeom>
          <a:noFill/>
          <a:ln/>
        </p:spPr>
        <p:txBody>
          <a:bodyPr wrap="none" lIns="0" tIns="0" rIns="0" bIns="0" rtlCol="0" anchor="ctr"/>
          <a:lstStyle/>
          <a:p>
            <a:pPr indent="0" marL="0">
              <a:buNone/>
            </a:pPr>
            <a:r>
              <a:rPr lang="zh-CN" altLang="en-US" sz="1300" b="1" dirty="0">
                <a:solidFill>
                  <a:srgbClr val="0A1F44"/>
                </a:solidFill>
                <a:latin typeface="Heiti SC" pitchFamily="34" charset="0"/>
                <a:ea typeface="Heiti SC" pitchFamily="34" charset="-122"/>
                <a:cs typeface="Heiti SC" pitchFamily="34" charset="-120"/>
              </a:rPr>
              <a:t>新生态</a:t>
            </a:r>
            <a:endParaRPr lang="zh-CN" sz="1300" dirty="0"/>
          </a:p>
        </p:txBody>
      </p:sp>
      <p:sp>
        <p:nvSpPr>
          <p:cNvPr id="21" name="Text 19: 消息即服务、消息即应用"/>
          <p:cNvSpPr/>
          <p:nvPr/>
        </p:nvSpPr>
        <p:spPr>
          <a:xfrm>
            <a:off x="2457450" y="5030788"/>
            <a:ext cx="1473200" cy="177800"/>
          </a:xfrm>
          <a:prstGeom prst="rect">
            <a:avLst/>
          </a:prstGeom>
          <a:noFill/>
          <a:ln/>
        </p:spPr>
        <p:txBody>
          <a:bodyPr wrap="none" lIns="0" tIns="0" rIns="0" bIns="0" rtlCol="0" anchor="ctr"/>
          <a:lstStyle/>
          <a:p>
            <a:pPr indent="0" marL="0">
              <a:buNone/>
            </a:pPr>
            <a:r>
              <a:rPr lang="zh-CN" altLang="en-US" sz="1000" dirty="0">
                <a:solidFill>
                  <a:srgbClr val="5A6B85"/>
                </a:solidFill>
                <a:latin typeface="Heiti SC" pitchFamily="34" charset="0"/>
                <a:ea typeface="Heiti SC" pitchFamily="34" charset="-122"/>
                <a:cs typeface="Heiti SC" pitchFamily="34" charset="-120"/>
              </a:rPr>
              <a:t>消息即服务、消息即应用</a:t>
            </a:r>
            <a:endParaRPr lang="zh-CN" sz="1000" dirty="0"/>
          </a:p>
        </p:txBody>
      </p:sp>
      <p:sp>
        <p:nvSpPr>
          <p:cNvPr id="22" name="Text 20: 5G"/>
          <p:cNvSpPr/>
          <p:nvPr/>
        </p:nvSpPr>
        <p:spPr>
          <a:xfrm>
            <a:off x="7235230" y="1466850"/>
            <a:ext cx="1572518" cy="1181100"/>
          </a:xfrm>
          <a:prstGeom prst="rect">
            <a:avLst/>
          </a:prstGeom>
          <a:noFill/>
          <a:ln/>
        </p:spPr>
        <p:txBody>
          <a:bodyPr wrap="none" lIns="0" tIns="0" rIns="0" bIns="0" rtlCol="0" anchor="ctr"/>
          <a:lstStyle/>
          <a:p>
            <a:pPr indent="0" marL="0">
              <a:buNone/>
            </a:pPr>
            <a:r>
              <a:rPr lang="zh-CN" altLang="en-US" sz="8250" b="1" spc="777" kern="0" dirty="0">
                <a:solidFill>
                  <a:srgbClr val="29385A"/>
                </a:solidFill>
                <a:latin typeface="Arial" pitchFamily="34" charset="0"/>
                <a:ea typeface="Arial" pitchFamily="34" charset="-122"/>
                <a:cs typeface="Arial" pitchFamily="34" charset="-120"/>
              </a:rPr>
              <a:t>5G</a:t>
            </a:r>
            <a:endParaRPr lang="zh-CN" sz="8250" dirty="0"/>
          </a:p>
        </p:txBody>
      </p:sp>
      <p:sp>
        <p:nvSpPr>
          <p:cNvPr id="23" name="Text 21: 消息即服务"/>
          <p:cNvSpPr/>
          <p:nvPr/>
        </p:nvSpPr>
        <p:spPr>
          <a:xfrm>
            <a:off x="7235230" y="3772595"/>
            <a:ext cx="1123950" cy="266700"/>
          </a:xfrm>
          <a:prstGeom prst="rect">
            <a:avLst/>
          </a:prstGeom>
          <a:noFill/>
          <a:ln/>
        </p:spPr>
        <p:txBody>
          <a:bodyPr wrap="none" lIns="0" tIns="0" rIns="0" bIns="0" rtlCol="0" anchor="ctr"/>
          <a:lstStyle/>
          <a:p>
            <a:pPr indent="0" marL="0">
              <a:buNone/>
            </a:pPr>
            <a:r>
              <a:rPr lang="zh-CN" altLang="en-US" sz="1650" b="1" dirty="0">
                <a:solidFill>
                  <a:srgbClr val="FFFFFF"/>
                </a:solidFill>
                <a:latin typeface="Heiti SC" pitchFamily="34" charset="0"/>
                <a:ea typeface="Heiti SC" pitchFamily="34" charset="-122"/>
                <a:cs typeface="Heiti SC" pitchFamily="34" charset="-120"/>
              </a:rPr>
              <a:t>消息即服务</a:t>
            </a:r>
            <a:endParaRPr lang="zh-CN" sz="1650" dirty="0"/>
          </a:p>
        </p:txBody>
      </p:sp>
      <p:sp>
        <p:nvSpPr>
          <p:cNvPr id="24" name="Text 22: 消息即应用"/>
          <p:cNvSpPr/>
          <p:nvPr/>
        </p:nvSpPr>
        <p:spPr>
          <a:xfrm>
            <a:off x="7235230" y="4086920"/>
            <a:ext cx="1123950" cy="266700"/>
          </a:xfrm>
          <a:prstGeom prst="rect">
            <a:avLst/>
          </a:prstGeom>
          <a:noFill/>
          <a:ln/>
        </p:spPr>
        <p:txBody>
          <a:bodyPr wrap="none" lIns="0" tIns="0" rIns="0" bIns="0" rtlCol="0" anchor="ctr"/>
          <a:lstStyle/>
          <a:p>
            <a:pPr indent="0" marL="0">
              <a:buNone/>
            </a:pPr>
            <a:r>
              <a:rPr lang="zh-CN" altLang="en-US" sz="1650" b="1" dirty="0">
                <a:solidFill>
                  <a:srgbClr val="FFFFFF"/>
                </a:solidFill>
                <a:latin typeface="Heiti SC" pitchFamily="34" charset="0"/>
                <a:ea typeface="Heiti SC" pitchFamily="34" charset="-122"/>
                <a:cs typeface="Heiti SC" pitchFamily="34" charset="-120"/>
              </a:rPr>
              <a:t>消息即应用</a:t>
            </a:r>
            <a:endParaRPr lang="zh-CN" sz="1650" dirty="0"/>
          </a:p>
        </p:txBody>
      </p:sp>
      <p:sp>
        <p:nvSpPr>
          <p:cNvPr id="25" name="Text 23: 原生入口 · 智能交互 · 富媒体承载 · 一站服务 · 全"/>
          <p:cNvSpPr/>
          <p:nvPr/>
        </p:nvSpPr>
        <p:spPr>
          <a:xfrm>
            <a:off x="7235230" y="4521895"/>
            <a:ext cx="3277394" cy="177800"/>
          </a:xfrm>
          <a:prstGeom prst="rect">
            <a:avLst/>
          </a:prstGeom>
          <a:noFill/>
          <a:ln/>
        </p:spPr>
        <p:txBody>
          <a:bodyPr wrap="none" lIns="0" tIns="0" rIns="0" bIns="0" rtlCol="0" anchor="ctr"/>
          <a:lstStyle/>
          <a:p>
            <a:pPr indent="0" marL="0">
              <a:buNone/>
            </a:pPr>
            <a:r>
              <a:rPr lang="zh-CN" altLang="en-US" sz="1050" spc="-98" kern="0" dirty="0">
                <a:solidFill>
                  <a:srgbClr val="A7ABBC"/>
                </a:solidFill>
                <a:latin typeface="Heiti SC" pitchFamily="34" charset="0"/>
                <a:ea typeface="Heiti SC" pitchFamily="34" charset="-122"/>
                <a:cs typeface="Heiti SC" pitchFamily="34" charset="-120"/>
              </a:rPr>
              <a:t>原生入口 · 智能交互 · 富媒体承载 · 一站服务 · 全新生态</a:t>
            </a:r>
            <a:endParaRPr lang="zh-CN" sz="1050" dirty="0"/>
          </a:p>
        </p:txBody>
      </p:sp>
      <p:sp>
        <p:nvSpPr>
          <p:cNvPr id="26" name="Text 24: RCS · CHATBOT · AI"/>
          <p:cNvSpPr/>
          <p:nvPr/>
        </p:nvSpPr>
        <p:spPr>
          <a:xfrm>
            <a:off x="7235230" y="5391150"/>
            <a:ext cx="1482030" cy="165100"/>
          </a:xfrm>
          <a:prstGeom prst="rect">
            <a:avLst/>
          </a:prstGeom>
          <a:noFill/>
          <a:ln/>
        </p:spPr>
        <p:txBody>
          <a:bodyPr wrap="none" lIns="0" tIns="0" rIns="0" bIns="0" rtlCol="0" anchor="ctr"/>
          <a:lstStyle/>
          <a:p>
            <a:pPr indent="0" marL="0">
              <a:buNone/>
            </a:pPr>
            <a:r>
              <a:rPr lang="zh-CN" altLang="en-US" sz="900" spc="146" kern="0" dirty="0">
                <a:solidFill>
                  <a:srgbClr val="747993"/>
                </a:solidFill>
                <a:latin typeface="Arial" pitchFamily="34" charset="0"/>
                <a:ea typeface="Arial" pitchFamily="34" charset="-122"/>
                <a:cs typeface="Arial" pitchFamily="34" charset="-120"/>
              </a:rPr>
              <a:t>RCS · CHATBOT · AI</a:t>
            </a:r>
            <a:endParaRPr lang="zh-CN" sz="900" dirty="0"/>
          </a:p>
        </p:txBody>
      </p:sp>
      <p:sp>
        <p:nvSpPr>
          <p:cNvPr id="27" name="Text 25: 20 / 25"/>
          <p:cNvSpPr/>
          <p:nvPr/>
        </p:nvSpPr>
        <p:spPr>
          <a:xfrm>
            <a:off x="11678642" y="6591300"/>
            <a:ext cx="462558" cy="165100"/>
          </a:xfrm>
          <a:prstGeom prst="rect">
            <a:avLst/>
          </a:prstGeom>
          <a:noFill/>
          <a:ln/>
        </p:spPr>
        <p:txBody>
          <a:bodyPr wrap="none" lIns="0" tIns="0" rIns="0" bIns="0" rtlCol="0" anchor="ctr"/>
          <a:lstStyle/>
          <a:p>
            <a:pPr indent="0" marL="0">
              <a:buNone/>
            </a:pPr>
            <a:r>
              <a:rPr lang="zh-CN" altLang="en-US" sz="900" spc="48" kern="0" dirty="0">
                <a:solidFill>
                  <a:srgbClr val="8A94A6"/>
                </a:solidFill>
                <a:latin typeface="Arial" pitchFamily="34" charset="0"/>
                <a:ea typeface="Arial" pitchFamily="34" charset="-122"/>
                <a:cs typeface="Arial" pitchFamily="34" charset="-120"/>
              </a:rPr>
              <a:t>20 / 25</a:t>
            </a:r>
            <a:endParaRPr lang="zh-CN"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Users/joozo/WySync/ObBidding/wiki/pptx/UMC/build/generated/backgrounds/slide-21.png">    </p:cNvPr>
          <p:cNvPicPr>
            <a:picLocks noChangeAspect="1"/>
          </p:cNvPicPr>
          <p:nvPr/>
        </p:nvPicPr>
        <p:blipFill>
          <a:blip r:embed="rId1"/>
          <a:stretch>
            <a:fillRect/>
          </a:stretch>
        </p:blipFill>
        <p:spPr>
          <a:xfrm>
            <a:off x="0" y="0"/>
            <a:ext cx="12192000" cy="6858000"/>
          </a:xfrm>
          <a:prstGeom prst="rect">
            <a:avLst/>
          </a:prstGeom>
        </p:spPr>
      </p:pic>
      <p:sp>
        <p:nvSpPr>
          <p:cNvPr id="3" name="Text 1: 02 · 富媒体消息"/>
          <p:cNvSpPr/>
          <p:nvPr/>
        </p:nvSpPr>
        <p:spPr>
          <a:xfrm>
            <a:off x="609600" y="285750"/>
            <a:ext cx="1141016" cy="177800"/>
          </a:xfrm>
          <a:prstGeom prst="rect">
            <a:avLst/>
          </a:prstGeom>
          <a:noFill/>
          <a:ln/>
        </p:spPr>
        <p:txBody>
          <a:bodyPr wrap="none" lIns="0" tIns="0" rIns="0" bIns="0" rtlCol="0" anchor="ctr"/>
          <a:lstStyle/>
          <a:p>
            <a:pPr indent="0" marL="0">
              <a:buNone/>
            </a:pPr>
            <a:r>
              <a:rPr lang="zh-CN" altLang="en-US" sz="1000" b="1" spc="86" kern="0" dirty="0">
                <a:solidFill>
                  <a:srgbClr val="F02D4E"/>
                </a:solidFill>
                <a:latin typeface="Heiti SC" pitchFamily="34" charset="0"/>
                <a:ea typeface="Heiti SC" pitchFamily="34" charset="-122"/>
                <a:cs typeface="Heiti SC" pitchFamily="34" charset="-120"/>
              </a:rPr>
              <a:t>02 · 富媒体消息</a:t>
            </a:r>
            <a:endParaRPr lang="zh-CN" sz="1000" dirty="0"/>
          </a:p>
        </p:txBody>
      </p:sp>
      <p:sp>
        <p:nvSpPr>
          <p:cNvPr id="4" name="Text 2: 富媒体消息"/>
          <p:cNvSpPr/>
          <p:nvPr/>
        </p:nvSpPr>
        <p:spPr>
          <a:xfrm>
            <a:off x="609600" y="546100"/>
            <a:ext cx="1520825" cy="349250"/>
          </a:xfrm>
          <a:prstGeom prst="rect">
            <a:avLst/>
          </a:prstGeom>
          <a:noFill/>
          <a:ln/>
        </p:spPr>
        <p:txBody>
          <a:bodyPr wrap="none" lIns="0" tIns="0" rIns="0" bIns="0" rtlCol="0" anchor="ctr"/>
          <a:lstStyle/>
          <a:p>
            <a:pPr indent="0" marL="0">
              <a:buNone/>
            </a:pPr>
            <a:r>
              <a:rPr lang="zh-CN" altLang="en-US" sz="2250" b="1" spc="31" kern="0" dirty="0">
                <a:solidFill>
                  <a:srgbClr val="0A1F44"/>
                </a:solidFill>
                <a:latin typeface="Heiti SC" pitchFamily="34" charset="0"/>
                <a:ea typeface="Heiti SC" pitchFamily="34" charset="-122"/>
                <a:cs typeface="Heiti SC" pitchFamily="34" charset="-120"/>
              </a:rPr>
              <a:t>富媒体消息</a:t>
            </a:r>
            <a:endParaRPr lang="zh-CN" sz="2250" dirty="0"/>
          </a:p>
        </p:txBody>
      </p:sp>
      <p:sp>
        <p:nvSpPr>
          <p:cNvPr id="5" name="Text 3: 集影、音、文字一体的新媒体消息"/>
          <p:cNvSpPr/>
          <p:nvPr/>
        </p:nvSpPr>
        <p:spPr>
          <a:xfrm>
            <a:off x="819150" y="5575300"/>
            <a:ext cx="2219325" cy="171450"/>
          </a:xfrm>
          <a:prstGeom prst="rect">
            <a:avLst/>
          </a:prstGeom>
          <a:noFill/>
          <a:ln/>
        </p:spPr>
        <p:txBody>
          <a:bodyPr wrap="none" lIns="0" tIns="0" rIns="0" bIns="0" rtlCol="0" anchor="ctr"/>
          <a:lstStyle/>
          <a:p>
            <a:pPr indent="0" marL="0">
              <a:buNone/>
            </a:pPr>
            <a:r>
              <a:rPr lang="zh-CN" altLang="en-US" sz="975" spc="161" kern="0" dirty="0">
                <a:solidFill>
                  <a:srgbClr val="DBDDE1"/>
                </a:solidFill>
                <a:latin typeface="Heiti SC" pitchFamily="34" charset="0"/>
                <a:ea typeface="Heiti SC" pitchFamily="34" charset="-122"/>
                <a:cs typeface="Heiti SC" pitchFamily="34" charset="-120"/>
              </a:rPr>
              <a:t>集影、音、文字一体的新媒体消息</a:t>
            </a:r>
            <a:endParaRPr lang="zh-CN" sz="975" dirty="0"/>
          </a:p>
        </p:txBody>
      </p:sp>
      <p:sp>
        <p:nvSpPr>
          <p:cNvPr id="6" name="Text 4: 富媒体消息基于移动通信技术和手机号，为企事业单位提供面向用户"/>
          <p:cNvSpPr/>
          <p:nvPr/>
        </p:nvSpPr>
        <p:spPr>
          <a:xfrm>
            <a:off x="5257800" y="1477963"/>
            <a:ext cx="6343650" cy="177800"/>
          </a:xfrm>
          <a:prstGeom prst="rect">
            <a:avLst/>
          </a:prstGeom>
          <a:noFill/>
          <a:ln/>
        </p:spPr>
        <p:txBody>
          <a:bodyPr wrap="none" lIns="0" tIns="0" rIns="0" bIns="0" rtlCol="0" anchor="ctr"/>
          <a:lstStyle/>
          <a:p>
            <a:pPr indent="0" marL="0">
              <a:buNone/>
            </a:pPr>
            <a:r>
              <a:rPr lang="zh-CN" altLang="en-US" sz="1050" dirty="0">
                <a:solidFill>
                  <a:srgbClr val="3A4A66"/>
                </a:solidFill>
                <a:latin typeface="Heiti SC" pitchFamily="34" charset="0"/>
                <a:ea typeface="Heiti SC" pitchFamily="34" charset="-122"/>
                <a:cs typeface="Heiti SC" pitchFamily="34" charset="-120"/>
              </a:rPr>
              <a:t>富媒体消息基于移动通信技术和手机号，为企事业单位提供面向用户的新型通信方式——内含可沟通互动的</a:t>
            </a:r>
            <a:endParaRPr lang="zh-CN" sz="1050" dirty="0"/>
          </a:p>
        </p:txBody>
      </p:sp>
      <p:sp>
        <p:nvSpPr>
          <p:cNvPr id="7" name="Text 5: 短信内容，以视频、图片等富媒体形态表达，形成集影、音、文字一"/>
          <p:cNvSpPr/>
          <p:nvPr/>
        </p:nvSpPr>
        <p:spPr>
          <a:xfrm>
            <a:off x="5257800" y="1711325"/>
            <a:ext cx="5010150" cy="177800"/>
          </a:xfrm>
          <a:prstGeom prst="rect">
            <a:avLst/>
          </a:prstGeom>
          <a:noFill/>
          <a:ln/>
        </p:spPr>
        <p:txBody>
          <a:bodyPr wrap="none" lIns="0" tIns="0" rIns="0" bIns="0" rtlCol="0" anchor="ctr"/>
          <a:lstStyle/>
          <a:p>
            <a:pPr indent="0" marL="0">
              <a:buNone/>
            </a:pPr>
            <a:r>
              <a:rPr lang="zh-CN" altLang="en-US" sz="1050" dirty="0">
                <a:solidFill>
                  <a:srgbClr val="3A4A66"/>
                </a:solidFill>
                <a:latin typeface="Heiti SC" pitchFamily="34" charset="0"/>
                <a:ea typeface="Heiti SC" pitchFamily="34" charset="-122"/>
                <a:cs typeface="Heiti SC" pitchFamily="34" charset="-120"/>
              </a:rPr>
              <a:t>短信内容，以视频、图片等富媒体形态表达，形成集影、音、文字一体的手机消息。</a:t>
            </a:r>
            <a:endParaRPr lang="zh-CN" sz="1050" dirty="0"/>
          </a:p>
        </p:txBody>
      </p:sp>
      <p:sp>
        <p:nvSpPr>
          <p:cNvPr id="8" name="Text 6: 内容丰富"/>
          <p:cNvSpPr/>
          <p:nvPr/>
        </p:nvSpPr>
        <p:spPr>
          <a:xfrm>
            <a:off x="5734050" y="2249488"/>
            <a:ext cx="6858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内容丰富</a:t>
            </a:r>
            <a:endParaRPr lang="zh-CN" sz="1200" dirty="0"/>
          </a:p>
        </p:txBody>
      </p:sp>
      <p:sp>
        <p:nvSpPr>
          <p:cNvPr id="9" name="Text 7: 支持视频、音频、图片、文字等富媒体内容形式"/>
          <p:cNvSpPr/>
          <p:nvPr/>
        </p:nvSpPr>
        <p:spPr>
          <a:xfrm>
            <a:off x="5448300" y="2541588"/>
            <a:ext cx="2576512" cy="165100"/>
          </a:xfrm>
          <a:prstGeom prst="rect">
            <a:avLst/>
          </a:prstGeom>
          <a:noFill/>
          <a:ln/>
        </p:spPr>
        <p:txBody>
          <a:bodyPr wrap="none" lIns="0" tIns="0" rIns="0" bIns="0" rtlCol="0" anchor="ctr"/>
          <a:lstStyle/>
          <a:p>
            <a:pPr indent="0" marL="0">
              <a:buNone/>
            </a:pPr>
            <a:r>
              <a:rPr lang="zh-CN" altLang="en-US" sz="938" dirty="0">
                <a:solidFill>
                  <a:srgbClr val="5A6B85"/>
                </a:solidFill>
                <a:latin typeface="Heiti SC" pitchFamily="34" charset="0"/>
                <a:ea typeface="Heiti SC" pitchFamily="34" charset="-122"/>
                <a:cs typeface="Heiti SC" pitchFamily="34" charset="-120"/>
              </a:rPr>
              <a:t>支持视频、音频、图片、文字等富媒体内容形式</a:t>
            </a:r>
            <a:endParaRPr lang="zh-CN" sz="938" dirty="0"/>
          </a:p>
        </p:txBody>
      </p:sp>
      <p:sp>
        <p:nvSpPr>
          <p:cNvPr id="10" name="Text 8: 超大容量"/>
          <p:cNvSpPr/>
          <p:nvPr/>
        </p:nvSpPr>
        <p:spPr>
          <a:xfrm>
            <a:off x="8991600" y="2249488"/>
            <a:ext cx="6858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超大容量</a:t>
            </a:r>
            <a:endParaRPr lang="zh-CN" sz="1200" dirty="0"/>
          </a:p>
        </p:txBody>
      </p:sp>
      <p:sp>
        <p:nvSpPr>
          <p:cNvPr id="11" name="Text 9: 大容量内容承载，完整讲述品牌故事"/>
          <p:cNvSpPr/>
          <p:nvPr/>
        </p:nvSpPr>
        <p:spPr>
          <a:xfrm>
            <a:off x="8705850" y="2541588"/>
            <a:ext cx="1981200" cy="165100"/>
          </a:xfrm>
          <a:prstGeom prst="rect">
            <a:avLst/>
          </a:prstGeom>
          <a:noFill/>
          <a:ln/>
        </p:spPr>
        <p:txBody>
          <a:bodyPr wrap="none" lIns="0" tIns="0" rIns="0" bIns="0" rtlCol="0" anchor="ctr"/>
          <a:lstStyle/>
          <a:p>
            <a:pPr indent="0" marL="0">
              <a:buNone/>
            </a:pPr>
            <a:r>
              <a:rPr lang="zh-CN" altLang="en-US" sz="938" dirty="0">
                <a:solidFill>
                  <a:srgbClr val="5A6B85"/>
                </a:solidFill>
                <a:latin typeface="Heiti SC" pitchFamily="34" charset="0"/>
                <a:ea typeface="Heiti SC" pitchFamily="34" charset="-122"/>
                <a:cs typeface="Heiti SC" pitchFamily="34" charset="-120"/>
              </a:rPr>
              <a:t>大容量内容承载，完整讲述品牌故事</a:t>
            </a:r>
            <a:endParaRPr lang="zh-CN" sz="938" dirty="0"/>
          </a:p>
        </p:txBody>
      </p:sp>
      <p:sp>
        <p:nvSpPr>
          <p:cNvPr id="12" name="Text 10: 高效触达"/>
          <p:cNvSpPr/>
          <p:nvPr/>
        </p:nvSpPr>
        <p:spPr>
          <a:xfrm>
            <a:off x="5734050" y="3811588"/>
            <a:ext cx="6858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高效触达</a:t>
            </a:r>
            <a:endParaRPr lang="zh-CN" sz="1200" dirty="0"/>
          </a:p>
        </p:txBody>
      </p:sp>
      <p:sp>
        <p:nvSpPr>
          <p:cNvPr id="13" name="Text 11: 直击目标用户，即接即用，三网覆盖，终端适配率"/>
          <p:cNvSpPr/>
          <p:nvPr/>
        </p:nvSpPr>
        <p:spPr>
          <a:xfrm>
            <a:off x="5448300" y="4103688"/>
            <a:ext cx="2695575" cy="165100"/>
          </a:xfrm>
          <a:prstGeom prst="rect">
            <a:avLst/>
          </a:prstGeom>
          <a:noFill/>
          <a:ln/>
        </p:spPr>
        <p:txBody>
          <a:bodyPr wrap="none" lIns="0" tIns="0" rIns="0" bIns="0" rtlCol="0" anchor="ctr"/>
          <a:lstStyle/>
          <a:p>
            <a:pPr indent="0" marL="0">
              <a:buNone/>
            </a:pPr>
            <a:r>
              <a:rPr lang="zh-CN" altLang="en-US" sz="938" dirty="0">
                <a:solidFill>
                  <a:srgbClr val="5A6B85"/>
                </a:solidFill>
                <a:latin typeface="Heiti SC" pitchFamily="34" charset="0"/>
                <a:ea typeface="Heiti SC" pitchFamily="34" charset="-122"/>
                <a:cs typeface="Heiti SC" pitchFamily="34" charset="-120"/>
              </a:rPr>
              <a:t>直击目标用户，即接即用，三网覆盖，终端适配率</a:t>
            </a:r>
            <a:endParaRPr lang="zh-CN" sz="938" dirty="0"/>
          </a:p>
        </p:txBody>
      </p:sp>
      <p:sp>
        <p:nvSpPr>
          <p:cNvPr id="14" name="Text 12: 高"/>
          <p:cNvSpPr/>
          <p:nvPr/>
        </p:nvSpPr>
        <p:spPr>
          <a:xfrm>
            <a:off x="5448300" y="4294188"/>
            <a:ext cx="195263" cy="165100"/>
          </a:xfrm>
          <a:prstGeom prst="rect">
            <a:avLst/>
          </a:prstGeom>
          <a:noFill/>
          <a:ln/>
        </p:spPr>
        <p:txBody>
          <a:bodyPr wrap="none" lIns="0" tIns="0" rIns="0" bIns="0" rtlCol="0" anchor="ctr"/>
          <a:lstStyle/>
          <a:p>
            <a:pPr indent="0" marL="0">
              <a:buNone/>
            </a:pPr>
            <a:r>
              <a:rPr lang="zh-CN" altLang="en-US" sz="938" dirty="0">
                <a:solidFill>
                  <a:srgbClr val="5A6B85"/>
                </a:solidFill>
                <a:latin typeface="Heiti SC" pitchFamily="34" charset="0"/>
                <a:ea typeface="Heiti SC" pitchFamily="34" charset="-122"/>
                <a:cs typeface="Heiti SC" pitchFamily="34" charset="-120"/>
              </a:rPr>
              <a:t>高</a:t>
            </a:r>
            <a:endParaRPr lang="zh-CN" sz="938" dirty="0"/>
          </a:p>
        </p:txBody>
      </p:sp>
      <p:sp>
        <p:nvSpPr>
          <p:cNvPr id="15" name="Text 13: 高转化率"/>
          <p:cNvSpPr/>
          <p:nvPr/>
        </p:nvSpPr>
        <p:spPr>
          <a:xfrm>
            <a:off x="8991600" y="3811588"/>
            <a:ext cx="685800" cy="203200"/>
          </a:xfrm>
          <a:prstGeom prst="rect">
            <a:avLst/>
          </a:prstGeom>
          <a:noFill/>
          <a:ln/>
        </p:spPr>
        <p:txBody>
          <a:bodyPr wrap="none" lIns="0" tIns="0" rIns="0" bIns="0" rtlCol="0" anchor="ctr"/>
          <a:lstStyle/>
          <a:p>
            <a:pPr indent="0" marL="0">
              <a:buNone/>
            </a:pPr>
            <a:r>
              <a:rPr lang="zh-CN" altLang="en-US" sz="1200" b="1" dirty="0">
                <a:solidFill>
                  <a:srgbClr val="0A1F44"/>
                </a:solidFill>
                <a:latin typeface="Heiti SC" pitchFamily="34" charset="0"/>
                <a:ea typeface="Heiti SC" pitchFamily="34" charset="-122"/>
                <a:cs typeface="Heiti SC" pitchFamily="34" charset="-120"/>
              </a:rPr>
              <a:t>高转化率</a:t>
            </a:r>
            <a:endParaRPr lang="zh-CN" sz="1200" dirty="0"/>
          </a:p>
        </p:txBody>
      </p:sp>
      <p:sp>
        <p:nvSpPr>
          <p:cNvPr id="16" name="Text 14: 多行业成功营销案例，多样化品牌营销，直观高效"/>
          <p:cNvSpPr/>
          <p:nvPr/>
        </p:nvSpPr>
        <p:spPr>
          <a:xfrm>
            <a:off x="8705850" y="4103688"/>
            <a:ext cx="2695575" cy="165100"/>
          </a:xfrm>
          <a:prstGeom prst="rect">
            <a:avLst/>
          </a:prstGeom>
          <a:noFill/>
          <a:ln/>
        </p:spPr>
        <p:txBody>
          <a:bodyPr wrap="none" lIns="0" tIns="0" rIns="0" bIns="0" rtlCol="0" anchor="ctr"/>
          <a:lstStyle/>
          <a:p>
            <a:pPr indent="0" marL="0">
              <a:buNone/>
            </a:pPr>
            <a:r>
              <a:rPr lang="zh-CN" altLang="en-US" sz="938" dirty="0">
                <a:solidFill>
                  <a:srgbClr val="5A6B85"/>
                </a:solidFill>
                <a:latin typeface="Heiti SC" pitchFamily="34" charset="0"/>
                <a:ea typeface="Heiti SC" pitchFamily="34" charset="-122"/>
                <a:cs typeface="Heiti SC" pitchFamily="34" charset="-120"/>
              </a:rPr>
              <a:t>多行业成功营销案例，多样化品牌营销，直观高效</a:t>
            </a:r>
            <a:endParaRPr lang="zh-CN" sz="938" dirty="0"/>
          </a:p>
        </p:txBody>
      </p:sp>
      <p:sp>
        <p:nvSpPr>
          <p:cNvPr id="17" name="Text 15: 广泛应用于党政、公益、银行、游戏、汽车、美妆、旅游、电商、房"/>
          <p:cNvSpPr/>
          <p:nvPr/>
        </p:nvSpPr>
        <p:spPr>
          <a:xfrm>
            <a:off x="5429250" y="5335587"/>
            <a:ext cx="4657725" cy="171450"/>
          </a:xfrm>
          <a:prstGeom prst="rect">
            <a:avLst/>
          </a:prstGeom>
          <a:noFill/>
          <a:ln/>
        </p:spPr>
        <p:txBody>
          <a:bodyPr wrap="none" lIns="0" tIns="0" rIns="0" bIns="0" rtlCol="0" anchor="ctr"/>
          <a:lstStyle/>
          <a:p>
            <a:pPr indent="0" marL="0">
              <a:buNone/>
            </a:pPr>
            <a:r>
              <a:rPr lang="zh-CN" altLang="en-US" sz="975" b="1" dirty="0">
                <a:solidFill>
                  <a:srgbClr val="2E6FE8"/>
                </a:solidFill>
                <a:latin typeface="Heiti SC" pitchFamily="34" charset="0"/>
                <a:ea typeface="Heiti SC" pitchFamily="34" charset="-122"/>
                <a:cs typeface="Heiti SC" pitchFamily="34" charset="-120"/>
              </a:rPr>
              <a:t>广泛应用于党政、公益、银行、游戏、汽车、美妆、旅游、电商、房产、影视等行业</a:t>
            </a:r>
            <a:endParaRPr lang="zh-CN" sz="975" dirty="0"/>
          </a:p>
        </p:txBody>
      </p:sp>
      <p:sp>
        <p:nvSpPr>
          <p:cNvPr id="18" name="Text 16: 21 / 25"/>
          <p:cNvSpPr/>
          <p:nvPr/>
        </p:nvSpPr>
        <p:spPr>
          <a:xfrm>
            <a:off x="11684496" y="6591300"/>
            <a:ext cx="456704" cy="165100"/>
          </a:xfrm>
          <a:prstGeom prst="rect">
            <a:avLst/>
          </a:prstGeom>
          <a:noFill/>
          <a:ln/>
        </p:spPr>
        <p:txBody>
          <a:bodyPr wrap="none" lIns="0" tIns="0" rIns="0" bIns="0" rtlCol="0" anchor="ctr"/>
          <a:lstStyle/>
          <a:p>
            <a:pPr indent="0" marL="0">
              <a:buNone/>
            </a:pPr>
            <a:r>
              <a:rPr lang="zh-CN" altLang="en-US" sz="900" spc="41" kern="0" dirty="0">
                <a:solidFill>
                  <a:srgbClr val="8A94A6"/>
                </a:solidFill>
                <a:latin typeface="Arial" pitchFamily="34" charset="0"/>
                <a:ea typeface="Arial" pitchFamily="34" charset="-122"/>
                <a:cs typeface="Arial" pitchFamily="34" charset="-120"/>
              </a:rPr>
              <a:t>21 / 25</a:t>
            </a:r>
            <a:endParaRPr lang="zh-CN"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Users/joozo/WySync/ObBidding/wiki/pptx/UMC/build/generated/backgrounds/slide-22.png">    </p:cNvPr>
          <p:cNvPicPr>
            <a:picLocks noChangeAspect="1"/>
          </p:cNvPicPr>
          <p:nvPr/>
        </p:nvPicPr>
        <p:blipFill>
          <a:blip r:embed="rId1"/>
          <a:stretch>
            <a:fillRect/>
          </a:stretch>
        </p:blipFill>
        <p:spPr>
          <a:xfrm>
            <a:off x="0" y="0"/>
            <a:ext cx="12192000" cy="6858000"/>
          </a:xfrm>
          <a:prstGeom prst="rect">
            <a:avLst/>
          </a:prstGeom>
        </p:spPr>
      </p:pic>
      <p:sp>
        <p:nvSpPr>
          <p:cNvPr id="3" name="Text 1: 02 · 富媒体消息"/>
          <p:cNvSpPr/>
          <p:nvPr/>
        </p:nvSpPr>
        <p:spPr>
          <a:xfrm>
            <a:off x="609600" y="285750"/>
            <a:ext cx="1141016" cy="177800"/>
          </a:xfrm>
          <a:prstGeom prst="rect">
            <a:avLst/>
          </a:prstGeom>
          <a:noFill/>
          <a:ln/>
        </p:spPr>
        <p:txBody>
          <a:bodyPr wrap="none" lIns="0" tIns="0" rIns="0" bIns="0" rtlCol="0" anchor="ctr"/>
          <a:lstStyle/>
          <a:p>
            <a:pPr indent="0" marL="0">
              <a:buNone/>
            </a:pPr>
            <a:r>
              <a:rPr lang="zh-CN" altLang="en-US" sz="1000" b="1" spc="86" kern="0" dirty="0">
                <a:solidFill>
                  <a:srgbClr val="F02D4E"/>
                </a:solidFill>
                <a:latin typeface="Heiti SC" pitchFamily="34" charset="0"/>
                <a:ea typeface="Heiti SC" pitchFamily="34" charset="-122"/>
                <a:cs typeface="Heiti SC" pitchFamily="34" charset="-120"/>
              </a:rPr>
              <a:t>02 · 富媒体消息</a:t>
            </a:r>
            <a:endParaRPr lang="zh-CN" sz="1000" dirty="0"/>
          </a:p>
        </p:txBody>
      </p:sp>
      <p:sp>
        <p:nvSpPr>
          <p:cNvPr id="4" name="Text 2: 多内容样式承载 · 沉浸式体验"/>
          <p:cNvSpPr/>
          <p:nvPr/>
        </p:nvSpPr>
        <p:spPr>
          <a:xfrm>
            <a:off x="609600" y="546100"/>
            <a:ext cx="3759795" cy="349250"/>
          </a:xfrm>
          <a:prstGeom prst="rect">
            <a:avLst/>
          </a:prstGeom>
          <a:noFill/>
          <a:ln/>
        </p:spPr>
        <p:txBody>
          <a:bodyPr wrap="none" lIns="0" tIns="0" rIns="0" bIns="0" rtlCol="0" anchor="ctr"/>
          <a:lstStyle/>
          <a:p>
            <a:pPr indent="0" marL="0">
              <a:buNone/>
            </a:pPr>
            <a:r>
              <a:rPr lang="zh-CN" altLang="en-US" sz="2250" b="1" spc="-98" kern="0" dirty="0">
                <a:solidFill>
                  <a:srgbClr val="0A1F44"/>
                </a:solidFill>
                <a:latin typeface="Heiti SC" pitchFamily="34" charset="0"/>
                <a:ea typeface="Heiti SC" pitchFamily="34" charset="-122"/>
                <a:cs typeface="Heiti SC" pitchFamily="34" charset="-120"/>
              </a:rPr>
              <a:t>多内容样式承载 · 沉浸式体验</a:t>
            </a:r>
            <a:endParaRPr lang="zh-CN" sz="2250" dirty="0"/>
          </a:p>
        </p:txBody>
      </p:sp>
      <p:sp>
        <p:nvSpPr>
          <p:cNvPr id="5" name="Text 3: 营销场景化"/>
          <p:cNvSpPr/>
          <p:nvPr/>
        </p:nvSpPr>
        <p:spPr>
          <a:xfrm>
            <a:off x="1390650" y="3127375"/>
            <a:ext cx="93345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营销场景化</a:t>
            </a:r>
            <a:endParaRPr lang="zh-CN" sz="1350" dirty="0"/>
          </a:p>
        </p:txBody>
      </p:sp>
      <p:sp>
        <p:nvSpPr>
          <p:cNvPr id="6" name="Text 4: MARKETING SCENARIOS"/>
          <p:cNvSpPr/>
          <p:nvPr/>
        </p:nvSpPr>
        <p:spPr>
          <a:xfrm>
            <a:off x="1390650" y="3355975"/>
            <a:ext cx="1563688" cy="146050"/>
          </a:xfrm>
          <a:prstGeom prst="rect">
            <a:avLst/>
          </a:prstGeom>
          <a:noFill/>
          <a:ln/>
        </p:spPr>
        <p:txBody>
          <a:bodyPr wrap="none" lIns="0" tIns="0" rIns="0" bIns="0" rtlCol="0" anchor="ctr"/>
          <a:lstStyle/>
          <a:p>
            <a:pPr indent="0" marL="0">
              <a:buNone/>
            </a:pPr>
            <a:r>
              <a:rPr lang="zh-CN" altLang="en-US" sz="788" spc="121" kern="0" dirty="0">
                <a:solidFill>
                  <a:srgbClr val="8A94A6"/>
                </a:solidFill>
                <a:latin typeface="Arial" pitchFamily="34" charset="0"/>
                <a:ea typeface="Arial" pitchFamily="34" charset="-122"/>
                <a:cs typeface="Arial" pitchFamily="34" charset="-120"/>
              </a:rPr>
              <a:t>MARKETING SCENARIOS</a:t>
            </a:r>
            <a:endParaRPr lang="zh-CN" sz="788" dirty="0"/>
          </a:p>
        </p:txBody>
      </p:sp>
      <p:sp>
        <p:nvSpPr>
          <p:cNvPr id="7" name="Text 5: 商品促销"/>
          <p:cNvSpPr/>
          <p:nvPr/>
        </p:nvSpPr>
        <p:spPr>
          <a:xfrm>
            <a:off x="971550" y="37338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商品促销</a:t>
            </a:r>
            <a:endParaRPr lang="zh-CN" sz="975" dirty="0"/>
          </a:p>
        </p:txBody>
      </p:sp>
      <p:sp>
        <p:nvSpPr>
          <p:cNvPr id="8" name="Text 6: 优惠促销"/>
          <p:cNvSpPr/>
          <p:nvPr/>
        </p:nvSpPr>
        <p:spPr>
          <a:xfrm>
            <a:off x="1809750" y="37338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优惠促销</a:t>
            </a:r>
            <a:endParaRPr lang="zh-CN" sz="975" dirty="0"/>
          </a:p>
        </p:txBody>
      </p:sp>
      <p:sp>
        <p:nvSpPr>
          <p:cNvPr id="9" name="Text 7: 活动推广"/>
          <p:cNvSpPr/>
          <p:nvPr/>
        </p:nvSpPr>
        <p:spPr>
          <a:xfrm>
            <a:off x="2647950" y="37338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活动推广</a:t>
            </a:r>
            <a:endParaRPr lang="zh-CN" sz="975" dirty="0"/>
          </a:p>
        </p:txBody>
      </p:sp>
      <p:sp>
        <p:nvSpPr>
          <p:cNvPr id="10" name="Text 8: 爆点卖点"/>
          <p:cNvSpPr/>
          <p:nvPr/>
        </p:nvSpPr>
        <p:spPr>
          <a:xfrm>
            <a:off x="971550"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爆点卖点</a:t>
            </a:r>
            <a:endParaRPr lang="zh-CN" sz="975" dirty="0"/>
          </a:p>
        </p:txBody>
      </p:sp>
      <p:sp>
        <p:nvSpPr>
          <p:cNvPr id="11" name="Text 9: 唤醒老用户"/>
          <p:cNvSpPr/>
          <p:nvPr/>
        </p:nvSpPr>
        <p:spPr>
          <a:xfrm>
            <a:off x="1809750" y="4102100"/>
            <a:ext cx="695325"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唤醒老用户</a:t>
            </a:r>
            <a:endParaRPr lang="zh-CN" sz="975" dirty="0"/>
          </a:p>
        </p:txBody>
      </p:sp>
      <p:sp>
        <p:nvSpPr>
          <p:cNvPr id="12" name="Text 10: 直播互动"/>
          <p:cNvSpPr/>
          <p:nvPr/>
        </p:nvSpPr>
        <p:spPr>
          <a:xfrm>
            <a:off x="2771775"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直播互动</a:t>
            </a:r>
            <a:endParaRPr lang="zh-CN" sz="975" dirty="0"/>
          </a:p>
        </p:txBody>
      </p:sp>
      <p:sp>
        <p:nvSpPr>
          <p:cNvPr id="13" name="Text 11: 服务多元化"/>
          <p:cNvSpPr/>
          <p:nvPr/>
        </p:nvSpPr>
        <p:spPr>
          <a:xfrm>
            <a:off x="5105400" y="3127375"/>
            <a:ext cx="93345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服务多元化</a:t>
            </a:r>
            <a:endParaRPr lang="zh-CN" sz="1350" dirty="0"/>
          </a:p>
        </p:txBody>
      </p:sp>
      <p:sp>
        <p:nvSpPr>
          <p:cNvPr id="14" name="Text 12: DIVERSE SERVICES"/>
          <p:cNvSpPr/>
          <p:nvPr/>
        </p:nvSpPr>
        <p:spPr>
          <a:xfrm>
            <a:off x="5105400" y="3355975"/>
            <a:ext cx="1271885" cy="146050"/>
          </a:xfrm>
          <a:prstGeom prst="rect">
            <a:avLst/>
          </a:prstGeom>
          <a:noFill/>
          <a:ln/>
        </p:spPr>
        <p:txBody>
          <a:bodyPr wrap="none" lIns="0" tIns="0" rIns="0" bIns="0" rtlCol="0" anchor="ctr"/>
          <a:lstStyle/>
          <a:p>
            <a:pPr indent="0" marL="0">
              <a:buNone/>
            </a:pPr>
            <a:r>
              <a:rPr lang="zh-CN" altLang="en-US" sz="788" spc="118" kern="0" dirty="0">
                <a:solidFill>
                  <a:srgbClr val="8A94A6"/>
                </a:solidFill>
                <a:latin typeface="Arial" pitchFamily="34" charset="0"/>
                <a:ea typeface="Arial" pitchFamily="34" charset="-122"/>
                <a:cs typeface="Arial" pitchFamily="34" charset="-120"/>
              </a:rPr>
              <a:t>DIVERSE SERVICES</a:t>
            </a:r>
            <a:endParaRPr lang="zh-CN" sz="788" dirty="0"/>
          </a:p>
        </p:txBody>
      </p:sp>
      <p:sp>
        <p:nvSpPr>
          <p:cNvPr id="15" name="Text 13: 品牌推广"/>
          <p:cNvSpPr/>
          <p:nvPr/>
        </p:nvSpPr>
        <p:spPr>
          <a:xfrm>
            <a:off x="4686300" y="37338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品牌推广</a:t>
            </a:r>
            <a:endParaRPr lang="zh-CN" sz="975" dirty="0"/>
          </a:p>
        </p:txBody>
      </p:sp>
      <p:sp>
        <p:nvSpPr>
          <p:cNvPr id="16" name="Text 14: 形象传播"/>
          <p:cNvSpPr/>
          <p:nvPr/>
        </p:nvSpPr>
        <p:spPr>
          <a:xfrm>
            <a:off x="5524500" y="37338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形象传播</a:t>
            </a:r>
            <a:endParaRPr lang="zh-CN" sz="975" dirty="0"/>
          </a:p>
        </p:txBody>
      </p:sp>
      <p:sp>
        <p:nvSpPr>
          <p:cNvPr id="17" name="Text 15: 会员活动提醒"/>
          <p:cNvSpPr/>
          <p:nvPr/>
        </p:nvSpPr>
        <p:spPr>
          <a:xfrm>
            <a:off x="6362700" y="3733800"/>
            <a:ext cx="81915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会员活动提醒</a:t>
            </a:r>
            <a:endParaRPr lang="zh-CN" sz="975" dirty="0"/>
          </a:p>
        </p:txBody>
      </p:sp>
      <p:sp>
        <p:nvSpPr>
          <p:cNvPr id="18" name="Text 16: 旅游景点信息发布"/>
          <p:cNvSpPr/>
          <p:nvPr/>
        </p:nvSpPr>
        <p:spPr>
          <a:xfrm>
            <a:off x="4686300" y="4102100"/>
            <a:ext cx="10668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旅游景点信息发布</a:t>
            </a:r>
            <a:endParaRPr lang="zh-CN" sz="975" dirty="0"/>
          </a:p>
        </p:txBody>
      </p:sp>
      <p:sp>
        <p:nvSpPr>
          <p:cNvPr id="19" name="Text 17: 住宿信息"/>
          <p:cNvSpPr/>
          <p:nvPr/>
        </p:nvSpPr>
        <p:spPr>
          <a:xfrm>
            <a:off x="6019800"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住宿信息</a:t>
            </a:r>
            <a:endParaRPr lang="zh-CN" sz="975" dirty="0"/>
          </a:p>
        </p:txBody>
      </p:sp>
      <p:sp>
        <p:nvSpPr>
          <p:cNvPr id="20" name="Text 18: 新品上线"/>
          <p:cNvSpPr/>
          <p:nvPr/>
        </p:nvSpPr>
        <p:spPr>
          <a:xfrm>
            <a:off x="6858000"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新品上线</a:t>
            </a:r>
            <a:endParaRPr lang="zh-CN" sz="975" dirty="0"/>
          </a:p>
        </p:txBody>
      </p:sp>
      <p:sp>
        <p:nvSpPr>
          <p:cNvPr id="21" name="Text 19: 内容生动化"/>
          <p:cNvSpPr/>
          <p:nvPr/>
        </p:nvSpPr>
        <p:spPr>
          <a:xfrm>
            <a:off x="8820150" y="3127375"/>
            <a:ext cx="93345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内容生动化</a:t>
            </a:r>
            <a:endParaRPr lang="zh-CN" sz="1350" dirty="0"/>
          </a:p>
        </p:txBody>
      </p:sp>
      <p:sp>
        <p:nvSpPr>
          <p:cNvPr id="22" name="Text 20: VIVID CONTENT"/>
          <p:cNvSpPr/>
          <p:nvPr/>
        </p:nvSpPr>
        <p:spPr>
          <a:xfrm>
            <a:off x="8820150" y="3355975"/>
            <a:ext cx="1026914" cy="146050"/>
          </a:xfrm>
          <a:prstGeom prst="rect">
            <a:avLst/>
          </a:prstGeom>
          <a:noFill/>
          <a:ln/>
        </p:spPr>
        <p:txBody>
          <a:bodyPr wrap="none" lIns="0" tIns="0" rIns="0" bIns="0" rtlCol="0" anchor="ctr"/>
          <a:lstStyle/>
          <a:p>
            <a:pPr indent="0" marL="0">
              <a:buNone/>
            </a:pPr>
            <a:r>
              <a:rPr lang="zh-CN" altLang="en-US" sz="788" spc="117" kern="0" dirty="0">
                <a:solidFill>
                  <a:srgbClr val="8A94A6"/>
                </a:solidFill>
                <a:latin typeface="Arial" pitchFamily="34" charset="0"/>
                <a:ea typeface="Arial" pitchFamily="34" charset="-122"/>
                <a:cs typeface="Arial" pitchFamily="34" charset="-120"/>
              </a:rPr>
              <a:t>VIVID CONTENT</a:t>
            </a:r>
            <a:endParaRPr lang="zh-CN" sz="788" dirty="0"/>
          </a:p>
        </p:txBody>
      </p:sp>
      <p:sp>
        <p:nvSpPr>
          <p:cNvPr id="23" name="Text 21: 新游戏上线"/>
          <p:cNvSpPr/>
          <p:nvPr/>
        </p:nvSpPr>
        <p:spPr>
          <a:xfrm>
            <a:off x="8401050" y="3733800"/>
            <a:ext cx="695325"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新游戏上线</a:t>
            </a:r>
            <a:endParaRPr lang="zh-CN" sz="975" dirty="0"/>
          </a:p>
        </p:txBody>
      </p:sp>
      <p:sp>
        <p:nvSpPr>
          <p:cNvPr id="24" name="Text 22: 新玩法告知"/>
          <p:cNvSpPr/>
          <p:nvPr/>
        </p:nvSpPr>
        <p:spPr>
          <a:xfrm>
            <a:off x="9363075" y="3733800"/>
            <a:ext cx="695325"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新玩法告知</a:t>
            </a:r>
            <a:endParaRPr lang="zh-CN" sz="975" dirty="0"/>
          </a:p>
        </p:txBody>
      </p:sp>
      <p:sp>
        <p:nvSpPr>
          <p:cNvPr id="25" name="Text 23: 电竞赛事"/>
          <p:cNvSpPr/>
          <p:nvPr/>
        </p:nvSpPr>
        <p:spPr>
          <a:xfrm>
            <a:off x="10325100" y="37338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电竞赛事</a:t>
            </a:r>
            <a:endParaRPr lang="zh-CN" sz="975" dirty="0"/>
          </a:p>
        </p:txBody>
      </p:sp>
      <p:sp>
        <p:nvSpPr>
          <p:cNvPr id="26" name="Text 24: 体育赛事"/>
          <p:cNvSpPr/>
          <p:nvPr/>
        </p:nvSpPr>
        <p:spPr>
          <a:xfrm>
            <a:off x="8401050"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体育赛事</a:t>
            </a:r>
            <a:endParaRPr lang="zh-CN" sz="975" dirty="0"/>
          </a:p>
        </p:txBody>
      </p:sp>
      <p:sp>
        <p:nvSpPr>
          <p:cNvPr id="27" name="Text 25: 视频故事"/>
          <p:cNvSpPr/>
          <p:nvPr/>
        </p:nvSpPr>
        <p:spPr>
          <a:xfrm>
            <a:off x="9239250"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视频故事</a:t>
            </a:r>
            <a:endParaRPr lang="zh-CN" sz="975" dirty="0"/>
          </a:p>
        </p:txBody>
      </p:sp>
      <p:sp>
        <p:nvSpPr>
          <p:cNvPr id="28" name="Text 26: 互动卡片"/>
          <p:cNvSpPr/>
          <p:nvPr/>
        </p:nvSpPr>
        <p:spPr>
          <a:xfrm>
            <a:off x="10077450" y="4102100"/>
            <a:ext cx="571500" cy="171450"/>
          </a:xfrm>
          <a:prstGeom prst="rect">
            <a:avLst/>
          </a:prstGeom>
          <a:noFill/>
          <a:ln/>
        </p:spPr>
        <p:txBody>
          <a:bodyPr wrap="none" lIns="0" tIns="0" rIns="0" bIns="0" rtlCol="0" anchor="ctr"/>
          <a:lstStyle/>
          <a:p>
            <a:pPr indent="0" marL="0">
              <a:buNone/>
            </a:pPr>
            <a:r>
              <a:rPr lang="zh-CN" altLang="en-US" sz="975" dirty="0">
                <a:solidFill>
                  <a:srgbClr val="3A4A66"/>
                </a:solidFill>
                <a:latin typeface="Heiti SC" pitchFamily="34" charset="0"/>
                <a:ea typeface="Heiti SC" pitchFamily="34" charset="-122"/>
                <a:cs typeface="Heiti SC" pitchFamily="34" charset="-120"/>
              </a:rPr>
              <a:t>互动卡片</a:t>
            </a:r>
            <a:endParaRPr lang="zh-CN" sz="975" dirty="0"/>
          </a:p>
        </p:txBody>
      </p:sp>
      <p:sp>
        <p:nvSpPr>
          <p:cNvPr id="29" name="Text 27: 覆盖十大行业领域"/>
          <p:cNvSpPr/>
          <p:nvPr/>
        </p:nvSpPr>
        <p:spPr>
          <a:xfrm>
            <a:off x="876300" y="5480050"/>
            <a:ext cx="1219200" cy="196850"/>
          </a:xfrm>
          <a:prstGeom prst="rect">
            <a:avLst/>
          </a:prstGeom>
          <a:noFill/>
          <a:ln/>
        </p:spPr>
        <p:txBody>
          <a:bodyPr wrap="none" lIns="0" tIns="0" rIns="0" bIns="0" rtlCol="0" anchor="ctr"/>
          <a:lstStyle/>
          <a:p>
            <a:pPr indent="0" marL="0">
              <a:buNone/>
            </a:pPr>
            <a:r>
              <a:rPr lang="zh-CN" altLang="en-US" sz="1125" b="1" dirty="0">
                <a:solidFill>
                  <a:srgbClr val="FFFFFF"/>
                </a:solidFill>
                <a:latin typeface="Heiti SC" pitchFamily="34" charset="0"/>
                <a:ea typeface="Heiti SC" pitchFamily="34" charset="-122"/>
                <a:cs typeface="Heiti SC" pitchFamily="34" charset="-120"/>
              </a:rPr>
              <a:t>覆盖十大行业领域</a:t>
            </a:r>
            <a:endParaRPr lang="zh-CN" sz="1125" dirty="0"/>
          </a:p>
        </p:txBody>
      </p:sp>
      <p:sp>
        <p:nvSpPr>
          <p:cNvPr id="30" name="Text 28: 党政"/>
          <p:cNvSpPr/>
          <p:nvPr/>
        </p:nvSpPr>
        <p:spPr>
          <a:xfrm>
            <a:off x="2959100" y="5492750"/>
            <a:ext cx="323850" cy="171450"/>
          </a:xfrm>
          <a:prstGeom prst="rect">
            <a:avLst/>
          </a:prstGeom>
          <a:noFill/>
          <a:ln/>
        </p:spPr>
        <p:txBody>
          <a:bodyPr wrap="none" lIns="0" tIns="0" rIns="0" bIns="0" rtlCol="0" anchor="ctr"/>
          <a:lstStyle/>
          <a:p>
            <a:pPr indent="0" marL="0">
              <a:buNone/>
            </a:pPr>
            <a:r>
              <a:rPr lang="zh-CN" altLang="en-US" sz="975" dirty="0">
                <a:solidFill>
                  <a:srgbClr val="E8EBEF"/>
                </a:solidFill>
                <a:latin typeface="Heiti SC" pitchFamily="34" charset="0"/>
                <a:ea typeface="Heiti SC" pitchFamily="34" charset="-122"/>
                <a:cs typeface="Heiti SC" pitchFamily="34" charset="-120"/>
              </a:rPr>
              <a:t>党政</a:t>
            </a:r>
            <a:endParaRPr lang="zh-CN" sz="975" dirty="0"/>
          </a:p>
        </p:txBody>
      </p:sp>
      <p:sp>
        <p:nvSpPr>
          <p:cNvPr id="31" name="Text 29: 公益"/>
          <p:cNvSpPr/>
          <p:nvPr/>
        </p:nvSpPr>
        <p:spPr>
          <a:xfrm>
            <a:off x="3844528" y="5492750"/>
            <a:ext cx="323850" cy="171450"/>
          </a:xfrm>
          <a:prstGeom prst="rect">
            <a:avLst/>
          </a:prstGeom>
          <a:noFill/>
          <a:ln/>
        </p:spPr>
        <p:txBody>
          <a:bodyPr wrap="none" lIns="0" tIns="0" rIns="0" bIns="0" rtlCol="0" anchor="ctr"/>
          <a:lstStyle/>
          <a:p>
            <a:pPr indent="0" marL="0">
              <a:buNone/>
            </a:pPr>
            <a:r>
              <a:rPr lang="zh-CN" altLang="en-US" sz="975" dirty="0">
                <a:solidFill>
                  <a:srgbClr val="E8EBEF"/>
                </a:solidFill>
                <a:latin typeface="Heiti SC" pitchFamily="34" charset="0"/>
                <a:ea typeface="Heiti SC" pitchFamily="34" charset="-122"/>
                <a:cs typeface="Heiti SC" pitchFamily="34" charset="-120"/>
              </a:rPr>
              <a:t>公益</a:t>
            </a:r>
            <a:endParaRPr lang="zh-CN" sz="975" dirty="0"/>
          </a:p>
        </p:txBody>
      </p:sp>
      <p:sp>
        <p:nvSpPr>
          <p:cNvPr id="32" name="Text 30: 银行"/>
          <p:cNvSpPr/>
          <p:nvPr/>
        </p:nvSpPr>
        <p:spPr>
          <a:xfrm>
            <a:off x="4730055" y="5492750"/>
            <a:ext cx="323850" cy="171450"/>
          </a:xfrm>
          <a:prstGeom prst="rect">
            <a:avLst/>
          </a:prstGeom>
          <a:noFill/>
          <a:ln/>
        </p:spPr>
        <p:txBody>
          <a:bodyPr wrap="none" lIns="0" tIns="0" rIns="0" bIns="0" rtlCol="0" anchor="ctr"/>
          <a:lstStyle/>
          <a:p>
            <a:pPr indent="0" marL="0">
              <a:buNone/>
            </a:pPr>
            <a:r>
              <a:rPr lang="zh-CN" altLang="en-US" sz="975" dirty="0">
                <a:solidFill>
                  <a:srgbClr val="E8EBEF"/>
                </a:solidFill>
                <a:latin typeface="Heiti SC" pitchFamily="34" charset="0"/>
                <a:ea typeface="Heiti SC" pitchFamily="34" charset="-122"/>
                <a:cs typeface="Heiti SC" pitchFamily="34" charset="-120"/>
              </a:rPr>
              <a:t>银行</a:t>
            </a:r>
            <a:endParaRPr lang="zh-CN" sz="975" dirty="0"/>
          </a:p>
        </p:txBody>
      </p:sp>
      <p:sp>
        <p:nvSpPr>
          <p:cNvPr id="33" name="Text 31: 游戏"/>
          <p:cNvSpPr/>
          <p:nvPr/>
        </p:nvSpPr>
        <p:spPr>
          <a:xfrm>
            <a:off x="5615484" y="5492750"/>
            <a:ext cx="323850" cy="171450"/>
          </a:xfrm>
          <a:prstGeom prst="rect">
            <a:avLst/>
          </a:prstGeom>
          <a:noFill/>
          <a:ln/>
        </p:spPr>
        <p:txBody>
          <a:bodyPr wrap="none" lIns="0" tIns="0" rIns="0" bIns="0" rtlCol="0" anchor="ctr"/>
          <a:lstStyle/>
          <a:p>
            <a:pPr indent="0" marL="0">
              <a:buNone/>
            </a:pPr>
            <a:r>
              <a:rPr lang="zh-CN" altLang="en-US" sz="975" dirty="0">
                <a:solidFill>
                  <a:srgbClr val="E8EBF0"/>
                </a:solidFill>
                <a:latin typeface="Heiti SC" pitchFamily="34" charset="0"/>
                <a:ea typeface="Heiti SC" pitchFamily="34" charset="-122"/>
                <a:cs typeface="Heiti SC" pitchFamily="34" charset="-120"/>
              </a:rPr>
              <a:t>游戏</a:t>
            </a:r>
            <a:endParaRPr lang="zh-CN" sz="975" dirty="0"/>
          </a:p>
        </p:txBody>
      </p:sp>
      <p:sp>
        <p:nvSpPr>
          <p:cNvPr id="34" name="Text 32: 汽车"/>
          <p:cNvSpPr/>
          <p:nvPr/>
        </p:nvSpPr>
        <p:spPr>
          <a:xfrm>
            <a:off x="6501011" y="5492750"/>
            <a:ext cx="323850" cy="171450"/>
          </a:xfrm>
          <a:prstGeom prst="rect">
            <a:avLst/>
          </a:prstGeom>
          <a:noFill/>
          <a:ln/>
        </p:spPr>
        <p:txBody>
          <a:bodyPr wrap="none" lIns="0" tIns="0" rIns="0" bIns="0" rtlCol="0" anchor="ctr"/>
          <a:lstStyle/>
          <a:p>
            <a:pPr indent="0" marL="0">
              <a:buNone/>
            </a:pPr>
            <a:r>
              <a:rPr lang="zh-CN" altLang="en-US" sz="975" dirty="0">
                <a:solidFill>
                  <a:srgbClr val="E8EBF0"/>
                </a:solidFill>
                <a:latin typeface="Heiti SC" pitchFamily="34" charset="0"/>
                <a:ea typeface="Heiti SC" pitchFamily="34" charset="-122"/>
                <a:cs typeface="Heiti SC" pitchFamily="34" charset="-120"/>
              </a:rPr>
              <a:t>汽车</a:t>
            </a:r>
            <a:endParaRPr lang="zh-CN" sz="975" dirty="0"/>
          </a:p>
        </p:txBody>
      </p:sp>
      <p:sp>
        <p:nvSpPr>
          <p:cNvPr id="35" name="Text 33: 美妆"/>
          <p:cNvSpPr/>
          <p:nvPr/>
        </p:nvSpPr>
        <p:spPr>
          <a:xfrm>
            <a:off x="7386439" y="5492750"/>
            <a:ext cx="323850" cy="171450"/>
          </a:xfrm>
          <a:prstGeom prst="rect">
            <a:avLst/>
          </a:prstGeom>
          <a:noFill/>
          <a:ln/>
        </p:spPr>
        <p:txBody>
          <a:bodyPr wrap="none" lIns="0" tIns="0" rIns="0" bIns="0" rtlCol="0" anchor="ctr"/>
          <a:lstStyle/>
          <a:p>
            <a:pPr indent="0" marL="0">
              <a:buNone/>
            </a:pPr>
            <a:r>
              <a:rPr lang="zh-CN" altLang="en-US" sz="975" dirty="0">
                <a:solidFill>
                  <a:srgbClr val="E8ECF1"/>
                </a:solidFill>
                <a:latin typeface="Heiti SC" pitchFamily="34" charset="0"/>
                <a:ea typeface="Heiti SC" pitchFamily="34" charset="-122"/>
                <a:cs typeface="Heiti SC" pitchFamily="34" charset="-120"/>
              </a:rPr>
              <a:t>美妆</a:t>
            </a:r>
            <a:endParaRPr lang="zh-CN" sz="975" dirty="0"/>
          </a:p>
        </p:txBody>
      </p:sp>
      <p:sp>
        <p:nvSpPr>
          <p:cNvPr id="36" name="Text 34: 旅游"/>
          <p:cNvSpPr/>
          <p:nvPr/>
        </p:nvSpPr>
        <p:spPr>
          <a:xfrm>
            <a:off x="8271966" y="5492750"/>
            <a:ext cx="323850" cy="171450"/>
          </a:xfrm>
          <a:prstGeom prst="rect">
            <a:avLst/>
          </a:prstGeom>
          <a:noFill/>
          <a:ln/>
        </p:spPr>
        <p:txBody>
          <a:bodyPr wrap="none" lIns="0" tIns="0" rIns="0" bIns="0" rtlCol="0" anchor="ctr"/>
          <a:lstStyle/>
          <a:p>
            <a:pPr indent="0" marL="0">
              <a:buNone/>
            </a:pPr>
            <a:r>
              <a:rPr lang="zh-CN" altLang="en-US" sz="975" dirty="0">
                <a:solidFill>
                  <a:srgbClr val="E8ECF1"/>
                </a:solidFill>
                <a:latin typeface="Heiti SC" pitchFamily="34" charset="0"/>
                <a:ea typeface="Heiti SC" pitchFamily="34" charset="-122"/>
                <a:cs typeface="Heiti SC" pitchFamily="34" charset="-120"/>
              </a:rPr>
              <a:t>旅游</a:t>
            </a:r>
            <a:endParaRPr lang="zh-CN" sz="975" dirty="0"/>
          </a:p>
        </p:txBody>
      </p:sp>
      <p:sp>
        <p:nvSpPr>
          <p:cNvPr id="37" name="Text 35: 电商"/>
          <p:cNvSpPr/>
          <p:nvPr/>
        </p:nvSpPr>
        <p:spPr>
          <a:xfrm>
            <a:off x="9157395" y="5492750"/>
            <a:ext cx="323850" cy="171450"/>
          </a:xfrm>
          <a:prstGeom prst="rect">
            <a:avLst/>
          </a:prstGeom>
          <a:noFill/>
          <a:ln/>
        </p:spPr>
        <p:txBody>
          <a:bodyPr wrap="none" lIns="0" tIns="0" rIns="0" bIns="0" rtlCol="0" anchor="ctr"/>
          <a:lstStyle/>
          <a:p>
            <a:pPr indent="0" marL="0">
              <a:buNone/>
            </a:pPr>
            <a:r>
              <a:rPr lang="zh-CN" altLang="en-US" sz="975" dirty="0">
                <a:solidFill>
                  <a:srgbClr val="E9ECF1"/>
                </a:solidFill>
                <a:latin typeface="Heiti SC" pitchFamily="34" charset="0"/>
                <a:ea typeface="Heiti SC" pitchFamily="34" charset="-122"/>
                <a:cs typeface="Heiti SC" pitchFamily="34" charset="-120"/>
              </a:rPr>
              <a:t>电商</a:t>
            </a:r>
            <a:endParaRPr lang="zh-CN" sz="975" dirty="0"/>
          </a:p>
        </p:txBody>
      </p:sp>
      <p:sp>
        <p:nvSpPr>
          <p:cNvPr id="38" name="Text 36: 房产"/>
          <p:cNvSpPr/>
          <p:nvPr/>
        </p:nvSpPr>
        <p:spPr>
          <a:xfrm>
            <a:off x="10042922" y="5492750"/>
            <a:ext cx="323850" cy="171450"/>
          </a:xfrm>
          <a:prstGeom prst="rect">
            <a:avLst/>
          </a:prstGeom>
          <a:noFill/>
          <a:ln/>
        </p:spPr>
        <p:txBody>
          <a:bodyPr wrap="none" lIns="0" tIns="0" rIns="0" bIns="0" rtlCol="0" anchor="ctr"/>
          <a:lstStyle/>
          <a:p>
            <a:pPr indent="0" marL="0">
              <a:buNone/>
            </a:pPr>
            <a:r>
              <a:rPr lang="zh-CN" altLang="en-US" sz="975" dirty="0">
                <a:solidFill>
                  <a:srgbClr val="E9ECF2"/>
                </a:solidFill>
                <a:latin typeface="Heiti SC" pitchFamily="34" charset="0"/>
                <a:ea typeface="Heiti SC" pitchFamily="34" charset="-122"/>
                <a:cs typeface="Heiti SC" pitchFamily="34" charset="-120"/>
              </a:rPr>
              <a:t>房产</a:t>
            </a:r>
            <a:endParaRPr lang="zh-CN" sz="975" dirty="0"/>
          </a:p>
        </p:txBody>
      </p:sp>
      <p:sp>
        <p:nvSpPr>
          <p:cNvPr id="39" name="Text 37: 影视"/>
          <p:cNvSpPr/>
          <p:nvPr/>
        </p:nvSpPr>
        <p:spPr>
          <a:xfrm>
            <a:off x="10928350" y="5492750"/>
            <a:ext cx="323850" cy="171450"/>
          </a:xfrm>
          <a:prstGeom prst="rect">
            <a:avLst/>
          </a:prstGeom>
          <a:noFill/>
          <a:ln/>
        </p:spPr>
        <p:txBody>
          <a:bodyPr wrap="none" lIns="0" tIns="0" rIns="0" bIns="0" rtlCol="0" anchor="ctr"/>
          <a:lstStyle/>
          <a:p>
            <a:pPr indent="0" marL="0">
              <a:buNone/>
            </a:pPr>
            <a:r>
              <a:rPr lang="zh-CN" altLang="en-US" sz="975" dirty="0">
                <a:solidFill>
                  <a:srgbClr val="E9ECF2"/>
                </a:solidFill>
                <a:latin typeface="Heiti SC" pitchFamily="34" charset="0"/>
                <a:ea typeface="Heiti SC" pitchFamily="34" charset="-122"/>
                <a:cs typeface="Heiti SC" pitchFamily="34" charset="-120"/>
              </a:rPr>
              <a:t>影视</a:t>
            </a:r>
            <a:endParaRPr lang="zh-CN" sz="975" dirty="0"/>
          </a:p>
        </p:txBody>
      </p:sp>
      <p:sp>
        <p:nvSpPr>
          <p:cNvPr id="40" name="Text 38: 22 / 25"/>
          <p:cNvSpPr/>
          <p:nvPr/>
        </p:nvSpPr>
        <p:spPr>
          <a:xfrm>
            <a:off x="11679237" y="6591300"/>
            <a:ext cx="461962" cy="165100"/>
          </a:xfrm>
          <a:prstGeom prst="rect">
            <a:avLst/>
          </a:prstGeom>
          <a:noFill/>
          <a:ln/>
        </p:spPr>
        <p:txBody>
          <a:bodyPr wrap="none" lIns="0" tIns="0" rIns="0" bIns="0" rtlCol="0" anchor="ctr"/>
          <a:lstStyle/>
          <a:p>
            <a:pPr indent="0" marL="0">
              <a:buNone/>
            </a:pPr>
            <a:r>
              <a:rPr lang="zh-CN" altLang="en-US" sz="900" spc="48" kern="0" dirty="0">
                <a:solidFill>
                  <a:srgbClr val="8A94A6"/>
                </a:solidFill>
                <a:latin typeface="Arial" pitchFamily="34" charset="0"/>
                <a:ea typeface="Arial" pitchFamily="34" charset="-122"/>
                <a:cs typeface="Arial" pitchFamily="34" charset="-120"/>
              </a:rPr>
              <a:t>22 / 25</a:t>
            </a:r>
            <a:endParaRPr lang="zh-CN"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Users/joozo/WySync/ObBidding/wiki/pptx/UMC/build/generated/backgrounds/slide-23.png">    </p:cNvPr>
          <p:cNvPicPr>
            <a:picLocks noChangeAspect="1"/>
          </p:cNvPicPr>
          <p:nvPr/>
        </p:nvPicPr>
        <p:blipFill>
          <a:blip r:embed="rId1"/>
          <a:stretch>
            <a:fillRect/>
          </a:stretch>
        </p:blipFill>
        <p:spPr>
          <a:xfrm>
            <a:off x="0" y="0"/>
            <a:ext cx="12192000" cy="6858000"/>
          </a:xfrm>
          <a:prstGeom prst="rect">
            <a:avLst/>
          </a:prstGeom>
        </p:spPr>
      </p:pic>
      <p:sp>
        <p:nvSpPr>
          <p:cNvPr id="3" name="Text 1: PART 03"/>
          <p:cNvSpPr/>
          <p:nvPr/>
        </p:nvSpPr>
        <p:spPr>
          <a:xfrm>
            <a:off x="10749062" y="611188"/>
            <a:ext cx="833338" cy="171450"/>
          </a:xfrm>
          <a:prstGeom prst="rect">
            <a:avLst/>
          </a:prstGeom>
          <a:noFill/>
          <a:ln/>
        </p:spPr>
        <p:txBody>
          <a:bodyPr wrap="none" lIns="0" tIns="0" rIns="0" bIns="0" rtlCol="0" anchor="ctr"/>
          <a:lstStyle/>
          <a:p>
            <a:pPr indent="0" marL="0">
              <a:buNone/>
            </a:pPr>
            <a:r>
              <a:rPr lang="zh-CN" altLang="en-US" sz="975" spc="349" kern="0" dirty="0">
                <a:solidFill>
                  <a:srgbClr val="82848C"/>
                </a:solidFill>
                <a:latin typeface="Arial" pitchFamily="34" charset="0"/>
                <a:ea typeface="Arial" pitchFamily="34" charset="-122"/>
                <a:cs typeface="Arial" pitchFamily="34" charset="-120"/>
              </a:rPr>
              <a:t>PART 03</a:t>
            </a:r>
            <a:endParaRPr lang="zh-CN" sz="975" dirty="0"/>
          </a:p>
        </p:txBody>
      </p:sp>
      <p:sp>
        <p:nvSpPr>
          <p:cNvPr id="4" name="Text 2: 03"/>
          <p:cNvSpPr/>
          <p:nvPr/>
        </p:nvSpPr>
        <p:spPr>
          <a:xfrm>
            <a:off x="685800" y="2452688"/>
            <a:ext cx="2344738" cy="2108200"/>
          </a:xfrm>
          <a:prstGeom prst="rect">
            <a:avLst/>
          </a:prstGeom>
          <a:noFill/>
          <a:ln/>
        </p:spPr>
        <p:txBody>
          <a:bodyPr wrap="none" lIns="0" tIns="0" rIns="0" bIns="0" rtlCol="0" anchor="ctr"/>
          <a:lstStyle/>
          <a:p>
            <a:pPr indent="0" marL="0">
              <a:buNone/>
            </a:pPr>
            <a:r>
              <a:rPr lang="zh-CN" altLang="en-US" sz="15000" b="1" spc="1178" kern="0" dirty="0">
                <a:solidFill>
                  <a:srgbClr val="2A3543"/>
                </a:solidFill>
                <a:latin typeface="Arial" pitchFamily="34" charset="0"/>
                <a:ea typeface="Arial" pitchFamily="34" charset="-122"/>
                <a:cs typeface="Arial" pitchFamily="34" charset="-120"/>
              </a:rPr>
              <a:t>03</a:t>
            </a:r>
            <a:endParaRPr lang="zh-CN" sz="15000" dirty="0"/>
          </a:p>
        </p:txBody>
      </p:sp>
      <p:sp>
        <p:nvSpPr>
          <p:cNvPr id="5" name="Text 3: 典型案例"/>
          <p:cNvSpPr/>
          <p:nvPr/>
        </p:nvSpPr>
        <p:spPr>
          <a:xfrm>
            <a:off x="3411538" y="2838847"/>
            <a:ext cx="2362200" cy="622300"/>
          </a:xfrm>
          <a:prstGeom prst="rect">
            <a:avLst/>
          </a:prstGeom>
          <a:noFill/>
          <a:ln/>
        </p:spPr>
        <p:txBody>
          <a:bodyPr wrap="none" lIns="0" tIns="0" rIns="0" bIns="0" rtlCol="0" anchor="ctr"/>
          <a:lstStyle/>
          <a:p>
            <a:pPr indent="0" marL="0">
              <a:buNone/>
            </a:pPr>
            <a:r>
              <a:rPr lang="zh-CN" altLang="en-US" sz="4200" b="1" spc="400" kern="0" dirty="0">
                <a:solidFill>
                  <a:srgbClr val="FFFFFF"/>
                </a:solidFill>
                <a:latin typeface="Heiti SC" pitchFamily="34" charset="0"/>
                <a:ea typeface="Heiti SC" pitchFamily="34" charset="-122"/>
                <a:cs typeface="Heiti SC" pitchFamily="34" charset="-120"/>
              </a:rPr>
              <a:t>典型案例</a:t>
            </a:r>
            <a:endParaRPr lang="zh-CN" sz="4200" dirty="0"/>
          </a:p>
        </p:txBody>
      </p:sp>
      <p:sp>
        <p:nvSpPr>
          <p:cNvPr id="6" name="Text 4: TYPICAL CASES"/>
          <p:cNvSpPr/>
          <p:nvPr/>
        </p:nvSpPr>
        <p:spPr>
          <a:xfrm>
            <a:off x="3411538" y="3577927"/>
            <a:ext cx="1878112" cy="203200"/>
          </a:xfrm>
          <a:prstGeom prst="rect">
            <a:avLst/>
          </a:prstGeom>
          <a:noFill/>
          <a:ln/>
        </p:spPr>
        <p:txBody>
          <a:bodyPr wrap="none" lIns="0" tIns="0" rIns="0" bIns="0" rtlCol="0" anchor="ctr"/>
          <a:lstStyle/>
          <a:p>
            <a:pPr indent="0" marL="0">
              <a:buNone/>
            </a:pPr>
            <a:r>
              <a:rPr lang="zh-CN" altLang="en-US" sz="1200" spc="399" kern="0" dirty="0">
                <a:solidFill>
                  <a:srgbClr val="9DA2A8"/>
                </a:solidFill>
                <a:latin typeface="Arial" pitchFamily="34" charset="0"/>
                <a:ea typeface="Arial" pitchFamily="34" charset="-122"/>
                <a:cs typeface="Arial" pitchFamily="34" charset="-120"/>
              </a:rPr>
              <a:t>TYPICAL CASES</a:t>
            </a:r>
            <a:endParaRPr lang="zh-CN" sz="1200" dirty="0"/>
          </a:p>
        </p:txBody>
      </p:sp>
      <p:sp>
        <p:nvSpPr>
          <p:cNvPr id="7" name="Text 5: 真实业务场景 · 标杆客户实践"/>
          <p:cNvSpPr/>
          <p:nvPr/>
        </p:nvSpPr>
        <p:spPr>
          <a:xfrm>
            <a:off x="3411538" y="4016077"/>
            <a:ext cx="1776611" cy="177800"/>
          </a:xfrm>
          <a:prstGeom prst="rect">
            <a:avLst/>
          </a:prstGeom>
          <a:noFill/>
          <a:ln/>
        </p:spPr>
        <p:txBody>
          <a:bodyPr wrap="none" lIns="0" tIns="0" rIns="0" bIns="0" rtlCol="0" anchor="ctr"/>
          <a:lstStyle/>
          <a:p>
            <a:pPr indent="0" marL="0">
              <a:buNone/>
            </a:pPr>
            <a:r>
              <a:rPr lang="zh-CN" altLang="en-US" sz="1050" spc="-56" kern="0" dirty="0">
                <a:solidFill>
                  <a:srgbClr val="848990"/>
                </a:solidFill>
                <a:latin typeface="Heiti SC" pitchFamily="34" charset="0"/>
                <a:ea typeface="Heiti SC" pitchFamily="34" charset="-122"/>
                <a:cs typeface="Heiti SC" pitchFamily="34" charset="-120"/>
              </a:rPr>
              <a:t>真实业务场景 · 标杆客户实践</a:t>
            </a:r>
            <a:endParaRPr lang="zh-CN" sz="1050" dirty="0"/>
          </a:p>
        </p:txBody>
      </p:sp>
      <p:sp>
        <p:nvSpPr>
          <p:cNvPr id="8" name="Text 6: 23 / 25"/>
          <p:cNvSpPr/>
          <p:nvPr/>
        </p:nvSpPr>
        <p:spPr>
          <a:xfrm>
            <a:off x="11678543" y="6591300"/>
            <a:ext cx="462657" cy="165100"/>
          </a:xfrm>
          <a:prstGeom prst="rect">
            <a:avLst/>
          </a:prstGeom>
          <a:noFill/>
          <a:ln/>
        </p:spPr>
        <p:txBody>
          <a:bodyPr wrap="none" lIns="0" tIns="0" rIns="0" bIns="0" rtlCol="0" anchor="ctr"/>
          <a:lstStyle/>
          <a:p>
            <a:pPr indent="0" marL="0">
              <a:buNone/>
            </a:pPr>
            <a:r>
              <a:rPr lang="zh-CN" altLang="en-US" sz="900" spc="48" kern="0" dirty="0">
                <a:solidFill>
                  <a:srgbClr val="777078"/>
                </a:solidFill>
                <a:latin typeface="Arial" pitchFamily="34" charset="0"/>
                <a:ea typeface="Arial" pitchFamily="34" charset="-122"/>
                <a:cs typeface="Arial" pitchFamily="34" charset="-120"/>
              </a:rPr>
              <a:t>23 / 25</a:t>
            </a:r>
            <a:endParaRPr lang="zh-CN"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Users/joozo/WySync/ObBidding/wiki/pptx/UMC/build/generated/backgrounds/slide-24.png">    </p:cNvPr>
          <p:cNvPicPr>
            <a:picLocks noChangeAspect="1"/>
          </p:cNvPicPr>
          <p:nvPr/>
        </p:nvPicPr>
        <p:blipFill>
          <a:blip r:embed="rId1"/>
          <a:stretch>
            <a:fillRect/>
          </a:stretch>
        </p:blipFill>
        <p:spPr>
          <a:xfrm>
            <a:off x="0" y="0"/>
            <a:ext cx="12192000" cy="6858000"/>
          </a:xfrm>
          <a:prstGeom prst="rect">
            <a:avLst/>
          </a:prstGeom>
        </p:spPr>
      </p:pic>
      <p:sp>
        <p:nvSpPr>
          <p:cNvPr id="3" name="Text 1: 03 · 极致服务"/>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03 · 极致服务</a:t>
            </a:r>
            <a:endParaRPr lang="zh-CN" sz="1000" dirty="0"/>
          </a:p>
        </p:txBody>
      </p:sp>
      <p:sp>
        <p:nvSpPr>
          <p:cNvPr id="4" name="Text 2: 极致服务"/>
          <p:cNvSpPr/>
          <p:nvPr/>
        </p:nvSpPr>
        <p:spPr>
          <a:xfrm>
            <a:off x="609600" y="546100"/>
            <a:ext cx="1231900" cy="349250"/>
          </a:xfrm>
          <a:prstGeom prst="rect">
            <a:avLst/>
          </a:prstGeom>
          <a:noFill/>
          <a:ln/>
        </p:spPr>
        <p:txBody>
          <a:bodyPr wrap="none" lIns="0" tIns="0" rIns="0" bIns="0" rtlCol="0" anchor="ctr"/>
          <a:lstStyle/>
          <a:p>
            <a:pPr indent="0" marL="0">
              <a:buNone/>
            </a:pPr>
            <a:r>
              <a:rPr lang="zh-CN" altLang="en-US" sz="2250" b="1" spc="33" kern="0" dirty="0">
                <a:solidFill>
                  <a:srgbClr val="0A1F44"/>
                </a:solidFill>
                <a:latin typeface="Heiti SC" pitchFamily="34" charset="0"/>
                <a:ea typeface="Heiti SC" pitchFamily="34" charset="-122"/>
                <a:cs typeface="Heiti SC" pitchFamily="34" charset="-120"/>
              </a:rPr>
              <a:t>极致服务</a:t>
            </a:r>
            <a:endParaRPr lang="zh-CN" sz="2250" dirty="0"/>
          </a:p>
        </p:txBody>
      </p:sp>
      <p:sp>
        <p:nvSpPr>
          <p:cNvPr id="5" name="Text 3: MAGIC SERVICE"/>
          <p:cNvSpPr/>
          <p:nvPr/>
        </p:nvSpPr>
        <p:spPr>
          <a:xfrm>
            <a:off x="1917700" y="638175"/>
            <a:ext cx="1426369" cy="171450"/>
          </a:xfrm>
          <a:prstGeom prst="rect">
            <a:avLst/>
          </a:prstGeom>
          <a:noFill/>
          <a:ln/>
        </p:spPr>
        <p:txBody>
          <a:bodyPr wrap="none" lIns="0" tIns="0" rIns="0" bIns="0" rtlCol="0" anchor="ctr"/>
          <a:lstStyle/>
          <a:p>
            <a:pPr indent="0" marL="0">
              <a:buNone/>
            </a:pPr>
            <a:r>
              <a:rPr lang="zh-CN" altLang="en-US" sz="975" spc="242" kern="0" dirty="0">
                <a:solidFill>
                  <a:srgbClr val="8A94A6"/>
                </a:solidFill>
                <a:latin typeface="Arial" pitchFamily="34" charset="0"/>
                <a:ea typeface="Arial" pitchFamily="34" charset="-122"/>
                <a:cs typeface="Arial" pitchFamily="34" charset="-120"/>
              </a:rPr>
              <a:t>MAGIC SERVICE</a:t>
            </a:r>
            <a:endParaRPr lang="zh-CN" sz="975" dirty="0"/>
          </a:p>
        </p:txBody>
      </p:sp>
      <p:sp>
        <p:nvSpPr>
          <p:cNvPr id="6" name="Text 4: SERVICE CONCEPT"/>
          <p:cNvSpPr/>
          <p:nvPr/>
        </p:nvSpPr>
        <p:spPr>
          <a:xfrm>
            <a:off x="895350" y="1346200"/>
            <a:ext cx="1681559" cy="171450"/>
          </a:xfrm>
          <a:prstGeom prst="rect">
            <a:avLst/>
          </a:prstGeom>
          <a:noFill/>
          <a:ln/>
        </p:spPr>
        <p:txBody>
          <a:bodyPr wrap="none" lIns="0" tIns="0" rIns="0" bIns="0" rtlCol="0" anchor="ctr"/>
          <a:lstStyle/>
          <a:p>
            <a:pPr indent="0" marL="0">
              <a:buNone/>
            </a:pPr>
            <a:r>
              <a:rPr lang="zh-CN" altLang="en-US" sz="975" spc="239" kern="0" dirty="0">
                <a:solidFill>
                  <a:srgbClr val="9DA7B7"/>
                </a:solidFill>
                <a:latin typeface="Arial" pitchFamily="34" charset="0"/>
                <a:ea typeface="Arial" pitchFamily="34" charset="-122"/>
                <a:cs typeface="Arial" pitchFamily="34" charset="-120"/>
              </a:rPr>
              <a:t>SERVICE CONCEPT</a:t>
            </a:r>
            <a:endParaRPr lang="zh-CN" sz="975" dirty="0"/>
          </a:p>
        </p:txBody>
      </p:sp>
      <p:sp>
        <p:nvSpPr>
          <p:cNvPr id="7" name="Text 5: 以创造客户价值为中心"/>
          <p:cNvSpPr/>
          <p:nvPr/>
        </p:nvSpPr>
        <p:spPr>
          <a:xfrm>
            <a:off x="895350" y="1689100"/>
            <a:ext cx="2266950" cy="273050"/>
          </a:xfrm>
          <a:prstGeom prst="rect">
            <a:avLst/>
          </a:prstGeom>
          <a:noFill/>
          <a:ln/>
        </p:spPr>
        <p:txBody>
          <a:bodyPr wrap="none" lIns="0" tIns="0" rIns="0" bIns="0" rtlCol="0" anchor="ctr"/>
          <a:lstStyle/>
          <a:p>
            <a:pPr indent="0" marL="0">
              <a:buNone/>
            </a:pPr>
            <a:r>
              <a:rPr lang="zh-CN" altLang="en-US" sz="1725" b="1" dirty="0">
                <a:solidFill>
                  <a:srgbClr val="FFFFFF"/>
                </a:solidFill>
                <a:latin typeface="Heiti SC" pitchFamily="34" charset="0"/>
                <a:ea typeface="Heiti SC" pitchFamily="34" charset="-122"/>
                <a:cs typeface="Heiti SC" pitchFamily="34" charset="-120"/>
              </a:rPr>
              <a:t>以创造客户价值为中心</a:t>
            </a:r>
            <a:endParaRPr lang="zh-CN" sz="1725" dirty="0"/>
          </a:p>
        </p:txBody>
      </p:sp>
      <p:sp>
        <p:nvSpPr>
          <p:cNvPr id="8" name="Text 6: 以提升服务质量为宗旨"/>
          <p:cNvSpPr/>
          <p:nvPr/>
        </p:nvSpPr>
        <p:spPr>
          <a:xfrm>
            <a:off x="895350" y="2039541"/>
            <a:ext cx="2266950" cy="273050"/>
          </a:xfrm>
          <a:prstGeom prst="rect">
            <a:avLst/>
          </a:prstGeom>
          <a:noFill/>
          <a:ln/>
        </p:spPr>
        <p:txBody>
          <a:bodyPr wrap="none" lIns="0" tIns="0" rIns="0" bIns="0" rtlCol="0" anchor="ctr"/>
          <a:lstStyle/>
          <a:p>
            <a:pPr indent="0" marL="0">
              <a:buNone/>
            </a:pPr>
            <a:r>
              <a:rPr lang="zh-CN" altLang="en-US" sz="1725" b="1" dirty="0">
                <a:solidFill>
                  <a:srgbClr val="FFFFFF"/>
                </a:solidFill>
                <a:latin typeface="Heiti SC" pitchFamily="34" charset="0"/>
                <a:ea typeface="Heiti SC" pitchFamily="34" charset="-122"/>
                <a:cs typeface="Heiti SC" pitchFamily="34" charset="-120"/>
              </a:rPr>
              <a:t>以提升服务质量为宗旨</a:t>
            </a:r>
            <a:endParaRPr lang="zh-CN" sz="1725" dirty="0"/>
          </a:p>
        </p:txBody>
      </p:sp>
      <p:sp>
        <p:nvSpPr>
          <p:cNvPr id="9" name="Text 7: 全天候服务"/>
          <p:cNvSpPr/>
          <p:nvPr/>
        </p:nvSpPr>
        <p:spPr>
          <a:xfrm>
            <a:off x="1371600" y="3105448"/>
            <a:ext cx="742950" cy="177800"/>
          </a:xfrm>
          <a:prstGeom prst="rect">
            <a:avLst/>
          </a:prstGeom>
          <a:noFill/>
          <a:ln/>
        </p:spPr>
        <p:txBody>
          <a:bodyPr wrap="none" lIns="0" tIns="0" rIns="0" bIns="0" rtlCol="0" anchor="ctr"/>
          <a:lstStyle/>
          <a:p>
            <a:pPr indent="0" marL="0">
              <a:buNone/>
            </a:pPr>
            <a:r>
              <a:rPr lang="zh-CN" altLang="en-US" sz="1050" b="1" dirty="0">
                <a:solidFill>
                  <a:srgbClr val="FFFFFF"/>
                </a:solidFill>
                <a:latin typeface="Heiti SC" pitchFamily="34" charset="0"/>
                <a:ea typeface="Heiti SC" pitchFamily="34" charset="-122"/>
                <a:cs typeface="Heiti SC" pitchFamily="34" charset="-120"/>
              </a:rPr>
              <a:t>全天候服务</a:t>
            </a:r>
            <a:endParaRPr lang="zh-CN" sz="1050" dirty="0"/>
          </a:p>
        </p:txBody>
      </p:sp>
      <p:sp>
        <p:nvSpPr>
          <p:cNvPr id="10" name="Text 8: 7×24 小时分秒响应，合理客户服务结构，即时响应客户需"/>
          <p:cNvSpPr/>
          <p:nvPr/>
        </p:nvSpPr>
        <p:spPr>
          <a:xfrm>
            <a:off x="1371600" y="3302298"/>
            <a:ext cx="2991941" cy="165100"/>
          </a:xfrm>
          <a:prstGeom prst="rect">
            <a:avLst/>
          </a:prstGeom>
          <a:noFill/>
          <a:ln/>
        </p:spPr>
        <p:txBody>
          <a:bodyPr wrap="none" lIns="0" tIns="0" rIns="0" bIns="0" rtlCol="0" anchor="ctr"/>
          <a:lstStyle/>
          <a:p>
            <a:pPr indent="0" marL="0">
              <a:buNone/>
            </a:pPr>
            <a:r>
              <a:rPr lang="zh-CN" altLang="en-US" sz="900" spc="-4" kern="0" dirty="0">
                <a:solidFill>
                  <a:srgbClr val="B1BACB"/>
                </a:solidFill>
                <a:latin typeface="Heiti SC" pitchFamily="34" charset="0"/>
                <a:ea typeface="Heiti SC" pitchFamily="34" charset="-122"/>
                <a:cs typeface="Heiti SC" pitchFamily="34" charset="-120"/>
              </a:rPr>
              <a:t>7×24 小时分秒响应，合理客户服务结构，即时响应客户需</a:t>
            </a:r>
            <a:endParaRPr lang="zh-CN" sz="900" dirty="0"/>
          </a:p>
        </p:txBody>
      </p:sp>
      <p:sp>
        <p:nvSpPr>
          <p:cNvPr id="11" name="Text 9: 求"/>
          <p:cNvSpPr/>
          <p:nvPr/>
        </p:nvSpPr>
        <p:spPr>
          <a:xfrm>
            <a:off x="1371600" y="3479403"/>
            <a:ext cx="190500" cy="165100"/>
          </a:xfrm>
          <a:prstGeom prst="rect">
            <a:avLst/>
          </a:prstGeom>
          <a:noFill/>
          <a:ln/>
        </p:spPr>
        <p:txBody>
          <a:bodyPr wrap="none" lIns="0" tIns="0" rIns="0" bIns="0" rtlCol="0" anchor="ctr"/>
          <a:lstStyle/>
          <a:p>
            <a:pPr indent="0" marL="0">
              <a:buNone/>
            </a:pPr>
            <a:r>
              <a:rPr lang="zh-CN" altLang="en-US" sz="900" dirty="0">
                <a:solidFill>
                  <a:srgbClr val="B0BACA"/>
                </a:solidFill>
                <a:latin typeface="Heiti SC" pitchFamily="34" charset="0"/>
                <a:ea typeface="Heiti SC" pitchFamily="34" charset="-122"/>
                <a:cs typeface="Heiti SC" pitchFamily="34" charset="-120"/>
              </a:rPr>
              <a:t>求</a:t>
            </a:r>
            <a:endParaRPr lang="zh-CN" sz="900" dirty="0"/>
          </a:p>
        </p:txBody>
      </p:sp>
      <p:sp>
        <p:nvSpPr>
          <p:cNvPr id="12" name="Text 10: 团队实力"/>
          <p:cNvSpPr/>
          <p:nvPr/>
        </p:nvSpPr>
        <p:spPr>
          <a:xfrm>
            <a:off x="1371600" y="4024809"/>
            <a:ext cx="609600" cy="177800"/>
          </a:xfrm>
          <a:prstGeom prst="rect">
            <a:avLst/>
          </a:prstGeom>
          <a:noFill/>
          <a:ln/>
        </p:spPr>
        <p:txBody>
          <a:bodyPr wrap="none" lIns="0" tIns="0" rIns="0" bIns="0" rtlCol="0" anchor="ctr"/>
          <a:lstStyle/>
          <a:p>
            <a:pPr indent="0" marL="0">
              <a:buNone/>
            </a:pPr>
            <a:r>
              <a:rPr lang="zh-CN" altLang="en-US" sz="1050" b="1" dirty="0">
                <a:solidFill>
                  <a:srgbClr val="FFFFFF"/>
                </a:solidFill>
                <a:latin typeface="Heiti SC" pitchFamily="34" charset="0"/>
                <a:ea typeface="Heiti SC" pitchFamily="34" charset="-122"/>
                <a:cs typeface="Heiti SC" pitchFamily="34" charset="-120"/>
              </a:rPr>
              <a:t>团队实力</a:t>
            </a:r>
            <a:endParaRPr lang="zh-CN" sz="1050" dirty="0"/>
          </a:p>
        </p:txBody>
      </p:sp>
      <p:sp>
        <p:nvSpPr>
          <p:cNvPr id="13" name="Text 11: 10 年以上专业团队，深厚运营商资源和互联网通信运营经"/>
          <p:cNvSpPr/>
          <p:nvPr/>
        </p:nvSpPr>
        <p:spPr>
          <a:xfrm>
            <a:off x="1371600" y="4221659"/>
            <a:ext cx="2968427" cy="165100"/>
          </a:xfrm>
          <a:prstGeom prst="rect">
            <a:avLst/>
          </a:prstGeom>
          <a:noFill/>
          <a:ln/>
        </p:spPr>
        <p:txBody>
          <a:bodyPr wrap="none" lIns="0" tIns="0" rIns="0" bIns="0" rtlCol="0" anchor="ctr"/>
          <a:lstStyle/>
          <a:p>
            <a:pPr indent="0" marL="0">
              <a:buNone/>
            </a:pPr>
            <a:r>
              <a:rPr lang="zh-CN" altLang="en-US" sz="900" spc="-2" kern="0" dirty="0">
                <a:solidFill>
                  <a:srgbClr val="B1BCCD"/>
                </a:solidFill>
                <a:latin typeface="Heiti SC" pitchFamily="34" charset="0"/>
                <a:ea typeface="Heiti SC" pitchFamily="34" charset="-122"/>
                <a:cs typeface="Heiti SC" pitchFamily="34" charset="-120"/>
              </a:rPr>
              <a:t>10 年以上专业团队，深厚运营商资源和互联网通信运营经</a:t>
            </a:r>
            <a:endParaRPr lang="zh-CN" sz="900" dirty="0"/>
          </a:p>
        </p:txBody>
      </p:sp>
      <p:sp>
        <p:nvSpPr>
          <p:cNvPr id="14" name="Text 12: 验"/>
          <p:cNvSpPr/>
          <p:nvPr/>
        </p:nvSpPr>
        <p:spPr>
          <a:xfrm>
            <a:off x="1371600" y="4398764"/>
            <a:ext cx="190500" cy="165100"/>
          </a:xfrm>
          <a:prstGeom prst="rect">
            <a:avLst/>
          </a:prstGeom>
          <a:noFill/>
          <a:ln/>
        </p:spPr>
        <p:txBody>
          <a:bodyPr wrap="none" lIns="0" tIns="0" rIns="0" bIns="0" rtlCol="0" anchor="ctr"/>
          <a:lstStyle/>
          <a:p>
            <a:pPr indent="0" marL="0">
              <a:buNone/>
            </a:pPr>
            <a:r>
              <a:rPr lang="zh-CN" altLang="en-US" sz="900" dirty="0">
                <a:solidFill>
                  <a:srgbClr val="B1BBCD"/>
                </a:solidFill>
                <a:latin typeface="Heiti SC" pitchFamily="34" charset="0"/>
                <a:ea typeface="Heiti SC" pitchFamily="34" charset="-122"/>
                <a:cs typeface="Heiti SC" pitchFamily="34" charset="-120"/>
              </a:rPr>
              <a:t>验</a:t>
            </a:r>
            <a:endParaRPr lang="zh-CN" sz="900" dirty="0"/>
          </a:p>
        </p:txBody>
      </p:sp>
      <p:sp>
        <p:nvSpPr>
          <p:cNvPr id="15" name="Text 13: 精细化运营"/>
          <p:cNvSpPr/>
          <p:nvPr/>
        </p:nvSpPr>
        <p:spPr>
          <a:xfrm>
            <a:off x="1371600" y="4944170"/>
            <a:ext cx="742950" cy="177800"/>
          </a:xfrm>
          <a:prstGeom prst="rect">
            <a:avLst/>
          </a:prstGeom>
          <a:noFill/>
          <a:ln/>
        </p:spPr>
        <p:txBody>
          <a:bodyPr wrap="none" lIns="0" tIns="0" rIns="0" bIns="0" rtlCol="0" anchor="ctr"/>
          <a:lstStyle/>
          <a:p>
            <a:pPr indent="0" marL="0">
              <a:buNone/>
            </a:pPr>
            <a:r>
              <a:rPr lang="zh-CN" altLang="en-US" sz="1050" b="1" dirty="0">
                <a:solidFill>
                  <a:srgbClr val="FFFFFF"/>
                </a:solidFill>
                <a:latin typeface="Heiti SC" pitchFamily="34" charset="0"/>
                <a:ea typeface="Heiti SC" pitchFamily="34" charset="-122"/>
                <a:cs typeface="Heiti SC" pitchFamily="34" charset="-120"/>
              </a:rPr>
              <a:t>精细化运营</a:t>
            </a:r>
            <a:endParaRPr lang="zh-CN" sz="1050" dirty="0"/>
          </a:p>
        </p:txBody>
      </p:sp>
      <p:sp>
        <p:nvSpPr>
          <p:cNvPr id="16" name="Text 14: 以精细化运营保障每一次服务的稳定与品质"/>
          <p:cNvSpPr/>
          <p:nvPr/>
        </p:nvSpPr>
        <p:spPr>
          <a:xfrm>
            <a:off x="1371600" y="5141020"/>
            <a:ext cx="2247900" cy="165100"/>
          </a:xfrm>
          <a:prstGeom prst="rect">
            <a:avLst/>
          </a:prstGeom>
          <a:noFill/>
          <a:ln/>
        </p:spPr>
        <p:txBody>
          <a:bodyPr wrap="none" lIns="0" tIns="0" rIns="0" bIns="0" rtlCol="0" anchor="ctr"/>
          <a:lstStyle/>
          <a:p>
            <a:pPr indent="0" marL="0">
              <a:buNone/>
            </a:pPr>
            <a:r>
              <a:rPr lang="zh-CN" altLang="en-US" sz="900" dirty="0">
                <a:solidFill>
                  <a:srgbClr val="B1BDD0"/>
                </a:solidFill>
                <a:latin typeface="Heiti SC" pitchFamily="34" charset="0"/>
                <a:ea typeface="Heiti SC" pitchFamily="34" charset="-122"/>
                <a:cs typeface="Heiti SC" pitchFamily="34" charset="-120"/>
              </a:rPr>
              <a:t>以精细化运营保障每一次服务的稳定与品质</a:t>
            </a:r>
            <a:endParaRPr lang="zh-CN" sz="900" dirty="0"/>
          </a:p>
        </p:txBody>
      </p:sp>
      <p:sp>
        <p:nvSpPr>
          <p:cNvPr id="17" name="Text 15: 运营商网关异常"/>
          <p:cNvSpPr/>
          <p:nvPr/>
        </p:nvSpPr>
        <p:spPr>
          <a:xfrm>
            <a:off x="5276850" y="1911350"/>
            <a:ext cx="127635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运营商网关异常</a:t>
            </a:r>
            <a:endParaRPr lang="zh-CN" sz="1350" dirty="0"/>
          </a:p>
        </p:txBody>
      </p:sp>
      <p:sp>
        <p:nvSpPr>
          <p:cNvPr id="18" name="Text 16: 多通道智能路由和并联技术，结合通道自动监控"/>
          <p:cNvSpPr/>
          <p:nvPr/>
        </p:nvSpPr>
        <p:spPr>
          <a:xfrm>
            <a:off x="5276850" y="2235200"/>
            <a:ext cx="2676525"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多通道智能路由和并联技术，结合通道自动监控</a:t>
            </a:r>
            <a:endParaRPr lang="zh-CN" sz="975" dirty="0"/>
          </a:p>
        </p:txBody>
      </p:sp>
      <p:sp>
        <p:nvSpPr>
          <p:cNvPr id="19" name="Text 17: 切换机制，即时解决运营商网关异常"/>
          <p:cNvSpPr/>
          <p:nvPr/>
        </p:nvSpPr>
        <p:spPr>
          <a:xfrm>
            <a:off x="5276850" y="2445643"/>
            <a:ext cx="2057400"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切换机制，即时解决运营商网关异常</a:t>
            </a:r>
            <a:endParaRPr lang="zh-CN" sz="975" dirty="0"/>
          </a:p>
        </p:txBody>
      </p:sp>
      <p:sp>
        <p:nvSpPr>
          <p:cNvPr id="20" name="Text 18: 平台安全"/>
          <p:cNvSpPr/>
          <p:nvPr/>
        </p:nvSpPr>
        <p:spPr>
          <a:xfrm>
            <a:off x="8629650" y="1911350"/>
            <a:ext cx="76200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平台安全</a:t>
            </a:r>
            <a:endParaRPr lang="zh-CN" sz="1350" dirty="0"/>
          </a:p>
        </p:txBody>
      </p:sp>
      <p:sp>
        <p:nvSpPr>
          <p:cNvPr id="21" name="Text 19: 各业务节点分布式部署，采用多活机制，数据库"/>
          <p:cNvSpPr/>
          <p:nvPr/>
        </p:nvSpPr>
        <p:spPr>
          <a:xfrm>
            <a:off x="8629650" y="2235200"/>
            <a:ext cx="2676525"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各业务节点分布式部署，采用多活机制，数据库</a:t>
            </a:r>
            <a:endParaRPr lang="zh-CN" sz="975" dirty="0"/>
          </a:p>
        </p:txBody>
      </p:sp>
      <p:sp>
        <p:nvSpPr>
          <p:cNvPr id="22" name="Text 20: 节点双机热备，保障平台业务正常运行"/>
          <p:cNvSpPr/>
          <p:nvPr/>
        </p:nvSpPr>
        <p:spPr>
          <a:xfrm>
            <a:off x="8629650" y="2445643"/>
            <a:ext cx="2181225"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节点双机热备，保障平台业务正常运行</a:t>
            </a:r>
            <a:endParaRPr lang="zh-CN" sz="975" dirty="0"/>
          </a:p>
        </p:txBody>
      </p:sp>
      <p:sp>
        <p:nvSpPr>
          <p:cNvPr id="23" name="Text 21: 数据安全"/>
          <p:cNvSpPr/>
          <p:nvPr/>
        </p:nvSpPr>
        <p:spPr>
          <a:xfrm>
            <a:off x="5276850" y="4359275"/>
            <a:ext cx="76200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数据安全</a:t>
            </a:r>
            <a:endParaRPr lang="zh-CN" sz="1350" dirty="0"/>
          </a:p>
        </p:txBody>
      </p:sp>
      <p:sp>
        <p:nvSpPr>
          <p:cNvPr id="24" name="Text 22: 高性能防火墙、VPN、专线连接，底层数据存储"/>
          <p:cNvSpPr/>
          <p:nvPr/>
        </p:nvSpPr>
        <p:spPr>
          <a:xfrm>
            <a:off x="5276850" y="4683125"/>
            <a:ext cx="2682577" cy="171450"/>
          </a:xfrm>
          <a:prstGeom prst="rect">
            <a:avLst/>
          </a:prstGeom>
          <a:noFill/>
          <a:ln/>
        </p:spPr>
        <p:txBody>
          <a:bodyPr wrap="none" lIns="0" tIns="0" rIns="0" bIns="0" rtlCol="0" anchor="ctr"/>
          <a:lstStyle/>
          <a:p>
            <a:pPr indent="0" marL="0">
              <a:buNone/>
            </a:pPr>
            <a:r>
              <a:rPr lang="zh-CN" altLang="en-US" sz="975" spc="1" kern="0" dirty="0">
                <a:solidFill>
                  <a:srgbClr val="5A6B85"/>
                </a:solidFill>
                <a:latin typeface="Heiti SC" pitchFamily="34" charset="0"/>
                <a:ea typeface="Heiti SC" pitchFamily="34" charset="-122"/>
                <a:cs typeface="Heiti SC" pitchFamily="34" charset="-120"/>
              </a:rPr>
              <a:t>高性能防火墙、VPN、专线连接，底层数据存储</a:t>
            </a:r>
            <a:endParaRPr lang="zh-CN" sz="975" dirty="0"/>
          </a:p>
        </p:txBody>
      </p:sp>
      <p:sp>
        <p:nvSpPr>
          <p:cNvPr id="25" name="Text 23: 对称加密、数据库热备等多重保障"/>
          <p:cNvSpPr/>
          <p:nvPr/>
        </p:nvSpPr>
        <p:spPr>
          <a:xfrm>
            <a:off x="5276850" y="4893568"/>
            <a:ext cx="1933575"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对称加密、数据库热备等多重保障</a:t>
            </a:r>
            <a:endParaRPr lang="zh-CN" sz="975" dirty="0"/>
          </a:p>
        </p:txBody>
      </p:sp>
      <p:sp>
        <p:nvSpPr>
          <p:cNvPr id="26" name="Text 24: 其他增值服务"/>
          <p:cNvSpPr/>
          <p:nvPr/>
        </p:nvSpPr>
        <p:spPr>
          <a:xfrm>
            <a:off x="8629650" y="4359275"/>
            <a:ext cx="1104900" cy="228600"/>
          </a:xfrm>
          <a:prstGeom prst="rect">
            <a:avLst/>
          </a:prstGeom>
          <a:noFill/>
          <a:ln/>
        </p:spPr>
        <p:txBody>
          <a:bodyPr wrap="none" lIns="0" tIns="0" rIns="0" bIns="0" rtlCol="0" anchor="ctr"/>
          <a:lstStyle/>
          <a:p>
            <a:pPr indent="0" marL="0">
              <a:buNone/>
            </a:pPr>
            <a:r>
              <a:rPr lang="zh-CN" altLang="en-US" sz="1350" b="1" dirty="0">
                <a:solidFill>
                  <a:srgbClr val="0A1F44"/>
                </a:solidFill>
                <a:latin typeface="Heiti SC" pitchFamily="34" charset="0"/>
                <a:ea typeface="Heiti SC" pitchFamily="34" charset="-122"/>
                <a:cs typeface="Heiti SC" pitchFamily="34" charset="-120"/>
              </a:rPr>
              <a:t>其他增值服务</a:t>
            </a:r>
            <a:endParaRPr lang="zh-CN" sz="1350" dirty="0"/>
          </a:p>
        </p:txBody>
      </p:sp>
      <p:sp>
        <p:nvSpPr>
          <p:cNvPr id="27" name="Text 25: 根据客户需求个性化定制相关增值服务，满足客"/>
          <p:cNvSpPr/>
          <p:nvPr/>
        </p:nvSpPr>
        <p:spPr>
          <a:xfrm>
            <a:off x="8629650" y="4683125"/>
            <a:ext cx="2676525"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根据客户需求个性化定制相关增值服务，满足客</a:t>
            </a:r>
            <a:endParaRPr lang="zh-CN" sz="975" dirty="0"/>
          </a:p>
        </p:txBody>
      </p:sp>
      <p:sp>
        <p:nvSpPr>
          <p:cNvPr id="28" name="Text 26: 户个性化需求"/>
          <p:cNvSpPr/>
          <p:nvPr/>
        </p:nvSpPr>
        <p:spPr>
          <a:xfrm>
            <a:off x="8629650" y="4893568"/>
            <a:ext cx="819150" cy="171450"/>
          </a:xfrm>
          <a:prstGeom prst="rect">
            <a:avLst/>
          </a:prstGeom>
          <a:noFill/>
          <a:ln/>
        </p:spPr>
        <p:txBody>
          <a:bodyPr wrap="none" lIns="0" tIns="0" rIns="0" bIns="0" rtlCol="0" anchor="ctr"/>
          <a:lstStyle/>
          <a:p>
            <a:pPr indent="0" marL="0">
              <a:buNone/>
            </a:pPr>
            <a:r>
              <a:rPr lang="zh-CN" altLang="en-US" sz="975" dirty="0">
                <a:solidFill>
                  <a:srgbClr val="5A6B85"/>
                </a:solidFill>
                <a:latin typeface="Heiti SC" pitchFamily="34" charset="0"/>
                <a:ea typeface="Heiti SC" pitchFamily="34" charset="-122"/>
                <a:cs typeface="Heiti SC" pitchFamily="34" charset="-120"/>
              </a:rPr>
              <a:t>户个性化需求</a:t>
            </a:r>
            <a:endParaRPr lang="zh-CN" sz="975" dirty="0"/>
          </a:p>
        </p:txBody>
      </p:sp>
      <p:sp>
        <p:nvSpPr>
          <p:cNvPr id="29" name="Text 27: 24 / 25"/>
          <p:cNvSpPr/>
          <p:nvPr/>
        </p:nvSpPr>
        <p:spPr>
          <a:xfrm>
            <a:off x="11680627" y="6591300"/>
            <a:ext cx="460573" cy="165100"/>
          </a:xfrm>
          <a:prstGeom prst="rect">
            <a:avLst/>
          </a:prstGeom>
          <a:noFill/>
          <a:ln/>
        </p:spPr>
        <p:txBody>
          <a:bodyPr wrap="none" lIns="0" tIns="0" rIns="0" bIns="0" rtlCol="0" anchor="ctr"/>
          <a:lstStyle/>
          <a:p>
            <a:pPr indent="0" marL="0">
              <a:buNone/>
            </a:pPr>
            <a:r>
              <a:rPr lang="zh-CN" altLang="en-US" sz="900" spc="46" kern="0" dirty="0">
                <a:solidFill>
                  <a:srgbClr val="8A94A6"/>
                </a:solidFill>
                <a:latin typeface="Arial" pitchFamily="34" charset="0"/>
                <a:ea typeface="Arial" pitchFamily="34" charset="-122"/>
                <a:cs typeface="Arial" pitchFamily="34" charset="-120"/>
              </a:rPr>
              <a:t>24 / 25</a:t>
            </a:r>
            <a:endParaRPr lang="zh-CN"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Users/joozo/WySync/ObBidding/wiki/pptx/UMC/build/generated/backgrounds/slide-25.png">    </p:cNvPr>
          <p:cNvPicPr>
            <a:picLocks noChangeAspect="1"/>
          </p:cNvPicPr>
          <p:nvPr/>
        </p:nvPicPr>
        <p:blipFill>
          <a:blip r:embed="rId1"/>
          <a:stretch>
            <a:fillRect/>
          </a:stretch>
        </p:blipFill>
        <p:spPr>
          <a:xfrm>
            <a:off x="0" y="0"/>
            <a:ext cx="12192000" cy="6858000"/>
          </a:xfrm>
          <a:prstGeom prst="rect">
            <a:avLst/>
          </a:prstGeom>
        </p:spPr>
      </p:pic>
      <p:pic>
        <p:nvPicPr>
          <p:cNvPr id="3" name="Customer logo: 中国农业银行" descr="中国农业银行">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7725" y="1391489"/>
            <a:ext cx="1238250" cy="239622"/>
          </a:xfrm>
          <a:prstGeom prst="rect">
            <a:avLst/>
          </a:prstGeom>
        </p:spPr>
      </p:pic>
      <p:pic>
        <p:nvPicPr>
          <p:cNvPr id="4" name="Customer logo: 招商银行" descr="招商银行">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99345" y="1361502"/>
            <a:ext cx="1238250" cy="299596"/>
          </a:xfrm>
          <a:prstGeom prst="rect">
            <a:avLst/>
          </a:prstGeom>
        </p:spPr>
      </p:pic>
      <p:pic>
        <p:nvPicPr>
          <p:cNvPr id="5" name="Customer logo: 上海银行" descr="上海银行">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51065" y="1356820"/>
            <a:ext cx="1238250" cy="308959"/>
          </a:xfrm>
          <a:prstGeom prst="rect">
            <a:avLst/>
          </a:prstGeom>
        </p:spPr>
      </p:pic>
      <p:pic>
        <p:nvPicPr>
          <p:cNvPr id="6" name="Customer logo: 江苏银行" descr="江苏银行">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02685" y="1334493"/>
            <a:ext cx="1238250" cy="353613"/>
          </a:xfrm>
          <a:prstGeom prst="rect">
            <a:avLst/>
          </a:prstGeom>
        </p:spPr>
      </p:pic>
      <p:pic>
        <p:nvPicPr>
          <p:cNvPr id="7" name="Customer logo: 日照银行" descr="日照银行">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254405" y="1349579"/>
            <a:ext cx="1238250" cy="323442"/>
          </a:xfrm>
          <a:prstGeom prst="rect">
            <a:avLst/>
          </a:prstGeom>
        </p:spPr>
      </p:pic>
      <p:pic>
        <p:nvPicPr>
          <p:cNvPr id="8" name="Customer logo: 湖南三湘银行" descr="湖南三湘银行">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106025" y="1379066"/>
            <a:ext cx="1238250" cy="264469"/>
          </a:xfrm>
          <a:prstGeom prst="rect">
            <a:avLst/>
          </a:prstGeom>
        </p:spPr>
      </p:pic>
      <p:pic>
        <p:nvPicPr>
          <p:cNvPr id="9" name="Customer logo: 威海市商业银行" descr="威海市商业银行">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7725" y="2557069"/>
            <a:ext cx="1238250" cy="215695"/>
          </a:xfrm>
          <a:prstGeom prst="rect">
            <a:avLst/>
          </a:prstGeom>
        </p:spPr>
      </p:pic>
      <p:pic>
        <p:nvPicPr>
          <p:cNvPr id="10" name="Customer logo: 浙江稠州商业银行" descr="浙江稠州商业银行">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699345" y="2549660"/>
            <a:ext cx="1238250" cy="230512"/>
          </a:xfrm>
          <a:prstGeom prst="rect">
            <a:avLst/>
          </a:prstGeom>
        </p:spPr>
      </p:pic>
      <p:pic>
        <p:nvPicPr>
          <p:cNvPr id="11" name="Customer logo: 携程旅行" descr="携程旅行">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106025" y="2435768"/>
            <a:ext cx="1238250" cy="458298"/>
          </a:xfrm>
          <a:prstGeom prst="rect">
            <a:avLst/>
          </a:prstGeom>
        </p:spPr>
      </p:pic>
      <p:pic>
        <p:nvPicPr>
          <p:cNvPr id="12" name="Customer logo: 滴滴" descr="滴滴">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2699345" y="3615241"/>
            <a:ext cx="1238250" cy="406386"/>
          </a:xfrm>
          <a:prstGeom prst="rect">
            <a:avLst/>
          </a:prstGeom>
        </p:spPr>
      </p:pic>
      <p:pic>
        <p:nvPicPr>
          <p:cNvPr id="13" name="Customer logo: 海尔" descr="海尔">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6402685" y="3695344"/>
            <a:ext cx="1238250" cy="246179"/>
          </a:xfrm>
          <a:prstGeom prst="rect">
            <a:avLst/>
          </a:prstGeom>
        </p:spPr>
      </p:pic>
      <p:pic>
        <p:nvPicPr>
          <p:cNvPr id="14" name="Customer logo: 汽车之家" descr="汽车之家">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10106025" y="3589451"/>
            <a:ext cx="1238250" cy="457966"/>
          </a:xfrm>
          <a:prstGeom prst="rect">
            <a:avLst/>
          </a:prstGeom>
        </p:spPr>
      </p:pic>
      <p:pic>
        <p:nvPicPr>
          <p:cNvPr id="15" name="Customer logo: 阿里云" descr="阿里云">    </p:cNvPr>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47725" y="4833588"/>
            <a:ext cx="1238250" cy="276923"/>
          </a:xfrm>
          <a:prstGeom prst="rect">
            <a:avLst/>
          </a:prstGeom>
        </p:spPr>
      </p:pic>
      <p:pic>
        <p:nvPicPr>
          <p:cNvPr id="16" name="Customer logo: 猫眼电影" descr="猫眼电影">    </p:cNvPr>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3017152" y="4676775"/>
            <a:ext cx="602637" cy="590550"/>
          </a:xfrm>
          <a:prstGeom prst="rect">
            <a:avLst/>
          </a:prstGeom>
        </p:spPr>
      </p:pic>
      <p:pic>
        <p:nvPicPr>
          <p:cNvPr id="17" name="Customer logo: 浪潮" descr="浪潮">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10106025" y="4864556"/>
            <a:ext cx="1238250" cy="214988"/>
          </a:xfrm>
          <a:prstGeom prst="rect">
            <a:avLst/>
          </a:prstGeom>
        </p:spPr>
      </p:pic>
      <p:sp>
        <p:nvSpPr>
          <p:cNvPr id="18" name="Text 1: 03 · 典型案例"/>
          <p:cNvSpPr/>
          <p:nvPr/>
        </p:nvSpPr>
        <p:spPr>
          <a:xfrm>
            <a:off x="609600" y="285750"/>
            <a:ext cx="994966" cy="177800"/>
          </a:xfrm>
          <a:prstGeom prst="rect">
            <a:avLst/>
          </a:prstGeom>
          <a:noFill/>
          <a:ln/>
        </p:spPr>
        <p:txBody>
          <a:bodyPr wrap="none" lIns="0" tIns="0" rIns="0" bIns="0" rtlCol="0" anchor="ctr"/>
          <a:lstStyle/>
          <a:p>
            <a:pPr indent="0" marL="0">
              <a:buNone/>
            </a:pPr>
            <a:r>
              <a:rPr lang="zh-CN" altLang="en-US" sz="1000" b="1" spc="78" kern="0" dirty="0">
                <a:solidFill>
                  <a:srgbClr val="F02D4E"/>
                </a:solidFill>
                <a:latin typeface="Heiti SC" pitchFamily="34" charset="0"/>
                <a:ea typeface="Heiti SC" pitchFamily="34" charset="-122"/>
                <a:cs typeface="Heiti SC" pitchFamily="34" charset="-120"/>
              </a:rPr>
              <a:t>03 · 典型案例</a:t>
            </a:r>
            <a:endParaRPr lang="zh-CN" sz="1000" dirty="0"/>
          </a:p>
        </p:txBody>
      </p:sp>
      <p:sp>
        <p:nvSpPr>
          <p:cNvPr id="19" name="Text 2: 典型案例"/>
          <p:cNvSpPr/>
          <p:nvPr/>
        </p:nvSpPr>
        <p:spPr>
          <a:xfrm>
            <a:off x="609600" y="546100"/>
            <a:ext cx="1231900" cy="349250"/>
          </a:xfrm>
          <a:prstGeom prst="rect">
            <a:avLst/>
          </a:prstGeom>
          <a:noFill/>
          <a:ln/>
        </p:spPr>
        <p:txBody>
          <a:bodyPr wrap="none" lIns="0" tIns="0" rIns="0" bIns="0" rtlCol="0" anchor="ctr"/>
          <a:lstStyle/>
          <a:p>
            <a:pPr indent="0" marL="0">
              <a:buNone/>
            </a:pPr>
            <a:r>
              <a:rPr lang="zh-CN" altLang="en-US" sz="2250" b="1" spc="33" kern="0" dirty="0">
                <a:solidFill>
                  <a:srgbClr val="0A1F44"/>
                </a:solidFill>
                <a:latin typeface="Heiti SC" pitchFamily="34" charset="0"/>
                <a:ea typeface="Heiti SC" pitchFamily="34" charset="-122"/>
                <a:cs typeface="Heiti SC" pitchFamily="34" charset="-120"/>
              </a:rPr>
              <a:t>典型案例</a:t>
            </a:r>
            <a:endParaRPr lang="zh-CN" sz="2250" dirty="0"/>
          </a:p>
        </p:txBody>
      </p:sp>
      <p:sp>
        <p:nvSpPr>
          <p:cNvPr id="20" name="Text 3: 众多知名企业正在使用微网通联的云通信服务"/>
          <p:cNvSpPr/>
          <p:nvPr/>
        </p:nvSpPr>
        <p:spPr>
          <a:xfrm>
            <a:off x="2527300" y="638175"/>
            <a:ext cx="2743200" cy="177800"/>
          </a:xfrm>
          <a:prstGeom prst="rect">
            <a:avLst/>
          </a:prstGeom>
          <a:noFill/>
          <a:ln/>
        </p:spPr>
        <p:txBody>
          <a:bodyPr wrap="none" lIns="0" tIns="0" rIns="0" bIns="0" rtlCol="0" anchor="ctr"/>
          <a:lstStyle/>
          <a:p>
            <a:pPr indent="0" marL="0">
              <a:buNone/>
            </a:pPr>
            <a:r>
              <a:rPr lang="zh-CN" altLang="en-US" sz="1050" dirty="0">
                <a:solidFill>
                  <a:srgbClr val="5A6B85"/>
                </a:solidFill>
                <a:latin typeface="Heiti SC" pitchFamily="34" charset="0"/>
                <a:ea typeface="Heiti SC" pitchFamily="34" charset="-122"/>
                <a:cs typeface="Heiti SC" pitchFamily="34" charset="-120"/>
              </a:rPr>
              <a:t>众多知名企业正在使用微网通联的云通信服务</a:t>
            </a:r>
            <a:endParaRPr lang="zh-CN" sz="1050" dirty="0"/>
          </a:p>
        </p:txBody>
      </p:sp>
      <p:sp>
        <p:nvSpPr>
          <p:cNvPr id="21" name="Text 4: 5000+ 企业的共同选择，覆盖出行、电商、金融、政企、互联"/>
          <p:cNvSpPr/>
          <p:nvPr/>
        </p:nvSpPr>
        <p:spPr>
          <a:xfrm>
            <a:off x="4168973" y="5613400"/>
            <a:ext cx="3930154" cy="171450"/>
          </a:xfrm>
          <a:prstGeom prst="rect">
            <a:avLst/>
          </a:prstGeom>
          <a:noFill/>
          <a:ln/>
        </p:spPr>
        <p:txBody>
          <a:bodyPr wrap="none" lIns="0" tIns="0" rIns="0" bIns="0" rtlCol="0" anchor="ctr"/>
          <a:lstStyle/>
          <a:p>
            <a:pPr indent="0" marL="0">
              <a:buNone/>
            </a:pPr>
            <a:r>
              <a:rPr lang="zh-CN" altLang="en-US" sz="975" spc="2" kern="0" dirty="0">
                <a:solidFill>
                  <a:srgbClr val="5A6B85"/>
                </a:solidFill>
                <a:latin typeface="Heiti SC" pitchFamily="34" charset="0"/>
                <a:ea typeface="Heiti SC" pitchFamily="34" charset="-122"/>
                <a:cs typeface="Heiti SC" pitchFamily="34" charset="-120"/>
              </a:rPr>
              <a:t>5000+ 企业的共同选择，覆盖出行、电商、金融、政企、互联网等行业</a:t>
            </a:r>
            <a:endParaRPr lang="zh-CN" sz="975" dirty="0"/>
          </a:p>
        </p:txBody>
      </p:sp>
      <p:sp>
        <p:nvSpPr>
          <p:cNvPr id="22" name="Text 5: 25 / 25"/>
          <p:cNvSpPr/>
          <p:nvPr/>
        </p:nvSpPr>
        <p:spPr>
          <a:xfrm>
            <a:off x="11678841" y="6591300"/>
            <a:ext cx="462359" cy="165100"/>
          </a:xfrm>
          <a:prstGeom prst="rect">
            <a:avLst/>
          </a:prstGeom>
          <a:noFill/>
          <a:ln/>
        </p:spPr>
        <p:txBody>
          <a:bodyPr wrap="none" lIns="0" tIns="0" rIns="0" bIns="0" rtlCol="0" anchor="ctr"/>
          <a:lstStyle/>
          <a:p>
            <a:pPr indent="0" marL="0">
              <a:buNone/>
            </a:pPr>
            <a:r>
              <a:rPr lang="zh-CN" altLang="en-US" sz="900" spc="48" kern="0" dirty="0">
                <a:solidFill>
                  <a:srgbClr val="8A94A6"/>
                </a:solidFill>
                <a:latin typeface="Arial" pitchFamily="34" charset="0"/>
                <a:ea typeface="Arial" pitchFamily="34" charset="-122"/>
                <a:cs typeface="Arial" pitchFamily="34" charset="-120"/>
              </a:rPr>
              <a:t>25 / 25</a:t>
            </a:r>
            <a:endParaRPr lang="zh-CN"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iti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iti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北京微网通联股份有限公司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微网通联业务介绍</dc:title>
  <dc:subject>云通信业务介绍</dc:subject>
  <dc:creator>微网通联</dc:creator>
  <cp:lastModifiedBy>微网通联</cp:lastModifiedBy>
  <cp:revision>1</cp:revision>
  <dcterms:created xsi:type="dcterms:W3CDTF">2026-10-20T09:16:14Z</dcterms:created>
  <dcterms:modified xsi:type="dcterms:W3CDTF">2026-10-20T09:16:14Z</dcterms:modified>
</cp:coreProperties>
</file>