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MiSans" pitchFamily="2" charset="-122"/>
      <p:regular r:id="rId15"/>
    </p:embeddedFont>
    <p:embeddedFont>
      <p:font typeface="Liter" panose="020F0502020204030204" pitchFamily="34" charset="0"/>
      <p:regular r:id="rId16"/>
      <p:bold r:id="rId17"/>
      <p:italic r:id="rId18"/>
      <p:boldItalic r:id="rId1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23"/>
    <p:restoredTop sz="94610"/>
  </p:normalViewPr>
  <p:slideViewPr>
    <p:cSldViewPr snapToGrid="0" snapToObjects="1">
      <p:cViewPr varScale="1">
        <p:scale>
          <a:sx n="206" d="100"/>
          <a:sy n="206" d="100"/>
        </p:scale>
        <p:origin x="192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8283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rcmaxarchitect.com/9478676b070a8b72fd6b0baf5c0871ef61e57f91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A4F6B"/>
              </a:gs>
              <a:gs pos="50000">
                <a:srgbClr val="0A4F6B">
                  <a:alpha val="0"/>
                </a:srgbClr>
              </a:gs>
              <a:gs pos="100000">
                <a:srgbClr val="4DB6AC"/>
              </a:gs>
            </a:gsLst>
            <a:lin ang="2700000" scaled="1"/>
            <a:tileRect/>
          </a:gra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Text 3"/>
          <p:cNvSpPr/>
          <p:nvPr/>
        </p:nvSpPr>
        <p:spPr>
          <a:xfrm>
            <a:off x="381000" y="1933575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 err="1">
                <a:solidFill>
                  <a:srgbClr val="E8EC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医院</a:t>
            </a:r>
            <a:r>
              <a:rPr lang="zh-CN" altLang="en-US" sz="5400" b="1" dirty="0">
                <a:solidFill>
                  <a:srgbClr val="E8EC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数字化</a:t>
            </a:r>
            <a:r>
              <a:rPr lang="en-US" altLang="zh-CN" sz="4800" b="1" dirty="0">
                <a:solidFill>
                  <a:srgbClr val="E8EC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</a:t>
            </a:r>
            <a:r>
              <a:rPr lang="zh-CN" altLang="en-US" sz="4800" b="1" dirty="0">
                <a:solidFill>
                  <a:srgbClr val="E8EC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通信解决方案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381000" y="330349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447799" y="3151095"/>
            <a:ext cx="46346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2250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本地化部署消息管理平台</a:t>
            </a:r>
            <a:r>
              <a:rPr lang="en-US" altLang="zh-CN" sz="2250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【GMP】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4238625"/>
            <a:ext cx="74104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8ECE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构建安全、高效、智能的医疗通信新引擎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8ECE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助力医院数字化转型与信创升级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57102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8ECE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381000" y="5943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1066800" y="5962650"/>
            <a:ext cx="101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C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微网通联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66800" y="6229350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CE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51welink.com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691143" y="6096000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E8ECE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</a:t>
            </a:r>
            <a:r>
              <a:rPr lang="en-US" altLang="zh-CN" sz="1200" dirty="0">
                <a:solidFill>
                  <a:srgbClr val="E8ECE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pic>
        <p:nvPicPr>
          <p:cNvPr id="19" name="图片 18" descr="文本, 徽标&#10;&#10;AI 生成的内容可能不正确。">
            <a:extLst>
              <a:ext uri="{FF2B5EF4-FFF2-40B4-BE49-F238E27FC236}">
                <a16:creationId xmlns:a16="http://schemas.microsoft.com/office/drawing/2014/main" id="{E11EE89D-6EDC-7898-067A-D2B137A30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6474" y="294941"/>
            <a:ext cx="2054819" cy="500397"/>
          </a:xfrm>
          <a:prstGeom prst="rect">
            <a:avLst/>
          </a:prstGeom>
        </p:spPr>
      </p:pic>
      <p:sp>
        <p:nvSpPr>
          <p:cNvPr id="16" name="Text 13">
            <a:extLst>
              <a:ext uri="{FF2B5EF4-FFF2-40B4-BE49-F238E27FC236}">
                <a16:creationId xmlns:a16="http://schemas.microsoft.com/office/drawing/2014/main" id="{A148754B-7A1B-5EAB-D6FA-DE8B0500AAD8}"/>
              </a:ext>
            </a:extLst>
          </p:cNvPr>
          <p:cNvSpPr/>
          <p:nvPr/>
        </p:nvSpPr>
        <p:spPr>
          <a:xfrm>
            <a:off x="2388059" y="5948624"/>
            <a:ext cx="676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59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56+</a:t>
            </a:r>
            <a:endParaRPr lang="en-US" sz="16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77637D91-FC0F-069D-A3DB-BADC50D60298}"/>
              </a:ext>
            </a:extLst>
          </p:cNvPr>
          <p:cNvSpPr/>
          <p:nvPr/>
        </p:nvSpPr>
        <p:spPr>
          <a:xfrm>
            <a:off x="2426159" y="6291524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服务医院</a:t>
            </a:r>
            <a:endParaRPr lang="en-US" sz="16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02DAD0D-1A97-D6CE-DD31-1EE4318B817C}"/>
              </a:ext>
            </a:extLst>
          </p:cNvPr>
          <p:cNvSpPr/>
          <p:nvPr/>
        </p:nvSpPr>
        <p:spPr>
          <a:xfrm>
            <a:off x="3150059" y="5948624"/>
            <a:ext cx="676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59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10+</a:t>
            </a:r>
            <a:endParaRPr lang="en-US" sz="16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9FCF0FCD-8CA3-129A-7143-6CF8A0B8DD21}"/>
              </a:ext>
            </a:extLst>
          </p:cNvPr>
          <p:cNvSpPr/>
          <p:nvPr/>
        </p:nvSpPr>
        <p:spPr>
          <a:xfrm>
            <a:off x="3188159" y="6291524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行业经验</a:t>
            </a:r>
            <a:endParaRPr lang="en-US" sz="16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C8A13D5F-398E-4CCA-4493-DCC84499C0B0}"/>
              </a:ext>
            </a:extLst>
          </p:cNvPr>
          <p:cNvSpPr/>
          <p:nvPr/>
        </p:nvSpPr>
        <p:spPr>
          <a:xfrm>
            <a:off x="3912059" y="5948624"/>
            <a:ext cx="809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59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99%</a:t>
            </a:r>
            <a:endParaRPr lang="en-US" sz="160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7F2F77F3-925A-8275-7B7A-E2765F313450}"/>
              </a:ext>
            </a:extLst>
          </p:cNvPr>
          <p:cNvSpPr/>
          <p:nvPr/>
        </p:nvSpPr>
        <p:spPr>
          <a:xfrm>
            <a:off x="3950159" y="6291524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客户满意度</a:t>
            </a:r>
            <a:endParaRPr lang="en-US" sz="1600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83" y="5999183"/>
            <a:ext cx="422233" cy="42223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>
            <a:extLst>
              <a:ext uri="{FF2B5EF4-FFF2-40B4-BE49-F238E27FC236}">
                <a16:creationId xmlns:a16="http://schemas.microsoft.com/office/drawing/2014/main" id="{7C75E99A-2701-1A10-D1F7-12D766F32F12}"/>
              </a:ext>
            </a:extLst>
          </p:cNvPr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E595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2" name="Text 1">
            <a:extLst>
              <a:ext uri="{FF2B5EF4-FFF2-40B4-BE49-F238E27FC236}">
                <a16:creationId xmlns:a16="http://schemas.microsoft.com/office/drawing/2014/main" id="{DC2D5BB6-2C91-0372-0D65-5C10CCBC7C91}"/>
              </a:ext>
            </a:extLst>
          </p:cNvPr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5F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44" name="Shape 2">
            <a:extLst>
              <a:ext uri="{FF2B5EF4-FFF2-40B4-BE49-F238E27FC236}">
                <a16:creationId xmlns:a16="http://schemas.microsoft.com/office/drawing/2014/main" id="{45678FA3-9C73-97B7-AAA7-C3FE9AD24029}"/>
              </a:ext>
            </a:extLst>
          </p:cNvPr>
          <p:cNvSpPr/>
          <p:nvPr/>
        </p:nvSpPr>
        <p:spPr>
          <a:xfrm>
            <a:off x="381000" y="12954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59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3">
            <a:extLst>
              <a:ext uri="{FF2B5EF4-FFF2-40B4-BE49-F238E27FC236}">
                <a16:creationId xmlns:a16="http://schemas.microsoft.com/office/drawing/2014/main" id="{DE726E9D-7C8A-D1E1-9E09-BF60B06B83B2}"/>
              </a:ext>
            </a:extLst>
          </p:cNvPr>
          <p:cNvSpPr/>
          <p:nvPr/>
        </p:nvSpPr>
        <p:spPr>
          <a:xfrm>
            <a:off x="400050" y="1638300"/>
            <a:ext cx="5581650" cy="1457325"/>
          </a:xfrm>
          <a:custGeom>
            <a:avLst/>
            <a:gdLst/>
            <a:ahLst/>
            <a:cxnLst/>
            <a:rect l="l" t="t" r="r" b="b"/>
            <a:pathLst>
              <a:path w="5581650" h="1457325">
                <a:moveTo>
                  <a:pt x="38100" y="0"/>
                </a:moveTo>
                <a:lnTo>
                  <a:pt x="5429243" y="0"/>
                </a:lnTo>
                <a:cubicBezTo>
                  <a:pt x="5513415" y="0"/>
                  <a:pt x="5581650" y="68235"/>
                  <a:pt x="5581650" y="152407"/>
                </a:cubicBezTo>
                <a:lnTo>
                  <a:pt x="5581650" y="1304918"/>
                </a:lnTo>
                <a:cubicBezTo>
                  <a:pt x="5581650" y="1389090"/>
                  <a:pt x="5513415" y="1457325"/>
                  <a:pt x="5429243" y="1457325"/>
                </a:cubicBezTo>
                <a:lnTo>
                  <a:pt x="38100" y="1457325"/>
                </a:lnTo>
                <a:cubicBezTo>
                  <a:pt x="17058" y="1457325"/>
                  <a:pt x="0" y="1440267"/>
                  <a:pt x="0" y="1419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4A56F114-1689-68B6-43A0-7EECC1A2CC07}"/>
              </a:ext>
            </a:extLst>
          </p:cNvPr>
          <p:cNvSpPr/>
          <p:nvPr/>
        </p:nvSpPr>
        <p:spPr>
          <a:xfrm>
            <a:off x="400050" y="1638300"/>
            <a:ext cx="38100" cy="1457325"/>
          </a:xfrm>
          <a:custGeom>
            <a:avLst/>
            <a:gdLst/>
            <a:ahLst/>
            <a:cxnLst/>
            <a:rect l="l" t="t" r="r" b="b"/>
            <a:pathLst>
              <a:path w="38100" h="1457325">
                <a:moveTo>
                  <a:pt x="38100" y="0"/>
                </a:moveTo>
                <a:lnTo>
                  <a:pt x="38100" y="0"/>
                </a:lnTo>
                <a:lnTo>
                  <a:pt x="38100" y="1457325"/>
                </a:lnTo>
                <a:lnTo>
                  <a:pt x="38100" y="1457325"/>
                </a:lnTo>
                <a:cubicBezTo>
                  <a:pt x="17072" y="1457325"/>
                  <a:pt x="0" y="1440253"/>
                  <a:pt x="0" y="1419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F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076AAD6A-3AA0-ADE7-0284-EED1746F807E}"/>
              </a:ext>
            </a:extLst>
          </p:cNvPr>
          <p:cNvSpPr/>
          <p:nvPr/>
        </p:nvSpPr>
        <p:spPr>
          <a:xfrm>
            <a:off x="723900" y="20351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5F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2E242040-ED30-252C-EC25-B2A150E993D3}"/>
              </a:ext>
            </a:extLst>
          </p:cNvPr>
          <p:cNvSpPr/>
          <p:nvPr/>
        </p:nvSpPr>
        <p:spPr>
          <a:xfrm>
            <a:off x="880393" y="2168500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58BF4A75-056A-7467-221B-F3D4F0E90F6D}"/>
              </a:ext>
            </a:extLst>
          </p:cNvPr>
          <p:cNvSpPr/>
          <p:nvPr/>
        </p:nvSpPr>
        <p:spPr>
          <a:xfrm>
            <a:off x="1524000" y="203515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 err="1">
                <a:solidFill>
                  <a:srgbClr val="005F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医院通信现状</a:t>
            </a:r>
            <a:endParaRPr lang="en-US" sz="1600" dirty="0"/>
          </a:p>
        </p:txBody>
      </p:sp>
      <p:sp>
        <p:nvSpPr>
          <p:cNvPr id="50" name="Text 8">
            <a:extLst>
              <a:ext uri="{FF2B5EF4-FFF2-40B4-BE49-F238E27FC236}">
                <a16:creationId xmlns:a16="http://schemas.microsoft.com/office/drawing/2014/main" id="{D4B9EECF-3CC5-70E9-9DBA-5C7F26B228BD}"/>
              </a:ext>
            </a:extLst>
          </p:cNvPr>
          <p:cNvSpPr/>
          <p:nvPr/>
        </p:nvSpPr>
        <p:spPr>
          <a:xfrm>
            <a:off x="1524000" y="2454250"/>
            <a:ext cx="4229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系统孤岛、成本高昂、安全合规、信创需求四大挑战</a:t>
            </a:r>
            <a:endParaRPr lang="en-US" sz="1600" dirty="0"/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4B4FE4F6-85B4-6E76-8CC3-078074241AAF}"/>
              </a:ext>
            </a:extLst>
          </p:cNvPr>
          <p:cNvSpPr/>
          <p:nvPr/>
        </p:nvSpPr>
        <p:spPr>
          <a:xfrm>
            <a:off x="6229350" y="1638300"/>
            <a:ext cx="5581650" cy="1457325"/>
          </a:xfrm>
          <a:custGeom>
            <a:avLst/>
            <a:gdLst/>
            <a:ahLst/>
            <a:cxnLst/>
            <a:rect l="l" t="t" r="r" b="b"/>
            <a:pathLst>
              <a:path w="5581650" h="1457325">
                <a:moveTo>
                  <a:pt x="38100" y="0"/>
                </a:moveTo>
                <a:lnTo>
                  <a:pt x="5429243" y="0"/>
                </a:lnTo>
                <a:cubicBezTo>
                  <a:pt x="5513415" y="0"/>
                  <a:pt x="5581650" y="68235"/>
                  <a:pt x="5581650" y="152407"/>
                </a:cubicBezTo>
                <a:lnTo>
                  <a:pt x="5581650" y="1304918"/>
                </a:lnTo>
                <a:cubicBezTo>
                  <a:pt x="5581650" y="1389090"/>
                  <a:pt x="5513415" y="1457325"/>
                  <a:pt x="5429243" y="1457325"/>
                </a:cubicBezTo>
                <a:lnTo>
                  <a:pt x="38100" y="1457325"/>
                </a:lnTo>
                <a:cubicBezTo>
                  <a:pt x="17058" y="1457325"/>
                  <a:pt x="0" y="1440267"/>
                  <a:pt x="0" y="1419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297F83F4-EB0E-2F14-276A-F60C6DC7E4DC}"/>
              </a:ext>
            </a:extLst>
          </p:cNvPr>
          <p:cNvSpPr/>
          <p:nvPr/>
        </p:nvSpPr>
        <p:spPr>
          <a:xfrm>
            <a:off x="6229350" y="1638300"/>
            <a:ext cx="38100" cy="1457325"/>
          </a:xfrm>
          <a:custGeom>
            <a:avLst/>
            <a:gdLst/>
            <a:ahLst/>
            <a:cxnLst/>
            <a:rect l="l" t="t" r="r" b="b"/>
            <a:pathLst>
              <a:path w="38100" h="1457325">
                <a:moveTo>
                  <a:pt x="38100" y="0"/>
                </a:moveTo>
                <a:lnTo>
                  <a:pt x="38100" y="0"/>
                </a:lnTo>
                <a:lnTo>
                  <a:pt x="38100" y="1457325"/>
                </a:lnTo>
                <a:lnTo>
                  <a:pt x="38100" y="1457325"/>
                </a:lnTo>
                <a:cubicBezTo>
                  <a:pt x="17072" y="1457325"/>
                  <a:pt x="0" y="1440253"/>
                  <a:pt x="0" y="1419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9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11">
            <a:extLst>
              <a:ext uri="{FF2B5EF4-FFF2-40B4-BE49-F238E27FC236}">
                <a16:creationId xmlns:a16="http://schemas.microsoft.com/office/drawing/2014/main" id="{FAB1ECDA-7AA4-CEBC-CA5C-22E86935AD35}"/>
              </a:ext>
            </a:extLst>
          </p:cNvPr>
          <p:cNvSpPr/>
          <p:nvPr/>
        </p:nvSpPr>
        <p:spPr>
          <a:xfrm>
            <a:off x="6553200" y="20351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59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06C4CBEA-8989-19C7-3443-D0EBA401FBD1}"/>
              </a:ext>
            </a:extLst>
          </p:cNvPr>
          <p:cNvSpPr/>
          <p:nvPr/>
        </p:nvSpPr>
        <p:spPr>
          <a:xfrm>
            <a:off x="6683797" y="2168500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216E3130-C482-1D39-1F44-D1CD65900A86}"/>
              </a:ext>
            </a:extLst>
          </p:cNvPr>
          <p:cNvSpPr/>
          <p:nvPr/>
        </p:nvSpPr>
        <p:spPr>
          <a:xfrm>
            <a:off x="7353300" y="203515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rgbClr val="005F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本地化部署消息管理平台</a:t>
            </a:r>
            <a:r>
              <a:rPr lang="en-US" altLang="zh-CN" b="1" dirty="0">
                <a:solidFill>
                  <a:srgbClr val="005F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【</a:t>
            </a:r>
            <a:r>
              <a:rPr lang="en-US" b="1" dirty="0">
                <a:solidFill>
                  <a:srgbClr val="005F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GMP】</a:t>
            </a:r>
          </a:p>
        </p:txBody>
      </p:sp>
      <p:sp>
        <p:nvSpPr>
          <p:cNvPr id="56" name="Text 14">
            <a:extLst>
              <a:ext uri="{FF2B5EF4-FFF2-40B4-BE49-F238E27FC236}">
                <a16:creationId xmlns:a16="http://schemas.microsoft.com/office/drawing/2014/main" id="{1723E0C3-FA04-24EF-4E12-1AB6A3919EF7}"/>
              </a:ext>
            </a:extLst>
          </p:cNvPr>
          <p:cNvSpPr/>
          <p:nvPr/>
        </p:nvSpPr>
        <p:spPr>
          <a:xfrm>
            <a:off x="7353300" y="2454250"/>
            <a:ext cx="4229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 err="1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专为医院打造的统一</a:t>
            </a:r>
            <a:r>
              <a:rPr lang="zh-CN" altLang="en-US" sz="1200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</a:t>
            </a:r>
            <a:r>
              <a:rPr lang="en-US" sz="1200" dirty="0" err="1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通信枢纽</a:t>
            </a:r>
            <a:endParaRPr lang="en-US" sz="1600" dirty="0"/>
          </a:p>
        </p:txBody>
      </p:sp>
      <p:sp>
        <p:nvSpPr>
          <p:cNvPr id="57" name="Shape 15">
            <a:extLst>
              <a:ext uri="{FF2B5EF4-FFF2-40B4-BE49-F238E27FC236}">
                <a16:creationId xmlns:a16="http://schemas.microsoft.com/office/drawing/2014/main" id="{D509D247-0792-18E6-AB6D-6C426CA43E49}"/>
              </a:ext>
            </a:extLst>
          </p:cNvPr>
          <p:cNvSpPr/>
          <p:nvPr/>
        </p:nvSpPr>
        <p:spPr>
          <a:xfrm>
            <a:off x="400050" y="3327350"/>
            <a:ext cx="5581650" cy="1457325"/>
          </a:xfrm>
          <a:custGeom>
            <a:avLst/>
            <a:gdLst/>
            <a:ahLst/>
            <a:cxnLst/>
            <a:rect l="l" t="t" r="r" b="b"/>
            <a:pathLst>
              <a:path w="5581650" h="1457325">
                <a:moveTo>
                  <a:pt x="38100" y="0"/>
                </a:moveTo>
                <a:lnTo>
                  <a:pt x="5429243" y="0"/>
                </a:lnTo>
                <a:cubicBezTo>
                  <a:pt x="5513415" y="0"/>
                  <a:pt x="5581650" y="68235"/>
                  <a:pt x="5581650" y="152407"/>
                </a:cubicBezTo>
                <a:lnTo>
                  <a:pt x="5581650" y="1304918"/>
                </a:lnTo>
                <a:cubicBezTo>
                  <a:pt x="5581650" y="1389090"/>
                  <a:pt x="5513415" y="1457325"/>
                  <a:pt x="5429243" y="1457325"/>
                </a:cubicBezTo>
                <a:lnTo>
                  <a:pt x="38100" y="1457325"/>
                </a:lnTo>
                <a:cubicBezTo>
                  <a:pt x="17058" y="1457325"/>
                  <a:pt x="0" y="1440267"/>
                  <a:pt x="0" y="1419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16">
            <a:extLst>
              <a:ext uri="{FF2B5EF4-FFF2-40B4-BE49-F238E27FC236}">
                <a16:creationId xmlns:a16="http://schemas.microsoft.com/office/drawing/2014/main" id="{76AC0C94-F392-D69A-D813-A44D8DF546A5}"/>
              </a:ext>
            </a:extLst>
          </p:cNvPr>
          <p:cNvSpPr/>
          <p:nvPr/>
        </p:nvSpPr>
        <p:spPr>
          <a:xfrm>
            <a:off x="400050" y="3327350"/>
            <a:ext cx="38100" cy="1457325"/>
          </a:xfrm>
          <a:custGeom>
            <a:avLst/>
            <a:gdLst/>
            <a:ahLst/>
            <a:cxnLst/>
            <a:rect l="l" t="t" r="r" b="b"/>
            <a:pathLst>
              <a:path w="38100" h="1457325">
                <a:moveTo>
                  <a:pt x="38100" y="0"/>
                </a:moveTo>
                <a:lnTo>
                  <a:pt x="38100" y="0"/>
                </a:lnTo>
                <a:lnTo>
                  <a:pt x="38100" y="1457325"/>
                </a:lnTo>
                <a:lnTo>
                  <a:pt x="38100" y="1457325"/>
                </a:lnTo>
                <a:cubicBezTo>
                  <a:pt x="17072" y="1457325"/>
                  <a:pt x="0" y="1440253"/>
                  <a:pt x="0" y="1419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F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17">
            <a:extLst>
              <a:ext uri="{FF2B5EF4-FFF2-40B4-BE49-F238E27FC236}">
                <a16:creationId xmlns:a16="http://schemas.microsoft.com/office/drawing/2014/main" id="{9029252A-99E0-E396-9894-A508BB1949A9}"/>
              </a:ext>
            </a:extLst>
          </p:cNvPr>
          <p:cNvSpPr/>
          <p:nvPr/>
        </p:nvSpPr>
        <p:spPr>
          <a:xfrm>
            <a:off x="723900" y="372420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5F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02CB000A-1C59-A11E-EF86-4EE6E86BCAA1}"/>
              </a:ext>
            </a:extLst>
          </p:cNvPr>
          <p:cNvSpPr/>
          <p:nvPr/>
        </p:nvSpPr>
        <p:spPr>
          <a:xfrm>
            <a:off x="853232" y="3857551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61" name="Text 19">
            <a:extLst>
              <a:ext uri="{FF2B5EF4-FFF2-40B4-BE49-F238E27FC236}">
                <a16:creationId xmlns:a16="http://schemas.microsoft.com/office/drawing/2014/main" id="{E5023012-6B97-2789-3882-24C1006241DE}"/>
              </a:ext>
            </a:extLst>
          </p:cNvPr>
          <p:cNvSpPr/>
          <p:nvPr/>
        </p:nvSpPr>
        <p:spPr>
          <a:xfrm>
            <a:off x="1524000" y="3724201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5F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结合医院场景的核心应用方案</a:t>
            </a:r>
            <a:endParaRPr lang="en-US" sz="1600" dirty="0"/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E2427E0C-57AE-8DC6-F7ED-030158EF2E90}"/>
              </a:ext>
            </a:extLst>
          </p:cNvPr>
          <p:cNvSpPr/>
          <p:nvPr/>
        </p:nvSpPr>
        <p:spPr>
          <a:xfrm>
            <a:off x="1524000" y="4143301"/>
            <a:ext cx="4229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患者服务、临床协同、运营管理的全场景覆盖</a:t>
            </a:r>
            <a:endParaRPr lang="en-US" sz="16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2CE4C770-F09E-1FA1-5A30-FD49721DBEF3}"/>
              </a:ext>
            </a:extLst>
          </p:cNvPr>
          <p:cNvSpPr/>
          <p:nvPr/>
        </p:nvSpPr>
        <p:spPr>
          <a:xfrm>
            <a:off x="6229350" y="3327350"/>
            <a:ext cx="5581650" cy="1457325"/>
          </a:xfrm>
          <a:custGeom>
            <a:avLst/>
            <a:gdLst/>
            <a:ahLst/>
            <a:cxnLst/>
            <a:rect l="l" t="t" r="r" b="b"/>
            <a:pathLst>
              <a:path w="5581650" h="1457325">
                <a:moveTo>
                  <a:pt x="38100" y="0"/>
                </a:moveTo>
                <a:lnTo>
                  <a:pt x="5429243" y="0"/>
                </a:lnTo>
                <a:cubicBezTo>
                  <a:pt x="5513415" y="0"/>
                  <a:pt x="5581650" y="68235"/>
                  <a:pt x="5581650" y="152407"/>
                </a:cubicBezTo>
                <a:lnTo>
                  <a:pt x="5581650" y="1304918"/>
                </a:lnTo>
                <a:cubicBezTo>
                  <a:pt x="5581650" y="1389090"/>
                  <a:pt x="5513415" y="1457325"/>
                  <a:pt x="5429243" y="1457325"/>
                </a:cubicBezTo>
                <a:lnTo>
                  <a:pt x="38100" y="1457325"/>
                </a:lnTo>
                <a:cubicBezTo>
                  <a:pt x="17058" y="1457325"/>
                  <a:pt x="0" y="1440267"/>
                  <a:pt x="0" y="1419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22">
            <a:extLst>
              <a:ext uri="{FF2B5EF4-FFF2-40B4-BE49-F238E27FC236}">
                <a16:creationId xmlns:a16="http://schemas.microsoft.com/office/drawing/2014/main" id="{0A88FF47-5C72-A1C2-141B-D72310E2883C}"/>
              </a:ext>
            </a:extLst>
          </p:cNvPr>
          <p:cNvSpPr/>
          <p:nvPr/>
        </p:nvSpPr>
        <p:spPr>
          <a:xfrm>
            <a:off x="6229350" y="3327350"/>
            <a:ext cx="38100" cy="1457325"/>
          </a:xfrm>
          <a:custGeom>
            <a:avLst/>
            <a:gdLst/>
            <a:ahLst/>
            <a:cxnLst/>
            <a:rect l="l" t="t" r="r" b="b"/>
            <a:pathLst>
              <a:path w="38100" h="1457325">
                <a:moveTo>
                  <a:pt x="38100" y="0"/>
                </a:moveTo>
                <a:lnTo>
                  <a:pt x="38100" y="0"/>
                </a:lnTo>
                <a:lnTo>
                  <a:pt x="38100" y="1457325"/>
                </a:lnTo>
                <a:lnTo>
                  <a:pt x="38100" y="1457325"/>
                </a:lnTo>
                <a:cubicBezTo>
                  <a:pt x="17072" y="1457325"/>
                  <a:pt x="0" y="1440253"/>
                  <a:pt x="0" y="1419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9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23">
            <a:extLst>
              <a:ext uri="{FF2B5EF4-FFF2-40B4-BE49-F238E27FC236}">
                <a16:creationId xmlns:a16="http://schemas.microsoft.com/office/drawing/2014/main" id="{341ECB6B-EC2A-50BC-D284-411C07C8AB9A}"/>
              </a:ext>
            </a:extLst>
          </p:cNvPr>
          <p:cNvSpPr/>
          <p:nvPr/>
        </p:nvSpPr>
        <p:spPr>
          <a:xfrm>
            <a:off x="6553200" y="372420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59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24">
            <a:extLst>
              <a:ext uri="{FF2B5EF4-FFF2-40B4-BE49-F238E27FC236}">
                <a16:creationId xmlns:a16="http://schemas.microsoft.com/office/drawing/2014/main" id="{2A7272A4-12DA-A4B9-5251-D55E4258123F}"/>
              </a:ext>
            </a:extLst>
          </p:cNvPr>
          <p:cNvSpPr/>
          <p:nvPr/>
        </p:nvSpPr>
        <p:spPr>
          <a:xfrm>
            <a:off x="6682680" y="3857551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67" name="Text 25">
            <a:extLst>
              <a:ext uri="{FF2B5EF4-FFF2-40B4-BE49-F238E27FC236}">
                <a16:creationId xmlns:a16="http://schemas.microsoft.com/office/drawing/2014/main" id="{D4527BD2-4BAC-F48A-0929-90695AB6B672}"/>
              </a:ext>
            </a:extLst>
          </p:cNvPr>
          <p:cNvSpPr/>
          <p:nvPr/>
        </p:nvSpPr>
        <p:spPr>
          <a:xfrm>
            <a:off x="7353300" y="3724201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5F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GMP平台核心产品优势</a:t>
            </a:r>
            <a:endParaRPr lang="en-US" sz="1600" dirty="0"/>
          </a:p>
        </p:txBody>
      </p:sp>
      <p:sp>
        <p:nvSpPr>
          <p:cNvPr id="68" name="Text 26">
            <a:extLst>
              <a:ext uri="{FF2B5EF4-FFF2-40B4-BE49-F238E27FC236}">
                <a16:creationId xmlns:a16="http://schemas.microsoft.com/office/drawing/2014/main" id="{A6BFBE02-07D5-F626-A275-72CF3AD20F6B}"/>
              </a:ext>
            </a:extLst>
          </p:cNvPr>
          <p:cNvSpPr/>
          <p:nvPr/>
        </p:nvSpPr>
        <p:spPr>
          <a:xfrm>
            <a:off x="7353300" y="4143301"/>
            <a:ext cx="4229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数据安全、信创适配、高性能、高可用架构</a:t>
            </a:r>
            <a:endParaRPr lang="en-US" sz="1600" dirty="0"/>
          </a:p>
        </p:txBody>
      </p:sp>
      <p:sp>
        <p:nvSpPr>
          <p:cNvPr id="69" name="Shape 27">
            <a:extLst>
              <a:ext uri="{FF2B5EF4-FFF2-40B4-BE49-F238E27FC236}">
                <a16:creationId xmlns:a16="http://schemas.microsoft.com/office/drawing/2014/main" id="{21B6344A-0534-7F7C-9C88-B7E480FBC9A8}"/>
              </a:ext>
            </a:extLst>
          </p:cNvPr>
          <p:cNvSpPr/>
          <p:nvPr/>
        </p:nvSpPr>
        <p:spPr>
          <a:xfrm>
            <a:off x="400050" y="5016475"/>
            <a:ext cx="5581650" cy="1457325"/>
          </a:xfrm>
          <a:custGeom>
            <a:avLst/>
            <a:gdLst/>
            <a:ahLst/>
            <a:cxnLst/>
            <a:rect l="l" t="t" r="r" b="b"/>
            <a:pathLst>
              <a:path w="5581650" h="1457325">
                <a:moveTo>
                  <a:pt x="38100" y="0"/>
                </a:moveTo>
                <a:lnTo>
                  <a:pt x="5429243" y="0"/>
                </a:lnTo>
                <a:cubicBezTo>
                  <a:pt x="5513415" y="0"/>
                  <a:pt x="5581650" y="68235"/>
                  <a:pt x="5581650" y="152407"/>
                </a:cubicBezTo>
                <a:lnTo>
                  <a:pt x="5581650" y="1304918"/>
                </a:lnTo>
                <a:cubicBezTo>
                  <a:pt x="5581650" y="1389090"/>
                  <a:pt x="5513415" y="1457325"/>
                  <a:pt x="5429243" y="1457325"/>
                </a:cubicBezTo>
                <a:lnTo>
                  <a:pt x="38100" y="1457325"/>
                </a:lnTo>
                <a:cubicBezTo>
                  <a:pt x="17058" y="1457325"/>
                  <a:pt x="0" y="1440267"/>
                  <a:pt x="0" y="1419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28">
            <a:extLst>
              <a:ext uri="{FF2B5EF4-FFF2-40B4-BE49-F238E27FC236}">
                <a16:creationId xmlns:a16="http://schemas.microsoft.com/office/drawing/2014/main" id="{BE8D712B-7408-9E71-23C0-82A9DE81FE03}"/>
              </a:ext>
            </a:extLst>
          </p:cNvPr>
          <p:cNvSpPr/>
          <p:nvPr/>
        </p:nvSpPr>
        <p:spPr>
          <a:xfrm>
            <a:off x="400050" y="5016475"/>
            <a:ext cx="38100" cy="1457325"/>
          </a:xfrm>
          <a:custGeom>
            <a:avLst/>
            <a:gdLst/>
            <a:ahLst/>
            <a:cxnLst/>
            <a:rect l="l" t="t" r="r" b="b"/>
            <a:pathLst>
              <a:path w="38100" h="1457325">
                <a:moveTo>
                  <a:pt x="38100" y="0"/>
                </a:moveTo>
                <a:lnTo>
                  <a:pt x="38100" y="0"/>
                </a:lnTo>
                <a:lnTo>
                  <a:pt x="38100" y="1457325"/>
                </a:lnTo>
                <a:lnTo>
                  <a:pt x="38100" y="1457325"/>
                </a:lnTo>
                <a:cubicBezTo>
                  <a:pt x="17072" y="1457325"/>
                  <a:pt x="0" y="1440253"/>
                  <a:pt x="0" y="1419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F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29">
            <a:extLst>
              <a:ext uri="{FF2B5EF4-FFF2-40B4-BE49-F238E27FC236}">
                <a16:creationId xmlns:a16="http://schemas.microsoft.com/office/drawing/2014/main" id="{9CDB0B81-92CF-6F45-72EA-E76711D865CC}"/>
              </a:ext>
            </a:extLst>
          </p:cNvPr>
          <p:cNvSpPr/>
          <p:nvPr/>
        </p:nvSpPr>
        <p:spPr>
          <a:xfrm>
            <a:off x="723900" y="54133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5F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Text 30">
            <a:extLst>
              <a:ext uri="{FF2B5EF4-FFF2-40B4-BE49-F238E27FC236}">
                <a16:creationId xmlns:a16="http://schemas.microsoft.com/office/drawing/2014/main" id="{655024C0-4426-FEDD-4C6A-C6616C64B03F}"/>
              </a:ext>
            </a:extLst>
          </p:cNvPr>
          <p:cNvSpPr/>
          <p:nvPr/>
        </p:nvSpPr>
        <p:spPr>
          <a:xfrm>
            <a:off x="855241" y="5546675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66E7C80D-4B28-B739-DDB2-021856537091}"/>
              </a:ext>
            </a:extLst>
          </p:cNvPr>
          <p:cNvSpPr/>
          <p:nvPr/>
        </p:nvSpPr>
        <p:spPr>
          <a:xfrm>
            <a:off x="1524000" y="5413325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5F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产品版本与部署建议</a:t>
            </a:r>
            <a:endParaRPr lang="en-US" sz="1600" dirty="0"/>
          </a:p>
        </p:txBody>
      </p:sp>
      <p:sp>
        <p:nvSpPr>
          <p:cNvPr id="74" name="Text 32">
            <a:extLst>
              <a:ext uri="{FF2B5EF4-FFF2-40B4-BE49-F238E27FC236}">
                <a16:creationId xmlns:a16="http://schemas.microsoft.com/office/drawing/2014/main" id="{C007BA61-8543-E811-4284-6FD507601E06}"/>
              </a:ext>
            </a:extLst>
          </p:cNvPr>
          <p:cNvSpPr/>
          <p:nvPr/>
        </p:nvSpPr>
        <p:spPr>
          <a:xfrm>
            <a:off x="1524000" y="5832425"/>
            <a:ext cx="4229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基础版、专业版、旗舰版满足不同规模医院需求</a:t>
            </a:r>
            <a:endParaRPr lang="en-US" sz="1600" dirty="0"/>
          </a:p>
        </p:txBody>
      </p:sp>
      <p:sp>
        <p:nvSpPr>
          <p:cNvPr id="75" name="Shape 33">
            <a:extLst>
              <a:ext uri="{FF2B5EF4-FFF2-40B4-BE49-F238E27FC236}">
                <a16:creationId xmlns:a16="http://schemas.microsoft.com/office/drawing/2014/main" id="{D9FE0F2E-07AA-30DE-D825-F0F4B605978F}"/>
              </a:ext>
            </a:extLst>
          </p:cNvPr>
          <p:cNvSpPr/>
          <p:nvPr/>
        </p:nvSpPr>
        <p:spPr>
          <a:xfrm>
            <a:off x="6229350" y="5016475"/>
            <a:ext cx="5581650" cy="1457325"/>
          </a:xfrm>
          <a:custGeom>
            <a:avLst/>
            <a:gdLst/>
            <a:ahLst/>
            <a:cxnLst/>
            <a:rect l="l" t="t" r="r" b="b"/>
            <a:pathLst>
              <a:path w="5581650" h="1457325">
                <a:moveTo>
                  <a:pt x="38100" y="0"/>
                </a:moveTo>
                <a:lnTo>
                  <a:pt x="5429243" y="0"/>
                </a:lnTo>
                <a:cubicBezTo>
                  <a:pt x="5513415" y="0"/>
                  <a:pt x="5581650" y="68235"/>
                  <a:pt x="5581650" y="152407"/>
                </a:cubicBezTo>
                <a:lnTo>
                  <a:pt x="5581650" y="1304918"/>
                </a:lnTo>
                <a:cubicBezTo>
                  <a:pt x="5581650" y="1389090"/>
                  <a:pt x="5513415" y="1457325"/>
                  <a:pt x="5429243" y="1457325"/>
                </a:cubicBezTo>
                <a:lnTo>
                  <a:pt x="38100" y="1457325"/>
                </a:lnTo>
                <a:cubicBezTo>
                  <a:pt x="17058" y="1457325"/>
                  <a:pt x="0" y="1440267"/>
                  <a:pt x="0" y="1419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6" name="Shape 34">
            <a:extLst>
              <a:ext uri="{FF2B5EF4-FFF2-40B4-BE49-F238E27FC236}">
                <a16:creationId xmlns:a16="http://schemas.microsoft.com/office/drawing/2014/main" id="{2F72EC1A-A82F-92DD-9109-035885E94F53}"/>
              </a:ext>
            </a:extLst>
          </p:cNvPr>
          <p:cNvSpPr/>
          <p:nvPr/>
        </p:nvSpPr>
        <p:spPr>
          <a:xfrm>
            <a:off x="6229350" y="5016475"/>
            <a:ext cx="38100" cy="1457325"/>
          </a:xfrm>
          <a:custGeom>
            <a:avLst/>
            <a:gdLst/>
            <a:ahLst/>
            <a:cxnLst/>
            <a:rect l="l" t="t" r="r" b="b"/>
            <a:pathLst>
              <a:path w="38100" h="1457325">
                <a:moveTo>
                  <a:pt x="38100" y="0"/>
                </a:moveTo>
                <a:lnTo>
                  <a:pt x="38100" y="0"/>
                </a:lnTo>
                <a:lnTo>
                  <a:pt x="38100" y="1457325"/>
                </a:lnTo>
                <a:lnTo>
                  <a:pt x="38100" y="1457325"/>
                </a:lnTo>
                <a:cubicBezTo>
                  <a:pt x="17072" y="1457325"/>
                  <a:pt x="0" y="1440253"/>
                  <a:pt x="0" y="1419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9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7" name="Shape 35">
            <a:extLst>
              <a:ext uri="{FF2B5EF4-FFF2-40B4-BE49-F238E27FC236}">
                <a16:creationId xmlns:a16="http://schemas.microsoft.com/office/drawing/2014/main" id="{A1BF6F52-2272-21CC-BFFF-8B548938A399}"/>
              </a:ext>
            </a:extLst>
          </p:cNvPr>
          <p:cNvSpPr/>
          <p:nvPr/>
        </p:nvSpPr>
        <p:spPr>
          <a:xfrm>
            <a:off x="6553200" y="54133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59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8" name="Text 36">
            <a:extLst>
              <a:ext uri="{FF2B5EF4-FFF2-40B4-BE49-F238E27FC236}">
                <a16:creationId xmlns:a16="http://schemas.microsoft.com/office/drawing/2014/main" id="{95274093-3448-A0EA-5724-EF1B1706DE77}"/>
              </a:ext>
            </a:extLst>
          </p:cNvPr>
          <p:cNvSpPr/>
          <p:nvPr/>
        </p:nvSpPr>
        <p:spPr>
          <a:xfrm>
            <a:off x="6681341" y="5546675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79" name="Text 37">
            <a:extLst>
              <a:ext uri="{FF2B5EF4-FFF2-40B4-BE49-F238E27FC236}">
                <a16:creationId xmlns:a16="http://schemas.microsoft.com/office/drawing/2014/main" id="{A6668585-904F-5AB8-485F-119EE86F77A1}"/>
              </a:ext>
            </a:extLst>
          </p:cNvPr>
          <p:cNvSpPr/>
          <p:nvPr/>
        </p:nvSpPr>
        <p:spPr>
          <a:xfrm>
            <a:off x="7353300" y="5413325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5F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医院客户成功案例</a:t>
            </a:r>
            <a:endParaRPr lang="en-US" sz="1600" dirty="0"/>
          </a:p>
        </p:txBody>
      </p:sp>
      <p:sp>
        <p:nvSpPr>
          <p:cNvPr id="80" name="Text 38">
            <a:extLst>
              <a:ext uri="{FF2B5EF4-FFF2-40B4-BE49-F238E27FC236}">
                <a16:creationId xmlns:a16="http://schemas.microsoft.com/office/drawing/2014/main" id="{A4E618CC-620E-0DB7-7D8E-A74845E8B11B}"/>
              </a:ext>
            </a:extLst>
          </p:cNvPr>
          <p:cNvSpPr/>
          <p:nvPr/>
        </p:nvSpPr>
        <p:spPr>
          <a:xfrm>
            <a:off x="7353300" y="5832425"/>
            <a:ext cx="4229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56家医院客户的信赖选择与服务验证</a:t>
            </a:r>
            <a:endParaRPr lang="en-US" sz="1600" dirty="0"/>
          </a:p>
        </p:txBody>
      </p:sp>
      <p:pic>
        <p:nvPicPr>
          <p:cNvPr id="81" name="图片 80" descr="图片包含 形状&#10;&#10;AI 生成的内容可能不正确。">
            <a:extLst>
              <a:ext uri="{FF2B5EF4-FFF2-40B4-BE49-F238E27FC236}">
                <a16:creationId xmlns:a16="http://schemas.microsoft.com/office/drawing/2014/main" id="{47402F23-6F57-D363-C9B4-51D138618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913" y="402336"/>
            <a:ext cx="1493087" cy="36360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 err="1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医院通信现状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381000" y="1447800"/>
            <a:ext cx="1150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在医疗信息化、数字化转型的快速推进下，医院内部建立了海量的业务系统（HIS、LIS、PACS、EMR、OA等），但在通信和消息触达方面面临显著挑战：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943100"/>
            <a:ext cx="5619750" cy="2286000"/>
          </a:xfrm>
          <a:custGeom>
            <a:avLst/>
            <a:gdLst/>
            <a:ahLst/>
            <a:cxnLst/>
            <a:rect l="l" t="t" r="r" b="b"/>
            <a:pathLst>
              <a:path w="5619750" h="22860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2171700"/>
                </a:lnTo>
                <a:cubicBezTo>
                  <a:pt x="5619750" y="2234784"/>
                  <a:pt x="5568534" y="2286000"/>
                  <a:pt x="5505450" y="2286000"/>
                </a:cubicBezTo>
                <a:lnTo>
                  <a:pt x="114300" y="2286000"/>
                </a:lnTo>
                <a:cubicBezTo>
                  <a:pt x="51216" y="2286000"/>
                  <a:pt x="0" y="2234784"/>
                  <a:pt x="0" y="2171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81000" y="194310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4F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71500" y="2152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A4F6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04850" y="2286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0A4F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143000" y="2247900"/>
            <a:ext cx="2695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系统对接繁琐，形成"消息孤岛"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724150"/>
            <a:ext cx="5314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临床服务、医院管理等各子系统独立运作，每增加一个消息渠道（短信、微信、邮件）都需要各业务系统重复对接，导致</a:t>
            </a:r>
            <a:r>
              <a:rPr lang="en-US" sz="1200" dirty="0">
                <a:solidFill>
                  <a:srgbClr val="0A4F6B"/>
                </a:solidFill>
                <a:highlight>
                  <a:srgbClr val="4DB6AC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接口复杂、研发及运维成本高昂 </a:t>
            </a:r>
            <a:r>
              <a:rPr lang="en-US" sz="12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0550" y="391668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14388" y="3888111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多系统重复开发，维护困难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1250" y="1943100"/>
            <a:ext cx="5619750" cy="2286000"/>
          </a:xfrm>
          <a:custGeom>
            <a:avLst/>
            <a:gdLst/>
            <a:ahLst/>
            <a:cxnLst/>
            <a:rect l="l" t="t" r="r" b="b"/>
            <a:pathLst>
              <a:path w="5619750" h="22860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2171700"/>
                </a:lnTo>
                <a:cubicBezTo>
                  <a:pt x="5619750" y="2234784"/>
                  <a:pt x="5568534" y="2286000"/>
                  <a:pt x="5505450" y="2286000"/>
                </a:cubicBezTo>
                <a:lnTo>
                  <a:pt x="114300" y="2286000"/>
                </a:lnTo>
                <a:cubicBezTo>
                  <a:pt x="51216" y="2286000"/>
                  <a:pt x="0" y="2234784"/>
                  <a:pt x="0" y="2171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191250" y="194310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381750" y="2152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550819" y="2286000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0602" y="8930"/>
                </a:moveTo>
                <a:cubicBezTo>
                  <a:pt x="50602" y="3981"/>
                  <a:pt x="54583" y="0"/>
                  <a:pt x="59531" y="0"/>
                </a:cubicBezTo>
                <a:cubicBezTo>
                  <a:pt x="64480" y="0"/>
                  <a:pt x="68461" y="3981"/>
                  <a:pt x="68461" y="8930"/>
                </a:cubicBezTo>
                <a:lnTo>
                  <a:pt x="68461" y="23812"/>
                </a:lnTo>
                <a:lnTo>
                  <a:pt x="89297" y="23812"/>
                </a:lnTo>
                <a:cubicBezTo>
                  <a:pt x="95883" y="23812"/>
                  <a:pt x="101203" y="29133"/>
                  <a:pt x="101203" y="35719"/>
                </a:cubicBezTo>
                <a:cubicBezTo>
                  <a:pt x="101203" y="42304"/>
                  <a:pt x="95883" y="47625"/>
                  <a:pt x="89297" y="47625"/>
                </a:cubicBezTo>
                <a:lnTo>
                  <a:pt x="46546" y="47625"/>
                </a:lnTo>
                <a:cubicBezTo>
                  <a:pt x="37281" y="47625"/>
                  <a:pt x="29766" y="55141"/>
                  <a:pt x="29766" y="64405"/>
                </a:cubicBezTo>
                <a:cubicBezTo>
                  <a:pt x="29766" y="72777"/>
                  <a:pt x="35905" y="79846"/>
                  <a:pt x="44165" y="81037"/>
                </a:cubicBezTo>
                <a:lnTo>
                  <a:pt x="78246" y="85911"/>
                </a:lnTo>
                <a:cubicBezTo>
                  <a:pt x="98264" y="88776"/>
                  <a:pt x="113109" y="105891"/>
                  <a:pt x="113109" y="126095"/>
                </a:cubicBezTo>
                <a:cubicBezTo>
                  <a:pt x="113109" y="148530"/>
                  <a:pt x="94915" y="166688"/>
                  <a:pt x="72517" y="166688"/>
                </a:cubicBezTo>
                <a:lnTo>
                  <a:pt x="68461" y="166688"/>
                </a:lnTo>
                <a:lnTo>
                  <a:pt x="68461" y="181570"/>
                </a:lnTo>
                <a:cubicBezTo>
                  <a:pt x="68461" y="186519"/>
                  <a:pt x="64480" y="190500"/>
                  <a:pt x="59531" y="190500"/>
                </a:cubicBezTo>
                <a:cubicBezTo>
                  <a:pt x="54583" y="190500"/>
                  <a:pt x="50602" y="186519"/>
                  <a:pt x="50602" y="181570"/>
                </a:cubicBezTo>
                <a:lnTo>
                  <a:pt x="50602" y="166688"/>
                </a:lnTo>
                <a:lnTo>
                  <a:pt x="23812" y="166688"/>
                </a:lnTo>
                <a:cubicBezTo>
                  <a:pt x="17227" y="166688"/>
                  <a:pt x="11906" y="161367"/>
                  <a:pt x="11906" y="154781"/>
                </a:cubicBezTo>
                <a:cubicBezTo>
                  <a:pt x="11906" y="148196"/>
                  <a:pt x="17227" y="142875"/>
                  <a:pt x="23812" y="142875"/>
                </a:cubicBezTo>
                <a:lnTo>
                  <a:pt x="72517" y="142875"/>
                </a:lnTo>
                <a:cubicBezTo>
                  <a:pt x="81781" y="142875"/>
                  <a:pt x="89297" y="135359"/>
                  <a:pt x="89297" y="126095"/>
                </a:cubicBezTo>
                <a:cubicBezTo>
                  <a:pt x="89297" y="117723"/>
                  <a:pt x="83158" y="110654"/>
                  <a:pt x="74898" y="109463"/>
                </a:cubicBezTo>
                <a:lnTo>
                  <a:pt x="40816" y="104589"/>
                </a:lnTo>
                <a:cubicBezTo>
                  <a:pt x="20799" y="101761"/>
                  <a:pt x="5953" y="84609"/>
                  <a:pt x="5953" y="64405"/>
                </a:cubicBezTo>
                <a:cubicBezTo>
                  <a:pt x="5953" y="42007"/>
                  <a:pt x="24147" y="23812"/>
                  <a:pt x="46546" y="23812"/>
                </a:cubicBezTo>
                <a:lnTo>
                  <a:pt x="50602" y="23812"/>
                </a:lnTo>
                <a:lnTo>
                  <a:pt x="50602" y="8930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953250" y="2247900"/>
            <a:ext cx="24396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zh-CN" sz="1500" b="1" dirty="0" err="1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信创改造</a:t>
            </a:r>
            <a:r>
              <a:rPr lang="zh-CN" altLang="en-US" sz="150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896666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信创改造需求：</a:t>
            </a:r>
            <a:r>
              <a:rPr lang="en-US" altLang="zh-CN" sz="12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altLang="zh-CN" sz="1200" dirty="0" err="1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随着国家对医疗机构信创要求的提高，医院底层软硬件需</a:t>
            </a:r>
            <a:r>
              <a:rPr lang="en-US" altLang="zh-CN" sz="1200" dirty="0">
                <a:solidFill>
                  <a:srgbClr val="0A4F6B"/>
                </a:solidFill>
                <a:highlight>
                  <a:srgbClr val="4DB6AC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altLang="zh-CN" sz="1200" dirty="0" err="1">
                <a:solidFill>
                  <a:srgbClr val="0A4F6B"/>
                </a:solidFill>
                <a:highlight>
                  <a:srgbClr val="4DB6AC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满足全面国产化适配</a:t>
            </a:r>
            <a:r>
              <a:rPr lang="zh-CN" altLang="en-US" sz="12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，包括服务器、操作系统、数据库、中间件及终端设备等核心组件的全面自主可控替代，确保从芯片到应用层的全栈信创生态兼容。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0" y="390631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624638" y="3877741"/>
            <a:ext cx="4678040" cy="20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医疗数据涉及国家安全与公民隐私，核心技术自主可控可避免</a:t>
            </a:r>
            <a:r>
              <a:rPr lang="en-US" altLang="zh-CN" sz="10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r>
              <a:rPr lang="zh-CN" altLang="en-US" sz="10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卡脖子</a:t>
            </a:r>
            <a:r>
              <a:rPr lang="en-US" altLang="zh-CN" sz="10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r>
              <a:rPr lang="zh-CN" altLang="en-US" sz="10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风险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4438650"/>
            <a:ext cx="5619750" cy="2038350"/>
          </a:xfrm>
          <a:custGeom>
            <a:avLst/>
            <a:gdLst/>
            <a:ahLst/>
            <a:cxnLst/>
            <a:rect l="l" t="t" r="r" b="b"/>
            <a:pathLst>
              <a:path w="5619750" h="20383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1924060"/>
                </a:lnTo>
                <a:cubicBezTo>
                  <a:pt x="5619750" y="1987180"/>
                  <a:pt x="5568580" y="2038350"/>
                  <a:pt x="5505460" y="2038350"/>
                </a:cubicBezTo>
                <a:lnTo>
                  <a:pt x="114290" y="2038350"/>
                </a:lnTo>
                <a:cubicBezTo>
                  <a:pt x="51170" y="2038350"/>
                  <a:pt x="0" y="1987180"/>
                  <a:pt x="0" y="192406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81000" y="44386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4F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571500" y="4648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A4F6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704850" y="4781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0A4F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143000" y="4743450"/>
            <a:ext cx="2571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数据安全与隐私保护要求严苛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1500" y="5219700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医疗业务涉及患者生命安全与个人隐私，传统的公有云SaaS消息服务</a:t>
            </a:r>
            <a:r>
              <a:rPr lang="en-US" sz="1200" dirty="0">
                <a:solidFill>
                  <a:srgbClr val="0A4F6B"/>
                </a:solidFill>
                <a:highlight>
                  <a:srgbClr val="4DB6AC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无法满足医院数据"不出域"的合规要求 </a:t>
            </a:r>
            <a:r>
              <a:rPr lang="en-US" sz="12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07219" y="6141448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33337" y="25003"/>
                </a:moveTo>
                <a:lnTo>
                  <a:pt x="33337" y="41672"/>
                </a:lnTo>
                <a:lnTo>
                  <a:pt x="66675" y="41672"/>
                </a:lnTo>
                <a:lnTo>
                  <a:pt x="66675" y="25003"/>
                </a:lnTo>
                <a:cubicBezTo>
                  <a:pt x="66675" y="15809"/>
                  <a:pt x="59200" y="8334"/>
                  <a:pt x="50006" y="8334"/>
                </a:cubicBezTo>
                <a:cubicBezTo>
                  <a:pt x="40812" y="8334"/>
                  <a:pt x="33337" y="15809"/>
                  <a:pt x="33337" y="25003"/>
                </a:cubicBezTo>
                <a:close/>
                <a:moveTo>
                  <a:pt x="16669" y="41672"/>
                </a:moveTo>
                <a:lnTo>
                  <a:pt x="16669" y="25003"/>
                </a:lnTo>
                <a:cubicBezTo>
                  <a:pt x="16669" y="6589"/>
                  <a:pt x="31592" y="-8334"/>
                  <a:pt x="50006" y="-8334"/>
                </a:cubicBezTo>
                <a:cubicBezTo>
                  <a:pt x="68420" y="-8334"/>
                  <a:pt x="83344" y="6589"/>
                  <a:pt x="83344" y="25003"/>
                </a:cubicBezTo>
                <a:lnTo>
                  <a:pt x="83344" y="41672"/>
                </a:lnTo>
                <a:cubicBezTo>
                  <a:pt x="92538" y="41672"/>
                  <a:pt x="100013" y="49147"/>
                  <a:pt x="100013" y="58341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58341"/>
                </a:lnTo>
                <a:cubicBezTo>
                  <a:pt x="0" y="49147"/>
                  <a:pt x="7475" y="41672"/>
                  <a:pt x="16669" y="41672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14388" y="6112873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等保三级、数据安全法合规要求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1250" y="4438650"/>
            <a:ext cx="5619750" cy="2038350"/>
          </a:xfrm>
          <a:custGeom>
            <a:avLst/>
            <a:gdLst/>
            <a:ahLst/>
            <a:cxnLst/>
            <a:rect l="l" t="t" r="r" b="b"/>
            <a:pathLst>
              <a:path w="5619750" h="20383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1924060"/>
                </a:lnTo>
                <a:cubicBezTo>
                  <a:pt x="5619750" y="1987180"/>
                  <a:pt x="5568580" y="2038350"/>
                  <a:pt x="5505460" y="2038350"/>
                </a:cubicBezTo>
                <a:lnTo>
                  <a:pt x="114290" y="2038350"/>
                </a:lnTo>
                <a:cubicBezTo>
                  <a:pt x="51170" y="2038350"/>
                  <a:pt x="0" y="1987180"/>
                  <a:pt x="0" y="192406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191250" y="44386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381750" y="4648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527006" y="47815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953250" y="4743450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 err="1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高可用需求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81750" y="5331813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系统必须满足</a:t>
            </a:r>
            <a:r>
              <a:rPr lang="en-US" altLang="zh-CN" sz="12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7×24</a:t>
            </a:r>
            <a:r>
              <a:rPr lang="zh-CN" altLang="en-US" sz="12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小时不间断运行的严苛要求，具备故障自动切换、数据实时备份与秒级恢复能力，确保门诊、急诊、重症监护等关键业务在任何极端情况下均持续可用。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0" y="614143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624638" y="6112863"/>
            <a:ext cx="2768218" cy="190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zh-CN" sz="10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7×24</a:t>
            </a:r>
            <a:r>
              <a:rPr lang="zh-CN" altLang="en-US" sz="10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小时高可用是医院核心业务的刚性底线</a:t>
            </a:r>
            <a:endParaRPr lang="en-US" sz="1600" dirty="0"/>
          </a:p>
        </p:txBody>
      </p:sp>
      <p:pic>
        <p:nvPicPr>
          <p:cNvPr id="38" name="图片 37" descr="图片包含 形状&#10;&#10;AI 生成的内容可能不正确。">
            <a:extLst>
              <a:ext uri="{FF2B5EF4-FFF2-40B4-BE49-F238E27FC236}">
                <a16:creationId xmlns:a16="http://schemas.microsoft.com/office/drawing/2014/main" id="{B2108916-0C3B-6062-3BA6-437BA6229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913" y="402336"/>
            <a:ext cx="1493087" cy="36360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PLATFORM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zh-CN" altLang="en-US" sz="270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本地化部署消息管理平台</a:t>
            </a:r>
            <a:r>
              <a:rPr lang="en-US" altLang="zh-CN" sz="270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【</a:t>
            </a:r>
            <a:r>
              <a:rPr lang="en-US" sz="270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GMP】</a:t>
            </a:r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81000" y="1409700"/>
            <a:ext cx="6724650" cy="1447800"/>
          </a:xfrm>
          <a:custGeom>
            <a:avLst/>
            <a:gdLst/>
            <a:ahLst/>
            <a:cxnLst/>
            <a:rect l="l" t="t" r="r" b="b"/>
            <a:pathLst>
              <a:path w="6724650" h="1447800">
                <a:moveTo>
                  <a:pt x="114304" y="0"/>
                </a:moveTo>
                <a:lnTo>
                  <a:pt x="6610346" y="0"/>
                </a:lnTo>
                <a:cubicBezTo>
                  <a:pt x="6673474" y="0"/>
                  <a:pt x="6724650" y="51176"/>
                  <a:pt x="6724650" y="114304"/>
                </a:cubicBezTo>
                <a:lnTo>
                  <a:pt x="6724650" y="1333496"/>
                </a:lnTo>
                <a:cubicBezTo>
                  <a:pt x="6724650" y="1396624"/>
                  <a:pt x="6673474" y="1447800"/>
                  <a:pt x="6610346" y="1447800"/>
                </a:cubicBezTo>
                <a:lnTo>
                  <a:pt x="114304" y="1447800"/>
                </a:lnTo>
                <a:cubicBezTo>
                  <a:pt x="51176" y="1447800"/>
                  <a:pt x="0" y="1396624"/>
                  <a:pt x="0" y="133349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7150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0A4F6B"/>
              </a:gs>
              <a:gs pos="100000">
                <a:srgbClr val="4DB6AC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92944" y="17335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43000" y="16954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平台定位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171700"/>
            <a:ext cx="63411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 err="1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微网通联</a:t>
            </a:r>
            <a:r>
              <a:rPr lang="zh-CN" altLang="en-US" sz="1200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本地化部署消息管理平台</a:t>
            </a:r>
            <a:r>
              <a:rPr lang="en-US" altLang="zh-CN" sz="1200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【</a:t>
            </a:r>
            <a:r>
              <a:rPr lang="en-US" sz="1200" dirty="0" err="1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GMP】是一款基于</a:t>
            </a:r>
            <a:r>
              <a:rPr lang="en-US" sz="1200" dirty="0">
                <a:solidFill>
                  <a:srgbClr val="0A4F6B"/>
                </a:solidFill>
                <a:highlight>
                  <a:srgbClr val="4DB6AC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跨平台Java技术开发 </a:t>
            </a:r>
            <a:r>
              <a:rPr lang="en-US" sz="1200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的消息发送与管理平台，专为满足</a:t>
            </a:r>
            <a:r>
              <a:rPr lang="en-US" sz="1200" dirty="0">
                <a:solidFill>
                  <a:srgbClr val="0A4F6B"/>
                </a:solidFill>
                <a:highlight>
                  <a:srgbClr val="4DB6AC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安全性、保密性要求极高的企事业单位 </a:t>
            </a:r>
            <a:r>
              <a:rPr lang="en-US" sz="1200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（如医院）的本地化部署需求而精心打造。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3009900"/>
            <a:ext cx="6724650" cy="3162300"/>
          </a:xfrm>
          <a:custGeom>
            <a:avLst/>
            <a:gdLst/>
            <a:ahLst/>
            <a:cxnLst/>
            <a:rect l="l" t="t" r="r" b="b"/>
            <a:pathLst>
              <a:path w="6724650" h="3162300">
                <a:moveTo>
                  <a:pt x="114286" y="0"/>
                </a:moveTo>
                <a:lnTo>
                  <a:pt x="6610364" y="0"/>
                </a:lnTo>
                <a:cubicBezTo>
                  <a:pt x="6673483" y="0"/>
                  <a:pt x="6724650" y="51167"/>
                  <a:pt x="6724650" y="114286"/>
                </a:cubicBezTo>
                <a:lnTo>
                  <a:pt x="6724650" y="3048014"/>
                </a:lnTo>
                <a:cubicBezTo>
                  <a:pt x="6724650" y="3111133"/>
                  <a:pt x="6673483" y="3162300"/>
                  <a:pt x="6610364" y="3162300"/>
                </a:cubicBezTo>
                <a:lnTo>
                  <a:pt x="114286" y="3162300"/>
                </a:lnTo>
                <a:cubicBezTo>
                  <a:pt x="51167" y="3162300"/>
                  <a:pt x="0" y="3111133"/>
                  <a:pt x="0" y="3048014"/>
                </a:cubicBezTo>
                <a:lnTo>
                  <a:pt x="0" y="114286"/>
                </a:lnTo>
                <a:cubicBezTo>
                  <a:pt x="0" y="51210"/>
                  <a:pt x="51210" y="0"/>
                  <a:pt x="1142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71500" y="3200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/>
              </a:gs>
              <a:gs pos="100000">
                <a:srgbClr val="0A4F6B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16756" y="33337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-11906"/>
                </a:moveTo>
                <a:cubicBezTo>
                  <a:pt x="54211" y="-11906"/>
                  <a:pt x="59531" y="-6586"/>
                  <a:pt x="59531" y="0"/>
                </a:cubicBezTo>
                <a:lnTo>
                  <a:pt x="59531" y="35719"/>
                </a:lnTo>
                <a:lnTo>
                  <a:pt x="107156" y="35719"/>
                </a:lnTo>
                <a:lnTo>
                  <a:pt x="107156" y="0"/>
                </a:lnTo>
                <a:cubicBezTo>
                  <a:pt x="107156" y="-6586"/>
                  <a:pt x="112477" y="-11906"/>
                  <a:pt x="119063" y="-11906"/>
                </a:cubicBezTo>
                <a:cubicBezTo>
                  <a:pt x="125648" y="-11906"/>
                  <a:pt x="130969" y="-6586"/>
                  <a:pt x="130969" y="0"/>
                </a:cubicBezTo>
                <a:lnTo>
                  <a:pt x="130969" y="35719"/>
                </a:ln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cubicBezTo>
                  <a:pt x="166688" y="54211"/>
                  <a:pt x="161367" y="59531"/>
                  <a:pt x="154781" y="59531"/>
                </a:cubicBezTo>
                <a:lnTo>
                  <a:pt x="154781" y="83344"/>
                </a:lnTo>
                <a:cubicBezTo>
                  <a:pt x="154781" y="118728"/>
                  <a:pt x="129034" y="148121"/>
                  <a:pt x="95250" y="153777"/>
                </a:cubicBezTo>
                <a:lnTo>
                  <a:pt x="95250" y="178594"/>
                </a:lnTo>
                <a:cubicBezTo>
                  <a:pt x="95250" y="185179"/>
                  <a:pt x="89929" y="190500"/>
                  <a:pt x="83344" y="190500"/>
                </a:cubicBezTo>
                <a:cubicBezTo>
                  <a:pt x="76758" y="190500"/>
                  <a:pt x="71438" y="185179"/>
                  <a:pt x="71438" y="178594"/>
                </a:cubicBezTo>
                <a:lnTo>
                  <a:pt x="71438" y="153777"/>
                </a:lnTo>
                <a:cubicBezTo>
                  <a:pt x="37654" y="148121"/>
                  <a:pt x="11906" y="118728"/>
                  <a:pt x="11906" y="83344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lnTo>
                  <a:pt x="35719" y="0"/>
                </a:lnTo>
                <a:cubicBezTo>
                  <a:pt x="35719" y="-6586"/>
                  <a:pt x="41039" y="-11906"/>
                  <a:pt x="47625" y="-1190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143000" y="32956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核心能力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3771900"/>
            <a:ext cx="6419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平台通过</a:t>
            </a:r>
            <a:r>
              <a:rPr lang="en-US" sz="1200" dirty="0">
                <a:solidFill>
                  <a:srgbClr val="0A4F6B"/>
                </a:solidFill>
                <a:highlight>
                  <a:srgbClr val="4DB6AC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一次API接口调用 </a:t>
            </a:r>
            <a:r>
              <a:rPr lang="en-US" sz="1200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</a:t>
            </a:r>
            <a:r>
              <a:rPr lang="en-US" sz="1200" dirty="0" err="1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即可为医院打通短信、微信公众号、微信小程序</a:t>
            </a:r>
            <a:r>
              <a:rPr lang="zh-CN" altLang="en-US" sz="1200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、富媒体</a:t>
            </a:r>
            <a:r>
              <a:rPr lang="en-US" sz="1200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zh-CN" altLang="en-US" sz="1200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语音通知</a:t>
            </a:r>
            <a:r>
              <a:rPr lang="en-US" sz="1200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、5G消息等全渠道通信能力。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1500" y="4419600"/>
            <a:ext cx="2038350" cy="723900"/>
          </a:xfrm>
          <a:custGeom>
            <a:avLst/>
            <a:gdLst/>
            <a:ahLst/>
            <a:cxnLst/>
            <a:rect l="l" t="t" r="r" b="b"/>
            <a:pathLst>
              <a:path w="2038350" h="723900">
                <a:moveTo>
                  <a:pt x="76198" y="0"/>
                </a:moveTo>
                <a:lnTo>
                  <a:pt x="1962152" y="0"/>
                </a:lnTo>
                <a:cubicBezTo>
                  <a:pt x="2004207" y="0"/>
                  <a:pt x="2038350" y="34143"/>
                  <a:pt x="2038350" y="76198"/>
                </a:cubicBezTo>
                <a:lnTo>
                  <a:pt x="2038350" y="647702"/>
                </a:lnTo>
                <a:cubicBezTo>
                  <a:pt x="2038350" y="689757"/>
                  <a:pt x="2004207" y="723900"/>
                  <a:pt x="19621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461418" y="45339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52463" y="4838700"/>
            <a:ext cx="187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 err="1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短信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22885" y="4419600"/>
            <a:ext cx="2038350" cy="723900"/>
          </a:xfrm>
          <a:custGeom>
            <a:avLst/>
            <a:gdLst/>
            <a:ahLst/>
            <a:cxnLst/>
            <a:rect l="l" t="t" r="r" b="b"/>
            <a:pathLst>
              <a:path w="2038350" h="723900">
                <a:moveTo>
                  <a:pt x="76198" y="0"/>
                </a:moveTo>
                <a:lnTo>
                  <a:pt x="1962152" y="0"/>
                </a:lnTo>
                <a:cubicBezTo>
                  <a:pt x="2004207" y="0"/>
                  <a:pt x="2038350" y="34143"/>
                  <a:pt x="2038350" y="76198"/>
                </a:cubicBezTo>
                <a:lnTo>
                  <a:pt x="2038350" y="647702"/>
                </a:lnTo>
                <a:cubicBezTo>
                  <a:pt x="2038350" y="689757"/>
                  <a:pt x="2004207" y="723900"/>
                  <a:pt x="19621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3612803" y="45339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986" y="74831"/>
                </a:moveTo>
                <a:cubicBezTo>
                  <a:pt x="174843" y="74831"/>
                  <a:pt x="177611" y="74965"/>
                  <a:pt x="180380" y="75322"/>
                </a:cubicBezTo>
                <a:cubicBezTo>
                  <a:pt x="172968" y="40318"/>
                  <a:pt x="135419" y="14288"/>
                  <a:pt x="92735" y="14288"/>
                </a:cubicBezTo>
                <a:cubicBezTo>
                  <a:pt x="44872" y="14288"/>
                  <a:pt x="5804" y="46792"/>
                  <a:pt x="5804" y="88136"/>
                </a:cubicBezTo>
                <a:cubicBezTo>
                  <a:pt x="5804" y="111978"/>
                  <a:pt x="18886" y="131668"/>
                  <a:pt x="40585" y="146893"/>
                </a:cubicBezTo>
                <a:lnTo>
                  <a:pt x="31968" y="173057"/>
                </a:lnTo>
                <a:lnTo>
                  <a:pt x="62329" y="157832"/>
                </a:lnTo>
                <a:cubicBezTo>
                  <a:pt x="73223" y="159975"/>
                  <a:pt x="81885" y="162163"/>
                  <a:pt x="92779" y="162163"/>
                </a:cubicBezTo>
                <a:cubicBezTo>
                  <a:pt x="95548" y="162163"/>
                  <a:pt x="98182" y="162029"/>
                  <a:pt x="100950" y="161806"/>
                </a:cubicBezTo>
                <a:cubicBezTo>
                  <a:pt x="99164" y="156046"/>
                  <a:pt x="98182" y="149929"/>
                  <a:pt x="98182" y="143589"/>
                </a:cubicBezTo>
                <a:cubicBezTo>
                  <a:pt x="98137" y="105683"/>
                  <a:pt x="130731" y="74831"/>
                  <a:pt x="171986" y="74831"/>
                </a:cubicBezTo>
                <a:close/>
                <a:moveTo>
                  <a:pt x="125328" y="51212"/>
                </a:moveTo>
                <a:cubicBezTo>
                  <a:pt x="131802" y="51212"/>
                  <a:pt x="136133" y="55543"/>
                  <a:pt x="136133" y="62106"/>
                </a:cubicBezTo>
                <a:cubicBezTo>
                  <a:pt x="136133" y="68580"/>
                  <a:pt x="131802" y="72911"/>
                  <a:pt x="125328" y="72911"/>
                </a:cubicBezTo>
                <a:cubicBezTo>
                  <a:pt x="118720" y="72911"/>
                  <a:pt x="112246" y="68580"/>
                  <a:pt x="112246" y="62106"/>
                </a:cubicBezTo>
                <a:cubicBezTo>
                  <a:pt x="112291" y="55543"/>
                  <a:pt x="118765" y="51212"/>
                  <a:pt x="125328" y="51212"/>
                </a:cubicBezTo>
                <a:close/>
                <a:moveTo>
                  <a:pt x="64428" y="72911"/>
                </a:moveTo>
                <a:cubicBezTo>
                  <a:pt x="57954" y="72911"/>
                  <a:pt x="51346" y="68580"/>
                  <a:pt x="51346" y="62106"/>
                </a:cubicBezTo>
                <a:cubicBezTo>
                  <a:pt x="51346" y="55498"/>
                  <a:pt x="57954" y="51212"/>
                  <a:pt x="64428" y="51212"/>
                </a:cubicBezTo>
                <a:cubicBezTo>
                  <a:pt x="71036" y="51212"/>
                  <a:pt x="75322" y="55543"/>
                  <a:pt x="75322" y="62106"/>
                </a:cubicBezTo>
                <a:cubicBezTo>
                  <a:pt x="75322" y="68625"/>
                  <a:pt x="71036" y="72911"/>
                  <a:pt x="64428" y="72911"/>
                </a:cubicBezTo>
                <a:close/>
                <a:moveTo>
                  <a:pt x="251371" y="142607"/>
                </a:moveTo>
                <a:cubicBezTo>
                  <a:pt x="251371" y="107826"/>
                  <a:pt x="216590" y="79519"/>
                  <a:pt x="177522" y="79519"/>
                </a:cubicBezTo>
                <a:cubicBezTo>
                  <a:pt x="136133" y="79519"/>
                  <a:pt x="103674" y="107826"/>
                  <a:pt x="103674" y="142607"/>
                </a:cubicBezTo>
                <a:cubicBezTo>
                  <a:pt x="103674" y="177388"/>
                  <a:pt x="136178" y="205695"/>
                  <a:pt x="177522" y="205695"/>
                </a:cubicBezTo>
                <a:cubicBezTo>
                  <a:pt x="186139" y="205695"/>
                  <a:pt x="194890" y="203418"/>
                  <a:pt x="203686" y="201275"/>
                </a:cubicBezTo>
                <a:lnTo>
                  <a:pt x="227528" y="214357"/>
                </a:lnTo>
                <a:lnTo>
                  <a:pt x="220920" y="192658"/>
                </a:lnTo>
                <a:cubicBezTo>
                  <a:pt x="238423" y="179531"/>
                  <a:pt x="251371" y="162163"/>
                  <a:pt x="251371" y="142607"/>
                </a:cubicBezTo>
                <a:close/>
                <a:moveTo>
                  <a:pt x="153546" y="131668"/>
                </a:moveTo>
                <a:cubicBezTo>
                  <a:pt x="149215" y="131668"/>
                  <a:pt x="144929" y="127337"/>
                  <a:pt x="144929" y="122917"/>
                </a:cubicBezTo>
                <a:cubicBezTo>
                  <a:pt x="144929" y="118586"/>
                  <a:pt x="149260" y="114300"/>
                  <a:pt x="153546" y="114300"/>
                </a:cubicBezTo>
                <a:cubicBezTo>
                  <a:pt x="160154" y="114300"/>
                  <a:pt x="164440" y="118631"/>
                  <a:pt x="164440" y="122917"/>
                </a:cubicBezTo>
                <a:cubicBezTo>
                  <a:pt x="164440" y="127382"/>
                  <a:pt x="160109" y="131668"/>
                  <a:pt x="153546" y="131668"/>
                </a:cubicBezTo>
                <a:close/>
                <a:moveTo>
                  <a:pt x="201364" y="131668"/>
                </a:moveTo>
                <a:cubicBezTo>
                  <a:pt x="197034" y="131668"/>
                  <a:pt x="192747" y="127337"/>
                  <a:pt x="192747" y="122917"/>
                </a:cubicBezTo>
                <a:cubicBezTo>
                  <a:pt x="192747" y="118586"/>
                  <a:pt x="197078" y="114300"/>
                  <a:pt x="201364" y="114300"/>
                </a:cubicBezTo>
                <a:cubicBezTo>
                  <a:pt x="207838" y="114300"/>
                  <a:pt x="212259" y="118631"/>
                  <a:pt x="212259" y="122917"/>
                </a:cubicBezTo>
                <a:cubicBezTo>
                  <a:pt x="212303" y="127382"/>
                  <a:pt x="207838" y="131668"/>
                  <a:pt x="201364" y="131668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2803847" y="4838700"/>
            <a:ext cx="187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微信生态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74270" y="4419600"/>
            <a:ext cx="2038350" cy="723900"/>
          </a:xfrm>
          <a:custGeom>
            <a:avLst/>
            <a:gdLst/>
            <a:ahLst/>
            <a:cxnLst/>
            <a:rect l="l" t="t" r="r" b="b"/>
            <a:pathLst>
              <a:path w="2038350" h="723900">
                <a:moveTo>
                  <a:pt x="76198" y="0"/>
                </a:moveTo>
                <a:lnTo>
                  <a:pt x="1962152" y="0"/>
                </a:lnTo>
                <a:cubicBezTo>
                  <a:pt x="2004207" y="0"/>
                  <a:pt x="2038350" y="34143"/>
                  <a:pt x="2038350" y="76198"/>
                </a:cubicBezTo>
                <a:lnTo>
                  <a:pt x="2038350" y="647702"/>
                </a:lnTo>
                <a:cubicBezTo>
                  <a:pt x="2038350" y="689757"/>
                  <a:pt x="2004207" y="723900"/>
                  <a:pt x="19621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955232" y="4838700"/>
            <a:ext cx="187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语音通知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1500" y="5257800"/>
            <a:ext cx="2038350" cy="723900"/>
          </a:xfrm>
          <a:custGeom>
            <a:avLst/>
            <a:gdLst/>
            <a:ahLst/>
            <a:cxnLst/>
            <a:rect l="l" t="t" r="r" b="b"/>
            <a:pathLst>
              <a:path w="2038350" h="723900">
                <a:moveTo>
                  <a:pt x="76198" y="0"/>
                </a:moveTo>
                <a:lnTo>
                  <a:pt x="1962152" y="0"/>
                </a:lnTo>
                <a:cubicBezTo>
                  <a:pt x="2004207" y="0"/>
                  <a:pt x="2038350" y="34143"/>
                  <a:pt x="2038350" y="76198"/>
                </a:cubicBezTo>
                <a:lnTo>
                  <a:pt x="2038350" y="647702"/>
                </a:lnTo>
                <a:cubicBezTo>
                  <a:pt x="2038350" y="689757"/>
                  <a:pt x="2004207" y="723900"/>
                  <a:pt x="19621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1504280" y="53721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144" y="28575"/>
                </a:moveTo>
                <a:cubicBezTo>
                  <a:pt x="7144" y="12814"/>
                  <a:pt x="19958" y="0"/>
                  <a:pt x="35719" y="0"/>
                </a:cubicBezTo>
                <a:lnTo>
                  <a:pt x="135731" y="0"/>
                </a:lnTo>
                <a:cubicBezTo>
                  <a:pt x="151492" y="0"/>
                  <a:pt x="164306" y="12814"/>
                  <a:pt x="164306" y="28575"/>
                </a:cubicBezTo>
                <a:lnTo>
                  <a:pt x="164306" y="200025"/>
                </a:lnTo>
                <a:cubicBezTo>
                  <a:pt x="164306" y="215786"/>
                  <a:pt x="151492" y="228600"/>
                  <a:pt x="135731" y="228600"/>
                </a:cubicBezTo>
                <a:lnTo>
                  <a:pt x="35719" y="228600"/>
                </a:lnTo>
                <a:cubicBezTo>
                  <a:pt x="19958" y="228600"/>
                  <a:pt x="7144" y="215786"/>
                  <a:pt x="7144" y="200025"/>
                </a:cubicBezTo>
                <a:lnTo>
                  <a:pt x="7144" y="28575"/>
                </a:lnTo>
                <a:close/>
                <a:moveTo>
                  <a:pt x="35719" y="28575"/>
                </a:moveTo>
                <a:lnTo>
                  <a:pt x="35719" y="164306"/>
                </a:lnTo>
                <a:lnTo>
                  <a:pt x="135731" y="164306"/>
                </a:lnTo>
                <a:lnTo>
                  <a:pt x="135731" y="28575"/>
                </a:lnTo>
                <a:lnTo>
                  <a:pt x="35719" y="28575"/>
                </a:lnTo>
                <a:close/>
                <a:moveTo>
                  <a:pt x="85725" y="210741"/>
                </a:moveTo>
                <a:cubicBezTo>
                  <a:pt x="93628" y="210741"/>
                  <a:pt x="100013" y="204356"/>
                  <a:pt x="100013" y="196453"/>
                </a:cubicBezTo>
                <a:cubicBezTo>
                  <a:pt x="100013" y="188550"/>
                  <a:pt x="93628" y="182166"/>
                  <a:pt x="85725" y="182166"/>
                </a:cubicBezTo>
                <a:cubicBezTo>
                  <a:pt x="77822" y="182166"/>
                  <a:pt x="71438" y="188550"/>
                  <a:pt x="71438" y="196453"/>
                </a:cubicBezTo>
                <a:cubicBezTo>
                  <a:pt x="71438" y="204356"/>
                  <a:pt x="77822" y="210741"/>
                  <a:pt x="85725" y="210741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52463" y="5676900"/>
            <a:ext cx="187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富媒体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722885" y="5257800"/>
            <a:ext cx="2038350" cy="723900"/>
          </a:xfrm>
          <a:custGeom>
            <a:avLst/>
            <a:gdLst/>
            <a:ahLst/>
            <a:cxnLst/>
            <a:rect l="l" t="t" r="r" b="b"/>
            <a:pathLst>
              <a:path w="2038350" h="723900">
                <a:moveTo>
                  <a:pt x="76198" y="0"/>
                </a:moveTo>
                <a:lnTo>
                  <a:pt x="1962152" y="0"/>
                </a:lnTo>
                <a:cubicBezTo>
                  <a:pt x="2004207" y="0"/>
                  <a:pt x="2038350" y="34143"/>
                  <a:pt x="2038350" y="76198"/>
                </a:cubicBezTo>
                <a:lnTo>
                  <a:pt x="2038350" y="647702"/>
                </a:lnTo>
                <a:cubicBezTo>
                  <a:pt x="2038350" y="689757"/>
                  <a:pt x="2004207" y="723900"/>
                  <a:pt x="19621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3612803" y="53721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39246" y="5135"/>
                </a:moveTo>
                <a:cubicBezTo>
                  <a:pt x="34201" y="2054"/>
                  <a:pt x="27593" y="3706"/>
                  <a:pt x="24512" y="8751"/>
                </a:cubicBezTo>
                <a:cubicBezTo>
                  <a:pt x="13439" y="27057"/>
                  <a:pt x="7099" y="48533"/>
                  <a:pt x="7099" y="71438"/>
                </a:cubicBezTo>
                <a:cubicBezTo>
                  <a:pt x="7099" y="94342"/>
                  <a:pt x="13439" y="115818"/>
                  <a:pt x="24512" y="134124"/>
                </a:cubicBezTo>
                <a:cubicBezTo>
                  <a:pt x="27593" y="139169"/>
                  <a:pt x="34156" y="140821"/>
                  <a:pt x="39246" y="137740"/>
                </a:cubicBezTo>
                <a:cubicBezTo>
                  <a:pt x="44336" y="134660"/>
                  <a:pt x="45943" y="128096"/>
                  <a:pt x="42863" y="123006"/>
                </a:cubicBezTo>
                <a:cubicBezTo>
                  <a:pt x="33799" y="108005"/>
                  <a:pt x="28575" y="90324"/>
                  <a:pt x="28575" y="71438"/>
                </a:cubicBezTo>
                <a:cubicBezTo>
                  <a:pt x="28575" y="52551"/>
                  <a:pt x="33799" y="34870"/>
                  <a:pt x="42907" y="19824"/>
                </a:cubicBezTo>
                <a:cubicBezTo>
                  <a:pt x="45988" y="14779"/>
                  <a:pt x="44336" y="8171"/>
                  <a:pt x="39291" y="5090"/>
                </a:cubicBezTo>
                <a:close/>
                <a:moveTo>
                  <a:pt x="217884" y="5135"/>
                </a:moveTo>
                <a:cubicBezTo>
                  <a:pt x="212839" y="8215"/>
                  <a:pt x="211187" y="14779"/>
                  <a:pt x="214268" y="19869"/>
                </a:cubicBezTo>
                <a:cubicBezTo>
                  <a:pt x="223376" y="34915"/>
                  <a:pt x="228600" y="52596"/>
                  <a:pt x="228600" y="71482"/>
                </a:cubicBezTo>
                <a:cubicBezTo>
                  <a:pt x="228600" y="90368"/>
                  <a:pt x="223376" y="108049"/>
                  <a:pt x="214268" y="123096"/>
                </a:cubicBezTo>
                <a:cubicBezTo>
                  <a:pt x="211187" y="128141"/>
                  <a:pt x="212839" y="134749"/>
                  <a:pt x="217884" y="137830"/>
                </a:cubicBezTo>
                <a:cubicBezTo>
                  <a:pt x="222930" y="140910"/>
                  <a:pt x="229538" y="139258"/>
                  <a:pt x="232618" y="134213"/>
                </a:cubicBezTo>
                <a:cubicBezTo>
                  <a:pt x="243691" y="115907"/>
                  <a:pt x="250031" y="94431"/>
                  <a:pt x="250031" y="71527"/>
                </a:cubicBezTo>
                <a:cubicBezTo>
                  <a:pt x="250031" y="48622"/>
                  <a:pt x="243691" y="27057"/>
                  <a:pt x="232618" y="8751"/>
                </a:cubicBezTo>
                <a:cubicBezTo>
                  <a:pt x="229538" y="3706"/>
                  <a:pt x="222974" y="2054"/>
                  <a:pt x="217884" y="5135"/>
                </a:cubicBezTo>
                <a:close/>
                <a:moveTo>
                  <a:pt x="142875" y="96173"/>
                </a:moveTo>
                <a:cubicBezTo>
                  <a:pt x="151403" y="91217"/>
                  <a:pt x="157163" y="82019"/>
                  <a:pt x="157163" y="71438"/>
                </a:cubicBezTo>
                <a:cubicBezTo>
                  <a:pt x="157163" y="55677"/>
                  <a:pt x="144348" y="42863"/>
                  <a:pt x="128588" y="42863"/>
                </a:cubicBezTo>
                <a:cubicBezTo>
                  <a:pt x="112827" y="42863"/>
                  <a:pt x="100013" y="55677"/>
                  <a:pt x="100013" y="71438"/>
                </a:cubicBezTo>
                <a:cubicBezTo>
                  <a:pt x="100013" y="82019"/>
                  <a:pt x="105772" y="91261"/>
                  <a:pt x="114300" y="96173"/>
                </a:cubicBezTo>
                <a:lnTo>
                  <a:pt x="114300" y="214313"/>
                </a:lnTo>
                <a:cubicBezTo>
                  <a:pt x="114300" y="222215"/>
                  <a:pt x="120685" y="228600"/>
                  <a:pt x="128588" y="228600"/>
                </a:cubicBezTo>
                <a:cubicBezTo>
                  <a:pt x="136490" y="228600"/>
                  <a:pt x="142875" y="222215"/>
                  <a:pt x="142875" y="214313"/>
                </a:cubicBezTo>
                <a:lnTo>
                  <a:pt x="142875" y="96173"/>
                </a:lnTo>
                <a:close/>
                <a:moveTo>
                  <a:pt x="80456" y="40630"/>
                </a:moveTo>
                <a:cubicBezTo>
                  <a:pt x="83671" y="35629"/>
                  <a:pt x="82198" y="29021"/>
                  <a:pt x="77242" y="25807"/>
                </a:cubicBezTo>
                <a:cubicBezTo>
                  <a:pt x="72286" y="22592"/>
                  <a:pt x="65633" y="24066"/>
                  <a:pt x="62419" y="29021"/>
                </a:cubicBezTo>
                <a:cubicBezTo>
                  <a:pt x="54560" y="41255"/>
                  <a:pt x="50006" y="55811"/>
                  <a:pt x="50006" y="71438"/>
                </a:cubicBezTo>
                <a:cubicBezTo>
                  <a:pt x="50006" y="87064"/>
                  <a:pt x="54560" y="101620"/>
                  <a:pt x="62419" y="113854"/>
                </a:cubicBezTo>
                <a:cubicBezTo>
                  <a:pt x="65633" y="118854"/>
                  <a:pt x="72241" y="120283"/>
                  <a:pt x="77242" y="117068"/>
                </a:cubicBezTo>
                <a:cubicBezTo>
                  <a:pt x="82242" y="113854"/>
                  <a:pt x="83671" y="107246"/>
                  <a:pt x="80456" y="102245"/>
                </a:cubicBezTo>
                <a:cubicBezTo>
                  <a:pt x="74741" y="93360"/>
                  <a:pt x="71438" y="82778"/>
                  <a:pt x="71438" y="71438"/>
                </a:cubicBezTo>
                <a:cubicBezTo>
                  <a:pt x="71438" y="60097"/>
                  <a:pt x="74741" y="49515"/>
                  <a:pt x="80456" y="40630"/>
                </a:cubicBezTo>
                <a:close/>
                <a:moveTo>
                  <a:pt x="194756" y="29021"/>
                </a:moveTo>
                <a:cubicBezTo>
                  <a:pt x="191542" y="24021"/>
                  <a:pt x="184934" y="22592"/>
                  <a:pt x="179933" y="25807"/>
                </a:cubicBezTo>
                <a:cubicBezTo>
                  <a:pt x="174933" y="29021"/>
                  <a:pt x="173504" y="35629"/>
                  <a:pt x="176719" y="40630"/>
                </a:cubicBezTo>
                <a:cubicBezTo>
                  <a:pt x="182434" y="49515"/>
                  <a:pt x="185738" y="60097"/>
                  <a:pt x="185738" y="71438"/>
                </a:cubicBezTo>
                <a:cubicBezTo>
                  <a:pt x="185738" y="82778"/>
                  <a:pt x="182434" y="93360"/>
                  <a:pt x="176719" y="102245"/>
                </a:cubicBezTo>
                <a:cubicBezTo>
                  <a:pt x="173504" y="107246"/>
                  <a:pt x="174977" y="113854"/>
                  <a:pt x="179933" y="117068"/>
                </a:cubicBezTo>
                <a:cubicBezTo>
                  <a:pt x="184889" y="120283"/>
                  <a:pt x="191542" y="118809"/>
                  <a:pt x="194756" y="113854"/>
                </a:cubicBezTo>
                <a:cubicBezTo>
                  <a:pt x="202615" y="101620"/>
                  <a:pt x="207169" y="87064"/>
                  <a:pt x="207169" y="71438"/>
                </a:cubicBezTo>
                <a:cubicBezTo>
                  <a:pt x="207169" y="55811"/>
                  <a:pt x="202615" y="41255"/>
                  <a:pt x="194756" y="29021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2803847" y="5676900"/>
            <a:ext cx="187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5G消息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874270" y="5257800"/>
            <a:ext cx="2038350" cy="723900"/>
          </a:xfrm>
          <a:custGeom>
            <a:avLst/>
            <a:gdLst/>
            <a:ahLst/>
            <a:cxnLst/>
            <a:rect l="l" t="t" r="r" b="b"/>
            <a:pathLst>
              <a:path w="2038350" h="723900">
                <a:moveTo>
                  <a:pt x="76198" y="0"/>
                </a:moveTo>
                <a:lnTo>
                  <a:pt x="1962152" y="0"/>
                </a:lnTo>
                <a:cubicBezTo>
                  <a:pt x="2004207" y="0"/>
                  <a:pt x="2038350" y="34143"/>
                  <a:pt x="2038350" y="76198"/>
                </a:cubicBezTo>
                <a:lnTo>
                  <a:pt x="2038350" y="647702"/>
                </a:lnTo>
                <a:cubicBezTo>
                  <a:pt x="2038350" y="689757"/>
                  <a:pt x="2004207" y="723900"/>
                  <a:pt x="19621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5778475" y="5372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4955232" y="5676900"/>
            <a:ext cx="187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组合消息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30455" y="1409700"/>
            <a:ext cx="4476750" cy="2190750"/>
          </a:xfrm>
          <a:custGeom>
            <a:avLst/>
            <a:gdLst/>
            <a:ahLst/>
            <a:cxnLst/>
            <a:rect l="l" t="t" r="r" b="b"/>
            <a:pathLst>
              <a:path w="4476750" h="2190750">
                <a:moveTo>
                  <a:pt x="114291" y="0"/>
                </a:moveTo>
                <a:lnTo>
                  <a:pt x="4362459" y="0"/>
                </a:lnTo>
                <a:cubicBezTo>
                  <a:pt x="4425580" y="0"/>
                  <a:pt x="4476750" y="51170"/>
                  <a:pt x="4476750" y="114291"/>
                </a:cubicBezTo>
                <a:lnTo>
                  <a:pt x="4476750" y="2076459"/>
                </a:lnTo>
                <a:cubicBezTo>
                  <a:pt x="4476750" y="2139580"/>
                  <a:pt x="4425580" y="2190750"/>
                  <a:pt x="4362459" y="2190750"/>
                </a:cubicBezTo>
                <a:lnTo>
                  <a:pt x="114291" y="2190750"/>
                </a:lnTo>
                <a:cubicBezTo>
                  <a:pt x="51170" y="2190750"/>
                  <a:pt x="0" y="2139580"/>
                  <a:pt x="0" y="20764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flip="none" rotWithShape="1">
            <a:gsLst>
              <a:gs pos="0">
                <a:srgbClr val="0A4F6B"/>
              </a:gs>
              <a:gs pos="100000">
                <a:srgbClr val="5A7D8C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7541196" y="160020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71438" y="35719"/>
                </a:moveTo>
                <a:cubicBezTo>
                  <a:pt x="71438" y="16018"/>
                  <a:pt x="87455" y="0"/>
                  <a:pt x="107156" y="0"/>
                </a:cubicBezTo>
                <a:lnTo>
                  <a:pt x="214313" y="0"/>
                </a:lnTo>
                <a:cubicBezTo>
                  <a:pt x="234014" y="0"/>
                  <a:pt x="250031" y="16018"/>
                  <a:pt x="250031" y="35719"/>
                </a:cubicBezTo>
                <a:lnTo>
                  <a:pt x="250031" y="71438"/>
                </a:lnTo>
                <a:lnTo>
                  <a:pt x="285750" y="71438"/>
                </a:lnTo>
                <a:cubicBezTo>
                  <a:pt x="305451" y="71438"/>
                  <a:pt x="321469" y="87455"/>
                  <a:pt x="321469" y="107156"/>
                </a:cubicBezTo>
                <a:lnTo>
                  <a:pt x="321469" y="250031"/>
                </a:lnTo>
                <a:cubicBezTo>
                  <a:pt x="321469" y="269732"/>
                  <a:pt x="305451" y="285750"/>
                  <a:pt x="285750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107156"/>
                </a:lnTo>
                <a:cubicBezTo>
                  <a:pt x="0" y="87455"/>
                  <a:pt x="16018" y="71438"/>
                  <a:pt x="35719" y="71438"/>
                </a:cubicBezTo>
                <a:lnTo>
                  <a:pt x="71438" y="71438"/>
                </a:lnTo>
                <a:lnTo>
                  <a:pt x="71438" y="35719"/>
                </a:lnTo>
                <a:close/>
                <a:moveTo>
                  <a:pt x="151805" y="196453"/>
                </a:moveTo>
                <a:cubicBezTo>
                  <a:pt x="141926" y="196453"/>
                  <a:pt x="133945" y="204434"/>
                  <a:pt x="133945" y="214313"/>
                </a:cubicBezTo>
                <a:lnTo>
                  <a:pt x="133945" y="258961"/>
                </a:lnTo>
                <a:lnTo>
                  <a:pt x="187523" y="258961"/>
                </a:lnTo>
                <a:lnTo>
                  <a:pt x="187523" y="214313"/>
                </a:lnTo>
                <a:cubicBezTo>
                  <a:pt x="187523" y="204434"/>
                  <a:pt x="179543" y="196453"/>
                  <a:pt x="169664" y="196453"/>
                </a:cubicBezTo>
                <a:lnTo>
                  <a:pt x="151805" y="196453"/>
                </a:lnTo>
                <a:close/>
                <a:moveTo>
                  <a:pt x="71438" y="205383"/>
                </a:moveTo>
                <a:lnTo>
                  <a:pt x="71438" y="187523"/>
                </a:lnTo>
                <a:cubicBezTo>
                  <a:pt x="71438" y="182612"/>
                  <a:pt x="67419" y="178594"/>
                  <a:pt x="62508" y="178594"/>
                </a:cubicBezTo>
                <a:lnTo>
                  <a:pt x="44648" y="178594"/>
                </a:lnTo>
                <a:cubicBezTo>
                  <a:pt x="39737" y="178594"/>
                  <a:pt x="35719" y="182612"/>
                  <a:pt x="35719" y="187523"/>
                </a:cubicBezTo>
                <a:lnTo>
                  <a:pt x="35719" y="205383"/>
                </a:lnTo>
                <a:cubicBezTo>
                  <a:pt x="35719" y="210294"/>
                  <a:pt x="39737" y="214313"/>
                  <a:pt x="44648" y="214313"/>
                </a:cubicBezTo>
                <a:lnTo>
                  <a:pt x="62508" y="214313"/>
                </a:lnTo>
                <a:cubicBezTo>
                  <a:pt x="67419" y="214313"/>
                  <a:pt x="71438" y="210294"/>
                  <a:pt x="71438" y="205383"/>
                </a:cubicBezTo>
                <a:close/>
                <a:moveTo>
                  <a:pt x="62508" y="142875"/>
                </a:moveTo>
                <a:cubicBezTo>
                  <a:pt x="67419" y="142875"/>
                  <a:pt x="71438" y="138857"/>
                  <a:pt x="71438" y="133945"/>
                </a:cubicBezTo>
                <a:lnTo>
                  <a:pt x="71438" y="116086"/>
                </a:lnTo>
                <a:cubicBezTo>
                  <a:pt x="71438" y="111175"/>
                  <a:pt x="67419" y="107156"/>
                  <a:pt x="62508" y="107156"/>
                </a:cubicBezTo>
                <a:lnTo>
                  <a:pt x="44648" y="107156"/>
                </a:lnTo>
                <a:cubicBezTo>
                  <a:pt x="39737" y="107156"/>
                  <a:pt x="35719" y="111175"/>
                  <a:pt x="35719" y="116086"/>
                </a:cubicBezTo>
                <a:lnTo>
                  <a:pt x="35719" y="133945"/>
                </a:lnTo>
                <a:cubicBezTo>
                  <a:pt x="35719" y="138857"/>
                  <a:pt x="39737" y="142875"/>
                  <a:pt x="44648" y="142875"/>
                </a:cubicBezTo>
                <a:lnTo>
                  <a:pt x="62508" y="142875"/>
                </a:lnTo>
                <a:close/>
                <a:moveTo>
                  <a:pt x="285750" y="205383"/>
                </a:moveTo>
                <a:lnTo>
                  <a:pt x="285750" y="187523"/>
                </a:lnTo>
                <a:cubicBezTo>
                  <a:pt x="285750" y="182612"/>
                  <a:pt x="281732" y="178594"/>
                  <a:pt x="276820" y="178594"/>
                </a:cubicBezTo>
                <a:lnTo>
                  <a:pt x="258961" y="178594"/>
                </a:lnTo>
                <a:cubicBezTo>
                  <a:pt x="254050" y="178594"/>
                  <a:pt x="250031" y="182612"/>
                  <a:pt x="250031" y="187523"/>
                </a:cubicBezTo>
                <a:lnTo>
                  <a:pt x="250031" y="205383"/>
                </a:lnTo>
                <a:cubicBezTo>
                  <a:pt x="250031" y="210294"/>
                  <a:pt x="254050" y="214313"/>
                  <a:pt x="258961" y="214313"/>
                </a:cubicBezTo>
                <a:lnTo>
                  <a:pt x="276820" y="214313"/>
                </a:lnTo>
                <a:cubicBezTo>
                  <a:pt x="281732" y="214313"/>
                  <a:pt x="285750" y="210294"/>
                  <a:pt x="285750" y="205383"/>
                </a:cubicBezTo>
                <a:close/>
                <a:moveTo>
                  <a:pt x="276820" y="142875"/>
                </a:moveTo>
                <a:cubicBezTo>
                  <a:pt x="281732" y="142875"/>
                  <a:pt x="285750" y="138857"/>
                  <a:pt x="285750" y="133945"/>
                </a:cubicBezTo>
                <a:lnTo>
                  <a:pt x="285750" y="116086"/>
                </a:lnTo>
                <a:cubicBezTo>
                  <a:pt x="285750" y="111175"/>
                  <a:pt x="281732" y="107156"/>
                  <a:pt x="276820" y="107156"/>
                </a:cubicBezTo>
                <a:lnTo>
                  <a:pt x="258961" y="107156"/>
                </a:lnTo>
                <a:cubicBezTo>
                  <a:pt x="254050" y="107156"/>
                  <a:pt x="250031" y="111175"/>
                  <a:pt x="250031" y="116086"/>
                </a:cubicBezTo>
                <a:lnTo>
                  <a:pt x="250031" y="133945"/>
                </a:lnTo>
                <a:cubicBezTo>
                  <a:pt x="250031" y="138857"/>
                  <a:pt x="254050" y="142875"/>
                  <a:pt x="258961" y="142875"/>
                </a:cubicBezTo>
                <a:lnTo>
                  <a:pt x="276820" y="142875"/>
                </a:lnTo>
                <a:close/>
                <a:moveTo>
                  <a:pt x="147340" y="58043"/>
                </a:moveTo>
                <a:lnTo>
                  <a:pt x="147340" y="75902"/>
                </a:lnTo>
                <a:lnTo>
                  <a:pt x="129480" y="75902"/>
                </a:lnTo>
                <a:cubicBezTo>
                  <a:pt x="124569" y="75902"/>
                  <a:pt x="120551" y="79921"/>
                  <a:pt x="120551" y="84832"/>
                </a:cubicBezTo>
                <a:lnTo>
                  <a:pt x="120551" y="93762"/>
                </a:lnTo>
                <a:cubicBezTo>
                  <a:pt x="120551" y="98673"/>
                  <a:pt x="124569" y="102691"/>
                  <a:pt x="129480" y="102691"/>
                </a:cubicBezTo>
                <a:lnTo>
                  <a:pt x="147340" y="102691"/>
                </a:lnTo>
                <a:lnTo>
                  <a:pt x="147340" y="120551"/>
                </a:lnTo>
                <a:cubicBezTo>
                  <a:pt x="147340" y="125462"/>
                  <a:pt x="151358" y="129480"/>
                  <a:pt x="156270" y="129480"/>
                </a:cubicBezTo>
                <a:lnTo>
                  <a:pt x="165199" y="129480"/>
                </a:lnTo>
                <a:cubicBezTo>
                  <a:pt x="170111" y="129480"/>
                  <a:pt x="174129" y="125462"/>
                  <a:pt x="174129" y="120551"/>
                </a:cubicBezTo>
                <a:lnTo>
                  <a:pt x="174129" y="102691"/>
                </a:lnTo>
                <a:lnTo>
                  <a:pt x="191988" y="102691"/>
                </a:lnTo>
                <a:cubicBezTo>
                  <a:pt x="196900" y="102691"/>
                  <a:pt x="200918" y="98673"/>
                  <a:pt x="200918" y="93762"/>
                </a:cubicBezTo>
                <a:lnTo>
                  <a:pt x="200918" y="84832"/>
                </a:lnTo>
                <a:cubicBezTo>
                  <a:pt x="200918" y="79921"/>
                  <a:pt x="196900" y="75902"/>
                  <a:pt x="191988" y="75902"/>
                </a:cubicBezTo>
                <a:lnTo>
                  <a:pt x="174129" y="75902"/>
                </a:lnTo>
                <a:lnTo>
                  <a:pt x="174129" y="58043"/>
                </a:lnTo>
                <a:cubicBezTo>
                  <a:pt x="174129" y="53132"/>
                  <a:pt x="170111" y="49113"/>
                  <a:pt x="165199" y="49113"/>
                </a:cubicBezTo>
                <a:lnTo>
                  <a:pt x="156270" y="49113"/>
                </a:lnTo>
                <a:cubicBezTo>
                  <a:pt x="151358" y="49113"/>
                  <a:pt x="147340" y="53132"/>
                  <a:pt x="147340" y="58043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7992442" y="1609725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统一消息枢纽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20955" y="2038350"/>
            <a:ext cx="4171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CE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作为医院</a:t>
            </a:r>
            <a:r>
              <a:rPr lang="en-US" sz="1200" b="1" dirty="0">
                <a:solidFill>
                  <a:srgbClr val="E8ECE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统一的消息进出口枢纽</a:t>
            </a:r>
            <a:r>
              <a:rPr lang="en-US" sz="1200" dirty="0">
                <a:solidFill>
                  <a:srgbClr val="E8ECE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，将临床数据、医院管理信息高效、精准地触达医护人员与患者。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540005" y="27146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7763842" y="2686050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构建全院级智慧通信新引擎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40005" y="29813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7763842" y="2952750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打破消息孤岛，统一接口管理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540005" y="32480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7763842" y="3219450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降低系统对接复杂度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349505" y="3752850"/>
            <a:ext cx="4457700" cy="2419350"/>
          </a:xfrm>
          <a:custGeom>
            <a:avLst/>
            <a:gdLst/>
            <a:ahLst/>
            <a:cxnLst/>
            <a:rect l="l" t="t" r="r" b="b"/>
            <a:pathLst>
              <a:path w="4457700" h="1295400">
                <a:moveTo>
                  <a:pt x="38100" y="0"/>
                </a:moveTo>
                <a:lnTo>
                  <a:pt x="4343394" y="0"/>
                </a:lnTo>
                <a:cubicBezTo>
                  <a:pt x="4406523" y="0"/>
                  <a:pt x="4457700" y="51177"/>
                  <a:pt x="4457700" y="114306"/>
                </a:cubicBezTo>
                <a:lnTo>
                  <a:pt x="4457700" y="1181094"/>
                </a:lnTo>
                <a:cubicBezTo>
                  <a:pt x="4457700" y="1244223"/>
                  <a:pt x="4406523" y="1295400"/>
                  <a:pt x="4343394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7349504" y="3752849"/>
            <a:ext cx="45719" cy="2419349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7587630" y="3962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7959105" y="394335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数据处理能力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418114" y="48387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1亿+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456214" y="5181600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日处理能力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505950" y="48387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altLang="zh-CN" sz="225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r>
              <a:rPr lang="en-US" sz="225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000+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544050" y="5181600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秒级并发</a:t>
            </a:r>
            <a:endParaRPr lang="en-US" sz="1600" dirty="0"/>
          </a:p>
        </p:txBody>
      </p:sp>
      <p:pic>
        <p:nvPicPr>
          <p:cNvPr id="51" name="图片 50" descr="图片包含 形状&#10;&#10;AI 生成的内容可能不正确。">
            <a:extLst>
              <a:ext uri="{FF2B5EF4-FFF2-40B4-BE49-F238E27FC236}">
                <a16:creationId xmlns:a16="http://schemas.microsoft.com/office/drawing/2014/main" id="{6ECA4A09-07F5-8246-F00B-DE22AAA32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913" y="402336"/>
            <a:ext cx="1493087" cy="363601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0850" y="4514850"/>
            <a:ext cx="323850" cy="3238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78" y="370578"/>
            <a:ext cx="11524960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kern="0" spc="58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PATIENT SERVICE SCENARIOS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578" y="667040"/>
            <a:ext cx="11617605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6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患者公众服务场景：全流程就医提醒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0578" y="1148790"/>
            <a:ext cx="741155" cy="37058"/>
          </a:xfrm>
          <a:custGeom>
            <a:avLst/>
            <a:gdLst/>
            <a:ahLst/>
            <a:cxnLst/>
            <a:rect l="l" t="t" r="r" b="b"/>
            <a:pathLst>
              <a:path w="741155" h="37058">
                <a:moveTo>
                  <a:pt x="0" y="0"/>
                </a:moveTo>
                <a:lnTo>
                  <a:pt x="741155" y="0"/>
                </a:lnTo>
                <a:lnTo>
                  <a:pt x="741155" y="37058"/>
                </a:lnTo>
                <a:lnTo>
                  <a:pt x="0" y="37058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89106" y="1371137"/>
            <a:ext cx="5614249" cy="2482869"/>
          </a:xfrm>
          <a:custGeom>
            <a:avLst/>
            <a:gdLst/>
            <a:ahLst/>
            <a:cxnLst/>
            <a:rect l="l" t="t" r="r" b="b"/>
            <a:pathLst>
              <a:path w="5614249" h="2482869">
                <a:moveTo>
                  <a:pt x="37058" y="0"/>
                </a:moveTo>
                <a:lnTo>
                  <a:pt x="5503066" y="0"/>
                </a:lnTo>
                <a:cubicBezTo>
                  <a:pt x="5564471" y="0"/>
                  <a:pt x="5614249" y="49778"/>
                  <a:pt x="5614249" y="111183"/>
                </a:cubicBezTo>
                <a:lnTo>
                  <a:pt x="5614249" y="2371686"/>
                </a:lnTo>
                <a:cubicBezTo>
                  <a:pt x="5614249" y="2433091"/>
                  <a:pt x="5564471" y="2482869"/>
                  <a:pt x="5503066" y="2482869"/>
                </a:cubicBezTo>
                <a:lnTo>
                  <a:pt x="37058" y="2482869"/>
                </a:lnTo>
                <a:cubicBezTo>
                  <a:pt x="16591" y="2482869"/>
                  <a:pt x="0" y="2466278"/>
                  <a:pt x="0" y="2445812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793" dist="926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89106" y="1371137"/>
            <a:ext cx="37058" cy="2482869"/>
          </a:xfrm>
          <a:custGeom>
            <a:avLst/>
            <a:gdLst/>
            <a:ahLst/>
            <a:cxnLst/>
            <a:rect l="l" t="t" r="r" b="b"/>
            <a:pathLst>
              <a:path w="37058" h="2482869">
                <a:moveTo>
                  <a:pt x="37058" y="0"/>
                </a:moveTo>
                <a:lnTo>
                  <a:pt x="37058" y="0"/>
                </a:lnTo>
                <a:lnTo>
                  <a:pt x="37058" y="2482869"/>
                </a:lnTo>
                <a:lnTo>
                  <a:pt x="37058" y="2482869"/>
                </a:lnTo>
                <a:cubicBezTo>
                  <a:pt x="16591" y="2482869"/>
                  <a:pt x="0" y="2466278"/>
                  <a:pt x="0" y="2445812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0A4F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92924" y="1556426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74117" y="0"/>
                </a:moveTo>
                <a:lnTo>
                  <a:pt x="370576" y="0"/>
                </a:lnTo>
                <a:cubicBezTo>
                  <a:pt x="411482" y="0"/>
                  <a:pt x="444693" y="33211"/>
                  <a:pt x="444693" y="74117"/>
                </a:cubicBezTo>
                <a:lnTo>
                  <a:pt x="444693" y="370576"/>
                </a:lnTo>
                <a:cubicBezTo>
                  <a:pt x="444693" y="411482"/>
                  <a:pt x="411482" y="444693"/>
                  <a:pt x="370576" y="444693"/>
                </a:cubicBezTo>
                <a:lnTo>
                  <a:pt x="74117" y="444693"/>
                </a:lnTo>
                <a:cubicBezTo>
                  <a:pt x="33211" y="444693"/>
                  <a:pt x="0" y="411482"/>
                  <a:pt x="0" y="370576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0A4F6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22626" y="1686128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185289" y="34742"/>
                </a:moveTo>
                <a:cubicBezTo>
                  <a:pt x="185289" y="52909"/>
                  <a:pt x="163901" y="80014"/>
                  <a:pt x="154673" y="90835"/>
                </a:cubicBezTo>
                <a:cubicBezTo>
                  <a:pt x="153297" y="92427"/>
                  <a:pt x="151271" y="93042"/>
                  <a:pt x="149425" y="92644"/>
                </a:cubicBezTo>
                <a:lnTo>
                  <a:pt x="115805" y="92644"/>
                </a:lnTo>
                <a:cubicBezTo>
                  <a:pt x="109400" y="92644"/>
                  <a:pt x="104225" y="97819"/>
                  <a:pt x="104225" y="104225"/>
                </a:cubicBezTo>
                <a:cubicBezTo>
                  <a:pt x="104225" y="110630"/>
                  <a:pt x="109400" y="115805"/>
                  <a:pt x="115805" y="115805"/>
                </a:cubicBezTo>
                <a:lnTo>
                  <a:pt x="150547" y="115805"/>
                </a:lnTo>
                <a:cubicBezTo>
                  <a:pt x="169727" y="115805"/>
                  <a:pt x="185289" y="131367"/>
                  <a:pt x="185289" y="150547"/>
                </a:cubicBezTo>
                <a:cubicBezTo>
                  <a:pt x="185289" y="169727"/>
                  <a:pt x="169727" y="185289"/>
                  <a:pt x="150547" y="185289"/>
                </a:cubicBezTo>
                <a:lnTo>
                  <a:pt x="50520" y="185289"/>
                </a:lnTo>
                <a:cubicBezTo>
                  <a:pt x="53669" y="181706"/>
                  <a:pt x="57505" y="177110"/>
                  <a:pt x="61377" y="171971"/>
                </a:cubicBezTo>
                <a:cubicBezTo>
                  <a:pt x="63657" y="168931"/>
                  <a:pt x="66009" y="165602"/>
                  <a:pt x="68253" y="162128"/>
                </a:cubicBezTo>
                <a:lnTo>
                  <a:pt x="150547" y="162128"/>
                </a:lnTo>
                <a:cubicBezTo>
                  <a:pt x="156953" y="162128"/>
                  <a:pt x="162128" y="156953"/>
                  <a:pt x="162128" y="150547"/>
                </a:cubicBezTo>
                <a:cubicBezTo>
                  <a:pt x="162128" y="144142"/>
                  <a:pt x="156953" y="138967"/>
                  <a:pt x="150547" y="138967"/>
                </a:cubicBezTo>
                <a:lnTo>
                  <a:pt x="115805" y="138967"/>
                </a:lnTo>
                <a:cubicBezTo>
                  <a:pt x="96625" y="138967"/>
                  <a:pt x="81064" y="123405"/>
                  <a:pt x="81064" y="104225"/>
                </a:cubicBezTo>
                <a:cubicBezTo>
                  <a:pt x="81064" y="85045"/>
                  <a:pt x="96625" y="69483"/>
                  <a:pt x="115805" y="69483"/>
                </a:cubicBezTo>
                <a:lnTo>
                  <a:pt x="130209" y="69483"/>
                </a:lnTo>
                <a:cubicBezTo>
                  <a:pt x="122609" y="58084"/>
                  <a:pt x="115805" y="44983"/>
                  <a:pt x="115805" y="34742"/>
                </a:cubicBezTo>
                <a:cubicBezTo>
                  <a:pt x="115805" y="15561"/>
                  <a:pt x="131367" y="0"/>
                  <a:pt x="150547" y="0"/>
                </a:cubicBezTo>
                <a:cubicBezTo>
                  <a:pt x="169727" y="0"/>
                  <a:pt x="185289" y="15561"/>
                  <a:pt x="185289" y="34742"/>
                </a:cubicBezTo>
                <a:close/>
                <a:moveTo>
                  <a:pt x="42378" y="177001"/>
                </a:moveTo>
                <a:cubicBezTo>
                  <a:pt x="41002" y="178558"/>
                  <a:pt x="39772" y="179933"/>
                  <a:pt x="38722" y="181091"/>
                </a:cubicBezTo>
                <a:lnTo>
                  <a:pt x="38071" y="181815"/>
                </a:lnTo>
                <a:lnTo>
                  <a:pt x="37999" y="181742"/>
                </a:lnTo>
                <a:cubicBezTo>
                  <a:pt x="35827" y="183407"/>
                  <a:pt x="32715" y="183190"/>
                  <a:pt x="30761" y="181091"/>
                </a:cubicBezTo>
                <a:cubicBezTo>
                  <a:pt x="21641" y="171175"/>
                  <a:pt x="0" y="145662"/>
                  <a:pt x="0" y="127386"/>
                </a:cubicBezTo>
                <a:cubicBezTo>
                  <a:pt x="0" y="108206"/>
                  <a:pt x="15561" y="92644"/>
                  <a:pt x="34742" y="92644"/>
                </a:cubicBezTo>
                <a:cubicBezTo>
                  <a:pt x="53922" y="92644"/>
                  <a:pt x="69483" y="108206"/>
                  <a:pt x="69483" y="127386"/>
                </a:cubicBezTo>
                <a:cubicBezTo>
                  <a:pt x="69483" y="138243"/>
                  <a:pt x="61847" y="151633"/>
                  <a:pt x="53741" y="162815"/>
                </a:cubicBezTo>
                <a:cubicBezTo>
                  <a:pt x="49869" y="168135"/>
                  <a:pt x="45888" y="172948"/>
                  <a:pt x="42595" y="176748"/>
                </a:cubicBezTo>
                <a:lnTo>
                  <a:pt x="42378" y="177001"/>
                </a:lnTo>
                <a:close/>
                <a:moveTo>
                  <a:pt x="46322" y="127386"/>
                </a:moveTo>
                <a:cubicBezTo>
                  <a:pt x="46322" y="120995"/>
                  <a:pt x="41133" y="115805"/>
                  <a:pt x="34742" y="115805"/>
                </a:cubicBezTo>
                <a:cubicBezTo>
                  <a:pt x="28350" y="115805"/>
                  <a:pt x="23161" y="120995"/>
                  <a:pt x="23161" y="127386"/>
                </a:cubicBezTo>
                <a:cubicBezTo>
                  <a:pt x="23161" y="133777"/>
                  <a:pt x="28350" y="138967"/>
                  <a:pt x="34742" y="138967"/>
                </a:cubicBezTo>
                <a:cubicBezTo>
                  <a:pt x="41133" y="138967"/>
                  <a:pt x="46322" y="133777"/>
                  <a:pt x="46322" y="127386"/>
                </a:cubicBezTo>
                <a:close/>
                <a:moveTo>
                  <a:pt x="150547" y="46322"/>
                </a:moveTo>
                <a:cubicBezTo>
                  <a:pt x="156939" y="46322"/>
                  <a:pt x="162128" y="41133"/>
                  <a:pt x="162128" y="34742"/>
                </a:cubicBezTo>
                <a:cubicBezTo>
                  <a:pt x="162128" y="28350"/>
                  <a:pt x="156939" y="23161"/>
                  <a:pt x="150547" y="23161"/>
                </a:cubicBezTo>
                <a:cubicBezTo>
                  <a:pt x="144156" y="23161"/>
                  <a:pt x="138967" y="28350"/>
                  <a:pt x="138967" y="34742"/>
                </a:cubicBezTo>
                <a:cubicBezTo>
                  <a:pt x="138967" y="41133"/>
                  <a:pt x="144156" y="46322"/>
                  <a:pt x="150547" y="46322"/>
                </a:cubicBezTo>
                <a:close/>
              </a:path>
            </a:pathLst>
          </a:custGeom>
          <a:solidFill>
            <a:srgbClr val="0A4F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148790" y="1649070"/>
            <a:ext cx="1760243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就医全流程消息触达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2924" y="2112292"/>
            <a:ext cx="5299258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通过平台将门急诊各类通知精准发送至患者手机或微信，</a:t>
            </a:r>
            <a:r>
              <a:rPr lang="en-US" sz="1167" dirty="0">
                <a:solidFill>
                  <a:srgbClr val="0A4F6B"/>
                </a:solidFill>
                <a:highlight>
                  <a:srgbClr val="4DB6AC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提升患者体验与满意度 </a:t>
            </a:r>
            <a:r>
              <a:rPr lang="en-US" sz="1167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2924" y="2742274"/>
            <a:ext cx="2556985" cy="407635"/>
          </a:xfrm>
          <a:custGeom>
            <a:avLst/>
            <a:gdLst/>
            <a:ahLst/>
            <a:cxnLst/>
            <a:rect l="l" t="t" r="r" b="b"/>
            <a:pathLst>
              <a:path w="2556985" h="407635">
                <a:moveTo>
                  <a:pt x="74116" y="0"/>
                </a:moveTo>
                <a:lnTo>
                  <a:pt x="2482869" y="0"/>
                </a:lnTo>
                <a:cubicBezTo>
                  <a:pt x="2523802" y="0"/>
                  <a:pt x="2556985" y="33183"/>
                  <a:pt x="2556985" y="74116"/>
                </a:cubicBezTo>
                <a:lnTo>
                  <a:pt x="2556985" y="333519"/>
                </a:lnTo>
                <a:cubicBezTo>
                  <a:pt x="2556985" y="374452"/>
                  <a:pt x="2523802" y="407635"/>
                  <a:pt x="2482869" y="407635"/>
                </a:cubicBezTo>
                <a:lnTo>
                  <a:pt x="74116" y="407635"/>
                </a:lnTo>
                <a:cubicBezTo>
                  <a:pt x="33210" y="407635"/>
                  <a:pt x="0" y="374425"/>
                  <a:pt x="0" y="333519"/>
                </a:cubicBezTo>
                <a:lnTo>
                  <a:pt x="0" y="74116"/>
                </a:lnTo>
                <a:cubicBezTo>
                  <a:pt x="0" y="33210"/>
                  <a:pt x="33210" y="0"/>
                  <a:pt x="74116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31891" y="2871976"/>
            <a:ext cx="129702" cy="148231"/>
          </a:xfrm>
          <a:custGeom>
            <a:avLst/>
            <a:gdLst/>
            <a:ahLst/>
            <a:cxnLst/>
            <a:rect l="l" t="t" r="r" b="b"/>
            <a:pathLst>
              <a:path w="129702" h="148231">
                <a:moveTo>
                  <a:pt x="37058" y="0"/>
                </a:moveTo>
                <a:cubicBezTo>
                  <a:pt x="42182" y="0"/>
                  <a:pt x="46322" y="4140"/>
                  <a:pt x="46322" y="9264"/>
                </a:cubicBezTo>
                <a:lnTo>
                  <a:pt x="46322" y="18529"/>
                </a:lnTo>
                <a:lnTo>
                  <a:pt x="83380" y="18529"/>
                </a:lnTo>
                <a:lnTo>
                  <a:pt x="83380" y="9264"/>
                </a:lnTo>
                <a:cubicBezTo>
                  <a:pt x="83380" y="4140"/>
                  <a:pt x="87520" y="0"/>
                  <a:pt x="92644" y="0"/>
                </a:cubicBezTo>
                <a:cubicBezTo>
                  <a:pt x="97769" y="0"/>
                  <a:pt x="101909" y="4140"/>
                  <a:pt x="101909" y="9264"/>
                </a:cubicBezTo>
                <a:lnTo>
                  <a:pt x="101909" y="18529"/>
                </a:lnTo>
                <a:lnTo>
                  <a:pt x="111173" y="18529"/>
                </a:lnTo>
                <a:cubicBezTo>
                  <a:pt x="121393" y="18529"/>
                  <a:pt x="129702" y="26838"/>
                  <a:pt x="129702" y="37058"/>
                </a:cubicBezTo>
                <a:lnTo>
                  <a:pt x="129702" y="120438"/>
                </a:lnTo>
                <a:cubicBezTo>
                  <a:pt x="129702" y="130658"/>
                  <a:pt x="121393" y="138967"/>
                  <a:pt x="111173" y="138967"/>
                </a:cubicBezTo>
                <a:lnTo>
                  <a:pt x="18529" y="138967"/>
                </a:lnTo>
                <a:cubicBezTo>
                  <a:pt x="8309" y="138967"/>
                  <a:pt x="0" y="130658"/>
                  <a:pt x="0" y="120438"/>
                </a:cubicBezTo>
                <a:lnTo>
                  <a:pt x="0" y="37058"/>
                </a:lnTo>
                <a:cubicBezTo>
                  <a:pt x="0" y="26838"/>
                  <a:pt x="8309" y="18529"/>
                  <a:pt x="18529" y="18529"/>
                </a:cubicBezTo>
                <a:lnTo>
                  <a:pt x="27793" y="18529"/>
                </a:lnTo>
                <a:lnTo>
                  <a:pt x="27793" y="9264"/>
                </a:lnTo>
                <a:cubicBezTo>
                  <a:pt x="27793" y="4140"/>
                  <a:pt x="31933" y="0"/>
                  <a:pt x="37058" y="0"/>
                </a:cubicBezTo>
                <a:close/>
                <a:moveTo>
                  <a:pt x="89286" y="66212"/>
                </a:moveTo>
                <a:cubicBezTo>
                  <a:pt x="91313" y="62969"/>
                  <a:pt x="90328" y="58684"/>
                  <a:pt x="87086" y="56629"/>
                </a:cubicBezTo>
                <a:cubicBezTo>
                  <a:pt x="83843" y="54573"/>
                  <a:pt x="79558" y="55587"/>
                  <a:pt x="77503" y="58829"/>
                </a:cubicBezTo>
                <a:lnTo>
                  <a:pt x="59727" y="87288"/>
                </a:lnTo>
                <a:lnTo>
                  <a:pt x="51910" y="76866"/>
                </a:lnTo>
                <a:cubicBezTo>
                  <a:pt x="49594" y="73797"/>
                  <a:pt x="45251" y="73160"/>
                  <a:pt x="42182" y="75476"/>
                </a:cubicBezTo>
                <a:cubicBezTo>
                  <a:pt x="39113" y="77792"/>
                  <a:pt x="38476" y="82135"/>
                  <a:pt x="40792" y="85204"/>
                </a:cubicBezTo>
                <a:lnTo>
                  <a:pt x="54689" y="103733"/>
                </a:lnTo>
                <a:cubicBezTo>
                  <a:pt x="56050" y="105557"/>
                  <a:pt x="58250" y="106599"/>
                  <a:pt x="60537" y="106512"/>
                </a:cubicBezTo>
                <a:cubicBezTo>
                  <a:pt x="62824" y="106425"/>
                  <a:pt x="64909" y="105209"/>
                  <a:pt x="66125" y="103241"/>
                </a:cubicBezTo>
                <a:lnTo>
                  <a:pt x="89286" y="66183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63502" y="2853447"/>
            <a:ext cx="843064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挂号成功通知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59996" y="2742274"/>
            <a:ext cx="2556985" cy="407635"/>
          </a:xfrm>
          <a:custGeom>
            <a:avLst/>
            <a:gdLst/>
            <a:ahLst/>
            <a:cxnLst/>
            <a:rect l="l" t="t" r="r" b="b"/>
            <a:pathLst>
              <a:path w="2556985" h="407635">
                <a:moveTo>
                  <a:pt x="74116" y="0"/>
                </a:moveTo>
                <a:lnTo>
                  <a:pt x="2482869" y="0"/>
                </a:lnTo>
                <a:cubicBezTo>
                  <a:pt x="2523802" y="0"/>
                  <a:pt x="2556985" y="33183"/>
                  <a:pt x="2556985" y="74116"/>
                </a:cubicBezTo>
                <a:lnTo>
                  <a:pt x="2556985" y="333519"/>
                </a:lnTo>
                <a:cubicBezTo>
                  <a:pt x="2556985" y="374452"/>
                  <a:pt x="2523802" y="407635"/>
                  <a:pt x="2482869" y="407635"/>
                </a:cubicBezTo>
                <a:lnTo>
                  <a:pt x="74116" y="407635"/>
                </a:lnTo>
                <a:cubicBezTo>
                  <a:pt x="33210" y="407635"/>
                  <a:pt x="0" y="374425"/>
                  <a:pt x="0" y="333519"/>
                </a:cubicBezTo>
                <a:lnTo>
                  <a:pt x="0" y="74116"/>
                </a:lnTo>
                <a:cubicBezTo>
                  <a:pt x="0" y="33210"/>
                  <a:pt x="33210" y="0"/>
                  <a:pt x="74116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389699" y="2871976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0" y="20845"/>
                </a:moveTo>
                <a:cubicBezTo>
                  <a:pt x="0" y="17023"/>
                  <a:pt x="3098" y="13897"/>
                  <a:pt x="6948" y="13897"/>
                </a:cubicBezTo>
                <a:lnTo>
                  <a:pt x="20845" y="13897"/>
                </a:lnTo>
                <a:cubicBezTo>
                  <a:pt x="24696" y="13897"/>
                  <a:pt x="27793" y="16994"/>
                  <a:pt x="27793" y="20845"/>
                </a:cubicBezTo>
                <a:lnTo>
                  <a:pt x="27793" y="50954"/>
                </a:lnTo>
                <a:lnTo>
                  <a:pt x="34742" y="50954"/>
                </a:lnTo>
                <a:cubicBezTo>
                  <a:pt x="38592" y="50954"/>
                  <a:pt x="41690" y="54052"/>
                  <a:pt x="41690" y="57903"/>
                </a:cubicBezTo>
                <a:cubicBezTo>
                  <a:pt x="41690" y="61753"/>
                  <a:pt x="38592" y="64851"/>
                  <a:pt x="34742" y="64851"/>
                </a:cubicBezTo>
                <a:lnTo>
                  <a:pt x="6948" y="64851"/>
                </a:lnTo>
                <a:cubicBezTo>
                  <a:pt x="3098" y="64851"/>
                  <a:pt x="0" y="61753"/>
                  <a:pt x="0" y="57903"/>
                </a:cubicBezTo>
                <a:cubicBezTo>
                  <a:pt x="0" y="54052"/>
                  <a:pt x="3098" y="50954"/>
                  <a:pt x="6948" y="50954"/>
                </a:cubicBezTo>
                <a:lnTo>
                  <a:pt x="13897" y="50954"/>
                </a:lnTo>
                <a:lnTo>
                  <a:pt x="13897" y="27793"/>
                </a:lnTo>
                <a:lnTo>
                  <a:pt x="6948" y="27793"/>
                </a:lnTo>
                <a:cubicBezTo>
                  <a:pt x="3098" y="27793"/>
                  <a:pt x="0" y="24696"/>
                  <a:pt x="0" y="20845"/>
                </a:cubicBezTo>
                <a:close/>
                <a:moveTo>
                  <a:pt x="8801" y="87202"/>
                </a:moveTo>
                <a:cubicBezTo>
                  <a:pt x="12102" y="84712"/>
                  <a:pt x="16126" y="83380"/>
                  <a:pt x="20266" y="83380"/>
                </a:cubicBezTo>
                <a:lnTo>
                  <a:pt x="21685" y="83380"/>
                </a:lnTo>
                <a:cubicBezTo>
                  <a:pt x="31441" y="83380"/>
                  <a:pt x="39374" y="91313"/>
                  <a:pt x="39374" y="101069"/>
                </a:cubicBezTo>
                <a:cubicBezTo>
                  <a:pt x="39374" y="106744"/>
                  <a:pt x="36652" y="112042"/>
                  <a:pt x="32078" y="115371"/>
                </a:cubicBezTo>
                <a:lnTo>
                  <a:pt x="25130" y="120438"/>
                </a:lnTo>
                <a:lnTo>
                  <a:pt x="34742" y="120438"/>
                </a:lnTo>
                <a:cubicBezTo>
                  <a:pt x="38592" y="120438"/>
                  <a:pt x="41690" y="123535"/>
                  <a:pt x="41690" y="127386"/>
                </a:cubicBezTo>
                <a:cubicBezTo>
                  <a:pt x="41690" y="131237"/>
                  <a:pt x="38592" y="134334"/>
                  <a:pt x="34742" y="134334"/>
                </a:cubicBezTo>
                <a:lnTo>
                  <a:pt x="8483" y="134334"/>
                </a:lnTo>
                <a:cubicBezTo>
                  <a:pt x="3793" y="134334"/>
                  <a:pt x="0" y="130542"/>
                  <a:pt x="0" y="125852"/>
                </a:cubicBezTo>
                <a:cubicBezTo>
                  <a:pt x="0" y="123130"/>
                  <a:pt x="1303" y="120582"/>
                  <a:pt x="3503" y="118990"/>
                </a:cubicBezTo>
                <a:lnTo>
                  <a:pt x="23914" y="104138"/>
                </a:lnTo>
                <a:cubicBezTo>
                  <a:pt x="24898" y="103414"/>
                  <a:pt x="25477" y="102285"/>
                  <a:pt x="25477" y="101069"/>
                </a:cubicBezTo>
                <a:cubicBezTo>
                  <a:pt x="25477" y="98985"/>
                  <a:pt x="23769" y="97277"/>
                  <a:pt x="21685" y="97277"/>
                </a:cubicBezTo>
                <a:lnTo>
                  <a:pt x="20266" y="97277"/>
                </a:lnTo>
                <a:cubicBezTo>
                  <a:pt x="19137" y="97277"/>
                  <a:pt x="18037" y="97653"/>
                  <a:pt x="17139" y="98319"/>
                </a:cubicBezTo>
                <a:lnTo>
                  <a:pt x="11117" y="102835"/>
                </a:lnTo>
                <a:cubicBezTo>
                  <a:pt x="8048" y="105151"/>
                  <a:pt x="3706" y="104514"/>
                  <a:pt x="1390" y="101446"/>
                </a:cubicBezTo>
                <a:cubicBezTo>
                  <a:pt x="-926" y="98377"/>
                  <a:pt x="-290" y="94034"/>
                  <a:pt x="2779" y="91718"/>
                </a:cubicBezTo>
                <a:lnTo>
                  <a:pt x="8801" y="87202"/>
                </a:lnTo>
                <a:close/>
                <a:moveTo>
                  <a:pt x="64851" y="18529"/>
                </a:moveTo>
                <a:lnTo>
                  <a:pt x="138967" y="18529"/>
                </a:lnTo>
                <a:cubicBezTo>
                  <a:pt x="144091" y="18529"/>
                  <a:pt x="148231" y="22669"/>
                  <a:pt x="148231" y="27793"/>
                </a:cubicBezTo>
                <a:cubicBezTo>
                  <a:pt x="148231" y="32918"/>
                  <a:pt x="144091" y="37058"/>
                  <a:pt x="138967" y="37058"/>
                </a:cubicBezTo>
                <a:lnTo>
                  <a:pt x="64851" y="37058"/>
                </a:lnTo>
                <a:cubicBezTo>
                  <a:pt x="59727" y="37058"/>
                  <a:pt x="55587" y="32918"/>
                  <a:pt x="55587" y="27793"/>
                </a:cubicBezTo>
                <a:cubicBezTo>
                  <a:pt x="55587" y="22669"/>
                  <a:pt x="59727" y="18529"/>
                  <a:pt x="64851" y="18529"/>
                </a:cubicBezTo>
                <a:close/>
                <a:moveTo>
                  <a:pt x="64851" y="64851"/>
                </a:moveTo>
                <a:lnTo>
                  <a:pt x="138967" y="64851"/>
                </a:lnTo>
                <a:cubicBezTo>
                  <a:pt x="144091" y="64851"/>
                  <a:pt x="148231" y="68991"/>
                  <a:pt x="148231" y="74116"/>
                </a:cubicBezTo>
                <a:cubicBezTo>
                  <a:pt x="148231" y="79240"/>
                  <a:pt x="144091" y="83380"/>
                  <a:pt x="138967" y="83380"/>
                </a:cubicBezTo>
                <a:lnTo>
                  <a:pt x="64851" y="83380"/>
                </a:lnTo>
                <a:cubicBezTo>
                  <a:pt x="59727" y="83380"/>
                  <a:pt x="55587" y="79240"/>
                  <a:pt x="55587" y="74116"/>
                </a:cubicBezTo>
                <a:cubicBezTo>
                  <a:pt x="55587" y="68991"/>
                  <a:pt x="59727" y="64851"/>
                  <a:pt x="64851" y="64851"/>
                </a:cubicBezTo>
                <a:close/>
                <a:moveTo>
                  <a:pt x="64851" y="111173"/>
                </a:moveTo>
                <a:lnTo>
                  <a:pt x="138967" y="111173"/>
                </a:lnTo>
                <a:cubicBezTo>
                  <a:pt x="144091" y="111173"/>
                  <a:pt x="148231" y="115313"/>
                  <a:pt x="148231" y="120438"/>
                </a:cubicBezTo>
                <a:cubicBezTo>
                  <a:pt x="148231" y="125562"/>
                  <a:pt x="144091" y="129702"/>
                  <a:pt x="138967" y="129702"/>
                </a:cubicBezTo>
                <a:lnTo>
                  <a:pt x="64851" y="129702"/>
                </a:lnTo>
                <a:cubicBezTo>
                  <a:pt x="59727" y="129702"/>
                  <a:pt x="55587" y="125562"/>
                  <a:pt x="55587" y="120438"/>
                </a:cubicBezTo>
                <a:cubicBezTo>
                  <a:pt x="55587" y="115313"/>
                  <a:pt x="59727" y="111173"/>
                  <a:pt x="64851" y="111173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630574" y="2853447"/>
            <a:ext cx="843064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排队叫号提醒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2924" y="3261082"/>
            <a:ext cx="2556985" cy="407635"/>
          </a:xfrm>
          <a:custGeom>
            <a:avLst/>
            <a:gdLst/>
            <a:ahLst/>
            <a:cxnLst/>
            <a:rect l="l" t="t" r="r" b="b"/>
            <a:pathLst>
              <a:path w="2556985" h="407635">
                <a:moveTo>
                  <a:pt x="74116" y="0"/>
                </a:moveTo>
                <a:lnTo>
                  <a:pt x="2482869" y="0"/>
                </a:lnTo>
                <a:cubicBezTo>
                  <a:pt x="2523802" y="0"/>
                  <a:pt x="2556985" y="33183"/>
                  <a:pt x="2556985" y="74116"/>
                </a:cubicBezTo>
                <a:lnTo>
                  <a:pt x="2556985" y="333519"/>
                </a:lnTo>
                <a:cubicBezTo>
                  <a:pt x="2556985" y="374452"/>
                  <a:pt x="2523802" y="407635"/>
                  <a:pt x="2482869" y="407635"/>
                </a:cubicBezTo>
                <a:lnTo>
                  <a:pt x="74116" y="407635"/>
                </a:lnTo>
                <a:cubicBezTo>
                  <a:pt x="33210" y="407635"/>
                  <a:pt x="0" y="374425"/>
                  <a:pt x="0" y="333519"/>
                </a:cubicBezTo>
                <a:lnTo>
                  <a:pt x="0" y="74116"/>
                </a:lnTo>
                <a:cubicBezTo>
                  <a:pt x="0" y="33210"/>
                  <a:pt x="33210" y="0"/>
                  <a:pt x="74116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722626" y="3390784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0" y="37058"/>
                </a:moveTo>
                <a:lnTo>
                  <a:pt x="0" y="46322"/>
                </a:lnTo>
                <a:lnTo>
                  <a:pt x="148231" y="46322"/>
                </a:lnTo>
                <a:lnTo>
                  <a:pt x="148231" y="37058"/>
                </a:lnTo>
                <a:cubicBezTo>
                  <a:pt x="148231" y="26838"/>
                  <a:pt x="139922" y="18529"/>
                  <a:pt x="129702" y="18529"/>
                </a:cubicBezTo>
                <a:lnTo>
                  <a:pt x="18529" y="18529"/>
                </a:lnTo>
                <a:cubicBezTo>
                  <a:pt x="8309" y="18529"/>
                  <a:pt x="0" y="26838"/>
                  <a:pt x="0" y="37058"/>
                </a:cubicBezTo>
                <a:close/>
                <a:moveTo>
                  <a:pt x="0" y="60219"/>
                </a:moveTo>
                <a:lnTo>
                  <a:pt x="0" y="111173"/>
                </a:lnTo>
                <a:cubicBezTo>
                  <a:pt x="0" y="121393"/>
                  <a:pt x="8309" y="129702"/>
                  <a:pt x="18529" y="129702"/>
                </a:cubicBezTo>
                <a:lnTo>
                  <a:pt x="129702" y="129702"/>
                </a:lnTo>
                <a:cubicBezTo>
                  <a:pt x="139922" y="129702"/>
                  <a:pt x="148231" y="121393"/>
                  <a:pt x="148231" y="111173"/>
                </a:cubicBezTo>
                <a:lnTo>
                  <a:pt x="148231" y="60219"/>
                </a:lnTo>
                <a:lnTo>
                  <a:pt x="0" y="60219"/>
                </a:lnTo>
                <a:close/>
                <a:moveTo>
                  <a:pt x="18529" y="104225"/>
                </a:moveTo>
                <a:cubicBezTo>
                  <a:pt x="18529" y="100374"/>
                  <a:pt x="21627" y="97277"/>
                  <a:pt x="25477" y="97277"/>
                </a:cubicBezTo>
                <a:lnTo>
                  <a:pt x="39374" y="97277"/>
                </a:lnTo>
                <a:cubicBezTo>
                  <a:pt x="43224" y="97277"/>
                  <a:pt x="46322" y="100374"/>
                  <a:pt x="46322" y="104225"/>
                </a:cubicBezTo>
                <a:cubicBezTo>
                  <a:pt x="46322" y="108075"/>
                  <a:pt x="43224" y="111173"/>
                  <a:pt x="39374" y="111173"/>
                </a:cubicBezTo>
                <a:lnTo>
                  <a:pt x="25477" y="111173"/>
                </a:lnTo>
                <a:cubicBezTo>
                  <a:pt x="21627" y="111173"/>
                  <a:pt x="18529" y="108075"/>
                  <a:pt x="18529" y="104225"/>
                </a:cubicBezTo>
                <a:close/>
                <a:moveTo>
                  <a:pt x="60219" y="104225"/>
                </a:moveTo>
                <a:cubicBezTo>
                  <a:pt x="60219" y="100374"/>
                  <a:pt x="63317" y="97277"/>
                  <a:pt x="67167" y="97277"/>
                </a:cubicBezTo>
                <a:lnTo>
                  <a:pt x="85696" y="97277"/>
                </a:lnTo>
                <a:cubicBezTo>
                  <a:pt x="89547" y="97277"/>
                  <a:pt x="92644" y="100374"/>
                  <a:pt x="92644" y="104225"/>
                </a:cubicBezTo>
                <a:cubicBezTo>
                  <a:pt x="92644" y="108075"/>
                  <a:pt x="89547" y="111173"/>
                  <a:pt x="85696" y="111173"/>
                </a:cubicBezTo>
                <a:lnTo>
                  <a:pt x="67167" y="111173"/>
                </a:lnTo>
                <a:cubicBezTo>
                  <a:pt x="63317" y="111173"/>
                  <a:pt x="60219" y="108075"/>
                  <a:pt x="60219" y="104225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63502" y="3372255"/>
            <a:ext cx="843064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缴费信息通知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59996" y="3261082"/>
            <a:ext cx="2556985" cy="407635"/>
          </a:xfrm>
          <a:custGeom>
            <a:avLst/>
            <a:gdLst/>
            <a:ahLst/>
            <a:cxnLst/>
            <a:rect l="l" t="t" r="r" b="b"/>
            <a:pathLst>
              <a:path w="2556985" h="407635">
                <a:moveTo>
                  <a:pt x="74116" y="0"/>
                </a:moveTo>
                <a:lnTo>
                  <a:pt x="2482869" y="0"/>
                </a:lnTo>
                <a:cubicBezTo>
                  <a:pt x="2523802" y="0"/>
                  <a:pt x="2556985" y="33183"/>
                  <a:pt x="2556985" y="74116"/>
                </a:cubicBezTo>
                <a:lnTo>
                  <a:pt x="2556985" y="333519"/>
                </a:lnTo>
                <a:cubicBezTo>
                  <a:pt x="2556985" y="374452"/>
                  <a:pt x="2523802" y="407635"/>
                  <a:pt x="2482869" y="407635"/>
                </a:cubicBezTo>
                <a:lnTo>
                  <a:pt x="74116" y="407635"/>
                </a:lnTo>
                <a:cubicBezTo>
                  <a:pt x="33210" y="407635"/>
                  <a:pt x="0" y="374425"/>
                  <a:pt x="0" y="333519"/>
                </a:cubicBezTo>
                <a:lnTo>
                  <a:pt x="0" y="74116"/>
                </a:lnTo>
                <a:cubicBezTo>
                  <a:pt x="0" y="33210"/>
                  <a:pt x="33210" y="0"/>
                  <a:pt x="74116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408227" y="3390784"/>
            <a:ext cx="111173" cy="148231"/>
          </a:xfrm>
          <a:custGeom>
            <a:avLst/>
            <a:gdLst/>
            <a:ahLst/>
            <a:cxnLst/>
            <a:rect l="l" t="t" r="r" b="b"/>
            <a:pathLst>
              <a:path w="111173" h="148231">
                <a:moveTo>
                  <a:pt x="0" y="18529"/>
                </a:moveTo>
                <a:cubicBezTo>
                  <a:pt x="0" y="8309"/>
                  <a:pt x="8309" y="0"/>
                  <a:pt x="18529" y="0"/>
                </a:cubicBezTo>
                <a:lnTo>
                  <a:pt x="61811" y="0"/>
                </a:lnTo>
                <a:cubicBezTo>
                  <a:pt x="66733" y="0"/>
                  <a:pt x="71452" y="1940"/>
                  <a:pt x="74926" y="5414"/>
                </a:cubicBezTo>
                <a:lnTo>
                  <a:pt x="105759" y="36276"/>
                </a:lnTo>
                <a:cubicBezTo>
                  <a:pt x="109234" y="39750"/>
                  <a:pt x="111173" y="44469"/>
                  <a:pt x="111173" y="49391"/>
                </a:cubicBezTo>
                <a:lnTo>
                  <a:pt x="111173" y="129702"/>
                </a:lnTo>
                <a:cubicBezTo>
                  <a:pt x="111173" y="139922"/>
                  <a:pt x="102864" y="148231"/>
                  <a:pt x="92644" y="148231"/>
                </a:cubicBezTo>
                <a:lnTo>
                  <a:pt x="18529" y="148231"/>
                </a:lnTo>
                <a:cubicBezTo>
                  <a:pt x="8309" y="148231"/>
                  <a:pt x="0" y="139922"/>
                  <a:pt x="0" y="129702"/>
                </a:cubicBezTo>
                <a:lnTo>
                  <a:pt x="0" y="18529"/>
                </a:lnTo>
                <a:close/>
                <a:moveTo>
                  <a:pt x="60219" y="16937"/>
                </a:moveTo>
                <a:lnTo>
                  <a:pt x="60219" y="44006"/>
                </a:lnTo>
                <a:cubicBezTo>
                  <a:pt x="60219" y="47857"/>
                  <a:pt x="63317" y="50954"/>
                  <a:pt x="67167" y="50954"/>
                </a:cubicBezTo>
                <a:lnTo>
                  <a:pt x="94237" y="50954"/>
                </a:lnTo>
                <a:lnTo>
                  <a:pt x="60219" y="16937"/>
                </a:lnTo>
                <a:close/>
                <a:moveTo>
                  <a:pt x="46322" y="81064"/>
                </a:moveTo>
                <a:lnTo>
                  <a:pt x="46322" y="92644"/>
                </a:lnTo>
                <a:lnTo>
                  <a:pt x="34742" y="92644"/>
                </a:lnTo>
                <a:cubicBezTo>
                  <a:pt x="32194" y="92644"/>
                  <a:pt x="30109" y="94729"/>
                  <a:pt x="30109" y="97277"/>
                </a:cubicBezTo>
                <a:lnTo>
                  <a:pt x="30109" y="106541"/>
                </a:lnTo>
                <a:cubicBezTo>
                  <a:pt x="30109" y="109089"/>
                  <a:pt x="32194" y="111173"/>
                  <a:pt x="34742" y="111173"/>
                </a:cubicBezTo>
                <a:lnTo>
                  <a:pt x="46322" y="111173"/>
                </a:lnTo>
                <a:lnTo>
                  <a:pt x="46322" y="122754"/>
                </a:lnTo>
                <a:cubicBezTo>
                  <a:pt x="46322" y="125302"/>
                  <a:pt x="48407" y="127386"/>
                  <a:pt x="50954" y="127386"/>
                </a:cubicBezTo>
                <a:lnTo>
                  <a:pt x="60219" y="127386"/>
                </a:lnTo>
                <a:cubicBezTo>
                  <a:pt x="62767" y="127386"/>
                  <a:pt x="64851" y="125302"/>
                  <a:pt x="64851" y="122754"/>
                </a:cubicBezTo>
                <a:lnTo>
                  <a:pt x="64851" y="111173"/>
                </a:lnTo>
                <a:lnTo>
                  <a:pt x="76432" y="111173"/>
                </a:lnTo>
                <a:cubicBezTo>
                  <a:pt x="78979" y="111173"/>
                  <a:pt x="81064" y="109089"/>
                  <a:pt x="81064" y="106541"/>
                </a:cubicBezTo>
                <a:lnTo>
                  <a:pt x="81064" y="97277"/>
                </a:lnTo>
                <a:cubicBezTo>
                  <a:pt x="81064" y="94729"/>
                  <a:pt x="78979" y="92644"/>
                  <a:pt x="76432" y="92644"/>
                </a:cubicBezTo>
                <a:lnTo>
                  <a:pt x="64851" y="92644"/>
                </a:lnTo>
                <a:lnTo>
                  <a:pt x="64851" y="81064"/>
                </a:lnTo>
                <a:cubicBezTo>
                  <a:pt x="64851" y="78516"/>
                  <a:pt x="62767" y="76432"/>
                  <a:pt x="60219" y="76432"/>
                </a:cubicBezTo>
                <a:lnTo>
                  <a:pt x="50954" y="76432"/>
                </a:lnTo>
                <a:cubicBezTo>
                  <a:pt x="48407" y="76432"/>
                  <a:pt x="46322" y="78516"/>
                  <a:pt x="46322" y="81064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630574" y="3372255"/>
            <a:ext cx="843064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检验报告出具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9106" y="4002237"/>
            <a:ext cx="5614249" cy="2232729"/>
          </a:xfrm>
          <a:custGeom>
            <a:avLst/>
            <a:gdLst/>
            <a:ahLst/>
            <a:cxnLst/>
            <a:rect l="l" t="t" r="r" b="b"/>
            <a:pathLst>
              <a:path w="5614249" h="2232729">
                <a:moveTo>
                  <a:pt x="37058" y="0"/>
                </a:moveTo>
                <a:lnTo>
                  <a:pt x="5503082" y="0"/>
                </a:lnTo>
                <a:cubicBezTo>
                  <a:pt x="5564478" y="0"/>
                  <a:pt x="5614249" y="49771"/>
                  <a:pt x="5614249" y="111168"/>
                </a:cubicBezTo>
                <a:lnTo>
                  <a:pt x="5614249" y="2121562"/>
                </a:lnTo>
                <a:cubicBezTo>
                  <a:pt x="5614249" y="2182958"/>
                  <a:pt x="5564478" y="2232729"/>
                  <a:pt x="5503082" y="2232729"/>
                </a:cubicBezTo>
                <a:lnTo>
                  <a:pt x="37058" y="2232729"/>
                </a:lnTo>
                <a:cubicBezTo>
                  <a:pt x="16591" y="2232729"/>
                  <a:pt x="0" y="2216138"/>
                  <a:pt x="0" y="2195672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793" dist="926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89106" y="4002237"/>
            <a:ext cx="37058" cy="2232729"/>
          </a:xfrm>
          <a:custGeom>
            <a:avLst/>
            <a:gdLst/>
            <a:ahLst/>
            <a:cxnLst/>
            <a:rect l="l" t="t" r="r" b="b"/>
            <a:pathLst>
              <a:path w="37058" h="2232729">
                <a:moveTo>
                  <a:pt x="37058" y="0"/>
                </a:moveTo>
                <a:lnTo>
                  <a:pt x="37058" y="0"/>
                </a:lnTo>
                <a:lnTo>
                  <a:pt x="37058" y="2232729"/>
                </a:lnTo>
                <a:lnTo>
                  <a:pt x="37058" y="2232729"/>
                </a:lnTo>
                <a:cubicBezTo>
                  <a:pt x="16591" y="2232729"/>
                  <a:pt x="0" y="2216138"/>
                  <a:pt x="0" y="2195672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92924" y="4187526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74117" y="0"/>
                </a:moveTo>
                <a:lnTo>
                  <a:pt x="370576" y="0"/>
                </a:lnTo>
                <a:cubicBezTo>
                  <a:pt x="411482" y="0"/>
                  <a:pt x="444693" y="33211"/>
                  <a:pt x="444693" y="74117"/>
                </a:cubicBezTo>
                <a:lnTo>
                  <a:pt x="444693" y="370576"/>
                </a:lnTo>
                <a:cubicBezTo>
                  <a:pt x="444693" y="411482"/>
                  <a:pt x="411482" y="444693"/>
                  <a:pt x="370576" y="444693"/>
                </a:cubicBezTo>
                <a:lnTo>
                  <a:pt x="74117" y="444693"/>
                </a:lnTo>
                <a:cubicBezTo>
                  <a:pt x="33211" y="444693"/>
                  <a:pt x="0" y="411482"/>
                  <a:pt x="0" y="370576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722626" y="4317228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87216" y="31521"/>
                </a:moveTo>
                <a:lnTo>
                  <a:pt x="92644" y="39012"/>
                </a:lnTo>
                <a:lnTo>
                  <a:pt x="98073" y="31521"/>
                </a:lnTo>
                <a:cubicBezTo>
                  <a:pt x="107120" y="18999"/>
                  <a:pt x="121668" y="11581"/>
                  <a:pt x="137121" y="11581"/>
                </a:cubicBezTo>
                <a:cubicBezTo>
                  <a:pt x="163720" y="11581"/>
                  <a:pt x="185289" y="33149"/>
                  <a:pt x="185289" y="59748"/>
                </a:cubicBezTo>
                <a:lnTo>
                  <a:pt x="185289" y="60689"/>
                </a:lnTo>
                <a:cubicBezTo>
                  <a:pt x="185289" y="101294"/>
                  <a:pt x="134660" y="148448"/>
                  <a:pt x="108242" y="168606"/>
                </a:cubicBezTo>
                <a:cubicBezTo>
                  <a:pt x="103754" y="172007"/>
                  <a:pt x="98254" y="173708"/>
                  <a:pt x="92644" y="173708"/>
                </a:cubicBezTo>
                <a:cubicBezTo>
                  <a:pt x="87035" y="173708"/>
                  <a:pt x="81498" y="172044"/>
                  <a:pt x="77047" y="168606"/>
                </a:cubicBezTo>
                <a:cubicBezTo>
                  <a:pt x="50629" y="148448"/>
                  <a:pt x="0" y="101294"/>
                  <a:pt x="0" y="60689"/>
                </a:cubicBezTo>
                <a:lnTo>
                  <a:pt x="0" y="59748"/>
                </a:lnTo>
                <a:cubicBezTo>
                  <a:pt x="0" y="33149"/>
                  <a:pt x="21569" y="11581"/>
                  <a:pt x="48168" y="11581"/>
                </a:cubicBezTo>
                <a:cubicBezTo>
                  <a:pt x="63621" y="11581"/>
                  <a:pt x="78169" y="18999"/>
                  <a:pt x="87216" y="31521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148790" y="4280170"/>
            <a:ext cx="1760243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患者关怀与慢病随访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2924" y="4743392"/>
            <a:ext cx="5299258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结合患者标签（老年人、特定慢病患者等），通过多渠道进行</a:t>
            </a:r>
            <a:r>
              <a:rPr lang="en-US" sz="1167" dirty="0">
                <a:solidFill>
                  <a:srgbClr val="0A4F6B"/>
                </a:solidFill>
                <a:highlight>
                  <a:srgbClr val="4DB6AC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体检提醒、慢病复诊通知及健康知识宣教 </a:t>
            </a:r>
            <a:r>
              <a:rPr lang="en-US" sz="1167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，实现精准化医疗服务。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2924" y="5373374"/>
            <a:ext cx="1667599" cy="676304"/>
          </a:xfrm>
          <a:custGeom>
            <a:avLst/>
            <a:gdLst/>
            <a:ahLst/>
            <a:cxnLst/>
            <a:rect l="l" t="t" r="r" b="b"/>
            <a:pathLst>
              <a:path w="1667599" h="676304">
                <a:moveTo>
                  <a:pt x="74116" y="0"/>
                </a:moveTo>
                <a:lnTo>
                  <a:pt x="1593483" y="0"/>
                </a:lnTo>
                <a:cubicBezTo>
                  <a:pt x="1634416" y="0"/>
                  <a:pt x="1667599" y="33183"/>
                  <a:pt x="1667599" y="74116"/>
                </a:cubicBezTo>
                <a:lnTo>
                  <a:pt x="1667599" y="602188"/>
                </a:lnTo>
                <a:cubicBezTo>
                  <a:pt x="1667599" y="643121"/>
                  <a:pt x="1634416" y="676304"/>
                  <a:pt x="1593483" y="676304"/>
                </a:cubicBezTo>
                <a:lnTo>
                  <a:pt x="74116" y="676304"/>
                </a:lnTo>
                <a:cubicBezTo>
                  <a:pt x="33183" y="676304"/>
                  <a:pt x="0" y="643121"/>
                  <a:pt x="0" y="602188"/>
                </a:cubicBezTo>
                <a:lnTo>
                  <a:pt x="0" y="74116"/>
                </a:lnTo>
                <a:cubicBezTo>
                  <a:pt x="0" y="33210"/>
                  <a:pt x="33210" y="0"/>
                  <a:pt x="74116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1345298" y="5493812"/>
            <a:ext cx="162128" cy="185289"/>
          </a:xfrm>
          <a:custGeom>
            <a:avLst/>
            <a:gdLst/>
            <a:ahLst/>
            <a:cxnLst/>
            <a:rect l="l" t="t" r="r" b="b"/>
            <a:pathLst>
              <a:path w="162128" h="185289">
                <a:moveTo>
                  <a:pt x="81064" y="2895"/>
                </a:moveTo>
                <a:cubicBezTo>
                  <a:pt x="57096" y="2895"/>
                  <a:pt x="37637" y="22354"/>
                  <a:pt x="37637" y="46322"/>
                </a:cubicBezTo>
                <a:cubicBezTo>
                  <a:pt x="37637" y="70290"/>
                  <a:pt x="57096" y="89749"/>
                  <a:pt x="81064" y="89749"/>
                </a:cubicBezTo>
                <a:cubicBezTo>
                  <a:pt x="105032" y="89749"/>
                  <a:pt x="124491" y="70290"/>
                  <a:pt x="124491" y="46322"/>
                </a:cubicBezTo>
                <a:cubicBezTo>
                  <a:pt x="124491" y="22354"/>
                  <a:pt x="105032" y="2895"/>
                  <a:pt x="81064" y="2895"/>
                </a:cubicBezTo>
                <a:close/>
                <a:moveTo>
                  <a:pt x="102777" y="116095"/>
                </a:moveTo>
                <a:cubicBezTo>
                  <a:pt x="100823" y="115914"/>
                  <a:pt x="98797" y="115805"/>
                  <a:pt x="96770" y="115805"/>
                </a:cubicBezTo>
                <a:lnTo>
                  <a:pt x="65322" y="115805"/>
                </a:lnTo>
                <a:cubicBezTo>
                  <a:pt x="63295" y="115805"/>
                  <a:pt x="61305" y="115914"/>
                  <a:pt x="59314" y="116095"/>
                </a:cubicBezTo>
                <a:lnTo>
                  <a:pt x="59314" y="140523"/>
                </a:lnTo>
                <a:cubicBezTo>
                  <a:pt x="65285" y="143273"/>
                  <a:pt x="69447" y="149317"/>
                  <a:pt x="69447" y="156301"/>
                </a:cubicBezTo>
                <a:cubicBezTo>
                  <a:pt x="69447" y="165891"/>
                  <a:pt x="61666" y="173672"/>
                  <a:pt x="52076" y="173672"/>
                </a:cubicBezTo>
                <a:cubicBezTo>
                  <a:pt x="42486" y="173672"/>
                  <a:pt x="34705" y="165891"/>
                  <a:pt x="34705" y="156301"/>
                </a:cubicBezTo>
                <a:cubicBezTo>
                  <a:pt x="34705" y="149280"/>
                  <a:pt x="38867" y="143237"/>
                  <a:pt x="44838" y="140523"/>
                </a:cubicBezTo>
                <a:lnTo>
                  <a:pt x="44838" y="119388"/>
                </a:lnTo>
                <a:cubicBezTo>
                  <a:pt x="22075" y="127748"/>
                  <a:pt x="5790" y="149679"/>
                  <a:pt x="5790" y="175373"/>
                </a:cubicBezTo>
                <a:cubicBezTo>
                  <a:pt x="5790" y="180837"/>
                  <a:pt x="10242" y="185289"/>
                  <a:pt x="15706" y="185289"/>
                </a:cubicBezTo>
                <a:lnTo>
                  <a:pt x="146385" y="185289"/>
                </a:lnTo>
                <a:cubicBezTo>
                  <a:pt x="151850" y="185289"/>
                  <a:pt x="156301" y="180837"/>
                  <a:pt x="156301" y="175373"/>
                </a:cubicBezTo>
                <a:cubicBezTo>
                  <a:pt x="156301" y="149679"/>
                  <a:pt x="140016" y="127784"/>
                  <a:pt x="117217" y="119424"/>
                </a:cubicBezTo>
                <a:lnTo>
                  <a:pt x="117217" y="132959"/>
                </a:lnTo>
                <a:cubicBezTo>
                  <a:pt x="125649" y="135927"/>
                  <a:pt x="131693" y="143997"/>
                  <a:pt x="131693" y="153442"/>
                </a:cubicBezTo>
                <a:lnTo>
                  <a:pt x="131693" y="165023"/>
                </a:lnTo>
                <a:cubicBezTo>
                  <a:pt x="131693" y="169004"/>
                  <a:pt x="128436" y="172261"/>
                  <a:pt x="124455" y="172261"/>
                </a:cubicBezTo>
                <a:cubicBezTo>
                  <a:pt x="120474" y="172261"/>
                  <a:pt x="117217" y="169004"/>
                  <a:pt x="117217" y="165023"/>
                </a:cubicBezTo>
                <a:lnTo>
                  <a:pt x="117217" y="153442"/>
                </a:lnTo>
                <a:cubicBezTo>
                  <a:pt x="117217" y="149461"/>
                  <a:pt x="113960" y="146204"/>
                  <a:pt x="109979" y="146204"/>
                </a:cubicBezTo>
                <a:cubicBezTo>
                  <a:pt x="105998" y="146204"/>
                  <a:pt x="102741" y="149461"/>
                  <a:pt x="102741" y="153442"/>
                </a:cubicBezTo>
                <a:lnTo>
                  <a:pt x="102741" y="165023"/>
                </a:lnTo>
                <a:cubicBezTo>
                  <a:pt x="102741" y="169004"/>
                  <a:pt x="99484" y="172261"/>
                  <a:pt x="95503" y="172261"/>
                </a:cubicBezTo>
                <a:cubicBezTo>
                  <a:pt x="91523" y="172261"/>
                  <a:pt x="88265" y="169004"/>
                  <a:pt x="88265" y="165023"/>
                </a:cubicBezTo>
                <a:lnTo>
                  <a:pt x="88265" y="153442"/>
                </a:lnTo>
                <a:cubicBezTo>
                  <a:pt x="88265" y="143997"/>
                  <a:pt x="94309" y="135963"/>
                  <a:pt x="102741" y="132959"/>
                </a:cubicBezTo>
                <a:lnTo>
                  <a:pt x="102741" y="116095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71672" y="5753216"/>
            <a:ext cx="1510103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体检提醒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370972" y="5373374"/>
            <a:ext cx="1667599" cy="676304"/>
          </a:xfrm>
          <a:custGeom>
            <a:avLst/>
            <a:gdLst/>
            <a:ahLst/>
            <a:cxnLst/>
            <a:rect l="l" t="t" r="r" b="b"/>
            <a:pathLst>
              <a:path w="1667599" h="676304">
                <a:moveTo>
                  <a:pt x="74116" y="0"/>
                </a:moveTo>
                <a:lnTo>
                  <a:pt x="1593483" y="0"/>
                </a:lnTo>
                <a:cubicBezTo>
                  <a:pt x="1634416" y="0"/>
                  <a:pt x="1667599" y="33183"/>
                  <a:pt x="1667599" y="74116"/>
                </a:cubicBezTo>
                <a:lnTo>
                  <a:pt x="1667599" y="602188"/>
                </a:lnTo>
                <a:cubicBezTo>
                  <a:pt x="1667599" y="643121"/>
                  <a:pt x="1634416" y="676304"/>
                  <a:pt x="1593483" y="676304"/>
                </a:cubicBezTo>
                <a:lnTo>
                  <a:pt x="74116" y="676304"/>
                </a:lnTo>
                <a:cubicBezTo>
                  <a:pt x="33183" y="676304"/>
                  <a:pt x="0" y="643121"/>
                  <a:pt x="0" y="602188"/>
                </a:cubicBezTo>
                <a:lnTo>
                  <a:pt x="0" y="74116"/>
                </a:lnTo>
                <a:cubicBezTo>
                  <a:pt x="0" y="33210"/>
                  <a:pt x="33210" y="0"/>
                  <a:pt x="74116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3111765" y="5493812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23161" y="40532"/>
                </a:moveTo>
                <a:cubicBezTo>
                  <a:pt x="23161" y="30942"/>
                  <a:pt x="30942" y="23161"/>
                  <a:pt x="40532" y="23161"/>
                </a:cubicBezTo>
                <a:cubicBezTo>
                  <a:pt x="50122" y="23161"/>
                  <a:pt x="57903" y="30942"/>
                  <a:pt x="57903" y="40532"/>
                </a:cubicBezTo>
                <a:lnTo>
                  <a:pt x="57903" y="81064"/>
                </a:lnTo>
                <a:lnTo>
                  <a:pt x="23161" y="81064"/>
                </a:lnTo>
                <a:lnTo>
                  <a:pt x="23161" y="40532"/>
                </a:lnTo>
                <a:close/>
                <a:moveTo>
                  <a:pt x="63693" y="133176"/>
                </a:moveTo>
                <a:cubicBezTo>
                  <a:pt x="63693" y="115552"/>
                  <a:pt x="70243" y="99448"/>
                  <a:pt x="81064" y="87216"/>
                </a:cubicBezTo>
                <a:lnTo>
                  <a:pt x="81064" y="40532"/>
                </a:lnTo>
                <a:cubicBezTo>
                  <a:pt x="81064" y="18131"/>
                  <a:pt x="62933" y="0"/>
                  <a:pt x="40532" y="0"/>
                </a:cubicBezTo>
                <a:cubicBezTo>
                  <a:pt x="18131" y="0"/>
                  <a:pt x="0" y="18131"/>
                  <a:pt x="0" y="40532"/>
                </a:cubicBezTo>
                <a:lnTo>
                  <a:pt x="0" y="144757"/>
                </a:lnTo>
                <a:cubicBezTo>
                  <a:pt x="0" y="167158"/>
                  <a:pt x="18131" y="185289"/>
                  <a:pt x="40532" y="185289"/>
                </a:cubicBezTo>
                <a:cubicBezTo>
                  <a:pt x="54030" y="185289"/>
                  <a:pt x="65973" y="178702"/>
                  <a:pt x="73356" y="168533"/>
                </a:cubicBezTo>
                <a:cubicBezTo>
                  <a:pt x="67203" y="158183"/>
                  <a:pt x="63693" y="146096"/>
                  <a:pt x="63693" y="133176"/>
                </a:cubicBezTo>
                <a:close/>
                <a:moveTo>
                  <a:pt x="87107" y="157568"/>
                </a:moveTo>
                <a:cubicBezTo>
                  <a:pt x="88772" y="160716"/>
                  <a:pt x="93006" y="161078"/>
                  <a:pt x="95540" y="158545"/>
                </a:cubicBezTo>
                <a:lnTo>
                  <a:pt x="158545" y="95540"/>
                </a:lnTo>
                <a:cubicBezTo>
                  <a:pt x="161078" y="93006"/>
                  <a:pt x="160716" y="88772"/>
                  <a:pt x="157568" y="87107"/>
                </a:cubicBezTo>
                <a:cubicBezTo>
                  <a:pt x="150294" y="83235"/>
                  <a:pt x="142006" y="81064"/>
                  <a:pt x="133176" y="81064"/>
                </a:cubicBezTo>
                <a:cubicBezTo>
                  <a:pt x="104406" y="81064"/>
                  <a:pt x="81064" y="104406"/>
                  <a:pt x="81064" y="133176"/>
                </a:cubicBezTo>
                <a:cubicBezTo>
                  <a:pt x="81064" y="141970"/>
                  <a:pt x="83235" y="150294"/>
                  <a:pt x="87107" y="157568"/>
                </a:cubicBezTo>
                <a:close/>
                <a:moveTo>
                  <a:pt x="107808" y="170813"/>
                </a:moveTo>
                <a:cubicBezTo>
                  <a:pt x="105274" y="173346"/>
                  <a:pt x="105636" y="177580"/>
                  <a:pt x="108785" y="179245"/>
                </a:cubicBezTo>
                <a:cubicBezTo>
                  <a:pt x="116059" y="183117"/>
                  <a:pt x="124346" y="185289"/>
                  <a:pt x="133176" y="185289"/>
                </a:cubicBezTo>
                <a:cubicBezTo>
                  <a:pt x="161947" y="185289"/>
                  <a:pt x="185289" y="161947"/>
                  <a:pt x="185289" y="133176"/>
                </a:cubicBezTo>
                <a:cubicBezTo>
                  <a:pt x="185289" y="124382"/>
                  <a:pt x="183117" y="116059"/>
                  <a:pt x="179245" y="108785"/>
                </a:cubicBezTo>
                <a:cubicBezTo>
                  <a:pt x="177580" y="105636"/>
                  <a:pt x="173346" y="105274"/>
                  <a:pt x="170813" y="107808"/>
                </a:cubicBezTo>
                <a:lnTo>
                  <a:pt x="107808" y="170813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2449720" y="5753216"/>
            <a:ext cx="1510103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复诊通知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149093" y="5373374"/>
            <a:ext cx="1667599" cy="676304"/>
          </a:xfrm>
          <a:custGeom>
            <a:avLst/>
            <a:gdLst/>
            <a:ahLst/>
            <a:cxnLst/>
            <a:rect l="l" t="t" r="r" b="b"/>
            <a:pathLst>
              <a:path w="1667599" h="676304">
                <a:moveTo>
                  <a:pt x="74116" y="0"/>
                </a:moveTo>
                <a:lnTo>
                  <a:pt x="1593483" y="0"/>
                </a:lnTo>
                <a:cubicBezTo>
                  <a:pt x="1634416" y="0"/>
                  <a:pt x="1667599" y="33183"/>
                  <a:pt x="1667599" y="74116"/>
                </a:cubicBezTo>
                <a:lnTo>
                  <a:pt x="1667599" y="602188"/>
                </a:lnTo>
                <a:cubicBezTo>
                  <a:pt x="1667599" y="643121"/>
                  <a:pt x="1634416" y="676304"/>
                  <a:pt x="1593483" y="676304"/>
                </a:cubicBezTo>
                <a:lnTo>
                  <a:pt x="74116" y="676304"/>
                </a:lnTo>
                <a:cubicBezTo>
                  <a:pt x="33183" y="676304"/>
                  <a:pt x="0" y="643121"/>
                  <a:pt x="0" y="602188"/>
                </a:cubicBezTo>
                <a:lnTo>
                  <a:pt x="0" y="74116"/>
                </a:lnTo>
                <a:cubicBezTo>
                  <a:pt x="0" y="33210"/>
                  <a:pt x="33210" y="0"/>
                  <a:pt x="74116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4901467" y="5493812"/>
            <a:ext cx="162128" cy="185289"/>
          </a:xfrm>
          <a:custGeom>
            <a:avLst/>
            <a:gdLst/>
            <a:ahLst/>
            <a:cxnLst/>
            <a:rect l="l" t="t" r="r" b="b"/>
            <a:pathLst>
              <a:path w="162128" h="185289">
                <a:moveTo>
                  <a:pt x="34742" y="185289"/>
                </a:moveTo>
                <a:lnTo>
                  <a:pt x="150547" y="185289"/>
                </a:lnTo>
                <a:cubicBezTo>
                  <a:pt x="156953" y="185289"/>
                  <a:pt x="162128" y="180114"/>
                  <a:pt x="162128" y="173708"/>
                </a:cubicBezTo>
                <a:cubicBezTo>
                  <a:pt x="162128" y="167303"/>
                  <a:pt x="156953" y="162128"/>
                  <a:pt x="150547" y="162128"/>
                </a:cubicBezTo>
                <a:lnTo>
                  <a:pt x="150547" y="137989"/>
                </a:lnTo>
                <a:cubicBezTo>
                  <a:pt x="157278" y="135601"/>
                  <a:pt x="162128" y="129159"/>
                  <a:pt x="162128" y="121596"/>
                </a:cubicBezTo>
                <a:lnTo>
                  <a:pt x="162128" y="17371"/>
                </a:lnTo>
                <a:cubicBezTo>
                  <a:pt x="162128" y="7781"/>
                  <a:pt x="154347" y="0"/>
                  <a:pt x="144757" y="0"/>
                </a:cubicBezTo>
                <a:lnTo>
                  <a:pt x="34742" y="0"/>
                </a:lnTo>
                <a:cubicBezTo>
                  <a:pt x="15561" y="0"/>
                  <a:pt x="0" y="15561"/>
                  <a:pt x="0" y="34742"/>
                </a:cubicBezTo>
                <a:lnTo>
                  <a:pt x="0" y="150547"/>
                </a:lnTo>
                <a:cubicBezTo>
                  <a:pt x="0" y="169727"/>
                  <a:pt x="15561" y="185289"/>
                  <a:pt x="34742" y="185289"/>
                </a:cubicBezTo>
                <a:close/>
                <a:moveTo>
                  <a:pt x="23161" y="150547"/>
                </a:moveTo>
                <a:cubicBezTo>
                  <a:pt x="23161" y="144142"/>
                  <a:pt x="28336" y="138967"/>
                  <a:pt x="34742" y="138967"/>
                </a:cubicBezTo>
                <a:lnTo>
                  <a:pt x="127386" y="138967"/>
                </a:lnTo>
                <a:lnTo>
                  <a:pt x="127386" y="162128"/>
                </a:lnTo>
                <a:lnTo>
                  <a:pt x="34742" y="162128"/>
                </a:lnTo>
                <a:cubicBezTo>
                  <a:pt x="28336" y="162128"/>
                  <a:pt x="23161" y="156953"/>
                  <a:pt x="23161" y="150547"/>
                </a:cubicBezTo>
                <a:close/>
                <a:moveTo>
                  <a:pt x="69483" y="43427"/>
                </a:moveTo>
                <a:cubicBezTo>
                  <a:pt x="69483" y="40242"/>
                  <a:pt x="72089" y="37637"/>
                  <a:pt x="75274" y="37637"/>
                </a:cubicBezTo>
                <a:lnTo>
                  <a:pt x="86854" y="37637"/>
                </a:lnTo>
                <a:cubicBezTo>
                  <a:pt x="90039" y="37637"/>
                  <a:pt x="92644" y="40242"/>
                  <a:pt x="92644" y="43427"/>
                </a:cubicBezTo>
                <a:lnTo>
                  <a:pt x="92644" y="57903"/>
                </a:lnTo>
                <a:lnTo>
                  <a:pt x="107120" y="57903"/>
                </a:lnTo>
                <a:cubicBezTo>
                  <a:pt x="110305" y="57903"/>
                  <a:pt x="112910" y="60508"/>
                  <a:pt x="112910" y="63693"/>
                </a:cubicBezTo>
                <a:lnTo>
                  <a:pt x="112910" y="75274"/>
                </a:lnTo>
                <a:cubicBezTo>
                  <a:pt x="112910" y="78458"/>
                  <a:pt x="110305" y="81064"/>
                  <a:pt x="107120" y="81064"/>
                </a:cubicBezTo>
                <a:lnTo>
                  <a:pt x="92644" y="81064"/>
                </a:lnTo>
                <a:lnTo>
                  <a:pt x="92644" y="95540"/>
                </a:lnTo>
                <a:cubicBezTo>
                  <a:pt x="92644" y="98724"/>
                  <a:pt x="90039" y="101330"/>
                  <a:pt x="86854" y="101330"/>
                </a:cubicBezTo>
                <a:lnTo>
                  <a:pt x="75274" y="101330"/>
                </a:lnTo>
                <a:cubicBezTo>
                  <a:pt x="72089" y="101330"/>
                  <a:pt x="69483" y="98724"/>
                  <a:pt x="69483" y="95540"/>
                </a:cubicBezTo>
                <a:lnTo>
                  <a:pt x="69483" y="81064"/>
                </a:lnTo>
                <a:lnTo>
                  <a:pt x="55008" y="81064"/>
                </a:lnTo>
                <a:cubicBezTo>
                  <a:pt x="51823" y="81064"/>
                  <a:pt x="49217" y="78458"/>
                  <a:pt x="49217" y="75274"/>
                </a:cubicBezTo>
                <a:lnTo>
                  <a:pt x="49217" y="63693"/>
                </a:lnTo>
                <a:cubicBezTo>
                  <a:pt x="49217" y="60508"/>
                  <a:pt x="51823" y="57903"/>
                  <a:pt x="55008" y="57903"/>
                </a:cubicBezTo>
                <a:lnTo>
                  <a:pt x="69483" y="57903"/>
                </a:lnTo>
                <a:lnTo>
                  <a:pt x="69483" y="43427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4227841" y="5753216"/>
            <a:ext cx="1510103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健康宣教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86545" y="1371137"/>
            <a:ext cx="5632778" cy="3038735"/>
          </a:xfrm>
          <a:custGeom>
            <a:avLst/>
            <a:gdLst/>
            <a:ahLst/>
            <a:cxnLst/>
            <a:rect l="l" t="t" r="r" b="b"/>
            <a:pathLst>
              <a:path w="5632778" h="3668717">
                <a:moveTo>
                  <a:pt x="111162" y="0"/>
                </a:moveTo>
                <a:lnTo>
                  <a:pt x="5521616" y="0"/>
                </a:lnTo>
                <a:cubicBezTo>
                  <a:pt x="5583009" y="0"/>
                  <a:pt x="5632778" y="49769"/>
                  <a:pt x="5632778" y="111162"/>
                </a:cubicBezTo>
                <a:lnTo>
                  <a:pt x="5632778" y="3557555"/>
                </a:lnTo>
                <a:cubicBezTo>
                  <a:pt x="5632778" y="3618948"/>
                  <a:pt x="5583009" y="3668717"/>
                  <a:pt x="5521616" y="3668717"/>
                </a:cubicBezTo>
                <a:lnTo>
                  <a:pt x="111162" y="3668717"/>
                </a:lnTo>
                <a:cubicBezTo>
                  <a:pt x="49769" y="3668717"/>
                  <a:pt x="0" y="3618948"/>
                  <a:pt x="0" y="3557555"/>
                </a:cubicBezTo>
                <a:lnTo>
                  <a:pt x="0" y="111162"/>
                </a:lnTo>
                <a:cubicBezTo>
                  <a:pt x="0" y="49810"/>
                  <a:pt x="49810" y="0"/>
                  <a:pt x="111162" y="0"/>
                </a:cubicBezTo>
                <a:close/>
              </a:path>
            </a:pathLst>
          </a:custGeom>
          <a:gradFill flip="none" rotWithShape="1">
            <a:gsLst>
              <a:gs pos="0">
                <a:srgbClr val="0A4F6B"/>
              </a:gs>
              <a:gs pos="100000">
                <a:srgbClr val="5A7D8C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399627" y="1574954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55587" y="41690"/>
                </a:moveTo>
                <a:lnTo>
                  <a:pt x="55587" y="34742"/>
                </a:lnTo>
                <a:cubicBezTo>
                  <a:pt x="55587" y="15547"/>
                  <a:pt x="92934" y="0"/>
                  <a:pt x="138967" y="0"/>
                </a:cubicBezTo>
                <a:cubicBezTo>
                  <a:pt x="184999" y="0"/>
                  <a:pt x="222347" y="15547"/>
                  <a:pt x="222347" y="34742"/>
                </a:cubicBezTo>
                <a:lnTo>
                  <a:pt x="222347" y="41690"/>
                </a:lnTo>
                <a:cubicBezTo>
                  <a:pt x="222347" y="54979"/>
                  <a:pt x="204411" y="66530"/>
                  <a:pt x="178051" y="72393"/>
                </a:cubicBezTo>
                <a:cubicBezTo>
                  <a:pt x="177009" y="71177"/>
                  <a:pt x="175923" y="70004"/>
                  <a:pt x="174837" y="68919"/>
                </a:cubicBezTo>
                <a:cubicBezTo>
                  <a:pt x="168106" y="62274"/>
                  <a:pt x="159421" y="57237"/>
                  <a:pt x="150344" y="53502"/>
                </a:cubicBezTo>
                <a:cubicBezTo>
                  <a:pt x="132149" y="45902"/>
                  <a:pt x="108437" y="41733"/>
                  <a:pt x="83380" y="41733"/>
                </a:cubicBezTo>
                <a:cubicBezTo>
                  <a:pt x="73869" y="41733"/>
                  <a:pt x="64576" y="42341"/>
                  <a:pt x="55673" y="43514"/>
                </a:cubicBezTo>
                <a:cubicBezTo>
                  <a:pt x="55587" y="42949"/>
                  <a:pt x="55587" y="42341"/>
                  <a:pt x="55587" y="41733"/>
                </a:cubicBezTo>
                <a:close/>
                <a:moveTo>
                  <a:pt x="187605" y="153297"/>
                </a:moveTo>
                <a:lnTo>
                  <a:pt x="187605" y="133234"/>
                </a:lnTo>
                <a:cubicBezTo>
                  <a:pt x="194162" y="131541"/>
                  <a:pt x="200329" y="129543"/>
                  <a:pt x="205931" y="127198"/>
                </a:cubicBezTo>
                <a:cubicBezTo>
                  <a:pt x="211663" y="124809"/>
                  <a:pt x="217266" y="121900"/>
                  <a:pt x="222347" y="118382"/>
                </a:cubicBezTo>
                <a:lnTo>
                  <a:pt x="222347" y="125070"/>
                </a:lnTo>
                <a:cubicBezTo>
                  <a:pt x="222347" y="136708"/>
                  <a:pt x="208667" y="147001"/>
                  <a:pt x="187605" y="153297"/>
                </a:cubicBezTo>
                <a:close/>
                <a:moveTo>
                  <a:pt x="187605" y="111608"/>
                </a:moveTo>
                <a:lnTo>
                  <a:pt x="187605" y="97277"/>
                </a:lnTo>
                <a:cubicBezTo>
                  <a:pt x="187605" y="95322"/>
                  <a:pt x="187431" y="93455"/>
                  <a:pt x="187171" y="91631"/>
                </a:cubicBezTo>
                <a:cubicBezTo>
                  <a:pt x="193902" y="89937"/>
                  <a:pt x="200199" y="87896"/>
                  <a:pt x="205931" y="85464"/>
                </a:cubicBezTo>
                <a:cubicBezTo>
                  <a:pt x="211663" y="83033"/>
                  <a:pt x="217266" y="80166"/>
                  <a:pt x="222347" y="76649"/>
                </a:cubicBezTo>
                <a:lnTo>
                  <a:pt x="222347" y="83337"/>
                </a:lnTo>
                <a:cubicBezTo>
                  <a:pt x="222347" y="94975"/>
                  <a:pt x="208667" y="105267"/>
                  <a:pt x="187605" y="111564"/>
                </a:cubicBezTo>
                <a:close/>
                <a:moveTo>
                  <a:pt x="0" y="104225"/>
                </a:moveTo>
                <a:lnTo>
                  <a:pt x="0" y="97277"/>
                </a:lnTo>
                <a:cubicBezTo>
                  <a:pt x="0" y="78082"/>
                  <a:pt x="37347" y="62535"/>
                  <a:pt x="83380" y="62535"/>
                </a:cubicBezTo>
                <a:cubicBezTo>
                  <a:pt x="129413" y="62535"/>
                  <a:pt x="166760" y="78082"/>
                  <a:pt x="166760" y="97277"/>
                </a:cubicBezTo>
                <a:lnTo>
                  <a:pt x="166760" y="104225"/>
                </a:lnTo>
                <a:cubicBezTo>
                  <a:pt x="166760" y="123420"/>
                  <a:pt x="129413" y="138967"/>
                  <a:pt x="83380" y="138967"/>
                </a:cubicBezTo>
                <a:cubicBezTo>
                  <a:pt x="37347" y="138967"/>
                  <a:pt x="0" y="123420"/>
                  <a:pt x="0" y="104225"/>
                </a:cubicBezTo>
                <a:close/>
                <a:moveTo>
                  <a:pt x="166760" y="145915"/>
                </a:moveTo>
                <a:cubicBezTo>
                  <a:pt x="166760" y="165110"/>
                  <a:pt x="129413" y="180657"/>
                  <a:pt x="83380" y="180657"/>
                </a:cubicBezTo>
                <a:cubicBezTo>
                  <a:pt x="37347" y="180657"/>
                  <a:pt x="0" y="165110"/>
                  <a:pt x="0" y="145915"/>
                </a:cubicBezTo>
                <a:lnTo>
                  <a:pt x="0" y="139227"/>
                </a:lnTo>
                <a:cubicBezTo>
                  <a:pt x="5038" y="142745"/>
                  <a:pt x="10640" y="145611"/>
                  <a:pt x="16415" y="148043"/>
                </a:cubicBezTo>
                <a:cubicBezTo>
                  <a:pt x="34611" y="155643"/>
                  <a:pt x="58323" y="159812"/>
                  <a:pt x="83380" y="159812"/>
                </a:cubicBezTo>
                <a:cubicBezTo>
                  <a:pt x="108437" y="159812"/>
                  <a:pt x="132149" y="155599"/>
                  <a:pt x="150344" y="148043"/>
                </a:cubicBezTo>
                <a:cubicBezTo>
                  <a:pt x="156077" y="145654"/>
                  <a:pt x="161679" y="142745"/>
                  <a:pt x="166760" y="139227"/>
                </a:cubicBezTo>
                <a:lnTo>
                  <a:pt x="166760" y="145915"/>
                </a:lnTo>
                <a:close/>
                <a:moveTo>
                  <a:pt x="166760" y="180917"/>
                </a:moveTo>
                <a:lnTo>
                  <a:pt x="166760" y="187605"/>
                </a:lnTo>
                <a:cubicBezTo>
                  <a:pt x="166760" y="206800"/>
                  <a:pt x="129413" y="222347"/>
                  <a:pt x="83380" y="222347"/>
                </a:cubicBezTo>
                <a:cubicBezTo>
                  <a:pt x="37347" y="222347"/>
                  <a:pt x="0" y="206800"/>
                  <a:pt x="0" y="187605"/>
                </a:cubicBezTo>
                <a:lnTo>
                  <a:pt x="0" y="180917"/>
                </a:lnTo>
                <a:cubicBezTo>
                  <a:pt x="5038" y="184435"/>
                  <a:pt x="10640" y="187301"/>
                  <a:pt x="16415" y="189733"/>
                </a:cubicBezTo>
                <a:cubicBezTo>
                  <a:pt x="34611" y="197333"/>
                  <a:pt x="58323" y="201502"/>
                  <a:pt x="83380" y="201502"/>
                </a:cubicBezTo>
                <a:cubicBezTo>
                  <a:pt x="108437" y="201502"/>
                  <a:pt x="132149" y="197289"/>
                  <a:pt x="150344" y="189733"/>
                </a:cubicBezTo>
                <a:cubicBezTo>
                  <a:pt x="156077" y="187344"/>
                  <a:pt x="161679" y="184435"/>
                  <a:pt x="166760" y="180917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760941" y="1556426"/>
            <a:ext cx="1760243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策略化路由降低成本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71834" y="1964061"/>
            <a:ext cx="5336316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b="1" dirty="0">
                <a:solidFill>
                  <a:srgbClr val="E8ECE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微信优先，短信托底</a:t>
            </a:r>
            <a:r>
              <a:rPr lang="en-US" sz="1167" dirty="0">
                <a:solidFill>
                  <a:srgbClr val="E8ECE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的组合消息策略，在保障100%触达的同时，为医院大幅节省短信通信成本。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71834" y="2844967"/>
            <a:ext cx="5262201" cy="1371137"/>
          </a:xfrm>
          <a:custGeom>
            <a:avLst/>
            <a:gdLst/>
            <a:ahLst/>
            <a:cxnLst/>
            <a:rect l="l" t="t" r="r" b="b"/>
            <a:pathLst>
              <a:path w="5262201" h="1371137">
                <a:moveTo>
                  <a:pt x="74110" y="0"/>
                </a:moveTo>
                <a:lnTo>
                  <a:pt x="5188091" y="0"/>
                </a:lnTo>
                <a:cubicBezTo>
                  <a:pt x="5229020" y="0"/>
                  <a:pt x="5262201" y="33180"/>
                  <a:pt x="5262201" y="74110"/>
                </a:cubicBezTo>
                <a:lnTo>
                  <a:pt x="5262201" y="1297027"/>
                </a:lnTo>
                <a:cubicBezTo>
                  <a:pt x="5262201" y="1337957"/>
                  <a:pt x="5229020" y="1371137"/>
                  <a:pt x="5188091" y="1371137"/>
                </a:cubicBezTo>
                <a:lnTo>
                  <a:pt x="74110" y="1371137"/>
                </a:lnTo>
                <a:cubicBezTo>
                  <a:pt x="33180" y="1371137"/>
                  <a:pt x="0" y="1337957"/>
                  <a:pt x="0" y="1297027"/>
                </a:cubicBezTo>
                <a:lnTo>
                  <a:pt x="0" y="74110"/>
                </a:lnTo>
                <a:cubicBezTo>
                  <a:pt x="0" y="33180"/>
                  <a:pt x="33180" y="0"/>
                  <a:pt x="7411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520065" y="2993198"/>
            <a:ext cx="5030590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8ECE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发送策略示例：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520065" y="3252602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111173" y="0"/>
                </a:moveTo>
                <a:lnTo>
                  <a:pt x="111173" y="0"/>
                </a:lnTo>
                <a:cubicBezTo>
                  <a:pt x="172573" y="0"/>
                  <a:pt x="222347" y="49774"/>
                  <a:pt x="222347" y="111173"/>
                </a:cubicBezTo>
                <a:lnTo>
                  <a:pt x="222347" y="111173"/>
                </a:lnTo>
                <a:cubicBezTo>
                  <a:pt x="222347" y="172573"/>
                  <a:pt x="172573" y="222347"/>
                  <a:pt x="111173" y="222347"/>
                </a:cubicBezTo>
                <a:lnTo>
                  <a:pt x="111173" y="222347"/>
                </a:lnTo>
                <a:cubicBezTo>
                  <a:pt x="49774" y="222347"/>
                  <a:pt x="0" y="172573"/>
                  <a:pt x="0" y="111173"/>
                </a:cubicBezTo>
                <a:lnTo>
                  <a:pt x="0" y="111173"/>
                </a:lnTo>
                <a:cubicBezTo>
                  <a:pt x="0" y="49774"/>
                  <a:pt x="49774" y="0"/>
                  <a:pt x="111173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492272" y="3252602"/>
            <a:ext cx="277933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16527" y="3271131"/>
            <a:ext cx="1750979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优先通过医院微信公众号推送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520065" y="3549064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111173" y="0"/>
                </a:moveTo>
                <a:lnTo>
                  <a:pt x="111173" y="0"/>
                </a:lnTo>
                <a:cubicBezTo>
                  <a:pt x="172573" y="0"/>
                  <a:pt x="222347" y="49774"/>
                  <a:pt x="222347" y="111173"/>
                </a:cubicBezTo>
                <a:lnTo>
                  <a:pt x="222347" y="111173"/>
                </a:lnTo>
                <a:cubicBezTo>
                  <a:pt x="222347" y="172573"/>
                  <a:pt x="172573" y="222347"/>
                  <a:pt x="111173" y="222347"/>
                </a:cubicBezTo>
                <a:lnTo>
                  <a:pt x="111173" y="222347"/>
                </a:lnTo>
                <a:cubicBezTo>
                  <a:pt x="49774" y="222347"/>
                  <a:pt x="0" y="172573"/>
                  <a:pt x="0" y="111173"/>
                </a:cubicBezTo>
                <a:lnTo>
                  <a:pt x="0" y="111173"/>
                </a:lnTo>
                <a:cubicBezTo>
                  <a:pt x="0" y="49774"/>
                  <a:pt x="49774" y="0"/>
                  <a:pt x="111173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492272" y="3549064"/>
            <a:ext cx="277933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16527" y="3567593"/>
            <a:ext cx="1491574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若患者未关注或推送失败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520065" y="3845526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111173" y="0"/>
                </a:moveTo>
                <a:lnTo>
                  <a:pt x="111173" y="0"/>
                </a:lnTo>
                <a:cubicBezTo>
                  <a:pt x="172573" y="0"/>
                  <a:pt x="222347" y="49774"/>
                  <a:pt x="222347" y="111173"/>
                </a:cubicBezTo>
                <a:lnTo>
                  <a:pt x="222347" y="111173"/>
                </a:lnTo>
                <a:cubicBezTo>
                  <a:pt x="222347" y="172573"/>
                  <a:pt x="172573" y="222347"/>
                  <a:pt x="111173" y="222347"/>
                </a:cubicBezTo>
                <a:lnTo>
                  <a:pt x="111173" y="222347"/>
                </a:lnTo>
                <a:cubicBezTo>
                  <a:pt x="49774" y="222347"/>
                  <a:pt x="0" y="172573"/>
                  <a:pt x="0" y="111173"/>
                </a:cubicBezTo>
                <a:lnTo>
                  <a:pt x="0" y="111173"/>
                </a:lnTo>
                <a:cubicBezTo>
                  <a:pt x="0" y="49774"/>
                  <a:pt x="49774" y="0"/>
                  <a:pt x="111173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6492272" y="3845526"/>
            <a:ext cx="277933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16527" y="3864055"/>
            <a:ext cx="1102468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系统自动补发短信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143928" y="3150694"/>
            <a:ext cx="1090091" cy="741155"/>
          </a:xfrm>
          <a:custGeom>
            <a:avLst/>
            <a:gdLst/>
            <a:ahLst/>
            <a:cxnLst/>
            <a:rect l="l" t="t" r="r" b="b"/>
            <a:pathLst>
              <a:path w="2575514" h="741155">
                <a:moveTo>
                  <a:pt x="74116" y="0"/>
                </a:moveTo>
                <a:lnTo>
                  <a:pt x="2501398" y="0"/>
                </a:lnTo>
                <a:cubicBezTo>
                  <a:pt x="2542331" y="0"/>
                  <a:pt x="2575514" y="33183"/>
                  <a:pt x="2575514" y="74116"/>
                </a:cubicBezTo>
                <a:lnTo>
                  <a:pt x="2575514" y="667040"/>
                </a:lnTo>
                <a:cubicBezTo>
                  <a:pt x="2575514" y="707972"/>
                  <a:pt x="2542331" y="741155"/>
                  <a:pt x="2501398" y="741155"/>
                </a:cubicBezTo>
                <a:lnTo>
                  <a:pt x="74116" y="741155"/>
                </a:lnTo>
                <a:cubicBezTo>
                  <a:pt x="33183" y="741155"/>
                  <a:pt x="0" y="707972"/>
                  <a:pt x="0" y="667040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9185618" y="3261868"/>
            <a:ext cx="1054800" cy="33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8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60%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222676" y="3595387"/>
            <a:ext cx="1023431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E8ECE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成本节省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0367195" y="3150694"/>
            <a:ext cx="1090091" cy="741155"/>
          </a:xfrm>
          <a:custGeom>
            <a:avLst/>
            <a:gdLst/>
            <a:ahLst/>
            <a:cxnLst/>
            <a:rect l="l" t="t" r="r" b="b"/>
            <a:pathLst>
              <a:path w="2575514" h="741155">
                <a:moveTo>
                  <a:pt x="74116" y="0"/>
                </a:moveTo>
                <a:lnTo>
                  <a:pt x="2501398" y="0"/>
                </a:lnTo>
                <a:cubicBezTo>
                  <a:pt x="2542331" y="0"/>
                  <a:pt x="2575514" y="33183"/>
                  <a:pt x="2575514" y="74116"/>
                </a:cubicBezTo>
                <a:lnTo>
                  <a:pt x="2575514" y="667040"/>
                </a:lnTo>
                <a:cubicBezTo>
                  <a:pt x="2575514" y="707972"/>
                  <a:pt x="2542331" y="741155"/>
                  <a:pt x="2501398" y="741155"/>
                </a:cubicBezTo>
                <a:lnTo>
                  <a:pt x="74116" y="741155"/>
                </a:lnTo>
                <a:cubicBezTo>
                  <a:pt x="33183" y="741155"/>
                  <a:pt x="0" y="707972"/>
                  <a:pt x="0" y="667040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10408885" y="3261868"/>
            <a:ext cx="1054800" cy="33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8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445943" y="3595387"/>
            <a:ext cx="1023431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E8ECE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消息触达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70115" y="4567367"/>
            <a:ext cx="5632778" cy="1667599"/>
          </a:xfrm>
          <a:custGeom>
            <a:avLst/>
            <a:gdLst/>
            <a:ahLst/>
            <a:cxnLst/>
            <a:rect l="l" t="t" r="r" b="b"/>
            <a:pathLst>
              <a:path w="5632778" h="1667599">
                <a:moveTo>
                  <a:pt x="111179" y="0"/>
                </a:moveTo>
                <a:lnTo>
                  <a:pt x="5521599" y="0"/>
                </a:lnTo>
                <a:cubicBezTo>
                  <a:pt x="5583002" y="0"/>
                  <a:pt x="5632778" y="49776"/>
                  <a:pt x="5632778" y="111179"/>
                </a:cubicBezTo>
                <a:lnTo>
                  <a:pt x="5632778" y="1556420"/>
                </a:lnTo>
                <a:cubicBezTo>
                  <a:pt x="5632778" y="1617822"/>
                  <a:pt x="5583002" y="1667599"/>
                  <a:pt x="5521599" y="1667599"/>
                </a:cubicBezTo>
                <a:lnTo>
                  <a:pt x="111179" y="1667599"/>
                </a:lnTo>
                <a:cubicBezTo>
                  <a:pt x="49776" y="1667599"/>
                  <a:pt x="0" y="1617822"/>
                  <a:pt x="0" y="1556420"/>
                </a:cubicBezTo>
                <a:lnTo>
                  <a:pt x="0" y="111179"/>
                </a:lnTo>
                <a:cubicBezTo>
                  <a:pt x="0" y="49818"/>
                  <a:pt x="49818" y="0"/>
                  <a:pt x="11117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793" dist="926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6378565" y="4798978"/>
            <a:ext cx="166760" cy="166760"/>
          </a:xfrm>
          <a:custGeom>
            <a:avLst/>
            <a:gdLst/>
            <a:ahLst/>
            <a:cxnLst/>
            <a:rect l="l" t="t" r="r" b="b"/>
            <a:pathLst>
              <a:path w="166760" h="166760">
                <a:moveTo>
                  <a:pt x="62535" y="20845"/>
                </a:moveTo>
                <a:cubicBezTo>
                  <a:pt x="62535" y="15080"/>
                  <a:pt x="67193" y="10422"/>
                  <a:pt x="72957" y="10422"/>
                </a:cubicBezTo>
                <a:lnTo>
                  <a:pt x="93802" y="10422"/>
                </a:lnTo>
                <a:cubicBezTo>
                  <a:pt x="99567" y="10422"/>
                  <a:pt x="104225" y="15080"/>
                  <a:pt x="104225" y="20845"/>
                </a:cubicBezTo>
                <a:lnTo>
                  <a:pt x="104225" y="41690"/>
                </a:lnTo>
                <a:cubicBezTo>
                  <a:pt x="104225" y="47455"/>
                  <a:pt x="99567" y="52112"/>
                  <a:pt x="93802" y="52112"/>
                </a:cubicBezTo>
                <a:lnTo>
                  <a:pt x="91197" y="52112"/>
                </a:lnTo>
                <a:lnTo>
                  <a:pt x="91197" y="72957"/>
                </a:lnTo>
                <a:lnTo>
                  <a:pt x="130281" y="72957"/>
                </a:lnTo>
                <a:cubicBezTo>
                  <a:pt x="143244" y="72957"/>
                  <a:pt x="153732" y="83445"/>
                  <a:pt x="153732" y="96408"/>
                </a:cubicBezTo>
                <a:lnTo>
                  <a:pt x="153732" y="114647"/>
                </a:lnTo>
                <a:lnTo>
                  <a:pt x="156337" y="114647"/>
                </a:lnTo>
                <a:cubicBezTo>
                  <a:pt x="162102" y="114647"/>
                  <a:pt x="166760" y="119305"/>
                  <a:pt x="166760" y="125070"/>
                </a:cubicBezTo>
                <a:lnTo>
                  <a:pt x="166760" y="145915"/>
                </a:lnTo>
                <a:cubicBezTo>
                  <a:pt x="166760" y="151680"/>
                  <a:pt x="162102" y="156337"/>
                  <a:pt x="156337" y="156337"/>
                </a:cubicBezTo>
                <a:lnTo>
                  <a:pt x="135492" y="156337"/>
                </a:lnTo>
                <a:cubicBezTo>
                  <a:pt x="129727" y="156337"/>
                  <a:pt x="125070" y="151680"/>
                  <a:pt x="125070" y="145915"/>
                </a:cubicBezTo>
                <a:lnTo>
                  <a:pt x="125070" y="125070"/>
                </a:lnTo>
                <a:cubicBezTo>
                  <a:pt x="125070" y="119305"/>
                  <a:pt x="129727" y="114647"/>
                  <a:pt x="135492" y="114647"/>
                </a:cubicBezTo>
                <a:lnTo>
                  <a:pt x="138098" y="114647"/>
                </a:lnTo>
                <a:lnTo>
                  <a:pt x="138098" y="96408"/>
                </a:lnTo>
                <a:cubicBezTo>
                  <a:pt x="138098" y="92076"/>
                  <a:pt x="134613" y="88591"/>
                  <a:pt x="130281" y="88591"/>
                </a:cubicBezTo>
                <a:lnTo>
                  <a:pt x="91197" y="88591"/>
                </a:lnTo>
                <a:lnTo>
                  <a:pt x="91197" y="114647"/>
                </a:lnTo>
                <a:lnTo>
                  <a:pt x="93802" y="114647"/>
                </a:lnTo>
                <a:cubicBezTo>
                  <a:pt x="99567" y="114647"/>
                  <a:pt x="104225" y="119305"/>
                  <a:pt x="104225" y="125070"/>
                </a:cubicBezTo>
                <a:lnTo>
                  <a:pt x="104225" y="145915"/>
                </a:lnTo>
                <a:cubicBezTo>
                  <a:pt x="104225" y="151680"/>
                  <a:pt x="99567" y="156337"/>
                  <a:pt x="93802" y="156337"/>
                </a:cubicBezTo>
                <a:lnTo>
                  <a:pt x="72957" y="156337"/>
                </a:lnTo>
                <a:cubicBezTo>
                  <a:pt x="67193" y="156337"/>
                  <a:pt x="62535" y="151680"/>
                  <a:pt x="62535" y="145915"/>
                </a:cubicBezTo>
                <a:lnTo>
                  <a:pt x="62535" y="125070"/>
                </a:lnTo>
                <a:cubicBezTo>
                  <a:pt x="62535" y="119305"/>
                  <a:pt x="67193" y="114647"/>
                  <a:pt x="72957" y="114647"/>
                </a:cubicBezTo>
                <a:lnTo>
                  <a:pt x="75563" y="114647"/>
                </a:lnTo>
                <a:lnTo>
                  <a:pt x="75563" y="88591"/>
                </a:lnTo>
                <a:lnTo>
                  <a:pt x="36479" y="88591"/>
                </a:lnTo>
                <a:cubicBezTo>
                  <a:pt x="32147" y="88591"/>
                  <a:pt x="28662" y="92076"/>
                  <a:pt x="28662" y="96408"/>
                </a:cubicBezTo>
                <a:lnTo>
                  <a:pt x="28662" y="114647"/>
                </a:lnTo>
                <a:lnTo>
                  <a:pt x="31267" y="114647"/>
                </a:lnTo>
                <a:cubicBezTo>
                  <a:pt x="37032" y="114647"/>
                  <a:pt x="41690" y="119305"/>
                  <a:pt x="41690" y="125070"/>
                </a:cubicBezTo>
                <a:lnTo>
                  <a:pt x="41690" y="145915"/>
                </a:lnTo>
                <a:cubicBezTo>
                  <a:pt x="41690" y="151680"/>
                  <a:pt x="37032" y="156337"/>
                  <a:pt x="31267" y="156337"/>
                </a:cubicBezTo>
                <a:lnTo>
                  <a:pt x="10422" y="156337"/>
                </a:lnTo>
                <a:cubicBezTo>
                  <a:pt x="4658" y="156337"/>
                  <a:pt x="0" y="151680"/>
                  <a:pt x="0" y="145915"/>
                </a:cubicBezTo>
                <a:lnTo>
                  <a:pt x="0" y="125070"/>
                </a:lnTo>
                <a:cubicBezTo>
                  <a:pt x="0" y="119305"/>
                  <a:pt x="4658" y="114647"/>
                  <a:pt x="10422" y="114647"/>
                </a:cubicBezTo>
                <a:lnTo>
                  <a:pt x="13028" y="114647"/>
                </a:lnTo>
                <a:lnTo>
                  <a:pt x="13028" y="96408"/>
                </a:lnTo>
                <a:cubicBezTo>
                  <a:pt x="13028" y="83445"/>
                  <a:pt x="23516" y="72957"/>
                  <a:pt x="36479" y="72957"/>
                </a:cubicBezTo>
                <a:lnTo>
                  <a:pt x="75563" y="72957"/>
                </a:lnTo>
                <a:lnTo>
                  <a:pt x="75563" y="52112"/>
                </a:lnTo>
                <a:lnTo>
                  <a:pt x="72957" y="52112"/>
                </a:lnTo>
                <a:cubicBezTo>
                  <a:pt x="67193" y="52112"/>
                  <a:pt x="62535" y="47455"/>
                  <a:pt x="62535" y="41690"/>
                </a:cubicBezTo>
                <a:lnTo>
                  <a:pt x="62535" y="20845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6568486" y="4752656"/>
            <a:ext cx="5132498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消息发送流程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446818" y="5123233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259404" y="0"/>
                </a:moveTo>
                <a:lnTo>
                  <a:pt x="259404" y="0"/>
                </a:lnTo>
                <a:cubicBezTo>
                  <a:pt x="402669" y="0"/>
                  <a:pt x="518809" y="116139"/>
                  <a:pt x="518809" y="259404"/>
                </a:cubicBezTo>
                <a:lnTo>
                  <a:pt x="518809" y="259404"/>
                </a:lnTo>
                <a:cubicBezTo>
                  <a:pt x="518809" y="402669"/>
                  <a:pt x="402669" y="518809"/>
                  <a:pt x="259404" y="518809"/>
                </a:cubicBezTo>
                <a:lnTo>
                  <a:pt x="259404" y="518809"/>
                </a:lnTo>
                <a:cubicBezTo>
                  <a:pt x="116139" y="518809"/>
                  <a:pt x="0" y="402669"/>
                  <a:pt x="0" y="259404"/>
                </a:cubicBezTo>
                <a:lnTo>
                  <a:pt x="0" y="259404"/>
                </a:lnTo>
                <a:cubicBezTo>
                  <a:pt x="0" y="116139"/>
                  <a:pt x="116139" y="0"/>
                  <a:pt x="259404" y="0"/>
                </a:cubicBezTo>
                <a:close/>
              </a:path>
            </a:pathLst>
          </a:custGeom>
          <a:solidFill>
            <a:srgbClr val="0A4F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6614736" y="5299258"/>
            <a:ext cx="187605" cy="166760"/>
          </a:xfrm>
          <a:custGeom>
            <a:avLst/>
            <a:gdLst/>
            <a:ahLst/>
            <a:cxnLst/>
            <a:rect l="l" t="t" r="r" b="b"/>
            <a:pathLst>
              <a:path w="187605" h="166760">
                <a:moveTo>
                  <a:pt x="41690" y="20845"/>
                </a:moveTo>
                <a:cubicBezTo>
                  <a:pt x="41690" y="9348"/>
                  <a:pt x="51038" y="0"/>
                  <a:pt x="62535" y="0"/>
                </a:cubicBezTo>
                <a:lnTo>
                  <a:pt x="125070" y="0"/>
                </a:lnTo>
                <a:cubicBezTo>
                  <a:pt x="136567" y="0"/>
                  <a:pt x="145915" y="9348"/>
                  <a:pt x="145915" y="20845"/>
                </a:cubicBezTo>
                <a:lnTo>
                  <a:pt x="145915" y="41690"/>
                </a:lnTo>
                <a:lnTo>
                  <a:pt x="166760" y="41690"/>
                </a:lnTo>
                <a:cubicBezTo>
                  <a:pt x="178257" y="41690"/>
                  <a:pt x="187605" y="51038"/>
                  <a:pt x="187605" y="62535"/>
                </a:cubicBezTo>
                <a:lnTo>
                  <a:pt x="187605" y="145915"/>
                </a:lnTo>
                <a:cubicBezTo>
                  <a:pt x="187605" y="157412"/>
                  <a:pt x="178257" y="166760"/>
                  <a:pt x="166760" y="166760"/>
                </a:cubicBezTo>
                <a:lnTo>
                  <a:pt x="20845" y="166760"/>
                </a:lnTo>
                <a:cubicBezTo>
                  <a:pt x="9348" y="166760"/>
                  <a:pt x="0" y="157412"/>
                  <a:pt x="0" y="145915"/>
                </a:cubicBezTo>
                <a:lnTo>
                  <a:pt x="0" y="62535"/>
                </a:lnTo>
                <a:cubicBezTo>
                  <a:pt x="0" y="51038"/>
                  <a:pt x="9348" y="41690"/>
                  <a:pt x="20845" y="41690"/>
                </a:cubicBezTo>
                <a:lnTo>
                  <a:pt x="41690" y="41690"/>
                </a:lnTo>
                <a:lnTo>
                  <a:pt x="41690" y="20845"/>
                </a:lnTo>
                <a:close/>
                <a:moveTo>
                  <a:pt x="88591" y="114647"/>
                </a:moveTo>
                <a:cubicBezTo>
                  <a:pt x="82826" y="114647"/>
                  <a:pt x="78169" y="119305"/>
                  <a:pt x="78169" y="125070"/>
                </a:cubicBezTo>
                <a:lnTo>
                  <a:pt x="78169" y="151126"/>
                </a:lnTo>
                <a:lnTo>
                  <a:pt x="109436" y="151126"/>
                </a:lnTo>
                <a:lnTo>
                  <a:pt x="109436" y="125070"/>
                </a:lnTo>
                <a:cubicBezTo>
                  <a:pt x="109436" y="119305"/>
                  <a:pt x="104779" y="114647"/>
                  <a:pt x="99014" y="114647"/>
                </a:cubicBezTo>
                <a:lnTo>
                  <a:pt x="88591" y="114647"/>
                </a:lnTo>
                <a:close/>
                <a:moveTo>
                  <a:pt x="41690" y="119859"/>
                </a:moveTo>
                <a:lnTo>
                  <a:pt x="41690" y="109436"/>
                </a:lnTo>
                <a:cubicBezTo>
                  <a:pt x="41690" y="106570"/>
                  <a:pt x="39345" y="104225"/>
                  <a:pt x="36479" y="104225"/>
                </a:cubicBezTo>
                <a:lnTo>
                  <a:pt x="26056" y="104225"/>
                </a:lnTo>
                <a:cubicBezTo>
                  <a:pt x="23190" y="104225"/>
                  <a:pt x="20845" y="106570"/>
                  <a:pt x="20845" y="109436"/>
                </a:cubicBezTo>
                <a:lnTo>
                  <a:pt x="20845" y="119859"/>
                </a:lnTo>
                <a:cubicBezTo>
                  <a:pt x="20845" y="122725"/>
                  <a:pt x="23190" y="125070"/>
                  <a:pt x="26056" y="125070"/>
                </a:cubicBezTo>
                <a:lnTo>
                  <a:pt x="36479" y="125070"/>
                </a:lnTo>
                <a:cubicBezTo>
                  <a:pt x="39345" y="125070"/>
                  <a:pt x="41690" y="122725"/>
                  <a:pt x="41690" y="119859"/>
                </a:cubicBezTo>
                <a:close/>
                <a:moveTo>
                  <a:pt x="36479" y="83380"/>
                </a:moveTo>
                <a:cubicBezTo>
                  <a:pt x="39345" y="83380"/>
                  <a:pt x="41690" y="81035"/>
                  <a:pt x="41690" y="78169"/>
                </a:cubicBezTo>
                <a:lnTo>
                  <a:pt x="41690" y="67746"/>
                </a:lnTo>
                <a:cubicBezTo>
                  <a:pt x="41690" y="64880"/>
                  <a:pt x="39345" y="62535"/>
                  <a:pt x="36479" y="62535"/>
                </a:cubicBezTo>
                <a:lnTo>
                  <a:pt x="26056" y="62535"/>
                </a:lnTo>
                <a:cubicBezTo>
                  <a:pt x="23190" y="62535"/>
                  <a:pt x="20845" y="64880"/>
                  <a:pt x="20845" y="67746"/>
                </a:cubicBezTo>
                <a:lnTo>
                  <a:pt x="20845" y="78169"/>
                </a:lnTo>
                <a:cubicBezTo>
                  <a:pt x="20845" y="81035"/>
                  <a:pt x="23190" y="83380"/>
                  <a:pt x="26056" y="83380"/>
                </a:cubicBezTo>
                <a:lnTo>
                  <a:pt x="36479" y="83380"/>
                </a:lnTo>
                <a:close/>
                <a:moveTo>
                  <a:pt x="166760" y="119859"/>
                </a:moveTo>
                <a:lnTo>
                  <a:pt x="166760" y="109436"/>
                </a:lnTo>
                <a:cubicBezTo>
                  <a:pt x="166760" y="106570"/>
                  <a:pt x="164415" y="104225"/>
                  <a:pt x="161549" y="104225"/>
                </a:cubicBezTo>
                <a:lnTo>
                  <a:pt x="151126" y="104225"/>
                </a:lnTo>
                <a:cubicBezTo>
                  <a:pt x="148260" y="104225"/>
                  <a:pt x="145915" y="106570"/>
                  <a:pt x="145915" y="109436"/>
                </a:cubicBezTo>
                <a:lnTo>
                  <a:pt x="145915" y="119859"/>
                </a:lnTo>
                <a:cubicBezTo>
                  <a:pt x="145915" y="122725"/>
                  <a:pt x="148260" y="125070"/>
                  <a:pt x="151126" y="125070"/>
                </a:cubicBezTo>
                <a:lnTo>
                  <a:pt x="161549" y="125070"/>
                </a:lnTo>
                <a:cubicBezTo>
                  <a:pt x="164415" y="125070"/>
                  <a:pt x="166760" y="122725"/>
                  <a:pt x="166760" y="119859"/>
                </a:cubicBezTo>
                <a:close/>
                <a:moveTo>
                  <a:pt x="161549" y="83380"/>
                </a:moveTo>
                <a:cubicBezTo>
                  <a:pt x="164415" y="83380"/>
                  <a:pt x="166760" y="81035"/>
                  <a:pt x="166760" y="78169"/>
                </a:cubicBezTo>
                <a:lnTo>
                  <a:pt x="166760" y="67746"/>
                </a:lnTo>
                <a:cubicBezTo>
                  <a:pt x="166760" y="64880"/>
                  <a:pt x="164415" y="62535"/>
                  <a:pt x="161549" y="62535"/>
                </a:cubicBezTo>
                <a:lnTo>
                  <a:pt x="151126" y="62535"/>
                </a:lnTo>
                <a:cubicBezTo>
                  <a:pt x="148260" y="62535"/>
                  <a:pt x="145915" y="64880"/>
                  <a:pt x="145915" y="67746"/>
                </a:cubicBezTo>
                <a:lnTo>
                  <a:pt x="145915" y="78169"/>
                </a:lnTo>
                <a:cubicBezTo>
                  <a:pt x="145915" y="81035"/>
                  <a:pt x="148260" y="83380"/>
                  <a:pt x="151126" y="83380"/>
                </a:cubicBezTo>
                <a:lnTo>
                  <a:pt x="161549" y="83380"/>
                </a:lnTo>
                <a:close/>
                <a:moveTo>
                  <a:pt x="85986" y="33873"/>
                </a:moveTo>
                <a:lnTo>
                  <a:pt x="85986" y="44296"/>
                </a:lnTo>
                <a:lnTo>
                  <a:pt x="75563" y="44296"/>
                </a:lnTo>
                <a:cubicBezTo>
                  <a:pt x="72697" y="44296"/>
                  <a:pt x="70352" y="46641"/>
                  <a:pt x="70352" y="49507"/>
                </a:cubicBezTo>
                <a:lnTo>
                  <a:pt x="70352" y="54718"/>
                </a:lnTo>
                <a:cubicBezTo>
                  <a:pt x="70352" y="57584"/>
                  <a:pt x="72697" y="59929"/>
                  <a:pt x="75563" y="59929"/>
                </a:cubicBezTo>
                <a:lnTo>
                  <a:pt x="85986" y="59929"/>
                </a:lnTo>
                <a:lnTo>
                  <a:pt x="85986" y="70352"/>
                </a:lnTo>
                <a:cubicBezTo>
                  <a:pt x="85986" y="73218"/>
                  <a:pt x="88331" y="75563"/>
                  <a:pt x="91197" y="75563"/>
                </a:cubicBezTo>
                <a:lnTo>
                  <a:pt x="96408" y="75563"/>
                </a:lnTo>
                <a:cubicBezTo>
                  <a:pt x="99274" y="75563"/>
                  <a:pt x="101619" y="73218"/>
                  <a:pt x="101619" y="70352"/>
                </a:cubicBezTo>
                <a:lnTo>
                  <a:pt x="101619" y="59929"/>
                </a:lnTo>
                <a:lnTo>
                  <a:pt x="112042" y="59929"/>
                </a:lnTo>
                <a:cubicBezTo>
                  <a:pt x="114908" y="59929"/>
                  <a:pt x="117253" y="57584"/>
                  <a:pt x="117253" y="54718"/>
                </a:cubicBezTo>
                <a:lnTo>
                  <a:pt x="117253" y="49507"/>
                </a:lnTo>
                <a:cubicBezTo>
                  <a:pt x="117253" y="46641"/>
                  <a:pt x="114908" y="44296"/>
                  <a:pt x="112042" y="44296"/>
                </a:cubicBezTo>
                <a:lnTo>
                  <a:pt x="101619" y="44296"/>
                </a:lnTo>
                <a:lnTo>
                  <a:pt x="101619" y="33873"/>
                </a:lnTo>
                <a:cubicBezTo>
                  <a:pt x="101619" y="31007"/>
                  <a:pt x="99274" y="28662"/>
                  <a:pt x="96408" y="28662"/>
                </a:cubicBezTo>
                <a:lnTo>
                  <a:pt x="91197" y="28662"/>
                </a:lnTo>
                <a:cubicBezTo>
                  <a:pt x="88331" y="28662"/>
                  <a:pt x="85986" y="31007"/>
                  <a:pt x="85986" y="3387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6322979" y="5716157"/>
            <a:ext cx="768948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业务系统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327611" y="5901446"/>
            <a:ext cx="759684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HIS/LIS/PACS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837352" y="5493811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181887" y="100823"/>
                </a:moveTo>
                <a:cubicBezTo>
                  <a:pt x="186411" y="96299"/>
                  <a:pt x="186411" y="88953"/>
                  <a:pt x="181887" y="84429"/>
                </a:cubicBezTo>
                <a:lnTo>
                  <a:pt x="123984" y="26527"/>
                </a:lnTo>
                <a:cubicBezTo>
                  <a:pt x="119461" y="22003"/>
                  <a:pt x="112114" y="22003"/>
                  <a:pt x="107591" y="26527"/>
                </a:cubicBezTo>
                <a:cubicBezTo>
                  <a:pt x="103067" y="31050"/>
                  <a:pt x="103067" y="38397"/>
                  <a:pt x="107591" y="42920"/>
                </a:cubicBezTo>
                <a:lnTo>
                  <a:pt x="145734" y="81064"/>
                </a:lnTo>
                <a:lnTo>
                  <a:pt x="11581" y="81064"/>
                </a:lnTo>
                <a:cubicBezTo>
                  <a:pt x="5175" y="81064"/>
                  <a:pt x="0" y="86239"/>
                  <a:pt x="0" y="92644"/>
                </a:cubicBezTo>
                <a:cubicBezTo>
                  <a:pt x="0" y="99050"/>
                  <a:pt x="5175" y="104225"/>
                  <a:pt x="11581" y="104225"/>
                </a:cubicBezTo>
                <a:lnTo>
                  <a:pt x="145734" y="104225"/>
                </a:lnTo>
                <a:lnTo>
                  <a:pt x="107591" y="142368"/>
                </a:lnTo>
                <a:cubicBezTo>
                  <a:pt x="103067" y="146892"/>
                  <a:pt x="103067" y="154238"/>
                  <a:pt x="107591" y="158762"/>
                </a:cubicBezTo>
                <a:cubicBezTo>
                  <a:pt x="112114" y="163286"/>
                  <a:pt x="119461" y="163286"/>
                  <a:pt x="123984" y="158762"/>
                </a:cubicBezTo>
                <a:lnTo>
                  <a:pt x="181887" y="100859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8817501" y="5123233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259404" y="0"/>
                </a:moveTo>
                <a:lnTo>
                  <a:pt x="259404" y="0"/>
                </a:lnTo>
                <a:cubicBezTo>
                  <a:pt x="402669" y="0"/>
                  <a:pt x="518809" y="116139"/>
                  <a:pt x="518809" y="259404"/>
                </a:cubicBezTo>
                <a:lnTo>
                  <a:pt x="518809" y="259404"/>
                </a:lnTo>
                <a:cubicBezTo>
                  <a:pt x="518809" y="402669"/>
                  <a:pt x="402669" y="518809"/>
                  <a:pt x="259404" y="518809"/>
                </a:cubicBezTo>
                <a:lnTo>
                  <a:pt x="259404" y="518809"/>
                </a:lnTo>
                <a:cubicBezTo>
                  <a:pt x="116139" y="518809"/>
                  <a:pt x="0" y="402669"/>
                  <a:pt x="0" y="259404"/>
                </a:cubicBezTo>
                <a:lnTo>
                  <a:pt x="0" y="259404"/>
                </a:lnTo>
                <a:cubicBezTo>
                  <a:pt x="0" y="116139"/>
                  <a:pt x="116139" y="0"/>
                  <a:pt x="259404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66"/>
          <p:cNvSpPr/>
          <p:nvPr/>
        </p:nvSpPr>
        <p:spPr>
          <a:xfrm>
            <a:off x="9006264" y="5299258"/>
            <a:ext cx="145915" cy="166760"/>
          </a:xfrm>
          <a:custGeom>
            <a:avLst/>
            <a:gdLst/>
            <a:ahLst/>
            <a:cxnLst/>
            <a:rect l="l" t="t" r="r" b="b"/>
            <a:pathLst>
              <a:path w="145915" h="166760">
                <a:moveTo>
                  <a:pt x="20845" y="10422"/>
                </a:moveTo>
                <a:cubicBezTo>
                  <a:pt x="9348" y="10422"/>
                  <a:pt x="0" y="19770"/>
                  <a:pt x="0" y="31267"/>
                </a:cubicBezTo>
                <a:lnTo>
                  <a:pt x="0" y="52112"/>
                </a:lnTo>
                <a:cubicBezTo>
                  <a:pt x="0" y="63610"/>
                  <a:pt x="9348" y="72957"/>
                  <a:pt x="20845" y="72957"/>
                </a:cubicBezTo>
                <a:lnTo>
                  <a:pt x="125070" y="72957"/>
                </a:lnTo>
                <a:cubicBezTo>
                  <a:pt x="136567" y="72957"/>
                  <a:pt x="145915" y="63610"/>
                  <a:pt x="145915" y="52112"/>
                </a:cubicBezTo>
                <a:lnTo>
                  <a:pt x="145915" y="31267"/>
                </a:lnTo>
                <a:cubicBezTo>
                  <a:pt x="145915" y="19770"/>
                  <a:pt x="136567" y="10422"/>
                  <a:pt x="125070" y="10422"/>
                </a:cubicBezTo>
                <a:lnTo>
                  <a:pt x="20845" y="10422"/>
                </a:lnTo>
                <a:close/>
                <a:moveTo>
                  <a:pt x="91197" y="33873"/>
                </a:moveTo>
                <a:cubicBezTo>
                  <a:pt x="95511" y="33873"/>
                  <a:pt x="99014" y="37376"/>
                  <a:pt x="99014" y="41690"/>
                </a:cubicBezTo>
                <a:cubicBezTo>
                  <a:pt x="99014" y="46004"/>
                  <a:pt x="95511" y="49507"/>
                  <a:pt x="91197" y="49507"/>
                </a:cubicBezTo>
                <a:cubicBezTo>
                  <a:pt x="86883" y="49507"/>
                  <a:pt x="83380" y="46004"/>
                  <a:pt x="83380" y="41690"/>
                </a:cubicBezTo>
                <a:cubicBezTo>
                  <a:pt x="83380" y="37376"/>
                  <a:pt x="86883" y="33873"/>
                  <a:pt x="91197" y="33873"/>
                </a:cubicBezTo>
                <a:close/>
                <a:moveTo>
                  <a:pt x="109436" y="41690"/>
                </a:moveTo>
                <a:cubicBezTo>
                  <a:pt x="109436" y="37376"/>
                  <a:pt x="112939" y="33873"/>
                  <a:pt x="117253" y="33873"/>
                </a:cubicBezTo>
                <a:cubicBezTo>
                  <a:pt x="121567" y="33873"/>
                  <a:pt x="125070" y="37376"/>
                  <a:pt x="125070" y="41690"/>
                </a:cubicBezTo>
                <a:cubicBezTo>
                  <a:pt x="125070" y="46004"/>
                  <a:pt x="121567" y="49507"/>
                  <a:pt x="117253" y="49507"/>
                </a:cubicBezTo>
                <a:cubicBezTo>
                  <a:pt x="112939" y="49507"/>
                  <a:pt x="109436" y="46004"/>
                  <a:pt x="109436" y="41690"/>
                </a:cubicBezTo>
                <a:close/>
                <a:moveTo>
                  <a:pt x="20845" y="93802"/>
                </a:moveTo>
                <a:cubicBezTo>
                  <a:pt x="9348" y="93802"/>
                  <a:pt x="0" y="103150"/>
                  <a:pt x="0" y="114647"/>
                </a:cubicBezTo>
                <a:lnTo>
                  <a:pt x="0" y="135492"/>
                </a:lnTo>
                <a:cubicBezTo>
                  <a:pt x="0" y="146990"/>
                  <a:pt x="9348" y="156337"/>
                  <a:pt x="20845" y="156337"/>
                </a:cubicBezTo>
                <a:lnTo>
                  <a:pt x="125070" y="156337"/>
                </a:lnTo>
                <a:cubicBezTo>
                  <a:pt x="136567" y="156337"/>
                  <a:pt x="145915" y="146990"/>
                  <a:pt x="145915" y="135492"/>
                </a:cubicBezTo>
                <a:lnTo>
                  <a:pt x="145915" y="114647"/>
                </a:lnTo>
                <a:cubicBezTo>
                  <a:pt x="145915" y="103150"/>
                  <a:pt x="136567" y="93802"/>
                  <a:pt x="125070" y="93802"/>
                </a:cubicBezTo>
                <a:lnTo>
                  <a:pt x="20845" y="93802"/>
                </a:lnTo>
                <a:close/>
                <a:moveTo>
                  <a:pt x="91197" y="117253"/>
                </a:moveTo>
                <a:cubicBezTo>
                  <a:pt x="95511" y="117253"/>
                  <a:pt x="99014" y="120756"/>
                  <a:pt x="99014" y="125070"/>
                </a:cubicBezTo>
                <a:cubicBezTo>
                  <a:pt x="99014" y="129384"/>
                  <a:pt x="95511" y="132887"/>
                  <a:pt x="91197" y="132887"/>
                </a:cubicBezTo>
                <a:cubicBezTo>
                  <a:pt x="86883" y="132887"/>
                  <a:pt x="83380" y="129384"/>
                  <a:pt x="83380" y="125070"/>
                </a:cubicBezTo>
                <a:cubicBezTo>
                  <a:pt x="83380" y="120756"/>
                  <a:pt x="86883" y="117253"/>
                  <a:pt x="91197" y="117253"/>
                </a:cubicBezTo>
                <a:close/>
                <a:moveTo>
                  <a:pt x="109436" y="125070"/>
                </a:moveTo>
                <a:cubicBezTo>
                  <a:pt x="109436" y="120756"/>
                  <a:pt x="112939" y="117253"/>
                  <a:pt x="117253" y="117253"/>
                </a:cubicBezTo>
                <a:cubicBezTo>
                  <a:pt x="121567" y="117253"/>
                  <a:pt x="125070" y="120756"/>
                  <a:pt x="125070" y="125070"/>
                </a:cubicBezTo>
                <a:cubicBezTo>
                  <a:pt x="125070" y="129384"/>
                  <a:pt x="121567" y="132887"/>
                  <a:pt x="117253" y="132887"/>
                </a:cubicBezTo>
                <a:cubicBezTo>
                  <a:pt x="112939" y="132887"/>
                  <a:pt x="109436" y="129384"/>
                  <a:pt x="109436" y="12507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8770527" y="5716157"/>
            <a:ext cx="611453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GMP平台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775159" y="5901446"/>
            <a:ext cx="602188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统一路由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10131169" y="5493811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181887" y="100823"/>
                </a:moveTo>
                <a:cubicBezTo>
                  <a:pt x="186411" y="96299"/>
                  <a:pt x="186411" y="88953"/>
                  <a:pt x="181887" y="84429"/>
                </a:cubicBezTo>
                <a:lnTo>
                  <a:pt x="123984" y="26527"/>
                </a:lnTo>
                <a:cubicBezTo>
                  <a:pt x="119461" y="22003"/>
                  <a:pt x="112114" y="22003"/>
                  <a:pt x="107591" y="26527"/>
                </a:cubicBezTo>
                <a:cubicBezTo>
                  <a:pt x="103067" y="31050"/>
                  <a:pt x="103067" y="38397"/>
                  <a:pt x="107591" y="42920"/>
                </a:cubicBezTo>
                <a:lnTo>
                  <a:pt x="145734" y="81064"/>
                </a:lnTo>
                <a:lnTo>
                  <a:pt x="11581" y="81064"/>
                </a:lnTo>
                <a:cubicBezTo>
                  <a:pt x="5175" y="81064"/>
                  <a:pt x="0" y="86239"/>
                  <a:pt x="0" y="92644"/>
                </a:cubicBezTo>
                <a:cubicBezTo>
                  <a:pt x="0" y="99050"/>
                  <a:pt x="5175" y="104225"/>
                  <a:pt x="11581" y="104225"/>
                </a:cubicBezTo>
                <a:lnTo>
                  <a:pt x="145734" y="104225"/>
                </a:lnTo>
                <a:lnTo>
                  <a:pt x="107591" y="142368"/>
                </a:lnTo>
                <a:cubicBezTo>
                  <a:pt x="103067" y="146892"/>
                  <a:pt x="103067" y="154238"/>
                  <a:pt x="107591" y="158762"/>
                </a:cubicBezTo>
                <a:cubicBezTo>
                  <a:pt x="112114" y="163286"/>
                  <a:pt x="119461" y="163286"/>
                  <a:pt x="123984" y="158762"/>
                </a:cubicBezTo>
                <a:lnTo>
                  <a:pt x="181887" y="100859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Shape 70"/>
          <p:cNvSpPr/>
          <p:nvPr/>
        </p:nvSpPr>
        <p:spPr>
          <a:xfrm>
            <a:off x="11096770" y="5123233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259404" y="0"/>
                </a:moveTo>
                <a:lnTo>
                  <a:pt x="259404" y="0"/>
                </a:lnTo>
                <a:cubicBezTo>
                  <a:pt x="402669" y="0"/>
                  <a:pt x="518809" y="116139"/>
                  <a:pt x="518809" y="259404"/>
                </a:cubicBezTo>
                <a:lnTo>
                  <a:pt x="518809" y="259404"/>
                </a:lnTo>
                <a:cubicBezTo>
                  <a:pt x="518809" y="402669"/>
                  <a:pt x="402669" y="518809"/>
                  <a:pt x="259404" y="518809"/>
                </a:cubicBezTo>
                <a:lnTo>
                  <a:pt x="259404" y="518809"/>
                </a:lnTo>
                <a:cubicBezTo>
                  <a:pt x="116139" y="518809"/>
                  <a:pt x="0" y="402669"/>
                  <a:pt x="0" y="259404"/>
                </a:cubicBezTo>
                <a:lnTo>
                  <a:pt x="0" y="259404"/>
                </a:lnTo>
                <a:cubicBezTo>
                  <a:pt x="0" y="116139"/>
                  <a:pt x="116139" y="0"/>
                  <a:pt x="259404" y="0"/>
                </a:cubicBezTo>
                <a:close/>
              </a:path>
            </a:pathLst>
          </a:custGeom>
          <a:solidFill>
            <a:srgbClr val="0A4F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Shape 71"/>
          <p:cNvSpPr/>
          <p:nvPr/>
        </p:nvSpPr>
        <p:spPr>
          <a:xfrm>
            <a:off x="11285533" y="5299258"/>
            <a:ext cx="145915" cy="166760"/>
          </a:xfrm>
          <a:custGeom>
            <a:avLst/>
            <a:gdLst/>
            <a:ahLst/>
            <a:cxnLst/>
            <a:rect l="l" t="t" r="r" b="b"/>
            <a:pathLst>
              <a:path w="145915" h="166760">
                <a:moveTo>
                  <a:pt x="72957" y="80774"/>
                </a:moveTo>
                <a:cubicBezTo>
                  <a:pt x="94529" y="80774"/>
                  <a:pt x="112042" y="63261"/>
                  <a:pt x="112042" y="41690"/>
                </a:cubicBezTo>
                <a:cubicBezTo>
                  <a:pt x="112042" y="20119"/>
                  <a:pt x="94529" y="2606"/>
                  <a:pt x="72957" y="2606"/>
                </a:cubicBezTo>
                <a:cubicBezTo>
                  <a:pt x="51386" y="2606"/>
                  <a:pt x="33873" y="20119"/>
                  <a:pt x="33873" y="41690"/>
                </a:cubicBezTo>
                <a:cubicBezTo>
                  <a:pt x="33873" y="63261"/>
                  <a:pt x="51386" y="80774"/>
                  <a:pt x="72957" y="80774"/>
                </a:cubicBezTo>
                <a:close/>
                <a:moveTo>
                  <a:pt x="63284" y="99014"/>
                </a:moveTo>
                <a:cubicBezTo>
                  <a:pt x="31202" y="99014"/>
                  <a:pt x="5211" y="125005"/>
                  <a:pt x="5211" y="157087"/>
                </a:cubicBezTo>
                <a:cubicBezTo>
                  <a:pt x="5211" y="162428"/>
                  <a:pt x="9543" y="166760"/>
                  <a:pt x="14885" y="166760"/>
                </a:cubicBezTo>
                <a:lnTo>
                  <a:pt x="131030" y="166760"/>
                </a:lnTo>
                <a:cubicBezTo>
                  <a:pt x="136372" y="166760"/>
                  <a:pt x="140704" y="162428"/>
                  <a:pt x="140704" y="157087"/>
                </a:cubicBezTo>
                <a:cubicBezTo>
                  <a:pt x="140704" y="125005"/>
                  <a:pt x="114713" y="99014"/>
                  <a:pt x="82631" y="99014"/>
                </a:cubicBezTo>
                <a:lnTo>
                  <a:pt x="63284" y="9901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/>
          <p:nvPr/>
        </p:nvSpPr>
        <p:spPr>
          <a:xfrm>
            <a:off x="11064344" y="5716157"/>
            <a:ext cx="583660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患者终端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1068976" y="5901446"/>
            <a:ext cx="574395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微信/短信</a:t>
            </a:r>
            <a:endParaRPr lang="en-US" sz="1600" dirty="0"/>
          </a:p>
        </p:txBody>
      </p:sp>
      <p:pic>
        <p:nvPicPr>
          <p:cNvPr id="76" name="图片 75" descr="图片包含 形状&#10;&#10;AI 生成的内容可能不正确。">
            <a:extLst>
              <a:ext uri="{FF2B5EF4-FFF2-40B4-BE49-F238E27FC236}">
                <a16:creationId xmlns:a16="http://schemas.microsoft.com/office/drawing/2014/main" id="{4E8F6467-7614-7E24-C2E1-D5B5E3C85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913" y="402336"/>
            <a:ext cx="1493087" cy="36360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CLINICAL COLLABORATION SCENARIOS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临床与业务协同场景：内部高效流转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81000" y="1428750"/>
            <a:ext cx="5619750" cy="4090988"/>
          </a:xfrm>
          <a:custGeom>
            <a:avLst/>
            <a:gdLst/>
            <a:ahLst/>
            <a:cxnLst/>
            <a:rect l="l" t="t" r="r" b="b"/>
            <a:pathLst>
              <a:path w="5619750" h="43434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4229082"/>
                </a:lnTo>
                <a:cubicBezTo>
                  <a:pt x="5619750" y="4292218"/>
                  <a:pt x="5568568" y="4343400"/>
                  <a:pt x="5505432" y="4343400"/>
                </a:cubicBezTo>
                <a:lnTo>
                  <a:pt x="114318" y="4343400"/>
                </a:lnTo>
                <a:cubicBezTo>
                  <a:pt x="51182" y="4343400"/>
                  <a:pt x="0" y="4292218"/>
                  <a:pt x="0" y="422908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81000" y="14287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4F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09600" y="1676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0A4F6B"/>
              </a:gs>
              <a:gs pos="100000">
                <a:srgbClr val="5A7D8C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62000" y="1828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295400" y="1695450"/>
            <a:ext cx="194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危急值与临床预警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5400" y="2000250"/>
            <a:ext cx="189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Critical Value Alert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362200"/>
            <a:ext cx="52387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当LIS（检验信息系统）或重症监护系统产生危急值时，GMP平台可</a:t>
            </a:r>
            <a:r>
              <a:rPr lang="en-US" sz="1200" dirty="0">
                <a:solidFill>
                  <a:srgbClr val="0A4F6B"/>
                </a:solidFill>
                <a:highlight>
                  <a:srgbClr val="4DB6AC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200" dirty="0" err="1">
                <a:solidFill>
                  <a:srgbClr val="0A4F6B"/>
                </a:solidFill>
                <a:highlight>
                  <a:srgbClr val="4DB6AC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瞬间通过短信</a:t>
            </a:r>
            <a:r>
              <a:rPr lang="en-US" sz="1200" dirty="0">
                <a:solidFill>
                  <a:srgbClr val="0A4F6B"/>
                </a:solidFill>
                <a:highlight>
                  <a:srgbClr val="4DB6AC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zh-CN" altLang="en-US" sz="1200" dirty="0">
                <a:solidFill>
                  <a:srgbClr val="0A4F6B"/>
                </a:solidFill>
                <a:highlight>
                  <a:srgbClr val="4DB6AC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语音通知等渠道 </a:t>
            </a:r>
            <a:r>
              <a:rPr lang="en-US" sz="1200" dirty="0" err="1">
                <a:solidFill>
                  <a:srgbClr val="0A4F6B"/>
                </a:solidFill>
                <a:highlight>
                  <a:srgbClr val="4DB6AC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将预警信息推送到主治医生与护士的终端</a:t>
            </a:r>
            <a:r>
              <a:rPr lang="en-US" sz="1200" dirty="0">
                <a:solidFill>
                  <a:srgbClr val="0A4F6B"/>
                </a:solidFill>
                <a:highlight>
                  <a:srgbClr val="4DB6AC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200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，确保医疗干预的及时性。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" y="3257550"/>
            <a:ext cx="5162550" cy="952500"/>
          </a:xfrm>
          <a:custGeom>
            <a:avLst/>
            <a:gdLst/>
            <a:ahLst/>
            <a:cxnLst/>
            <a:rect l="l" t="t" r="r" b="b"/>
            <a:pathLst>
              <a:path w="5162550" h="952500">
                <a:moveTo>
                  <a:pt x="76200" y="0"/>
                </a:moveTo>
                <a:lnTo>
                  <a:pt x="5086350" y="0"/>
                </a:lnTo>
                <a:cubicBezTo>
                  <a:pt x="5128406" y="0"/>
                  <a:pt x="5162550" y="34144"/>
                  <a:pt x="5162550" y="76200"/>
                </a:cubicBezTo>
                <a:lnTo>
                  <a:pt x="5162550" y="876300"/>
                </a:lnTo>
                <a:cubicBezTo>
                  <a:pt x="5162550" y="918356"/>
                  <a:pt x="5128406" y="952500"/>
                  <a:pt x="508635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62000" y="3409950"/>
            <a:ext cx="492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预警信息推送渠道：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714750"/>
            <a:ext cx="1543050" cy="342900"/>
          </a:xfrm>
          <a:custGeom>
            <a:avLst/>
            <a:gdLst/>
            <a:ahLst/>
            <a:cxnLst/>
            <a:rect l="l" t="t" r="r" b="b"/>
            <a:pathLst>
              <a:path w="1543050" h="342900">
                <a:moveTo>
                  <a:pt x="76199" y="0"/>
                </a:moveTo>
                <a:lnTo>
                  <a:pt x="1466851" y="0"/>
                </a:lnTo>
                <a:cubicBezTo>
                  <a:pt x="1508934" y="0"/>
                  <a:pt x="1543050" y="34116"/>
                  <a:pt x="1543050" y="76199"/>
                </a:cubicBezTo>
                <a:lnTo>
                  <a:pt x="1543050" y="266701"/>
                </a:lnTo>
                <a:cubicBezTo>
                  <a:pt x="1543050" y="308784"/>
                  <a:pt x="1508934" y="342900"/>
                  <a:pt x="14668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57250" y="3810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42875"/>
                </a:moveTo>
                <a:cubicBezTo>
                  <a:pt x="118289" y="142875"/>
                  <a:pt x="152400" y="110877"/>
                  <a:pt x="152400" y="71438"/>
                </a:cubicBezTo>
                <a:cubicBezTo>
                  <a:pt x="152400" y="31998"/>
                  <a:pt x="118289" y="0"/>
                  <a:pt x="76200" y="0"/>
                </a:cubicBezTo>
                <a:cubicBezTo>
                  <a:pt x="34111" y="0"/>
                  <a:pt x="0" y="31998"/>
                  <a:pt x="0" y="71438"/>
                </a:cubicBezTo>
                <a:cubicBezTo>
                  <a:pt x="0" y="87600"/>
                  <a:pt x="5715" y="102483"/>
                  <a:pt x="15359" y="114449"/>
                </a:cubicBezTo>
                <a:lnTo>
                  <a:pt x="833" y="141923"/>
                </a:lnTo>
                <a:cubicBezTo>
                  <a:pt x="-595" y="144601"/>
                  <a:pt x="-149" y="147876"/>
                  <a:pt x="1905" y="150108"/>
                </a:cubicBezTo>
                <a:cubicBezTo>
                  <a:pt x="3959" y="152340"/>
                  <a:pt x="7203" y="153025"/>
                  <a:pt x="9971" y="151834"/>
                </a:cubicBezTo>
                <a:lnTo>
                  <a:pt x="45214" y="136743"/>
                </a:lnTo>
                <a:cubicBezTo>
                  <a:pt x="54679" y="140672"/>
                  <a:pt x="65157" y="142875"/>
                  <a:pt x="76200" y="142875"/>
                </a:cubicBezTo>
                <a:close/>
                <a:moveTo>
                  <a:pt x="38100" y="61912"/>
                </a:moveTo>
                <a:cubicBezTo>
                  <a:pt x="43357" y="61912"/>
                  <a:pt x="47625" y="66181"/>
                  <a:pt x="47625" y="71438"/>
                </a:cubicBezTo>
                <a:cubicBezTo>
                  <a:pt x="47625" y="76694"/>
                  <a:pt x="43357" y="80962"/>
                  <a:pt x="38100" y="80962"/>
                </a:cubicBezTo>
                <a:cubicBezTo>
                  <a:pt x="32843" y="80962"/>
                  <a:pt x="28575" y="76694"/>
                  <a:pt x="28575" y="71438"/>
                </a:cubicBezTo>
                <a:cubicBezTo>
                  <a:pt x="28575" y="66181"/>
                  <a:pt x="32843" y="61912"/>
                  <a:pt x="38100" y="61912"/>
                </a:cubicBezTo>
                <a:close/>
                <a:moveTo>
                  <a:pt x="76200" y="61912"/>
                </a:moveTo>
                <a:cubicBezTo>
                  <a:pt x="81457" y="61912"/>
                  <a:pt x="85725" y="66181"/>
                  <a:pt x="85725" y="71438"/>
                </a:cubicBezTo>
                <a:cubicBezTo>
                  <a:pt x="85725" y="76694"/>
                  <a:pt x="81457" y="80962"/>
                  <a:pt x="76200" y="80962"/>
                </a:cubicBezTo>
                <a:cubicBezTo>
                  <a:pt x="70943" y="80962"/>
                  <a:pt x="66675" y="76694"/>
                  <a:pt x="66675" y="71438"/>
                </a:cubicBezTo>
                <a:cubicBezTo>
                  <a:pt x="66675" y="66181"/>
                  <a:pt x="70943" y="61912"/>
                  <a:pt x="76200" y="61912"/>
                </a:cubicBezTo>
                <a:close/>
                <a:moveTo>
                  <a:pt x="104775" y="71438"/>
                </a:moveTo>
                <a:cubicBezTo>
                  <a:pt x="104775" y="66181"/>
                  <a:pt x="109043" y="61912"/>
                  <a:pt x="114300" y="61912"/>
                </a:cubicBezTo>
                <a:cubicBezTo>
                  <a:pt x="119557" y="61912"/>
                  <a:pt x="123825" y="66181"/>
                  <a:pt x="123825" y="71438"/>
                </a:cubicBezTo>
                <a:cubicBezTo>
                  <a:pt x="123825" y="76694"/>
                  <a:pt x="119557" y="80962"/>
                  <a:pt x="114300" y="80962"/>
                </a:cubicBezTo>
                <a:cubicBezTo>
                  <a:pt x="109043" y="80962"/>
                  <a:pt x="104775" y="76694"/>
                  <a:pt x="104775" y="71438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104900" y="3790950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短信推送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419350" y="3714750"/>
            <a:ext cx="1543050" cy="342900"/>
          </a:xfrm>
          <a:custGeom>
            <a:avLst/>
            <a:gdLst/>
            <a:ahLst/>
            <a:cxnLst/>
            <a:rect l="l" t="t" r="r" b="b"/>
            <a:pathLst>
              <a:path w="1543050" h="342900">
                <a:moveTo>
                  <a:pt x="76199" y="0"/>
                </a:moveTo>
                <a:lnTo>
                  <a:pt x="1466851" y="0"/>
                </a:lnTo>
                <a:cubicBezTo>
                  <a:pt x="1508934" y="0"/>
                  <a:pt x="1543050" y="34116"/>
                  <a:pt x="1543050" y="76199"/>
                </a:cubicBezTo>
                <a:lnTo>
                  <a:pt x="1543050" y="266701"/>
                </a:lnTo>
                <a:cubicBezTo>
                  <a:pt x="1543050" y="308784"/>
                  <a:pt x="1508934" y="342900"/>
                  <a:pt x="14668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2505075" y="38100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657" y="49887"/>
                </a:moveTo>
                <a:cubicBezTo>
                  <a:pt x="116562" y="49887"/>
                  <a:pt x="118408" y="49976"/>
                  <a:pt x="120253" y="50215"/>
                </a:cubicBezTo>
                <a:cubicBezTo>
                  <a:pt x="115312" y="26878"/>
                  <a:pt x="90279" y="9525"/>
                  <a:pt x="61823" y="9525"/>
                </a:cubicBezTo>
                <a:cubicBezTo>
                  <a:pt x="29914" y="9525"/>
                  <a:pt x="3870" y="31194"/>
                  <a:pt x="3870" y="58757"/>
                </a:cubicBezTo>
                <a:cubicBezTo>
                  <a:pt x="3870" y="74652"/>
                  <a:pt x="12591" y="87779"/>
                  <a:pt x="27057" y="97929"/>
                </a:cubicBezTo>
                <a:lnTo>
                  <a:pt x="21312" y="115372"/>
                </a:lnTo>
                <a:lnTo>
                  <a:pt x="41553" y="105221"/>
                </a:lnTo>
                <a:cubicBezTo>
                  <a:pt x="48816" y="106650"/>
                  <a:pt x="54590" y="108109"/>
                  <a:pt x="61853" y="108109"/>
                </a:cubicBezTo>
                <a:cubicBezTo>
                  <a:pt x="63698" y="108109"/>
                  <a:pt x="65455" y="108019"/>
                  <a:pt x="67300" y="107871"/>
                </a:cubicBezTo>
                <a:cubicBezTo>
                  <a:pt x="66109" y="104031"/>
                  <a:pt x="65455" y="99953"/>
                  <a:pt x="65455" y="95726"/>
                </a:cubicBezTo>
                <a:cubicBezTo>
                  <a:pt x="65425" y="70455"/>
                  <a:pt x="87154" y="49887"/>
                  <a:pt x="114657" y="49887"/>
                </a:cubicBezTo>
                <a:close/>
                <a:moveTo>
                  <a:pt x="83552" y="34141"/>
                </a:moveTo>
                <a:cubicBezTo>
                  <a:pt x="87868" y="34141"/>
                  <a:pt x="90755" y="37028"/>
                  <a:pt x="90755" y="41404"/>
                </a:cubicBezTo>
                <a:cubicBezTo>
                  <a:pt x="90755" y="45720"/>
                  <a:pt x="87868" y="48607"/>
                  <a:pt x="83552" y="48607"/>
                </a:cubicBezTo>
                <a:cubicBezTo>
                  <a:pt x="79147" y="48607"/>
                  <a:pt x="74831" y="45720"/>
                  <a:pt x="74831" y="41404"/>
                </a:cubicBezTo>
                <a:cubicBezTo>
                  <a:pt x="74861" y="37028"/>
                  <a:pt x="79177" y="34141"/>
                  <a:pt x="83552" y="34141"/>
                </a:cubicBezTo>
                <a:close/>
                <a:moveTo>
                  <a:pt x="42952" y="48607"/>
                </a:moveTo>
                <a:cubicBezTo>
                  <a:pt x="38636" y="48607"/>
                  <a:pt x="34230" y="45720"/>
                  <a:pt x="34230" y="41404"/>
                </a:cubicBezTo>
                <a:cubicBezTo>
                  <a:pt x="34230" y="36999"/>
                  <a:pt x="38636" y="34141"/>
                  <a:pt x="42952" y="34141"/>
                </a:cubicBezTo>
                <a:cubicBezTo>
                  <a:pt x="47357" y="34141"/>
                  <a:pt x="50215" y="37028"/>
                  <a:pt x="50215" y="41404"/>
                </a:cubicBezTo>
                <a:cubicBezTo>
                  <a:pt x="50215" y="45750"/>
                  <a:pt x="47357" y="48607"/>
                  <a:pt x="42952" y="48607"/>
                </a:cubicBezTo>
                <a:close/>
                <a:moveTo>
                  <a:pt x="167580" y="95071"/>
                </a:moveTo>
                <a:cubicBezTo>
                  <a:pt x="167580" y="71884"/>
                  <a:pt x="144393" y="53013"/>
                  <a:pt x="118348" y="53013"/>
                </a:cubicBezTo>
                <a:cubicBezTo>
                  <a:pt x="90755" y="53013"/>
                  <a:pt x="69116" y="71884"/>
                  <a:pt x="69116" y="95071"/>
                </a:cubicBezTo>
                <a:cubicBezTo>
                  <a:pt x="69116" y="118259"/>
                  <a:pt x="90785" y="137130"/>
                  <a:pt x="118348" y="137130"/>
                </a:cubicBezTo>
                <a:cubicBezTo>
                  <a:pt x="124093" y="137130"/>
                  <a:pt x="129927" y="135612"/>
                  <a:pt x="135791" y="134183"/>
                </a:cubicBezTo>
                <a:lnTo>
                  <a:pt x="151686" y="142905"/>
                </a:lnTo>
                <a:lnTo>
                  <a:pt x="147280" y="128439"/>
                </a:lnTo>
                <a:cubicBezTo>
                  <a:pt x="158948" y="119688"/>
                  <a:pt x="167580" y="108109"/>
                  <a:pt x="167580" y="95071"/>
                </a:cubicBezTo>
                <a:close/>
                <a:moveTo>
                  <a:pt x="102364" y="87779"/>
                </a:moveTo>
                <a:cubicBezTo>
                  <a:pt x="99477" y="87779"/>
                  <a:pt x="96619" y="84892"/>
                  <a:pt x="96619" y="81945"/>
                </a:cubicBezTo>
                <a:cubicBezTo>
                  <a:pt x="96619" y="79057"/>
                  <a:pt x="99506" y="76200"/>
                  <a:pt x="102364" y="76200"/>
                </a:cubicBezTo>
                <a:cubicBezTo>
                  <a:pt x="106769" y="76200"/>
                  <a:pt x="109627" y="79087"/>
                  <a:pt x="109627" y="81945"/>
                </a:cubicBezTo>
                <a:cubicBezTo>
                  <a:pt x="109627" y="84921"/>
                  <a:pt x="106740" y="87779"/>
                  <a:pt x="102364" y="87779"/>
                </a:cubicBezTo>
                <a:close/>
                <a:moveTo>
                  <a:pt x="134243" y="87779"/>
                </a:moveTo>
                <a:cubicBezTo>
                  <a:pt x="131356" y="87779"/>
                  <a:pt x="128498" y="84892"/>
                  <a:pt x="128498" y="81945"/>
                </a:cubicBezTo>
                <a:cubicBezTo>
                  <a:pt x="128498" y="79057"/>
                  <a:pt x="131385" y="76200"/>
                  <a:pt x="134243" y="76200"/>
                </a:cubicBezTo>
                <a:cubicBezTo>
                  <a:pt x="138559" y="76200"/>
                  <a:pt x="141506" y="79087"/>
                  <a:pt x="141506" y="81945"/>
                </a:cubicBezTo>
                <a:cubicBezTo>
                  <a:pt x="141536" y="84921"/>
                  <a:pt x="138559" y="87779"/>
                  <a:pt x="134243" y="8777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2762250" y="3790950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企业微信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76700" y="3714750"/>
            <a:ext cx="1543050" cy="342900"/>
          </a:xfrm>
          <a:custGeom>
            <a:avLst/>
            <a:gdLst/>
            <a:ahLst/>
            <a:cxnLst/>
            <a:rect l="l" t="t" r="r" b="b"/>
            <a:pathLst>
              <a:path w="1543050" h="342900">
                <a:moveTo>
                  <a:pt x="76199" y="0"/>
                </a:moveTo>
                <a:lnTo>
                  <a:pt x="1466851" y="0"/>
                </a:lnTo>
                <a:cubicBezTo>
                  <a:pt x="1508934" y="0"/>
                  <a:pt x="1543050" y="34116"/>
                  <a:pt x="1543050" y="76199"/>
                </a:cubicBezTo>
                <a:lnTo>
                  <a:pt x="1543050" y="266701"/>
                </a:lnTo>
                <a:cubicBezTo>
                  <a:pt x="1543050" y="308784"/>
                  <a:pt x="1508934" y="342900"/>
                  <a:pt x="14668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191000" y="38100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4763" y="19050"/>
                </a:moveTo>
                <a:cubicBezTo>
                  <a:pt x="4763" y="8543"/>
                  <a:pt x="13305" y="0"/>
                  <a:pt x="23813" y="0"/>
                </a:cubicBezTo>
                <a:lnTo>
                  <a:pt x="90488" y="0"/>
                </a:lnTo>
                <a:cubicBezTo>
                  <a:pt x="100995" y="0"/>
                  <a:pt x="109537" y="8543"/>
                  <a:pt x="109537" y="19050"/>
                </a:cubicBezTo>
                <a:lnTo>
                  <a:pt x="109537" y="133350"/>
                </a:lnTo>
                <a:cubicBezTo>
                  <a:pt x="109537" y="143857"/>
                  <a:pt x="100995" y="152400"/>
                  <a:pt x="90488" y="152400"/>
                </a:cubicBezTo>
                <a:lnTo>
                  <a:pt x="23813" y="152400"/>
                </a:lnTo>
                <a:cubicBezTo>
                  <a:pt x="13305" y="152400"/>
                  <a:pt x="4763" y="143857"/>
                  <a:pt x="4763" y="133350"/>
                </a:cubicBezTo>
                <a:lnTo>
                  <a:pt x="4763" y="19050"/>
                </a:lnTo>
                <a:close/>
                <a:moveTo>
                  <a:pt x="23813" y="19050"/>
                </a:moveTo>
                <a:lnTo>
                  <a:pt x="23813" y="109537"/>
                </a:lnTo>
                <a:lnTo>
                  <a:pt x="90488" y="109537"/>
                </a:lnTo>
                <a:lnTo>
                  <a:pt x="90488" y="19050"/>
                </a:lnTo>
                <a:lnTo>
                  <a:pt x="23813" y="19050"/>
                </a:lnTo>
                <a:close/>
                <a:moveTo>
                  <a:pt x="57150" y="140494"/>
                </a:moveTo>
                <a:cubicBezTo>
                  <a:pt x="62419" y="140494"/>
                  <a:pt x="66675" y="136237"/>
                  <a:pt x="66675" y="130969"/>
                </a:cubicBezTo>
                <a:cubicBezTo>
                  <a:pt x="66675" y="125700"/>
                  <a:pt x="62419" y="121444"/>
                  <a:pt x="57150" y="121444"/>
                </a:cubicBezTo>
                <a:cubicBezTo>
                  <a:pt x="51881" y="121444"/>
                  <a:pt x="47625" y="125700"/>
                  <a:pt x="47625" y="130969"/>
                </a:cubicBezTo>
                <a:cubicBezTo>
                  <a:pt x="47625" y="136237"/>
                  <a:pt x="51881" y="140494"/>
                  <a:pt x="57150" y="140494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419600" y="379095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APP消息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9600" y="4362450"/>
            <a:ext cx="2505075" cy="723900"/>
          </a:xfrm>
          <a:custGeom>
            <a:avLst/>
            <a:gdLst/>
            <a:ahLst/>
            <a:cxnLst/>
            <a:rect l="l" t="t" r="r" b="b"/>
            <a:pathLst>
              <a:path w="2505075" h="723900">
                <a:moveTo>
                  <a:pt x="76198" y="0"/>
                </a:moveTo>
                <a:lnTo>
                  <a:pt x="2428877" y="0"/>
                </a:lnTo>
                <a:cubicBezTo>
                  <a:pt x="2470932" y="0"/>
                  <a:pt x="2505075" y="34143"/>
                  <a:pt x="2505075" y="76198"/>
                </a:cubicBezTo>
                <a:lnTo>
                  <a:pt x="2505075" y="647702"/>
                </a:lnTo>
                <a:cubicBezTo>
                  <a:pt x="2505075" y="689757"/>
                  <a:pt x="2470932" y="723900"/>
                  <a:pt x="24288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gradFill flip="none" rotWithShape="1">
            <a:gsLst>
              <a:gs pos="0">
                <a:srgbClr val="0A4F6B"/>
              </a:gs>
              <a:gs pos="100000">
                <a:srgbClr val="4DB6AC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66750" y="4476750"/>
            <a:ext cx="2390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&lt;3秒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0563" y="4781550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预警推送时效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67075" y="4362450"/>
            <a:ext cx="2505075" cy="723900"/>
          </a:xfrm>
          <a:custGeom>
            <a:avLst/>
            <a:gdLst/>
            <a:ahLst/>
            <a:cxnLst/>
            <a:rect l="l" t="t" r="r" b="b"/>
            <a:pathLst>
              <a:path w="2505075" h="723900">
                <a:moveTo>
                  <a:pt x="76198" y="0"/>
                </a:moveTo>
                <a:lnTo>
                  <a:pt x="2428877" y="0"/>
                </a:lnTo>
                <a:cubicBezTo>
                  <a:pt x="2470932" y="0"/>
                  <a:pt x="2505075" y="34143"/>
                  <a:pt x="2505075" y="76198"/>
                </a:cubicBezTo>
                <a:lnTo>
                  <a:pt x="2505075" y="647702"/>
                </a:lnTo>
                <a:cubicBezTo>
                  <a:pt x="2505075" y="689757"/>
                  <a:pt x="2470932" y="723900"/>
                  <a:pt x="24288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3324225" y="4476750"/>
            <a:ext cx="2390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24/7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48038" y="4781550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全天候监控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1250" y="1428750"/>
            <a:ext cx="5619750" cy="4090988"/>
          </a:xfrm>
          <a:custGeom>
            <a:avLst/>
            <a:gdLst/>
            <a:ahLst/>
            <a:cxnLst/>
            <a:rect l="l" t="t" r="r" b="b"/>
            <a:pathLst>
              <a:path w="5619750" h="43434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4229082"/>
                </a:lnTo>
                <a:cubicBezTo>
                  <a:pt x="5619750" y="4292218"/>
                  <a:pt x="5568568" y="4343400"/>
                  <a:pt x="5505432" y="4343400"/>
                </a:cubicBezTo>
                <a:lnTo>
                  <a:pt x="114318" y="4343400"/>
                </a:lnTo>
                <a:cubicBezTo>
                  <a:pt x="51182" y="4343400"/>
                  <a:pt x="0" y="4292218"/>
                  <a:pt x="0" y="422908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191250" y="14287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419850" y="1676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/>
              </a:gs>
              <a:gs pos="100000">
                <a:srgbClr val="0A4F6B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586538" y="18288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3572"/>
                </a:move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lose/>
                <a:moveTo>
                  <a:pt x="126802" y="143232"/>
                </a:moveTo>
                <a:cubicBezTo>
                  <a:pt x="124391" y="143009"/>
                  <a:pt x="121890" y="142875"/>
                  <a:pt x="119390" y="142875"/>
                </a:cubicBezTo>
                <a:lnTo>
                  <a:pt x="80590" y="142875"/>
                </a:lnTo>
                <a:cubicBezTo>
                  <a:pt x="78090" y="142875"/>
                  <a:pt x="75634" y="143009"/>
                  <a:pt x="73179" y="143232"/>
                </a:cubicBezTo>
                <a:lnTo>
                  <a:pt x="73179" y="173370"/>
                </a:lnTo>
                <a:cubicBezTo>
                  <a:pt x="80546" y="176763"/>
                  <a:pt x="85680" y="184219"/>
                  <a:pt x="85680" y="192837"/>
                </a:cubicBezTo>
                <a:cubicBezTo>
                  <a:pt x="85680" y="204668"/>
                  <a:pt x="76081" y="214268"/>
                  <a:pt x="64249" y="214268"/>
                </a:cubicBezTo>
                <a:cubicBezTo>
                  <a:pt x="52417" y="214268"/>
                  <a:pt x="42818" y="204668"/>
                  <a:pt x="42818" y="192837"/>
                </a:cubicBezTo>
                <a:cubicBezTo>
                  <a:pt x="42818" y="184175"/>
                  <a:pt x="47952" y="176719"/>
                  <a:pt x="55319" y="173370"/>
                </a:cubicBezTo>
                <a:lnTo>
                  <a:pt x="55319" y="147295"/>
                </a:lnTo>
                <a:cubicBezTo>
                  <a:pt x="27236" y="157609"/>
                  <a:pt x="7144" y="184666"/>
                  <a:pt x="7144" y="216366"/>
                </a:cubicBezTo>
                <a:cubicBezTo>
                  <a:pt x="7144" y="223108"/>
                  <a:pt x="12636" y="228600"/>
                  <a:pt x="19377" y="228600"/>
                </a:cubicBezTo>
                <a:lnTo>
                  <a:pt x="180603" y="228600"/>
                </a:lnTo>
                <a:cubicBezTo>
                  <a:pt x="187345" y="228600"/>
                  <a:pt x="192837" y="223108"/>
                  <a:pt x="192837" y="216366"/>
                </a:cubicBezTo>
                <a:cubicBezTo>
                  <a:pt x="192837" y="184666"/>
                  <a:pt x="172745" y="157654"/>
                  <a:pt x="144616" y="147340"/>
                </a:cubicBezTo>
                <a:lnTo>
                  <a:pt x="144616" y="164038"/>
                </a:lnTo>
                <a:cubicBezTo>
                  <a:pt x="155019" y="167700"/>
                  <a:pt x="162476" y="177656"/>
                  <a:pt x="162476" y="189309"/>
                </a:cubicBezTo>
                <a:lnTo>
                  <a:pt x="162476" y="203597"/>
                </a:lnTo>
                <a:cubicBezTo>
                  <a:pt x="162476" y="208508"/>
                  <a:pt x="158457" y="212527"/>
                  <a:pt x="153546" y="212527"/>
                </a:cubicBezTo>
                <a:cubicBezTo>
                  <a:pt x="148635" y="212527"/>
                  <a:pt x="144616" y="208508"/>
                  <a:pt x="144616" y="203597"/>
                </a:cubicBezTo>
                <a:lnTo>
                  <a:pt x="144616" y="189309"/>
                </a:lnTo>
                <a:cubicBezTo>
                  <a:pt x="144616" y="184398"/>
                  <a:pt x="140598" y="180380"/>
                  <a:pt x="135687" y="180380"/>
                </a:cubicBezTo>
                <a:cubicBezTo>
                  <a:pt x="130775" y="180380"/>
                  <a:pt x="126757" y="184398"/>
                  <a:pt x="126757" y="189309"/>
                </a:cubicBezTo>
                <a:lnTo>
                  <a:pt x="126757" y="203597"/>
                </a:lnTo>
                <a:cubicBezTo>
                  <a:pt x="126757" y="208508"/>
                  <a:pt x="122739" y="212527"/>
                  <a:pt x="117827" y="212527"/>
                </a:cubicBezTo>
                <a:cubicBezTo>
                  <a:pt x="112916" y="212527"/>
                  <a:pt x="108898" y="208508"/>
                  <a:pt x="108898" y="203597"/>
                </a:cubicBezTo>
                <a:lnTo>
                  <a:pt x="108898" y="189309"/>
                </a:lnTo>
                <a:cubicBezTo>
                  <a:pt x="108898" y="177656"/>
                  <a:pt x="116354" y="167744"/>
                  <a:pt x="126757" y="164038"/>
                </a:cubicBezTo>
                <a:lnTo>
                  <a:pt x="126757" y="14323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7105650" y="1695450"/>
            <a:ext cx="2276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会诊与手术通知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05650" y="2000250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Consultation &amp; Surgery Notification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19850" y="2362200"/>
            <a:ext cx="5238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医生工作站（CIS）和手术麻醉系统可通过GMP平台，向跨科室专家</a:t>
            </a:r>
            <a:r>
              <a:rPr lang="en-US" sz="1200" dirty="0">
                <a:solidFill>
                  <a:srgbClr val="0A4F6B"/>
                </a:solidFill>
                <a:highlight>
                  <a:srgbClr val="4DB6AC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自动发送远程会诊邀请、手术安排时间等协同信息 </a:t>
            </a:r>
            <a:r>
              <a:rPr lang="en-US" sz="1200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，提升医疗团队协作效率。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19850" y="3009900"/>
            <a:ext cx="5162550" cy="571500"/>
          </a:xfrm>
          <a:custGeom>
            <a:avLst/>
            <a:gdLst/>
            <a:ahLst/>
            <a:cxnLst/>
            <a:rect l="l" t="t" r="r" b="b"/>
            <a:pathLst>
              <a:path w="5162550" h="571500">
                <a:moveTo>
                  <a:pt x="76198" y="0"/>
                </a:moveTo>
                <a:lnTo>
                  <a:pt x="5086352" y="0"/>
                </a:lnTo>
                <a:cubicBezTo>
                  <a:pt x="5128435" y="0"/>
                  <a:pt x="5162550" y="34115"/>
                  <a:pt x="5162550" y="76198"/>
                </a:cubicBezTo>
                <a:lnTo>
                  <a:pt x="5162550" y="495302"/>
                </a:lnTo>
                <a:cubicBezTo>
                  <a:pt x="5162550" y="537385"/>
                  <a:pt x="5128435" y="571500"/>
                  <a:pt x="50863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534150" y="3124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A4F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613922" y="32099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334" y="12502"/>
                </a:moveTo>
                <a:cubicBezTo>
                  <a:pt x="8334" y="5600"/>
                  <a:pt x="13934" y="0"/>
                  <a:pt x="20836" y="0"/>
                </a:cubicBezTo>
                <a:lnTo>
                  <a:pt x="33337" y="0"/>
                </a:lnTo>
                <a:cubicBezTo>
                  <a:pt x="37947" y="0"/>
                  <a:pt x="41672" y="3724"/>
                  <a:pt x="41672" y="8334"/>
                </a:cubicBezTo>
                <a:cubicBezTo>
                  <a:pt x="41672" y="12944"/>
                  <a:pt x="37947" y="16669"/>
                  <a:pt x="33337" y="16669"/>
                </a:cubicBezTo>
                <a:lnTo>
                  <a:pt x="25003" y="16669"/>
                </a:lnTo>
                <a:lnTo>
                  <a:pt x="25003" y="50006"/>
                </a:lnTo>
                <a:cubicBezTo>
                  <a:pt x="25003" y="63810"/>
                  <a:pt x="36202" y="75009"/>
                  <a:pt x="50006" y="75009"/>
                </a:cubicBezTo>
                <a:cubicBezTo>
                  <a:pt x="63810" y="75009"/>
                  <a:pt x="75009" y="63810"/>
                  <a:pt x="75009" y="50006"/>
                </a:cubicBezTo>
                <a:lnTo>
                  <a:pt x="75009" y="16669"/>
                </a:lnTo>
                <a:lnTo>
                  <a:pt x="66675" y="16669"/>
                </a:lnTo>
                <a:cubicBezTo>
                  <a:pt x="62065" y="16669"/>
                  <a:pt x="58341" y="12944"/>
                  <a:pt x="58341" y="8334"/>
                </a:cubicBezTo>
                <a:cubicBezTo>
                  <a:pt x="58341" y="3724"/>
                  <a:pt x="62065" y="0"/>
                  <a:pt x="66675" y="0"/>
                </a:cubicBezTo>
                <a:lnTo>
                  <a:pt x="79177" y="0"/>
                </a:lnTo>
                <a:cubicBezTo>
                  <a:pt x="86078" y="0"/>
                  <a:pt x="91678" y="5600"/>
                  <a:pt x="91678" y="12502"/>
                </a:cubicBezTo>
                <a:lnTo>
                  <a:pt x="91678" y="50006"/>
                </a:lnTo>
                <a:cubicBezTo>
                  <a:pt x="91678" y="70165"/>
                  <a:pt x="77353" y="86990"/>
                  <a:pt x="58341" y="90845"/>
                </a:cubicBezTo>
                <a:lnTo>
                  <a:pt x="58341" y="95845"/>
                </a:lnTo>
                <a:cubicBezTo>
                  <a:pt x="58341" y="111967"/>
                  <a:pt x="71389" y="125016"/>
                  <a:pt x="87511" y="125016"/>
                </a:cubicBezTo>
                <a:cubicBezTo>
                  <a:pt x="103633" y="125016"/>
                  <a:pt x="116681" y="111967"/>
                  <a:pt x="116681" y="95845"/>
                </a:cubicBezTo>
                <a:lnTo>
                  <a:pt x="116681" y="73577"/>
                </a:lnTo>
                <a:cubicBezTo>
                  <a:pt x="106966" y="70139"/>
                  <a:pt x="100013" y="60893"/>
                  <a:pt x="100013" y="50006"/>
                </a:cubicBezTo>
                <a:cubicBezTo>
                  <a:pt x="100013" y="36202"/>
                  <a:pt x="111212" y="25003"/>
                  <a:pt x="125016" y="25003"/>
                </a:cubicBezTo>
                <a:cubicBezTo>
                  <a:pt x="138819" y="25003"/>
                  <a:pt x="150019" y="36202"/>
                  <a:pt x="150019" y="50006"/>
                </a:cubicBezTo>
                <a:cubicBezTo>
                  <a:pt x="150019" y="60893"/>
                  <a:pt x="143065" y="70165"/>
                  <a:pt x="133350" y="73577"/>
                </a:cubicBezTo>
                <a:lnTo>
                  <a:pt x="133350" y="95845"/>
                </a:lnTo>
                <a:cubicBezTo>
                  <a:pt x="133350" y="121161"/>
                  <a:pt x="112827" y="141684"/>
                  <a:pt x="87511" y="141684"/>
                </a:cubicBezTo>
                <a:cubicBezTo>
                  <a:pt x="62195" y="141684"/>
                  <a:pt x="41672" y="121161"/>
                  <a:pt x="41672" y="95845"/>
                </a:cubicBezTo>
                <a:lnTo>
                  <a:pt x="41672" y="90845"/>
                </a:lnTo>
                <a:cubicBezTo>
                  <a:pt x="22659" y="86990"/>
                  <a:pt x="8334" y="70165"/>
                  <a:pt x="8334" y="50006"/>
                </a:cubicBezTo>
                <a:lnTo>
                  <a:pt x="8334" y="12502"/>
                </a:lnTo>
                <a:close/>
                <a:moveTo>
                  <a:pt x="125016" y="58341"/>
                </a:moveTo>
                <a:cubicBezTo>
                  <a:pt x="129615" y="58341"/>
                  <a:pt x="133350" y="54606"/>
                  <a:pt x="133350" y="50006"/>
                </a:cubicBezTo>
                <a:cubicBezTo>
                  <a:pt x="133350" y="45406"/>
                  <a:pt x="129615" y="41672"/>
                  <a:pt x="125016" y="41672"/>
                </a:cubicBezTo>
                <a:cubicBezTo>
                  <a:pt x="120416" y="41672"/>
                  <a:pt x="116681" y="45406"/>
                  <a:pt x="116681" y="50006"/>
                </a:cubicBezTo>
                <a:cubicBezTo>
                  <a:pt x="116681" y="54606"/>
                  <a:pt x="120416" y="58341"/>
                  <a:pt x="125016" y="5834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953250" y="3124200"/>
            <a:ext cx="189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远程会诊邀请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53250" y="3314700"/>
            <a:ext cx="1885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自动推送会诊时间、地点、患者信息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19850" y="3695700"/>
            <a:ext cx="5162550" cy="571500"/>
          </a:xfrm>
          <a:custGeom>
            <a:avLst/>
            <a:gdLst/>
            <a:ahLst/>
            <a:cxnLst/>
            <a:rect l="l" t="t" r="r" b="b"/>
            <a:pathLst>
              <a:path w="5162550" h="571500">
                <a:moveTo>
                  <a:pt x="76198" y="0"/>
                </a:moveTo>
                <a:lnTo>
                  <a:pt x="5086352" y="0"/>
                </a:lnTo>
                <a:cubicBezTo>
                  <a:pt x="5128435" y="0"/>
                  <a:pt x="5162550" y="34115"/>
                  <a:pt x="5162550" y="76198"/>
                </a:cubicBezTo>
                <a:lnTo>
                  <a:pt x="5162550" y="495302"/>
                </a:lnTo>
                <a:cubicBezTo>
                  <a:pt x="5162550" y="537385"/>
                  <a:pt x="5128435" y="571500"/>
                  <a:pt x="50863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534150" y="381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6605588" y="389572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138351" y="-5834"/>
                </a:moveTo>
                <a:lnTo>
                  <a:pt x="148977" y="8334"/>
                </a:lnTo>
                <a:lnTo>
                  <a:pt x="160437" y="8334"/>
                </a:lnTo>
                <a:cubicBezTo>
                  <a:pt x="163901" y="8334"/>
                  <a:pt x="166688" y="11121"/>
                  <a:pt x="166688" y="14585"/>
                </a:cubicBezTo>
                <a:cubicBezTo>
                  <a:pt x="166688" y="18049"/>
                  <a:pt x="163901" y="20836"/>
                  <a:pt x="160437" y="20836"/>
                </a:cubicBezTo>
                <a:lnTo>
                  <a:pt x="145852" y="20836"/>
                </a:lnTo>
                <a:cubicBezTo>
                  <a:pt x="143872" y="20836"/>
                  <a:pt x="142023" y="19898"/>
                  <a:pt x="140851" y="18336"/>
                </a:cubicBezTo>
                <a:lnTo>
                  <a:pt x="134574" y="9975"/>
                </a:lnTo>
                <a:lnTo>
                  <a:pt x="122333" y="35994"/>
                </a:lnTo>
                <a:cubicBezTo>
                  <a:pt x="121369" y="38026"/>
                  <a:pt x="119390" y="39406"/>
                  <a:pt x="117150" y="39562"/>
                </a:cubicBezTo>
                <a:cubicBezTo>
                  <a:pt x="114910" y="39719"/>
                  <a:pt x="112748" y="38677"/>
                  <a:pt x="111498" y="36801"/>
                </a:cubicBezTo>
                <a:lnTo>
                  <a:pt x="100846" y="20836"/>
                </a:lnTo>
                <a:lnTo>
                  <a:pt x="89595" y="20836"/>
                </a:lnTo>
                <a:cubicBezTo>
                  <a:pt x="86131" y="20836"/>
                  <a:pt x="83344" y="18049"/>
                  <a:pt x="83344" y="14585"/>
                </a:cubicBezTo>
                <a:cubicBezTo>
                  <a:pt x="83344" y="11121"/>
                  <a:pt x="86131" y="8334"/>
                  <a:pt x="89595" y="8334"/>
                </a:cubicBezTo>
                <a:lnTo>
                  <a:pt x="104180" y="8334"/>
                </a:lnTo>
                <a:cubicBezTo>
                  <a:pt x="106263" y="8334"/>
                  <a:pt x="108217" y="9376"/>
                  <a:pt x="109389" y="11121"/>
                </a:cubicBezTo>
                <a:lnTo>
                  <a:pt x="115744" y="20654"/>
                </a:lnTo>
                <a:lnTo>
                  <a:pt x="127698" y="-4740"/>
                </a:lnTo>
                <a:cubicBezTo>
                  <a:pt x="128636" y="-6720"/>
                  <a:pt x="130537" y="-8074"/>
                  <a:pt x="132725" y="-8308"/>
                </a:cubicBezTo>
                <a:cubicBezTo>
                  <a:pt x="134913" y="-8543"/>
                  <a:pt x="137048" y="-7605"/>
                  <a:pt x="138351" y="-5834"/>
                </a:cubicBezTo>
                <a:close/>
                <a:moveTo>
                  <a:pt x="83344" y="41672"/>
                </a:moveTo>
                <a:cubicBezTo>
                  <a:pt x="83344" y="37062"/>
                  <a:pt x="87068" y="33337"/>
                  <a:pt x="91678" y="33337"/>
                </a:cubicBezTo>
                <a:lnTo>
                  <a:pt x="94152" y="33337"/>
                </a:lnTo>
                <a:lnTo>
                  <a:pt x="101080" y="43729"/>
                </a:lnTo>
                <a:cubicBezTo>
                  <a:pt x="104831" y="49355"/>
                  <a:pt x="111316" y="52533"/>
                  <a:pt x="118062" y="52038"/>
                </a:cubicBezTo>
                <a:cubicBezTo>
                  <a:pt x="124807" y="51543"/>
                  <a:pt x="130772" y="47454"/>
                  <a:pt x="133636" y="41333"/>
                </a:cubicBezTo>
                <a:lnTo>
                  <a:pt x="137257" y="33650"/>
                </a:lnTo>
                <a:cubicBezTo>
                  <a:pt x="149211" y="35525"/>
                  <a:pt x="158353" y="45865"/>
                  <a:pt x="158353" y="58341"/>
                </a:cubicBezTo>
                <a:lnTo>
                  <a:pt x="158353" y="116681"/>
                </a:lnTo>
                <a:cubicBezTo>
                  <a:pt x="158353" y="121291"/>
                  <a:pt x="154629" y="125016"/>
                  <a:pt x="150019" y="125016"/>
                </a:cubicBezTo>
                <a:cubicBezTo>
                  <a:pt x="145409" y="125016"/>
                  <a:pt x="141684" y="121291"/>
                  <a:pt x="141684" y="116681"/>
                </a:cubicBezTo>
                <a:lnTo>
                  <a:pt x="141684" y="100013"/>
                </a:lnTo>
                <a:lnTo>
                  <a:pt x="25003" y="100013"/>
                </a:lnTo>
                <a:lnTo>
                  <a:pt x="25003" y="116681"/>
                </a:lnTo>
                <a:cubicBezTo>
                  <a:pt x="25003" y="121291"/>
                  <a:pt x="21279" y="125016"/>
                  <a:pt x="16669" y="125016"/>
                </a:cubicBezTo>
                <a:cubicBezTo>
                  <a:pt x="12059" y="125016"/>
                  <a:pt x="8334" y="121291"/>
                  <a:pt x="8334" y="116681"/>
                </a:cubicBezTo>
                <a:lnTo>
                  <a:pt x="8334" y="16669"/>
                </a:lnTo>
                <a:cubicBezTo>
                  <a:pt x="8334" y="12059"/>
                  <a:pt x="12059" y="8334"/>
                  <a:pt x="16669" y="8334"/>
                </a:cubicBezTo>
                <a:cubicBezTo>
                  <a:pt x="21279" y="8334"/>
                  <a:pt x="25003" y="12059"/>
                  <a:pt x="25003" y="16669"/>
                </a:cubicBezTo>
                <a:lnTo>
                  <a:pt x="25003" y="75009"/>
                </a:lnTo>
                <a:lnTo>
                  <a:pt x="83344" y="75009"/>
                </a:lnTo>
                <a:lnTo>
                  <a:pt x="83344" y="41672"/>
                </a:lnTo>
                <a:close/>
                <a:moveTo>
                  <a:pt x="37505" y="50006"/>
                </a:moveTo>
                <a:cubicBezTo>
                  <a:pt x="37505" y="40807"/>
                  <a:pt x="44974" y="33337"/>
                  <a:pt x="54173" y="33337"/>
                </a:cubicBezTo>
                <a:cubicBezTo>
                  <a:pt x="63373" y="33337"/>
                  <a:pt x="70842" y="40807"/>
                  <a:pt x="70842" y="50006"/>
                </a:cubicBezTo>
                <a:cubicBezTo>
                  <a:pt x="70842" y="59206"/>
                  <a:pt x="63373" y="66675"/>
                  <a:pt x="54173" y="66675"/>
                </a:cubicBezTo>
                <a:cubicBezTo>
                  <a:pt x="44974" y="66675"/>
                  <a:pt x="37505" y="59206"/>
                  <a:pt x="37505" y="5000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953250" y="3810000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手术安排通知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53250" y="4000500"/>
            <a:ext cx="1657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术前提醒、术中协调、术后跟进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19850" y="4381500"/>
            <a:ext cx="5162550" cy="571500"/>
          </a:xfrm>
          <a:custGeom>
            <a:avLst/>
            <a:gdLst/>
            <a:ahLst/>
            <a:cxnLst/>
            <a:rect l="l" t="t" r="r" b="b"/>
            <a:pathLst>
              <a:path w="5162550" h="571500">
                <a:moveTo>
                  <a:pt x="76198" y="0"/>
                </a:moveTo>
                <a:lnTo>
                  <a:pt x="5086352" y="0"/>
                </a:lnTo>
                <a:cubicBezTo>
                  <a:pt x="5128435" y="0"/>
                  <a:pt x="5162550" y="34115"/>
                  <a:pt x="5162550" y="76198"/>
                </a:cubicBezTo>
                <a:lnTo>
                  <a:pt x="5162550" y="495302"/>
                </a:lnTo>
                <a:cubicBezTo>
                  <a:pt x="5162550" y="537385"/>
                  <a:pt x="5128435" y="571500"/>
                  <a:pt x="50863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6534150" y="4495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A4F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6605588" y="458152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6953250" y="4495800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多学科协作（MDT）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953250" y="4686300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复杂病例讨论、专家联合会诊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90525" y="5767388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428623"/>
                </a:lnTo>
                <a:cubicBezTo>
                  <a:pt x="11420475" y="491750"/>
                  <a:pt x="11369300" y="542925"/>
                  <a:pt x="113061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0A4F6B">
                  <a:alpha val="5000"/>
                </a:srgbClr>
              </a:gs>
              <a:gs pos="100000">
                <a:srgbClr val="4DB6AC">
                  <a:alpha val="5000"/>
                </a:srgbClr>
              </a:gs>
            </a:gsLst>
            <a:lin ang="0" scaled="1"/>
          </a:gradFill>
          <a:ln w="12700">
            <a:solidFill>
              <a:srgbClr val="4DB6A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595312" y="59436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900112" y="5924550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核心价值：</a:t>
            </a:r>
            <a:r>
              <a:rPr lang="en-US" sz="1200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通过即时消息推送，将临床响应时间从分钟级缩短至秒级，显著提升医疗安全水平和救治效率</a:t>
            </a:r>
            <a:endParaRPr lang="en-US" sz="1600" dirty="0"/>
          </a:p>
        </p:txBody>
      </p:sp>
      <p:pic>
        <p:nvPicPr>
          <p:cNvPr id="54" name="图片 53" descr="图片包含 形状&#10;&#10;AI 生成的内容可能不正确。">
            <a:extLst>
              <a:ext uri="{FF2B5EF4-FFF2-40B4-BE49-F238E27FC236}">
                <a16:creationId xmlns:a16="http://schemas.microsoft.com/office/drawing/2014/main" id="{409E94B5-02BE-0CDB-6102-9D4CEB962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913" y="402336"/>
            <a:ext cx="1493087" cy="36360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844" y="372844"/>
            <a:ext cx="11520881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kern="0" spc="59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OPERATIONS &amp; IT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2844" y="671119"/>
            <a:ext cx="11614092" cy="37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2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医院运营与IT管理场景：自动化预警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2844" y="1155817"/>
            <a:ext cx="745688" cy="37284"/>
          </a:xfrm>
          <a:custGeom>
            <a:avLst/>
            <a:gdLst/>
            <a:ahLst/>
            <a:cxnLst/>
            <a:rect l="l" t="t" r="r" b="b"/>
            <a:pathLst>
              <a:path w="745688" h="37284">
                <a:moveTo>
                  <a:pt x="0" y="0"/>
                </a:moveTo>
                <a:lnTo>
                  <a:pt x="745688" y="0"/>
                </a:lnTo>
                <a:lnTo>
                  <a:pt x="745688" y="37284"/>
                </a:lnTo>
                <a:lnTo>
                  <a:pt x="0" y="37284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91486" y="1379523"/>
            <a:ext cx="6739156" cy="3057321"/>
          </a:xfrm>
          <a:custGeom>
            <a:avLst/>
            <a:gdLst/>
            <a:ahLst/>
            <a:cxnLst/>
            <a:rect l="l" t="t" r="r" b="b"/>
            <a:pathLst>
              <a:path w="6739156" h="3057321">
                <a:moveTo>
                  <a:pt x="37284" y="0"/>
                </a:moveTo>
                <a:lnTo>
                  <a:pt x="6627289" y="0"/>
                </a:lnTo>
                <a:cubicBezTo>
                  <a:pt x="6689071" y="0"/>
                  <a:pt x="6739156" y="50085"/>
                  <a:pt x="6739156" y="111867"/>
                </a:cubicBezTo>
                <a:lnTo>
                  <a:pt x="6739156" y="2945454"/>
                </a:lnTo>
                <a:cubicBezTo>
                  <a:pt x="6739156" y="3007236"/>
                  <a:pt x="6689071" y="3057321"/>
                  <a:pt x="6627289" y="3057321"/>
                </a:cubicBezTo>
                <a:lnTo>
                  <a:pt x="37284" y="3057321"/>
                </a:lnTo>
                <a:cubicBezTo>
                  <a:pt x="16693" y="3057321"/>
                  <a:pt x="0" y="3040628"/>
                  <a:pt x="0" y="3020037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963" dist="932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91486" y="1379523"/>
            <a:ext cx="37284" cy="3057321"/>
          </a:xfrm>
          <a:custGeom>
            <a:avLst/>
            <a:gdLst/>
            <a:ahLst/>
            <a:cxnLst/>
            <a:rect l="l" t="t" r="r" b="b"/>
            <a:pathLst>
              <a:path w="37284" h="3057321">
                <a:moveTo>
                  <a:pt x="37284" y="0"/>
                </a:moveTo>
                <a:lnTo>
                  <a:pt x="37284" y="0"/>
                </a:lnTo>
                <a:lnTo>
                  <a:pt x="37284" y="3057321"/>
                </a:lnTo>
                <a:lnTo>
                  <a:pt x="37284" y="3057321"/>
                </a:lnTo>
                <a:cubicBezTo>
                  <a:pt x="16693" y="3057321"/>
                  <a:pt x="0" y="3040628"/>
                  <a:pt x="0" y="3020037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0A4F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96550" y="1565945"/>
            <a:ext cx="521982" cy="521982"/>
          </a:xfrm>
          <a:custGeom>
            <a:avLst/>
            <a:gdLst/>
            <a:ahLst/>
            <a:cxnLst/>
            <a:rect l="l" t="t" r="r" b="b"/>
            <a:pathLst>
              <a:path w="521982" h="521982">
                <a:moveTo>
                  <a:pt x="111855" y="0"/>
                </a:moveTo>
                <a:lnTo>
                  <a:pt x="410126" y="0"/>
                </a:lnTo>
                <a:cubicBezTo>
                  <a:pt x="471902" y="0"/>
                  <a:pt x="521982" y="50079"/>
                  <a:pt x="521982" y="111855"/>
                </a:cubicBezTo>
                <a:lnTo>
                  <a:pt x="521982" y="410126"/>
                </a:lnTo>
                <a:cubicBezTo>
                  <a:pt x="521982" y="471902"/>
                  <a:pt x="471902" y="521982"/>
                  <a:pt x="410126" y="521982"/>
                </a:cubicBezTo>
                <a:lnTo>
                  <a:pt x="111855" y="521982"/>
                </a:lnTo>
                <a:cubicBezTo>
                  <a:pt x="50079" y="521982"/>
                  <a:pt x="0" y="471902"/>
                  <a:pt x="0" y="410126"/>
                </a:cubicBezTo>
                <a:lnTo>
                  <a:pt x="0" y="111855"/>
                </a:lnTo>
                <a:cubicBezTo>
                  <a:pt x="0" y="50079"/>
                  <a:pt x="50079" y="0"/>
                  <a:pt x="111855" y="0"/>
                </a:cubicBezTo>
                <a:close/>
              </a:path>
            </a:pathLst>
          </a:custGeom>
          <a:gradFill flip="none" rotWithShape="1">
            <a:gsLst>
              <a:gs pos="0">
                <a:srgbClr val="0A4F6B"/>
              </a:gs>
              <a:gs pos="100000">
                <a:srgbClr val="5A7D8C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59670" y="1715083"/>
            <a:ext cx="195743" cy="223706"/>
          </a:xfrm>
          <a:custGeom>
            <a:avLst/>
            <a:gdLst/>
            <a:ahLst/>
            <a:cxnLst/>
            <a:rect l="l" t="t" r="r" b="b"/>
            <a:pathLst>
              <a:path w="195743" h="223706">
                <a:moveTo>
                  <a:pt x="27963" y="13982"/>
                </a:moveTo>
                <a:cubicBezTo>
                  <a:pt x="12540" y="13982"/>
                  <a:pt x="0" y="26521"/>
                  <a:pt x="0" y="41945"/>
                </a:cubicBezTo>
                <a:lnTo>
                  <a:pt x="0" y="69908"/>
                </a:lnTo>
                <a:cubicBezTo>
                  <a:pt x="0" y="85332"/>
                  <a:pt x="12540" y="97872"/>
                  <a:pt x="27963" y="97872"/>
                </a:cubicBezTo>
                <a:lnTo>
                  <a:pt x="167780" y="97872"/>
                </a:lnTo>
                <a:cubicBezTo>
                  <a:pt x="183203" y="97872"/>
                  <a:pt x="195743" y="85332"/>
                  <a:pt x="195743" y="69908"/>
                </a:cubicBezTo>
                <a:lnTo>
                  <a:pt x="195743" y="41945"/>
                </a:lnTo>
                <a:cubicBezTo>
                  <a:pt x="195743" y="26521"/>
                  <a:pt x="183203" y="13982"/>
                  <a:pt x="167780" y="13982"/>
                </a:cubicBezTo>
                <a:lnTo>
                  <a:pt x="27963" y="13982"/>
                </a:lnTo>
                <a:close/>
                <a:moveTo>
                  <a:pt x="122339" y="45440"/>
                </a:moveTo>
                <a:cubicBezTo>
                  <a:pt x="128127" y="45440"/>
                  <a:pt x="132826" y="50139"/>
                  <a:pt x="132826" y="55927"/>
                </a:cubicBezTo>
                <a:cubicBezTo>
                  <a:pt x="132826" y="61714"/>
                  <a:pt x="128127" y="66413"/>
                  <a:pt x="122339" y="66413"/>
                </a:cubicBezTo>
                <a:cubicBezTo>
                  <a:pt x="116552" y="66413"/>
                  <a:pt x="111853" y="61714"/>
                  <a:pt x="111853" y="55927"/>
                </a:cubicBezTo>
                <a:cubicBezTo>
                  <a:pt x="111853" y="50139"/>
                  <a:pt x="116552" y="45440"/>
                  <a:pt x="122339" y="45440"/>
                </a:cubicBezTo>
                <a:close/>
                <a:moveTo>
                  <a:pt x="146807" y="55927"/>
                </a:moveTo>
                <a:cubicBezTo>
                  <a:pt x="146807" y="50139"/>
                  <a:pt x="151506" y="45440"/>
                  <a:pt x="157294" y="45440"/>
                </a:cubicBezTo>
                <a:cubicBezTo>
                  <a:pt x="163081" y="45440"/>
                  <a:pt x="167780" y="50139"/>
                  <a:pt x="167780" y="55927"/>
                </a:cubicBezTo>
                <a:cubicBezTo>
                  <a:pt x="167780" y="61714"/>
                  <a:pt x="163081" y="66413"/>
                  <a:pt x="157294" y="66413"/>
                </a:cubicBezTo>
                <a:cubicBezTo>
                  <a:pt x="151506" y="66413"/>
                  <a:pt x="146807" y="61714"/>
                  <a:pt x="146807" y="55927"/>
                </a:cubicBezTo>
                <a:close/>
                <a:moveTo>
                  <a:pt x="27963" y="125835"/>
                </a:moveTo>
                <a:cubicBezTo>
                  <a:pt x="12540" y="125835"/>
                  <a:pt x="0" y="138375"/>
                  <a:pt x="0" y="153798"/>
                </a:cubicBezTo>
                <a:lnTo>
                  <a:pt x="0" y="181761"/>
                </a:lnTo>
                <a:cubicBezTo>
                  <a:pt x="0" y="197185"/>
                  <a:pt x="12540" y="209725"/>
                  <a:pt x="27963" y="209725"/>
                </a:cubicBezTo>
                <a:lnTo>
                  <a:pt x="167780" y="209725"/>
                </a:lnTo>
                <a:cubicBezTo>
                  <a:pt x="183203" y="209725"/>
                  <a:pt x="195743" y="197185"/>
                  <a:pt x="195743" y="181761"/>
                </a:cubicBezTo>
                <a:lnTo>
                  <a:pt x="195743" y="153798"/>
                </a:lnTo>
                <a:cubicBezTo>
                  <a:pt x="195743" y="138375"/>
                  <a:pt x="183203" y="125835"/>
                  <a:pt x="167780" y="125835"/>
                </a:cubicBezTo>
                <a:lnTo>
                  <a:pt x="27963" y="125835"/>
                </a:lnTo>
                <a:close/>
                <a:moveTo>
                  <a:pt x="122339" y="157294"/>
                </a:moveTo>
                <a:cubicBezTo>
                  <a:pt x="128127" y="157294"/>
                  <a:pt x="132826" y="161992"/>
                  <a:pt x="132826" y="167780"/>
                </a:cubicBezTo>
                <a:cubicBezTo>
                  <a:pt x="132826" y="173567"/>
                  <a:pt x="128127" y="178266"/>
                  <a:pt x="122339" y="178266"/>
                </a:cubicBezTo>
                <a:cubicBezTo>
                  <a:pt x="116552" y="178266"/>
                  <a:pt x="111853" y="173567"/>
                  <a:pt x="111853" y="167780"/>
                </a:cubicBezTo>
                <a:cubicBezTo>
                  <a:pt x="111853" y="161992"/>
                  <a:pt x="116552" y="157294"/>
                  <a:pt x="122339" y="157294"/>
                </a:cubicBezTo>
                <a:close/>
                <a:moveTo>
                  <a:pt x="146807" y="167780"/>
                </a:moveTo>
                <a:cubicBezTo>
                  <a:pt x="146807" y="161992"/>
                  <a:pt x="151506" y="157294"/>
                  <a:pt x="157294" y="157294"/>
                </a:cubicBezTo>
                <a:cubicBezTo>
                  <a:pt x="163081" y="157294"/>
                  <a:pt x="167780" y="161992"/>
                  <a:pt x="167780" y="167780"/>
                </a:cubicBezTo>
                <a:cubicBezTo>
                  <a:pt x="167780" y="173567"/>
                  <a:pt x="163081" y="178266"/>
                  <a:pt x="157294" y="178266"/>
                </a:cubicBezTo>
                <a:cubicBezTo>
                  <a:pt x="151506" y="178266"/>
                  <a:pt x="146807" y="173567"/>
                  <a:pt x="146807" y="16778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230385" y="1603229"/>
            <a:ext cx="1929468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IT系统与机房监控告警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0385" y="1864220"/>
            <a:ext cx="1901505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保障医院7×24小时连续服务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6550" y="2237064"/>
            <a:ext cx="6422239" cy="48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4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医院信息中心的服务器、网络设备出现异常时，GMP平台通过</a:t>
            </a:r>
            <a:r>
              <a:rPr lang="en-US" sz="1174" dirty="0">
                <a:solidFill>
                  <a:srgbClr val="0A4F6B"/>
                </a:solidFill>
                <a:highlight>
                  <a:srgbClr val="4DB6AC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邮件告警或短信通知运维人员 </a:t>
            </a:r>
            <a:r>
              <a:rPr lang="en-US" sz="1174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，实现故障的快速响应与处理。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6550" y="2870899"/>
            <a:ext cx="3122569" cy="633835"/>
          </a:xfrm>
          <a:custGeom>
            <a:avLst/>
            <a:gdLst/>
            <a:ahLst/>
            <a:cxnLst/>
            <a:rect l="l" t="t" r="r" b="b"/>
            <a:pathLst>
              <a:path w="3122569" h="633835">
                <a:moveTo>
                  <a:pt x="74571" y="0"/>
                </a:moveTo>
                <a:lnTo>
                  <a:pt x="3047998" y="0"/>
                </a:lnTo>
                <a:cubicBezTo>
                  <a:pt x="3089182" y="0"/>
                  <a:pt x="3122569" y="33386"/>
                  <a:pt x="3122569" y="74571"/>
                </a:cubicBezTo>
                <a:lnTo>
                  <a:pt x="3122569" y="559264"/>
                </a:lnTo>
                <a:cubicBezTo>
                  <a:pt x="3122569" y="600448"/>
                  <a:pt x="3089182" y="633835"/>
                  <a:pt x="3047998" y="633835"/>
                </a:cubicBezTo>
                <a:lnTo>
                  <a:pt x="74571" y="633835"/>
                </a:lnTo>
                <a:cubicBezTo>
                  <a:pt x="33386" y="633835"/>
                  <a:pt x="0" y="600448"/>
                  <a:pt x="0" y="559264"/>
                </a:cubicBezTo>
                <a:lnTo>
                  <a:pt x="0" y="74571"/>
                </a:lnTo>
                <a:cubicBezTo>
                  <a:pt x="0" y="33414"/>
                  <a:pt x="33414" y="0"/>
                  <a:pt x="74571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36367" y="3001394"/>
            <a:ext cx="130495" cy="149138"/>
          </a:xfrm>
          <a:custGeom>
            <a:avLst/>
            <a:gdLst/>
            <a:ahLst/>
            <a:cxnLst/>
            <a:rect l="l" t="t" r="r" b="b"/>
            <a:pathLst>
              <a:path w="130495" h="149138">
                <a:moveTo>
                  <a:pt x="18642" y="9321"/>
                </a:moveTo>
                <a:cubicBezTo>
                  <a:pt x="8360" y="9321"/>
                  <a:pt x="0" y="17681"/>
                  <a:pt x="0" y="27963"/>
                </a:cubicBezTo>
                <a:lnTo>
                  <a:pt x="0" y="75763"/>
                </a:lnTo>
                <a:cubicBezTo>
                  <a:pt x="5272" y="72064"/>
                  <a:pt x="11710" y="69908"/>
                  <a:pt x="18642" y="69908"/>
                </a:cubicBezTo>
                <a:lnTo>
                  <a:pt x="111853" y="69908"/>
                </a:lnTo>
                <a:cubicBezTo>
                  <a:pt x="118786" y="69908"/>
                  <a:pt x="125223" y="72064"/>
                  <a:pt x="130495" y="75763"/>
                </a:cubicBezTo>
                <a:lnTo>
                  <a:pt x="130495" y="27963"/>
                </a:lnTo>
                <a:cubicBezTo>
                  <a:pt x="130495" y="17681"/>
                  <a:pt x="122136" y="9321"/>
                  <a:pt x="111853" y="9321"/>
                </a:cubicBezTo>
                <a:lnTo>
                  <a:pt x="18642" y="9321"/>
                </a:lnTo>
                <a:close/>
                <a:moveTo>
                  <a:pt x="130495" y="102532"/>
                </a:moveTo>
                <a:cubicBezTo>
                  <a:pt x="130495" y="92250"/>
                  <a:pt x="122136" y="83890"/>
                  <a:pt x="111853" y="83890"/>
                </a:cubicBezTo>
                <a:lnTo>
                  <a:pt x="18642" y="83890"/>
                </a:lnTo>
                <a:cubicBezTo>
                  <a:pt x="8360" y="83890"/>
                  <a:pt x="0" y="92250"/>
                  <a:pt x="0" y="102532"/>
                </a:cubicBezTo>
                <a:lnTo>
                  <a:pt x="0" y="121174"/>
                </a:lnTo>
                <a:cubicBezTo>
                  <a:pt x="0" y="131457"/>
                  <a:pt x="8360" y="139817"/>
                  <a:pt x="18642" y="139817"/>
                </a:cubicBezTo>
                <a:lnTo>
                  <a:pt x="111853" y="139817"/>
                </a:lnTo>
                <a:cubicBezTo>
                  <a:pt x="122136" y="139817"/>
                  <a:pt x="130495" y="131457"/>
                  <a:pt x="130495" y="121174"/>
                </a:cubicBezTo>
                <a:lnTo>
                  <a:pt x="130495" y="102532"/>
                </a:lnTo>
                <a:close/>
                <a:moveTo>
                  <a:pt x="65248" y="111853"/>
                </a:moveTo>
                <a:cubicBezTo>
                  <a:pt x="65248" y="106709"/>
                  <a:pt x="69424" y="102532"/>
                  <a:pt x="74569" y="102532"/>
                </a:cubicBezTo>
                <a:cubicBezTo>
                  <a:pt x="79713" y="102532"/>
                  <a:pt x="83890" y="106709"/>
                  <a:pt x="83890" y="111853"/>
                </a:cubicBezTo>
                <a:cubicBezTo>
                  <a:pt x="83890" y="116998"/>
                  <a:pt x="79713" y="121174"/>
                  <a:pt x="74569" y="121174"/>
                </a:cubicBezTo>
                <a:cubicBezTo>
                  <a:pt x="69424" y="121174"/>
                  <a:pt x="65248" y="116998"/>
                  <a:pt x="65248" y="111853"/>
                </a:cubicBezTo>
                <a:close/>
                <a:moveTo>
                  <a:pt x="102532" y="102532"/>
                </a:moveTo>
                <a:cubicBezTo>
                  <a:pt x="107677" y="102532"/>
                  <a:pt x="111853" y="106709"/>
                  <a:pt x="111853" y="111853"/>
                </a:cubicBezTo>
                <a:cubicBezTo>
                  <a:pt x="111853" y="116998"/>
                  <a:pt x="107677" y="121174"/>
                  <a:pt x="102532" y="121174"/>
                </a:cubicBezTo>
                <a:cubicBezTo>
                  <a:pt x="97388" y="121174"/>
                  <a:pt x="93211" y="116998"/>
                  <a:pt x="93211" y="111853"/>
                </a:cubicBezTo>
                <a:cubicBezTo>
                  <a:pt x="93211" y="106709"/>
                  <a:pt x="97388" y="102532"/>
                  <a:pt x="102532" y="102532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69394" y="2982752"/>
            <a:ext cx="717725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服务器监控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404" y="3243743"/>
            <a:ext cx="2954789" cy="1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1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CPU/内存/磁盘使用率异常告警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26603" y="2870899"/>
            <a:ext cx="3122569" cy="633835"/>
          </a:xfrm>
          <a:custGeom>
            <a:avLst/>
            <a:gdLst/>
            <a:ahLst/>
            <a:cxnLst/>
            <a:rect l="l" t="t" r="r" b="b"/>
            <a:pathLst>
              <a:path w="3122569" h="633835">
                <a:moveTo>
                  <a:pt x="74571" y="0"/>
                </a:moveTo>
                <a:lnTo>
                  <a:pt x="3047998" y="0"/>
                </a:lnTo>
                <a:cubicBezTo>
                  <a:pt x="3089182" y="0"/>
                  <a:pt x="3122569" y="33386"/>
                  <a:pt x="3122569" y="74571"/>
                </a:cubicBezTo>
                <a:lnTo>
                  <a:pt x="3122569" y="559264"/>
                </a:lnTo>
                <a:cubicBezTo>
                  <a:pt x="3122569" y="600448"/>
                  <a:pt x="3089182" y="633835"/>
                  <a:pt x="3047998" y="633835"/>
                </a:cubicBezTo>
                <a:lnTo>
                  <a:pt x="74571" y="633835"/>
                </a:lnTo>
                <a:cubicBezTo>
                  <a:pt x="33386" y="633835"/>
                  <a:pt x="0" y="600448"/>
                  <a:pt x="0" y="559264"/>
                </a:cubicBezTo>
                <a:lnTo>
                  <a:pt x="0" y="74571"/>
                </a:lnTo>
                <a:cubicBezTo>
                  <a:pt x="0" y="33414"/>
                  <a:pt x="33414" y="0"/>
                  <a:pt x="74571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3947778" y="3001394"/>
            <a:ext cx="167780" cy="149138"/>
          </a:xfrm>
          <a:custGeom>
            <a:avLst/>
            <a:gdLst/>
            <a:ahLst/>
            <a:cxnLst/>
            <a:rect l="l" t="t" r="r" b="b"/>
            <a:pathLst>
              <a:path w="167780" h="149138">
                <a:moveTo>
                  <a:pt x="72239" y="25633"/>
                </a:moveTo>
                <a:lnTo>
                  <a:pt x="95541" y="25633"/>
                </a:lnTo>
                <a:lnTo>
                  <a:pt x="95541" y="39615"/>
                </a:lnTo>
                <a:lnTo>
                  <a:pt x="72239" y="39615"/>
                </a:lnTo>
                <a:lnTo>
                  <a:pt x="72239" y="25633"/>
                </a:lnTo>
                <a:close/>
                <a:moveTo>
                  <a:pt x="69908" y="9321"/>
                </a:moveTo>
                <a:cubicBezTo>
                  <a:pt x="62189" y="9321"/>
                  <a:pt x="55927" y="15584"/>
                  <a:pt x="55927" y="23303"/>
                </a:cubicBezTo>
                <a:lnTo>
                  <a:pt x="55927" y="41945"/>
                </a:lnTo>
                <a:cubicBezTo>
                  <a:pt x="55927" y="49664"/>
                  <a:pt x="62189" y="55927"/>
                  <a:pt x="69908" y="55927"/>
                </a:cubicBezTo>
                <a:lnTo>
                  <a:pt x="74569" y="55927"/>
                </a:lnTo>
                <a:lnTo>
                  <a:pt x="74569" y="65248"/>
                </a:lnTo>
                <a:lnTo>
                  <a:pt x="9321" y="65248"/>
                </a:lnTo>
                <a:cubicBezTo>
                  <a:pt x="4165" y="65248"/>
                  <a:pt x="0" y="69413"/>
                  <a:pt x="0" y="74569"/>
                </a:cubicBezTo>
                <a:cubicBezTo>
                  <a:pt x="0" y="79725"/>
                  <a:pt x="4165" y="83890"/>
                  <a:pt x="9321" y="83890"/>
                </a:cubicBezTo>
                <a:lnTo>
                  <a:pt x="37284" y="83890"/>
                </a:lnTo>
                <a:lnTo>
                  <a:pt x="37284" y="93211"/>
                </a:lnTo>
                <a:lnTo>
                  <a:pt x="32624" y="93211"/>
                </a:lnTo>
                <a:cubicBezTo>
                  <a:pt x="24905" y="93211"/>
                  <a:pt x="18642" y="99474"/>
                  <a:pt x="18642" y="107193"/>
                </a:cubicBezTo>
                <a:lnTo>
                  <a:pt x="18642" y="125835"/>
                </a:lnTo>
                <a:cubicBezTo>
                  <a:pt x="18642" y="133554"/>
                  <a:pt x="24905" y="139817"/>
                  <a:pt x="32624" y="139817"/>
                </a:cubicBezTo>
                <a:lnTo>
                  <a:pt x="60587" y="139817"/>
                </a:lnTo>
                <a:cubicBezTo>
                  <a:pt x="68306" y="139817"/>
                  <a:pt x="74569" y="133554"/>
                  <a:pt x="74569" y="125835"/>
                </a:cubicBezTo>
                <a:lnTo>
                  <a:pt x="74569" y="107193"/>
                </a:lnTo>
                <a:cubicBezTo>
                  <a:pt x="74569" y="99474"/>
                  <a:pt x="68306" y="93211"/>
                  <a:pt x="60587" y="93211"/>
                </a:cubicBezTo>
                <a:lnTo>
                  <a:pt x="55927" y="93211"/>
                </a:lnTo>
                <a:lnTo>
                  <a:pt x="55927" y="83890"/>
                </a:lnTo>
                <a:lnTo>
                  <a:pt x="111853" y="83890"/>
                </a:lnTo>
                <a:lnTo>
                  <a:pt x="111853" y="93211"/>
                </a:lnTo>
                <a:lnTo>
                  <a:pt x="107193" y="93211"/>
                </a:lnTo>
                <a:cubicBezTo>
                  <a:pt x="99474" y="93211"/>
                  <a:pt x="93211" y="99474"/>
                  <a:pt x="93211" y="107193"/>
                </a:cubicBezTo>
                <a:lnTo>
                  <a:pt x="93211" y="125835"/>
                </a:lnTo>
                <a:cubicBezTo>
                  <a:pt x="93211" y="133554"/>
                  <a:pt x="99474" y="139817"/>
                  <a:pt x="107193" y="139817"/>
                </a:cubicBezTo>
                <a:lnTo>
                  <a:pt x="135156" y="139817"/>
                </a:lnTo>
                <a:cubicBezTo>
                  <a:pt x="142875" y="139817"/>
                  <a:pt x="149138" y="133554"/>
                  <a:pt x="149138" y="125835"/>
                </a:cubicBezTo>
                <a:lnTo>
                  <a:pt x="149138" y="107193"/>
                </a:lnTo>
                <a:cubicBezTo>
                  <a:pt x="149138" y="99474"/>
                  <a:pt x="142875" y="93211"/>
                  <a:pt x="135156" y="93211"/>
                </a:cubicBezTo>
                <a:lnTo>
                  <a:pt x="130495" y="93211"/>
                </a:lnTo>
                <a:lnTo>
                  <a:pt x="130495" y="83890"/>
                </a:lnTo>
                <a:lnTo>
                  <a:pt x="158459" y="83890"/>
                </a:lnTo>
                <a:cubicBezTo>
                  <a:pt x="163614" y="83890"/>
                  <a:pt x="167780" y="79725"/>
                  <a:pt x="167780" y="74569"/>
                </a:cubicBezTo>
                <a:cubicBezTo>
                  <a:pt x="167780" y="69413"/>
                  <a:pt x="163614" y="65248"/>
                  <a:pt x="158459" y="65248"/>
                </a:cubicBezTo>
                <a:lnTo>
                  <a:pt x="93211" y="65248"/>
                </a:lnTo>
                <a:lnTo>
                  <a:pt x="93211" y="55927"/>
                </a:lnTo>
                <a:lnTo>
                  <a:pt x="97872" y="55927"/>
                </a:lnTo>
                <a:cubicBezTo>
                  <a:pt x="105591" y="55927"/>
                  <a:pt x="111853" y="49664"/>
                  <a:pt x="111853" y="41945"/>
                </a:cubicBezTo>
                <a:lnTo>
                  <a:pt x="111853" y="23303"/>
                </a:lnTo>
                <a:cubicBezTo>
                  <a:pt x="111853" y="15584"/>
                  <a:pt x="105591" y="9321"/>
                  <a:pt x="97872" y="9321"/>
                </a:cubicBezTo>
                <a:lnTo>
                  <a:pt x="69908" y="9321"/>
                </a:lnTo>
                <a:close/>
                <a:moveTo>
                  <a:pt x="130495" y="109523"/>
                </a:moveTo>
                <a:lnTo>
                  <a:pt x="132826" y="109523"/>
                </a:lnTo>
                <a:lnTo>
                  <a:pt x="132826" y="123505"/>
                </a:lnTo>
                <a:lnTo>
                  <a:pt x="109523" y="123505"/>
                </a:lnTo>
                <a:lnTo>
                  <a:pt x="109523" y="109523"/>
                </a:lnTo>
                <a:lnTo>
                  <a:pt x="130495" y="109523"/>
                </a:lnTo>
                <a:close/>
                <a:moveTo>
                  <a:pt x="55927" y="109523"/>
                </a:moveTo>
                <a:lnTo>
                  <a:pt x="58257" y="109523"/>
                </a:lnTo>
                <a:lnTo>
                  <a:pt x="58257" y="123505"/>
                </a:lnTo>
                <a:lnTo>
                  <a:pt x="34954" y="123505"/>
                </a:lnTo>
                <a:lnTo>
                  <a:pt x="34954" y="109523"/>
                </a:lnTo>
                <a:lnTo>
                  <a:pt x="55927" y="109523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199447" y="2982752"/>
            <a:ext cx="848220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网络设备监控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38456" y="3243743"/>
            <a:ext cx="2954789" cy="1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1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交换机/路由器/防火墙状态监测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6550" y="3616587"/>
            <a:ext cx="3122569" cy="633835"/>
          </a:xfrm>
          <a:custGeom>
            <a:avLst/>
            <a:gdLst/>
            <a:ahLst/>
            <a:cxnLst/>
            <a:rect l="l" t="t" r="r" b="b"/>
            <a:pathLst>
              <a:path w="3122569" h="633835">
                <a:moveTo>
                  <a:pt x="74571" y="0"/>
                </a:moveTo>
                <a:lnTo>
                  <a:pt x="3047998" y="0"/>
                </a:lnTo>
                <a:cubicBezTo>
                  <a:pt x="3089182" y="0"/>
                  <a:pt x="3122569" y="33386"/>
                  <a:pt x="3122569" y="74571"/>
                </a:cubicBezTo>
                <a:lnTo>
                  <a:pt x="3122569" y="559264"/>
                </a:lnTo>
                <a:cubicBezTo>
                  <a:pt x="3122569" y="600448"/>
                  <a:pt x="3089182" y="633835"/>
                  <a:pt x="3047998" y="633835"/>
                </a:cubicBezTo>
                <a:lnTo>
                  <a:pt x="74571" y="633835"/>
                </a:lnTo>
                <a:cubicBezTo>
                  <a:pt x="33386" y="633835"/>
                  <a:pt x="0" y="600448"/>
                  <a:pt x="0" y="559264"/>
                </a:cubicBezTo>
                <a:lnTo>
                  <a:pt x="0" y="74571"/>
                </a:lnTo>
                <a:cubicBezTo>
                  <a:pt x="0" y="33414"/>
                  <a:pt x="33414" y="0"/>
                  <a:pt x="74571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736367" y="3747083"/>
            <a:ext cx="130495" cy="149138"/>
          </a:xfrm>
          <a:custGeom>
            <a:avLst/>
            <a:gdLst/>
            <a:ahLst/>
            <a:cxnLst/>
            <a:rect l="l" t="t" r="r" b="b"/>
            <a:pathLst>
              <a:path w="130495" h="149138">
                <a:moveTo>
                  <a:pt x="130495" y="59946"/>
                </a:moveTo>
                <a:cubicBezTo>
                  <a:pt x="126184" y="62801"/>
                  <a:pt x="121233" y="65102"/>
                  <a:pt x="116077" y="66937"/>
                </a:cubicBezTo>
                <a:cubicBezTo>
                  <a:pt x="102386" y="71831"/>
                  <a:pt x="84414" y="74569"/>
                  <a:pt x="65248" y="74569"/>
                </a:cubicBezTo>
                <a:cubicBezTo>
                  <a:pt x="46081" y="74569"/>
                  <a:pt x="28080" y="71802"/>
                  <a:pt x="14419" y="66937"/>
                </a:cubicBezTo>
                <a:cubicBezTo>
                  <a:pt x="9292" y="65102"/>
                  <a:pt x="4311" y="62801"/>
                  <a:pt x="0" y="59946"/>
                </a:cubicBezTo>
                <a:lnTo>
                  <a:pt x="0" y="83890"/>
                </a:lnTo>
                <a:cubicBezTo>
                  <a:pt x="0" y="96765"/>
                  <a:pt x="29216" y="107193"/>
                  <a:pt x="65248" y="107193"/>
                </a:cubicBezTo>
                <a:cubicBezTo>
                  <a:pt x="101280" y="107193"/>
                  <a:pt x="130495" y="96765"/>
                  <a:pt x="130495" y="83890"/>
                </a:cubicBezTo>
                <a:lnTo>
                  <a:pt x="130495" y="59946"/>
                </a:lnTo>
                <a:close/>
                <a:moveTo>
                  <a:pt x="130495" y="37284"/>
                </a:moveTo>
                <a:lnTo>
                  <a:pt x="130495" y="23303"/>
                </a:lnTo>
                <a:cubicBezTo>
                  <a:pt x="130495" y="10428"/>
                  <a:pt x="101280" y="0"/>
                  <a:pt x="65248" y="0"/>
                </a:cubicBezTo>
                <a:cubicBezTo>
                  <a:pt x="29216" y="0"/>
                  <a:pt x="0" y="10428"/>
                  <a:pt x="0" y="23303"/>
                </a:cubicBezTo>
                <a:lnTo>
                  <a:pt x="0" y="37284"/>
                </a:lnTo>
                <a:cubicBezTo>
                  <a:pt x="0" y="50159"/>
                  <a:pt x="29216" y="60587"/>
                  <a:pt x="65248" y="60587"/>
                </a:cubicBezTo>
                <a:cubicBezTo>
                  <a:pt x="101280" y="60587"/>
                  <a:pt x="130495" y="50159"/>
                  <a:pt x="130495" y="37284"/>
                </a:cubicBezTo>
                <a:close/>
                <a:moveTo>
                  <a:pt x="116077" y="113543"/>
                </a:moveTo>
                <a:cubicBezTo>
                  <a:pt x="102416" y="118407"/>
                  <a:pt x="84443" y="121174"/>
                  <a:pt x="65248" y="121174"/>
                </a:cubicBezTo>
                <a:cubicBezTo>
                  <a:pt x="46052" y="121174"/>
                  <a:pt x="28080" y="118407"/>
                  <a:pt x="14419" y="113543"/>
                </a:cubicBezTo>
                <a:cubicBezTo>
                  <a:pt x="9292" y="111708"/>
                  <a:pt x="4311" y="109406"/>
                  <a:pt x="0" y="106552"/>
                </a:cubicBezTo>
                <a:lnTo>
                  <a:pt x="0" y="125835"/>
                </a:lnTo>
                <a:cubicBezTo>
                  <a:pt x="0" y="138710"/>
                  <a:pt x="29216" y="149138"/>
                  <a:pt x="65248" y="149138"/>
                </a:cubicBezTo>
                <a:cubicBezTo>
                  <a:pt x="101280" y="149138"/>
                  <a:pt x="130495" y="138710"/>
                  <a:pt x="130495" y="125835"/>
                </a:cubicBezTo>
                <a:lnTo>
                  <a:pt x="130495" y="106552"/>
                </a:lnTo>
                <a:cubicBezTo>
                  <a:pt x="126184" y="109406"/>
                  <a:pt x="121233" y="111708"/>
                  <a:pt x="116077" y="113543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69394" y="3728440"/>
            <a:ext cx="717725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数据库监控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8404" y="3989431"/>
            <a:ext cx="2954789" cy="1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1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连接数/慢查询/备份状态监控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26603" y="3616587"/>
            <a:ext cx="3122569" cy="633835"/>
          </a:xfrm>
          <a:custGeom>
            <a:avLst/>
            <a:gdLst/>
            <a:ahLst/>
            <a:cxnLst/>
            <a:rect l="l" t="t" r="r" b="b"/>
            <a:pathLst>
              <a:path w="3122569" h="633835">
                <a:moveTo>
                  <a:pt x="74571" y="0"/>
                </a:moveTo>
                <a:lnTo>
                  <a:pt x="3047998" y="0"/>
                </a:lnTo>
                <a:cubicBezTo>
                  <a:pt x="3089182" y="0"/>
                  <a:pt x="3122569" y="33386"/>
                  <a:pt x="3122569" y="74571"/>
                </a:cubicBezTo>
                <a:lnTo>
                  <a:pt x="3122569" y="559264"/>
                </a:lnTo>
                <a:cubicBezTo>
                  <a:pt x="3122569" y="600448"/>
                  <a:pt x="3089182" y="633835"/>
                  <a:pt x="3047998" y="633835"/>
                </a:cubicBezTo>
                <a:lnTo>
                  <a:pt x="74571" y="633835"/>
                </a:lnTo>
                <a:cubicBezTo>
                  <a:pt x="33386" y="633835"/>
                  <a:pt x="0" y="600448"/>
                  <a:pt x="0" y="559264"/>
                </a:cubicBezTo>
                <a:lnTo>
                  <a:pt x="0" y="74571"/>
                </a:lnTo>
                <a:cubicBezTo>
                  <a:pt x="0" y="33414"/>
                  <a:pt x="33414" y="0"/>
                  <a:pt x="74571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985062" y="3747083"/>
            <a:ext cx="93211" cy="149138"/>
          </a:xfrm>
          <a:custGeom>
            <a:avLst/>
            <a:gdLst/>
            <a:ahLst/>
            <a:cxnLst/>
            <a:rect l="l" t="t" r="r" b="b"/>
            <a:pathLst>
              <a:path w="93211" h="149138">
                <a:moveTo>
                  <a:pt x="46606" y="0"/>
                </a:moveTo>
                <a:cubicBezTo>
                  <a:pt x="31167" y="0"/>
                  <a:pt x="18642" y="12525"/>
                  <a:pt x="18642" y="27963"/>
                </a:cubicBezTo>
                <a:lnTo>
                  <a:pt x="18642" y="75938"/>
                </a:lnTo>
                <a:cubicBezTo>
                  <a:pt x="10049" y="83599"/>
                  <a:pt x="4661" y="94784"/>
                  <a:pt x="4661" y="107193"/>
                </a:cubicBezTo>
                <a:cubicBezTo>
                  <a:pt x="4661" y="130350"/>
                  <a:pt x="23448" y="149138"/>
                  <a:pt x="46606" y="149138"/>
                </a:cubicBezTo>
                <a:cubicBezTo>
                  <a:pt x="69763" y="149138"/>
                  <a:pt x="88550" y="130350"/>
                  <a:pt x="88550" y="107193"/>
                </a:cubicBezTo>
                <a:cubicBezTo>
                  <a:pt x="88550" y="94784"/>
                  <a:pt x="83162" y="83599"/>
                  <a:pt x="74569" y="75938"/>
                </a:cubicBezTo>
                <a:lnTo>
                  <a:pt x="74569" y="27963"/>
                </a:lnTo>
                <a:cubicBezTo>
                  <a:pt x="74569" y="12525"/>
                  <a:pt x="62044" y="0"/>
                  <a:pt x="46606" y="0"/>
                </a:cubicBezTo>
                <a:close/>
                <a:moveTo>
                  <a:pt x="65248" y="107193"/>
                </a:moveTo>
                <a:cubicBezTo>
                  <a:pt x="65248" y="117475"/>
                  <a:pt x="56888" y="125835"/>
                  <a:pt x="46606" y="125835"/>
                </a:cubicBezTo>
                <a:cubicBezTo>
                  <a:pt x="36323" y="125835"/>
                  <a:pt x="27963" y="117475"/>
                  <a:pt x="27963" y="107193"/>
                </a:cubicBezTo>
                <a:cubicBezTo>
                  <a:pt x="27963" y="99357"/>
                  <a:pt x="32769" y="92658"/>
                  <a:pt x="39615" y="89919"/>
                </a:cubicBezTo>
                <a:lnTo>
                  <a:pt x="39615" y="62917"/>
                </a:lnTo>
                <a:cubicBezTo>
                  <a:pt x="39615" y="59043"/>
                  <a:pt x="42731" y="55927"/>
                  <a:pt x="46606" y="55927"/>
                </a:cubicBezTo>
                <a:cubicBezTo>
                  <a:pt x="50480" y="55927"/>
                  <a:pt x="53596" y="59043"/>
                  <a:pt x="53596" y="62917"/>
                </a:cubicBezTo>
                <a:lnTo>
                  <a:pt x="53596" y="89919"/>
                </a:lnTo>
                <a:cubicBezTo>
                  <a:pt x="60442" y="92687"/>
                  <a:pt x="65248" y="99386"/>
                  <a:pt x="65248" y="107193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199447" y="3728440"/>
            <a:ext cx="848220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机房环境监控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938456" y="3989431"/>
            <a:ext cx="2954789" cy="1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1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温湿度/UPS/空调状态告警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91486" y="4585982"/>
            <a:ext cx="6739156" cy="1938789"/>
          </a:xfrm>
          <a:custGeom>
            <a:avLst/>
            <a:gdLst/>
            <a:ahLst/>
            <a:cxnLst/>
            <a:rect l="l" t="t" r="r" b="b"/>
            <a:pathLst>
              <a:path w="6739156" h="1938789">
                <a:moveTo>
                  <a:pt x="37284" y="0"/>
                </a:moveTo>
                <a:lnTo>
                  <a:pt x="6627307" y="0"/>
                </a:lnTo>
                <a:cubicBezTo>
                  <a:pt x="6689080" y="0"/>
                  <a:pt x="6739156" y="50076"/>
                  <a:pt x="6739156" y="111849"/>
                </a:cubicBezTo>
                <a:lnTo>
                  <a:pt x="6739156" y="1826940"/>
                </a:lnTo>
                <a:cubicBezTo>
                  <a:pt x="6739156" y="1888713"/>
                  <a:pt x="6689080" y="1938789"/>
                  <a:pt x="6627307" y="1938789"/>
                </a:cubicBezTo>
                <a:lnTo>
                  <a:pt x="37284" y="1938789"/>
                </a:lnTo>
                <a:cubicBezTo>
                  <a:pt x="16693" y="1938789"/>
                  <a:pt x="0" y="1922096"/>
                  <a:pt x="0" y="1901505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963" dist="932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391486" y="4585982"/>
            <a:ext cx="37284" cy="1938789"/>
          </a:xfrm>
          <a:custGeom>
            <a:avLst/>
            <a:gdLst/>
            <a:ahLst/>
            <a:cxnLst/>
            <a:rect l="l" t="t" r="r" b="b"/>
            <a:pathLst>
              <a:path w="37284" h="1938789">
                <a:moveTo>
                  <a:pt x="37284" y="0"/>
                </a:moveTo>
                <a:lnTo>
                  <a:pt x="37284" y="0"/>
                </a:lnTo>
                <a:lnTo>
                  <a:pt x="37284" y="1938789"/>
                </a:lnTo>
                <a:lnTo>
                  <a:pt x="37284" y="1938789"/>
                </a:lnTo>
                <a:cubicBezTo>
                  <a:pt x="16693" y="1938789"/>
                  <a:pt x="0" y="1922096"/>
                  <a:pt x="0" y="1901505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596550" y="4772404"/>
            <a:ext cx="521982" cy="521982"/>
          </a:xfrm>
          <a:custGeom>
            <a:avLst/>
            <a:gdLst/>
            <a:ahLst/>
            <a:cxnLst/>
            <a:rect l="l" t="t" r="r" b="b"/>
            <a:pathLst>
              <a:path w="521982" h="521982">
                <a:moveTo>
                  <a:pt x="111855" y="0"/>
                </a:moveTo>
                <a:lnTo>
                  <a:pt x="410126" y="0"/>
                </a:lnTo>
                <a:cubicBezTo>
                  <a:pt x="471902" y="0"/>
                  <a:pt x="521982" y="50079"/>
                  <a:pt x="521982" y="111855"/>
                </a:cubicBezTo>
                <a:lnTo>
                  <a:pt x="521982" y="410126"/>
                </a:lnTo>
                <a:cubicBezTo>
                  <a:pt x="521982" y="471902"/>
                  <a:pt x="471902" y="521982"/>
                  <a:pt x="410126" y="521982"/>
                </a:cubicBezTo>
                <a:lnTo>
                  <a:pt x="111855" y="521982"/>
                </a:lnTo>
                <a:cubicBezTo>
                  <a:pt x="50079" y="521982"/>
                  <a:pt x="0" y="471902"/>
                  <a:pt x="0" y="410126"/>
                </a:cubicBezTo>
                <a:lnTo>
                  <a:pt x="0" y="111855"/>
                </a:lnTo>
                <a:cubicBezTo>
                  <a:pt x="0" y="50079"/>
                  <a:pt x="50079" y="0"/>
                  <a:pt x="111855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/>
              </a:gs>
              <a:gs pos="100000">
                <a:srgbClr val="0A4F6B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745688" y="4921541"/>
            <a:ext cx="223706" cy="223706"/>
          </a:xfrm>
          <a:custGeom>
            <a:avLst/>
            <a:gdLst/>
            <a:ahLst/>
            <a:cxnLst/>
            <a:rect l="l" t="t" r="r" b="b"/>
            <a:pathLst>
              <a:path w="223706" h="223706">
                <a:moveTo>
                  <a:pt x="87385" y="20972"/>
                </a:moveTo>
                <a:lnTo>
                  <a:pt x="136321" y="20972"/>
                </a:lnTo>
                <a:cubicBezTo>
                  <a:pt x="138244" y="20972"/>
                  <a:pt x="139817" y="22545"/>
                  <a:pt x="139817" y="24468"/>
                </a:cubicBezTo>
                <a:lnTo>
                  <a:pt x="139817" y="41945"/>
                </a:lnTo>
                <a:lnTo>
                  <a:pt x="83890" y="41945"/>
                </a:lnTo>
                <a:lnTo>
                  <a:pt x="83890" y="24468"/>
                </a:lnTo>
                <a:cubicBezTo>
                  <a:pt x="83890" y="22545"/>
                  <a:pt x="85463" y="20972"/>
                  <a:pt x="87385" y="20972"/>
                </a:cubicBezTo>
                <a:close/>
                <a:moveTo>
                  <a:pt x="62917" y="24468"/>
                </a:moveTo>
                <a:lnTo>
                  <a:pt x="62917" y="41945"/>
                </a:lnTo>
                <a:lnTo>
                  <a:pt x="27963" y="41945"/>
                </a:lnTo>
                <a:cubicBezTo>
                  <a:pt x="12540" y="41945"/>
                  <a:pt x="0" y="54485"/>
                  <a:pt x="0" y="69908"/>
                </a:cubicBezTo>
                <a:lnTo>
                  <a:pt x="0" y="111853"/>
                </a:lnTo>
                <a:lnTo>
                  <a:pt x="223706" y="111853"/>
                </a:lnTo>
                <a:lnTo>
                  <a:pt x="223706" y="69908"/>
                </a:lnTo>
                <a:cubicBezTo>
                  <a:pt x="223706" y="54485"/>
                  <a:pt x="211167" y="41945"/>
                  <a:pt x="195743" y="41945"/>
                </a:cubicBezTo>
                <a:lnTo>
                  <a:pt x="160789" y="41945"/>
                </a:lnTo>
                <a:lnTo>
                  <a:pt x="160789" y="24468"/>
                </a:lnTo>
                <a:cubicBezTo>
                  <a:pt x="160789" y="10967"/>
                  <a:pt x="149822" y="0"/>
                  <a:pt x="136321" y="0"/>
                </a:cubicBezTo>
                <a:lnTo>
                  <a:pt x="87385" y="0"/>
                </a:lnTo>
                <a:cubicBezTo>
                  <a:pt x="73884" y="0"/>
                  <a:pt x="62917" y="10967"/>
                  <a:pt x="62917" y="24468"/>
                </a:cubicBezTo>
                <a:close/>
                <a:moveTo>
                  <a:pt x="223706" y="132826"/>
                </a:moveTo>
                <a:lnTo>
                  <a:pt x="139817" y="132826"/>
                </a:lnTo>
                <a:lnTo>
                  <a:pt x="139817" y="139817"/>
                </a:lnTo>
                <a:cubicBezTo>
                  <a:pt x="139817" y="147550"/>
                  <a:pt x="133568" y="153798"/>
                  <a:pt x="125835" y="153798"/>
                </a:cubicBezTo>
                <a:lnTo>
                  <a:pt x="97872" y="153798"/>
                </a:lnTo>
                <a:cubicBezTo>
                  <a:pt x="90138" y="153798"/>
                  <a:pt x="83890" y="147550"/>
                  <a:pt x="83890" y="139817"/>
                </a:cubicBezTo>
                <a:lnTo>
                  <a:pt x="83890" y="132826"/>
                </a:lnTo>
                <a:lnTo>
                  <a:pt x="0" y="132826"/>
                </a:lnTo>
                <a:lnTo>
                  <a:pt x="0" y="181761"/>
                </a:lnTo>
                <a:cubicBezTo>
                  <a:pt x="0" y="197185"/>
                  <a:pt x="12540" y="209725"/>
                  <a:pt x="27963" y="209725"/>
                </a:cubicBezTo>
                <a:lnTo>
                  <a:pt x="195743" y="209725"/>
                </a:lnTo>
                <a:cubicBezTo>
                  <a:pt x="211167" y="209725"/>
                  <a:pt x="223706" y="197185"/>
                  <a:pt x="223706" y="181761"/>
                </a:cubicBezTo>
                <a:lnTo>
                  <a:pt x="223706" y="13282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230385" y="4809688"/>
            <a:ext cx="1482055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行政OA办公流转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30385" y="5070679"/>
            <a:ext cx="1454092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提升行政管理效率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96550" y="5443523"/>
            <a:ext cx="6422239" cy="48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4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结合医院内部OA系统，实现</a:t>
            </a:r>
            <a:r>
              <a:rPr lang="en-US" sz="1174" dirty="0">
                <a:solidFill>
                  <a:srgbClr val="0A4F6B"/>
                </a:solidFill>
                <a:highlight>
                  <a:srgbClr val="4DB6AC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公文流转、排班通知、会议通知、薪资发放通知 </a:t>
            </a:r>
            <a:r>
              <a:rPr lang="en-US" sz="1174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等行政办公消息的高效下发。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96550" y="6077358"/>
            <a:ext cx="745688" cy="260991"/>
          </a:xfrm>
          <a:custGeom>
            <a:avLst/>
            <a:gdLst/>
            <a:ahLst/>
            <a:cxnLst/>
            <a:rect l="l" t="t" r="r" b="b"/>
            <a:pathLst>
              <a:path w="745688" h="260991">
                <a:moveTo>
                  <a:pt x="130495" y="0"/>
                </a:moveTo>
                <a:lnTo>
                  <a:pt x="615193" y="0"/>
                </a:lnTo>
                <a:cubicBezTo>
                  <a:pt x="687263" y="0"/>
                  <a:pt x="745688" y="58425"/>
                  <a:pt x="745688" y="130495"/>
                </a:cubicBezTo>
                <a:lnTo>
                  <a:pt x="745688" y="130495"/>
                </a:lnTo>
                <a:cubicBezTo>
                  <a:pt x="745688" y="202566"/>
                  <a:pt x="687263" y="260991"/>
                  <a:pt x="615193" y="260991"/>
                </a:cubicBezTo>
                <a:lnTo>
                  <a:pt x="130495" y="260991"/>
                </a:lnTo>
                <a:cubicBezTo>
                  <a:pt x="58473" y="260991"/>
                  <a:pt x="0" y="202518"/>
                  <a:pt x="0" y="130495"/>
                </a:cubicBezTo>
                <a:lnTo>
                  <a:pt x="0" y="130495"/>
                </a:lnTo>
                <a:cubicBezTo>
                  <a:pt x="0" y="58473"/>
                  <a:pt x="58473" y="0"/>
                  <a:pt x="130495" y="0"/>
                </a:cubicBezTo>
                <a:close/>
              </a:path>
            </a:pathLst>
          </a:custGeom>
          <a:solidFill>
            <a:srgbClr val="0A4F6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96550" y="6077358"/>
            <a:ext cx="810936" cy="260991"/>
          </a:xfrm>
          <a:prstGeom prst="rect">
            <a:avLst/>
          </a:prstGeom>
          <a:noFill/>
          <a:ln/>
        </p:spPr>
        <p:txBody>
          <a:bodyPr wrap="square" lIns="111853" tIns="37284" rIns="111853" bIns="37284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公文流转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416807" y="6077358"/>
            <a:ext cx="745688" cy="260991"/>
          </a:xfrm>
          <a:custGeom>
            <a:avLst/>
            <a:gdLst/>
            <a:ahLst/>
            <a:cxnLst/>
            <a:rect l="l" t="t" r="r" b="b"/>
            <a:pathLst>
              <a:path w="745688" h="260991">
                <a:moveTo>
                  <a:pt x="130495" y="0"/>
                </a:moveTo>
                <a:lnTo>
                  <a:pt x="615193" y="0"/>
                </a:lnTo>
                <a:cubicBezTo>
                  <a:pt x="687263" y="0"/>
                  <a:pt x="745688" y="58425"/>
                  <a:pt x="745688" y="130495"/>
                </a:cubicBezTo>
                <a:lnTo>
                  <a:pt x="745688" y="130495"/>
                </a:lnTo>
                <a:cubicBezTo>
                  <a:pt x="745688" y="202566"/>
                  <a:pt x="687263" y="260991"/>
                  <a:pt x="615193" y="260991"/>
                </a:cubicBezTo>
                <a:lnTo>
                  <a:pt x="130495" y="260991"/>
                </a:lnTo>
                <a:cubicBezTo>
                  <a:pt x="58473" y="260991"/>
                  <a:pt x="0" y="202518"/>
                  <a:pt x="0" y="130495"/>
                </a:cubicBezTo>
                <a:lnTo>
                  <a:pt x="0" y="130495"/>
                </a:lnTo>
                <a:cubicBezTo>
                  <a:pt x="0" y="58473"/>
                  <a:pt x="58473" y="0"/>
                  <a:pt x="130495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416807" y="6077358"/>
            <a:ext cx="810936" cy="260991"/>
          </a:xfrm>
          <a:prstGeom prst="rect">
            <a:avLst/>
          </a:prstGeom>
          <a:noFill/>
          <a:ln/>
        </p:spPr>
        <p:txBody>
          <a:bodyPr wrap="square" lIns="111853" tIns="37284" rIns="111853" bIns="37284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排班通知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237064" y="6077358"/>
            <a:ext cx="745688" cy="260991"/>
          </a:xfrm>
          <a:custGeom>
            <a:avLst/>
            <a:gdLst/>
            <a:ahLst/>
            <a:cxnLst/>
            <a:rect l="l" t="t" r="r" b="b"/>
            <a:pathLst>
              <a:path w="745688" h="260991">
                <a:moveTo>
                  <a:pt x="130495" y="0"/>
                </a:moveTo>
                <a:lnTo>
                  <a:pt x="615193" y="0"/>
                </a:lnTo>
                <a:cubicBezTo>
                  <a:pt x="687263" y="0"/>
                  <a:pt x="745688" y="58425"/>
                  <a:pt x="745688" y="130495"/>
                </a:cubicBezTo>
                <a:lnTo>
                  <a:pt x="745688" y="130495"/>
                </a:lnTo>
                <a:cubicBezTo>
                  <a:pt x="745688" y="202566"/>
                  <a:pt x="687263" y="260991"/>
                  <a:pt x="615193" y="260991"/>
                </a:cubicBezTo>
                <a:lnTo>
                  <a:pt x="130495" y="260991"/>
                </a:lnTo>
                <a:cubicBezTo>
                  <a:pt x="58473" y="260991"/>
                  <a:pt x="0" y="202518"/>
                  <a:pt x="0" y="130495"/>
                </a:cubicBezTo>
                <a:lnTo>
                  <a:pt x="0" y="130495"/>
                </a:lnTo>
                <a:cubicBezTo>
                  <a:pt x="0" y="58473"/>
                  <a:pt x="58473" y="0"/>
                  <a:pt x="130495" y="0"/>
                </a:cubicBezTo>
                <a:close/>
              </a:path>
            </a:pathLst>
          </a:custGeom>
          <a:solidFill>
            <a:srgbClr val="0A4F6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2237064" y="6077358"/>
            <a:ext cx="810936" cy="260991"/>
          </a:xfrm>
          <a:prstGeom prst="rect">
            <a:avLst/>
          </a:prstGeom>
          <a:noFill/>
          <a:ln/>
        </p:spPr>
        <p:txBody>
          <a:bodyPr wrap="square" lIns="111853" tIns="37284" rIns="111853" bIns="37284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会议通知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057321" y="6077358"/>
            <a:ext cx="745688" cy="260991"/>
          </a:xfrm>
          <a:custGeom>
            <a:avLst/>
            <a:gdLst/>
            <a:ahLst/>
            <a:cxnLst/>
            <a:rect l="l" t="t" r="r" b="b"/>
            <a:pathLst>
              <a:path w="745688" h="260991">
                <a:moveTo>
                  <a:pt x="130495" y="0"/>
                </a:moveTo>
                <a:lnTo>
                  <a:pt x="615193" y="0"/>
                </a:lnTo>
                <a:cubicBezTo>
                  <a:pt x="687263" y="0"/>
                  <a:pt x="745688" y="58425"/>
                  <a:pt x="745688" y="130495"/>
                </a:cubicBezTo>
                <a:lnTo>
                  <a:pt x="745688" y="130495"/>
                </a:lnTo>
                <a:cubicBezTo>
                  <a:pt x="745688" y="202566"/>
                  <a:pt x="687263" y="260991"/>
                  <a:pt x="615193" y="260991"/>
                </a:cubicBezTo>
                <a:lnTo>
                  <a:pt x="130495" y="260991"/>
                </a:lnTo>
                <a:cubicBezTo>
                  <a:pt x="58473" y="260991"/>
                  <a:pt x="0" y="202518"/>
                  <a:pt x="0" y="130495"/>
                </a:cubicBezTo>
                <a:lnTo>
                  <a:pt x="0" y="130495"/>
                </a:lnTo>
                <a:cubicBezTo>
                  <a:pt x="0" y="58473"/>
                  <a:pt x="58473" y="0"/>
                  <a:pt x="130495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3057321" y="6077358"/>
            <a:ext cx="810936" cy="260991"/>
          </a:xfrm>
          <a:prstGeom prst="rect">
            <a:avLst/>
          </a:prstGeom>
          <a:noFill/>
          <a:ln/>
        </p:spPr>
        <p:txBody>
          <a:bodyPr wrap="square" lIns="111853" tIns="37284" rIns="111853" bIns="37284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薪资通知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877578" y="6077358"/>
            <a:ext cx="745688" cy="260991"/>
          </a:xfrm>
          <a:custGeom>
            <a:avLst/>
            <a:gdLst/>
            <a:ahLst/>
            <a:cxnLst/>
            <a:rect l="l" t="t" r="r" b="b"/>
            <a:pathLst>
              <a:path w="745688" h="260991">
                <a:moveTo>
                  <a:pt x="130495" y="0"/>
                </a:moveTo>
                <a:lnTo>
                  <a:pt x="615193" y="0"/>
                </a:lnTo>
                <a:cubicBezTo>
                  <a:pt x="687263" y="0"/>
                  <a:pt x="745688" y="58425"/>
                  <a:pt x="745688" y="130495"/>
                </a:cubicBezTo>
                <a:lnTo>
                  <a:pt x="745688" y="130495"/>
                </a:lnTo>
                <a:cubicBezTo>
                  <a:pt x="745688" y="202566"/>
                  <a:pt x="687263" y="260991"/>
                  <a:pt x="615193" y="260991"/>
                </a:cubicBezTo>
                <a:lnTo>
                  <a:pt x="130495" y="260991"/>
                </a:lnTo>
                <a:cubicBezTo>
                  <a:pt x="58473" y="260991"/>
                  <a:pt x="0" y="202518"/>
                  <a:pt x="0" y="130495"/>
                </a:cubicBezTo>
                <a:lnTo>
                  <a:pt x="0" y="130495"/>
                </a:lnTo>
                <a:cubicBezTo>
                  <a:pt x="0" y="58473"/>
                  <a:pt x="58473" y="0"/>
                  <a:pt x="130495" y="0"/>
                </a:cubicBezTo>
                <a:close/>
              </a:path>
            </a:pathLst>
          </a:custGeom>
          <a:solidFill>
            <a:srgbClr val="0A4F6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3877578" y="6077358"/>
            <a:ext cx="810936" cy="260991"/>
          </a:xfrm>
          <a:prstGeom prst="rect">
            <a:avLst/>
          </a:prstGeom>
          <a:noFill/>
          <a:ln/>
        </p:spPr>
        <p:txBody>
          <a:bodyPr wrap="square" lIns="111853" tIns="37284" rIns="111853" bIns="37284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考勤提醒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697835" y="6077358"/>
            <a:ext cx="745688" cy="260991"/>
          </a:xfrm>
          <a:custGeom>
            <a:avLst/>
            <a:gdLst/>
            <a:ahLst/>
            <a:cxnLst/>
            <a:rect l="l" t="t" r="r" b="b"/>
            <a:pathLst>
              <a:path w="745688" h="260991">
                <a:moveTo>
                  <a:pt x="130495" y="0"/>
                </a:moveTo>
                <a:lnTo>
                  <a:pt x="615193" y="0"/>
                </a:lnTo>
                <a:cubicBezTo>
                  <a:pt x="687263" y="0"/>
                  <a:pt x="745688" y="58425"/>
                  <a:pt x="745688" y="130495"/>
                </a:cubicBezTo>
                <a:lnTo>
                  <a:pt x="745688" y="130495"/>
                </a:lnTo>
                <a:cubicBezTo>
                  <a:pt x="745688" y="202566"/>
                  <a:pt x="687263" y="260991"/>
                  <a:pt x="615193" y="260991"/>
                </a:cubicBezTo>
                <a:lnTo>
                  <a:pt x="130495" y="260991"/>
                </a:lnTo>
                <a:cubicBezTo>
                  <a:pt x="58473" y="260991"/>
                  <a:pt x="0" y="202518"/>
                  <a:pt x="0" y="130495"/>
                </a:cubicBezTo>
                <a:lnTo>
                  <a:pt x="0" y="130495"/>
                </a:lnTo>
                <a:cubicBezTo>
                  <a:pt x="0" y="58473"/>
                  <a:pt x="58473" y="0"/>
                  <a:pt x="130495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4697835" y="6077358"/>
            <a:ext cx="810936" cy="260991"/>
          </a:xfrm>
          <a:prstGeom prst="rect">
            <a:avLst/>
          </a:prstGeom>
          <a:noFill/>
          <a:ln/>
        </p:spPr>
        <p:txBody>
          <a:bodyPr wrap="square" lIns="111853" tIns="37284" rIns="111853" bIns="37284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审批提醒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317647" y="1379523"/>
            <a:ext cx="4502092" cy="2870899"/>
          </a:xfrm>
          <a:custGeom>
            <a:avLst/>
            <a:gdLst/>
            <a:ahLst/>
            <a:cxnLst/>
            <a:rect l="l" t="t" r="r" b="b"/>
            <a:pathLst>
              <a:path w="4502092" h="2870899">
                <a:moveTo>
                  <a:pt x="111850" y="0"/>
                </a:moveTo>
                <a:lnTo>
                  <a:pt x="4390242" y="0"/>
                </a:lnTo>
                <a:cubicBezTo>
                  <a:pt x="4452015" y="0"/>
                  <a:pt x="4502092" y="50077"/>
                  <a:pt x="4502092" y="111850"/>
                </a:cubicBezTo>
                <a:lnTo>
                  <a:pt x="4502092" y="2759049"/>
                </a:lnTo>
                <a:cubicBezTo>
                  <a:pt x="4502092" y="2820822"/>
                  <a:pt x="4452015" y="2870899"/>
                  <a:pt x="4390242" y="2870899"/>
                </a:cubicBezTo>
                <a:lnTo>
                  <a:pt x="111850" y="2870899"/>
                </a:lnTo>
                <a:cubicBezTo>
                  <a:pt x="50077" y="2870899"/>
                  <a:pt x="0" y="2820822"/>
                  <a:pt x="0" y="2759049"/>
                </a:cubicBezTo>
                <a:lnTo>
                  <a:pt x="0" y="111850"/>
                </a:lnTo>
                <a:cubicBezTo>
                  <a:pt x="0" y="50118"/>
                  <a:pt x="50118" y="0"/>
                  <a:pt x="1118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A4F6B"/>
              </a:gs>
              <a:gs pos="100000">
                <a:srgbClr val="5A7D8C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7527372" y="1612550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20972" y="20972"/>
                </a:moveTo>
                <a:cubicBezTo>
                  <a:pt x="20972" y="15172"/>
                  <a:pt x="16286" y="10486"/>
                  <a:pt x="10486" y="10486"/>
                </a:cubicBezTo>
                <a:cubicBezTo>
                  <a:pt x="4686" y="10486"/>
                  <a:pt x="0" y="15172"/>
                  <a:pt x="0" y="20972"/>
                </a:cubicBezTo>
                <a:lnTo>
                  <a:pt x="0" y="131078"/>
                </a:lnTo>
                <a:cubicBezTo>
                  <a:pt x="0" y="145562"/>
                  <a:pt x="11731" y="157294"/>
                  <a:pt x="26216" y="157294"/>
                </a:cubicBezTo>
                <a:lnTo>
                  <a:pt x="157294" y="157294"/>
                </a:lnTo>
                <a:cubicBezTo>
                  <a:pt x="163094" y="157294"/>
                  <a:pt x="167780" y="152608"/>
                  <a:pt x="167780" y="146807"/>
                </a:cubicBezTo>
                <a:cubicBezTo>
                  <a:pt x="167780" y="141007"/>
                  <a:pt x="163094" y="136321"/>
                  <a:pt x="157294" y="136321"/>
                </a:cubicBezTo>
                <a:lnTo>
                  <a:pt x="26216" y="136321"/>
                </a:lnTo>
                <a:cubicBezTo>
                  <a:pt x="23332" y="136321"/>
                  <a:pt x="20972" y="133962"/>
                  <a:pt x="20972" y="131078"/>
                </a:cubicBezTo>
                <a:lnTo>
                  <a:pt x="20972" y="20972"/>
                </a:lnTo>
                <a:close/>
                <a:moveTo>
                  <a:pt x="154213" y="49351"/>
                </a:moveTo>
                <a:cubicBezTo>
                  <a:pt x="158309" y="45255"/>
                  <a:pt x="158309" y="38602"/>
                  <a:pt x="154213" y="34506"/>
                </a:cubicBezTo>
                <a:cubicBezTo>
                  <a:pt x="150117" y="30410"/>
                  <a:pt x="143465" y="30410"/>
                  <a:pt x="139369" y="34506"/>
                </a:cubicBezTo>
                <a:lnTo>
                  <a:pt x="104862" y="69045"/>
                </a:lnTo>
                <a:lnTo>
                  <a:pt x="86053" y="50268"/>
                </a:lnTo>
                <a:cubicBezTo>
                  <a:pt x="81957" y="46172"/>
                  <a:pt x="75304" y="46172"/>
                  <a:pt x="71208" y="50268"/>
                </a:cubicBezTo>
                <a:lnTo>
                  <a:pt x="39749" y="81727"/>
                </a:lnTo>
                <a:cubicBezTo>
                  <a:pt x="35653" y="85823"/>
                  <a:pt x="35653" y="92476"/>
                  <a:pt x="39749" y="96572"/>
                </a:cubicBezTo>
                <a:cubicBezTo>
                  <a:pt x="43846" y="100668"/>
                  <a:pt x="50498" y="100668"/>
                  <a:pt x="54594" y="96572"/>
                </a:cubicBezTo>
                <a:lnTo>
                  <a:pt x="78647" y="72519"/>
                </a:lnTo>
                <a:lnTo>
                  <a:pt x="97456" y="91329"/>
                </a:lnTo>
                <a:cubicBezTo>
                  <a:pt x="101553" y="95425"/>
                  <a:pt x="108205" y="95425"/>
                  <a:pt x="112301" y="91329"/>
                </a:cubicBezTo>
                <a:lnTo>
                  <a:pt x="154246" y="49384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7718454" y="1565945"/>
            <a:ext cx="3998752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运维效率提升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504069" y="1976073"/>
            <a:ext cx="4129248" cy="596550"/>
          </a:xfrm>
          <a:custGeom>
            <a:avLst/>
            <a:gdLst/>
            <a:ahLst/>
            <a:cxnLst/>
            <a:rect l="l" t="t" r="r" b="b"/>
            <a:pathLst>
              <a:path w="4129248" h="596550">
                <a:moveTo>
                  <a:pt x="74569" y="0"/>
                </a:moveTo>
                <a:lnTo>
                  <a:pt x="4054679" y="0"/>
                </a:lnTo>
                <a:cubicBezTo>
                  <a:pt x="4095862" y="0"/>
                  <a:pt x="4129248" y="33386"/>
                  <a:pt x="4129248" y="74569"/>
                </a:cubicBezTo>
                <a:lnTo>
                  <a:pt x="4129248" y="521982"/>
                </a:lnTo>
                <a:cubicBezTo>
                  <a:pt x="4129248" y="563165"/>
                  <a:pt x="4095862" y="596550"/>
                  <a:pt x="4054679" y="596550"/>
                </a:cubicBezTo>
                <a:lnTo>
                  <a:pt x="74569" y="596550"/>
                </a:lnTo>
                <a:cubicBezTo>
                  <a:pt x="33386" y="596550"/>
                  <a:pt x="0" y="563165"/>
                  <a:pt x="0" y="521982"/>
                </a:cubicBezTo>
                <a:lnTo>
                  <a:pt x="0" y="74569"/>
                </a:lnTo>
                <a:cubicBezTo>
                  <a:pt x="0" y="33386"/>
                  <a:pt x="33386" y="0"/>
                  <a:pt x="7456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7615922" y="2106569"/>
            <a:ext cx="848220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故障响应时间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917922" y="2087927"/>
            <a:ext cx="680440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缩短80%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615922" y="2386202"/>
            <a:ext cx="3905541" cy="74569"/>
          </a:xfrm>
          <a:custGeom>
            <a:avLst/>
            <a:gdLst/>
            <a:ahLst/>
            <a:cxnLst/>
            <a:rect l="l" t="t" r="r" b="b"/>
            <a:pathLst>
              <a:path w="3905541" h="74569">
                <a:moveTo>
                  <a:pt x="37284" y="0"/>
                </a:moveTo>
                <a:lnTo>
                  <a:pt x="3868257" y="0"/>
                </a:lnTo>
                <a:cubicBezTo>
                  <a:pt x="3888848" y="0"/>
                  <a:pt x="3905541" y="16693"/>
                  <a:pt x="3905541" y="37284"/>
                </a:cubicBezTo>
                <a:lnTo>
                  <a:pt x="3905541" y="37284"/>
                </a:lnTo>
                <a:cubicBezTo>
                  <a:pt x="3905541" y="57876"/>
                  <a:pt x="3888848" y="74569"/>
                  <a:pt x="3868257" y="74569"/>
                </a:cubicBezTo>
                <a:lnTo>
                  <a:pt x="37284" y="74569"/>
                </a:lnTo>
                <a:cubicBezTo>
                  <a:pt x="16693" y="74569"/>
                  <a:pt x="0" y="57876"/>
                  <a:pt x="0" y="37284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7615922" y="2386202"/>
            <a:ext cx="3131890" cy="74569"/>
          </a:xfrm>
          <a:custGeom>
            <a:avLst/>
            <a:gdLst/>
            <a:ahLst/>
            <a:cxnLst/>
            <a:rect l="l" t="t" r="r" b="b"/>
            <a:pathLst>
              <a:path w="3131890" h="74569">
                <a:moveTo>
                  <a:pt x="37284" y="0"/>
                </a:moveTo>
                <a:lnTo>
                  <a:pt x="3094606" y="0"/>
                </a:lnTo>
                <a:cubicBezTo>
                  <a:pt x="3115197" y="0"/>
                  <a:pt x="3131890" y="16693"/>
                  <a:pt x="3131890" y="37284"/>
                </a:cubicBezTo>
                <a:lnTo>
                  <a:pt x="3131890" y="37284"/>
                </a:lnTo>
                <a:cubicBezTo>
                  <a:pt x="3131890" y="57876"/>
                  <a:pt x="3115197" y="74569"/>
                  <a:pt x="3094606" y="74569"/>
                </a:cubicBezTo>
                <a:lnTo>
                  <a:pt x="37284" y="74569"/>
                </a:lnTo>
                <a:cubicBezTo>
                  <a:pt x="16693" y="74569"/>
                  <a:pt x="0" y="57876"/>
                  <a:pt x="0" y="37284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7504069" y="2721761"/>
            <a:ext cx="4129248" cy="596550"/>
          </a:xfrm>
          <a:custGeom>
            <a:avLst/>
            <a:gdLst/>
            <a:ahLst/>
            <a:cxnLst/>
            <a:rect l="l" t="t" r="r" b="b"/>
            <a:pathLst>
              <a:path w="4129248" h="596550">
                <a:moveTo>
                  <a:pt x="74569" y="0"/>
                </a:moveTo>
                <a:lnTo>
                  <a:pt x="4054679" y="0"/>
                </a:lnTo>
                <a:cubicBezTo>
                  <a:pt x="4095862" y="0"/>
                  <a:pt x="4129248" y="33386"/>
                  <a:pt x="4129248" y="74569"/>
                </a:cubicBezTo>
                <a:lnTo>
                  <a:pt x="4129248" y="521982"/>
                </a:lnTo>
                <a:cubicBezTo>
                  <a:pt x="4129248" y="563165"/>
                  <a:pt x="4095862" y="596550"/>
                  <a:pt x="4054679" y="596550"/>
                </a:cubicBezTo>
                <a:lnTo>
                  <a:pt x="74569" y="596550"/>
                </a:lnTo>
                <a:cubicBezTo>
                  <a:pt x="33386" y="596550"/>
                  <a:pt x="0" y="563165"/>
                  <a:pt x="0" y="521982"/>
                </a:cubicBezTo>
                <a:lnTo>
                  <a:pt x="0" y="74569"/>
                </a:lnTo>
                <a:cubicBezTo>
                  <a:pt x="0" y="33386"/>
                  <a:pt x="33386" y="0"/>
                  <a:pt x="7456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7615922" y="2852257"/>
            <a:ext cx="848220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人工干预次数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933579" y="2833615"/>
            <a:ext cx="661798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减少70%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615922" y="3131890"/>
            <a:ext cx="3905541" cy="74569"/>
          </a:xfrm>
          <a:custGeom>
            <a:avLst/>
            <a:gdLst/>
            <a:ahLst/>
            <a:cxnLst/>
            <a:rect l="l" t="t" r="r" b="b"/>
            <a:pathLst>
              <a:path w="3905541" h="74569">
                <a:moveTo>
                  <a:pt x="37284" y="0"/>
                </a:moveTo>
                <a:lnTo>
                  <a:pt x="3868257" y="0"/>
                </a:lnTo>
                <a:cubicBezTo>
                  <a:pt x="3888848" y="0"/>
                  <a:pt x="3905541" y="16693"/>
                  <a:pt x="3905541" y="37284"/>
                </a:cubicBezTo>
                <a:lnTo>
                  <a:pt x="3905541" y="37284"/>
                </a:lnTo>
                <a:cubicBezTo>
                  <a:pt x="3905541" y="57876"/>
                  <a:pt x="3888848" y="74569"/>
                  <a:pt x="3868257" y="74569"/>
                </a:cubicBezTo>
                <a:lnTo>
                  <a:pt x="37284" y="74569"/>
                </a:lnTo>
                <a:cubicBezTo>
                  <a:pt x="16693" y="74569"/>
                  <a:pt x="0" y="57876"/>
                  <a:pt x="0" y="37284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7615922" y="3131890"/>
            <a:ext cx="2740404" cy="74569"/>
          </a:xfrm>
          <a:custGeom>
            <a:avLst/>
            <a:gdLst/>
            <a:ahLst/>
            <a:cxnLst/>
            <a:rect l="l" t="t" r="r" b="b"/>
            <a:pathLst>
              <a:path w="2740404" h="74569">
                <a:moveTo>
                  <a:pt x="37284" y="0"/>
                </a:moveTo>
                <a:lnTo>
                  <a:pt x="2703119" y="0"/>
                </a:lnTo>
                <a:cubicBezTo>
                  <a:pt x="2723711" y="0"/>
                  <a:pt x="2740404" y="16693"/>
                  <a:pt x="2740404" y="37284"/>
                </a:cubicBezTo>
                <a:lnTo>
                  <a:pt x="2740404" y="37284"/>
                </a:lnTo>
                <a:cubicBezTo>
                  <a:pt x="2740404" y="57876"/>
                  <a:pt x="2723711" y="74569"/>
                  <a:pt x="2703119" y="74569"/>
                </a:cubicBezTo>
                <a:lnTo>
                  <a:pt x="37284" y="74569"/>
                </a:lnTo>
                <a:cubicBezTo>
                  <a:pt x="16693" y="74569"/>
                  <a:pt x="0" y="57876"/>
                  <a:pt x="0" y="37284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7504069" y="3467450"/>
            <a:ext cx="4129248" cy="596550"/>
          </a:xfrm>
          <a:custGeom>
            <a:avLst/>
            <a:gdLst/>
            <a:ahLst/>
            <a:cxnLst/>
            <a:rect l="l" t="t" r="r" b="b"/>
            <a:pathLst>
              <a:path w="4129248" h="596550">
                <a:moveTo>
                  <a:pt x="74569" y="0"/>
                </a:moveTo>
                <a:lnTo>
                  <a:pt x="4054679" y="0"/>
                </a:lnTo>
                <a:cubicBezTo>
                  <a:pt x="4095862" y="0"/>
                  <a:pt x="4129248" y="33386"/>
                  <a:pt x="4129248" y="74569"/>
                </a:cubicBezTo>
                <a:lnTo>
                  <a:pt x="4129248" y="521982"/>
                </a:lnTo>
                <a:cubicBezTo>
                  <a:pt x="4129248" y="563165"/>
                  <a:pt x="4095862" y="596550"/>
                  <a:pt x="4054679" y="596550"/>
                </a:cubicBezTo>
                <a:lnTo>
                  <a:pt x="74569" y="596550"/>
                </a:lnTo>
                <a:cubicBezTo>
                  <a:pt x="33386" y="596550"/>
                  <a:pt x="0" y="563165"/>
                  <a:pt x="0" y="521982"/>
                </a:cubicBezTo>
                <a:lnTo>
                  <a:pt x="0" y="74569"/>
                </a:lnTo>
                <a:cubicBezTo>
                  <a:pt x="0" y="33386"/>
                  <a:pt x="33386" y="0"/>
                  <a:pt x="7456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7615922" y="3597945"/>
            <a:ext cx="717725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系统可用性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008439" y="3579303"/>
            <a:ext cx="587229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99.99%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615922" y="3877578"/>
            <a:ext cx="3905541" cy="74569"/>
          </a:xfrm>
          <a:custGeom>
            <a:avLst/>
            <a:gdLst/>
            <a:ahLst/>
            <a:cxnLst/>
            <a:rect l="l" t="t" r="r" b="b"/>
            <a:pathLst>
              <a:path w="3905541" h="74569">
                <a:moveTo>
                  <a:pt x="37284" y="0"/>
                </a:moveTo>
                <a:lnTo>
                  <a:pt x="3868257" y="0"/>
                </a:lnTo>
                <a:cubicBezTo>
                  <a:pt x="3888848" y="0"/>
                  <a:pt x="3905541" y="16693"/>
                  <a:pt x="3905541" y="37284"/>
                </a:cubicBezTo>
                <a:lnTo>
                  <a:pt x="3905541" y="37284"/>
                </a:lnTo>
                <a:cubicBezTo>
                  <a:pt x="3905541" y="57876"/>
                  <a:pt x="3888848" y="74569"/>
                  <a:pt x="3868257" y="74569"/>
                </a:cubicBezTo>
                <a:lnTo>
                  <a:pt x="37284" y="74569"/>
                </a:lnTo>
                <a:cubicBezTo>
                  <a:pt x="16693" y="74569"/>
                  <a:pt x="0" y="57876"/>
                  <a:pt x="0" y="37284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7615922" y="3877578"/>
            <a:ext cx="3905541" cy="74569"/>
          </a:xfrm>
          <a:custGeom>
            <a:avLst/>
            <a:gdLst/>
            <a:ahLst/>
            <a:cxnLst/>
            <a:rect l="l" t="t" r="r" b="b"/>
            <a:pathLst>
              <a:path w="3905541" h="74569">
                <a:moveTo>
                  <a:pt x="37284" y="0"/>
                </a:moveTo>
                <a:lnTo>
                  <a:pt x="3868257" y="0"/>
                </a:lnTo>
                <a:cubicBezTo>
                  <a:pt x="3888848" y="0"/>
                  <a:pt x="3905541" y="16693"/>
                  <a:pt x="3905541" y="37284"/>
                </a:cubicBezTo>
                <a:lnTo>
                  <a:pt x="3905541" y="37284"/>
                </a:lnTo>
                <a:cubicBezTo>
                  <a:pt x="3905541" y="57876"/>
                  <a:pt x="3888848" y="74569"/>
                  <a:pt x="3868257" y="74569"/>
                </a:cubicBezTo>
                <a:lnTo>
                  <a:pt x="37284" y="74569"/>
                </a:lnTo>
                <a:cubicBezTo>
                  <a:pt x="16693" y="74569"/>
                  <a:pt x="0" y="57876"/>
                  <a:pt x="0" y="37284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7317647" y="4399560"/>
            <a:ext cx="4502092" cy="2125211"/>
          </a:xfrm>
          <a:custGeom>
            <a:avLst/>
            <a:gdLst/>
            <a:ahLst/>
            <a:cxnLst/>
            <a:rect l="l" t="t" r="r" b="b"/>
            <a:pathLst>
              <a:path w="4502092" h="2460771">
                <a:moveTo>
                  <a:pt x="111842" y="0"/>
                </a:moveTo>
                <a:lnTo>
                  <a:pt x="4390250" y="0"/>
                </a:lnTo>
                <a:cubicBezTo>
                  <a:pt x="4452018" y="0"/>
                  <a:pt x="4502092" y="50073"/>
                  <a:pt x="4502092" y="111842"/>
                </a:cubicBezTo>
                <a:lnTo>
                  <a:pt x="4502092" y="2348929"/>
                </a:lnTo>
                <a:cubicBezTo>
                  <a:pt x="4502092" y="2410697"/>
                  <a:pt x="4452018" y="2460771"/>
                  <a:pt x="4390250" y="2460771"/>
                </a:cubicBezTo>
                <a:lnTo>
                  <a:pt x="111842" y="2460771"/>
                </a:lnTo>
                <a:cubicBezTo>
                  <a:pt x="50073" y="2460771"/>
                  <a:pt x="0" y="2410697"/>
                  <a:pt x="0" y="2348929"/>
                </a:cubicBezTo>
                <a:lnTo>
                  <a:pt x="0" y="111842"/>
                </a:lnTo>
                <a:cubicBezTo>
                  <a:pt x="0" y="50073"/>
                  <a:pt x="50073" y="0"/>
                  <a:pt x="11184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963" dist="932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7537858" y="4632587"/>
            <a:ext cx="146807" cy="167780"/>
          </a:xfrm>
          <a:custGeom>
            <a:avLst/>
            <a:gdLst/>
            <a:ahLst/>
            <a:cxnLst/>
            <a:rect l="l" t="t" r="r" b="b"/>
            <a:pathLst>
              <a:path w="146807" h="167780">
                <a:moveTo>
                  <a:pt x="73404" y="0"/>
                </a:moveTo>
                <a:cubicBezTo>
                  <a:pt x="67603" y="0"/>
                  <a:pt x="62917" y="4686"/>
                  <a:pt x="62917" y="10486"/>
                </a:cubicBezTo>
                <a:lnTo>
                  <a:pt x="62917" y="11535"/>
                </a:lnTo>
                <a:cubicBezTo>
                  <a:pt x="38996" y="16385"/>
                  <a:pt x="20972" y="37554"/>
                  <a:pt x="20972" y="62917"/>
                </a:cubicBezTo>
                <a:lnTo>
                  <a:pt x="20972" y="70028"/>
                </a:lnTo>
                <a:cubicBezTo>
                  <a:pt x="20972" y="85791"/>
                  <a:pt x="15598" y="101094"/>
                  <a:pt x="5767" y="113415"/>
                </a:cubicBezTo>
                <a:lnTo>
                  <a:pt x="2556" y="117413"/>
                </a:lnTo>
                <a:cubicBezTo>
                  <a:pt x="885" y="119478"/>
                  <a:pt x="0" y="122034"/>
                  <a:pt x="0" y="124688"/>
                </a:cubicBezTo>
                <a:cubicBezTo>
                  <a:pt x="0" y="131111"/>
                  <a:pt x="5210" y="136321"/>
                  <a:pt x="11633" y="136321"/>
                </a:cubicBezTo>
                <a:lnTo>
                  <a:pt x="135141" y="136321"/>
                </a:lnTo>
                <a:cubicBezTo>
                  <a:pt x="141564" y="136321"/>
                  <a:pt x="146775" y="131111"/>
                  <a:pt x="146775" y="124688"/>
                </a:cubicBezTo>
                <a:cubicBezTo>
                  <a:pt x="146775" y="122034"/>
                  <a:pt x="145890" y="119478"/>
                  <a:pt x="144219" y="117413"/>
                </a:cubicBezTo>
                <a:lnTo>
                  <a:pt x="141007" y="113415"/>
                </a:lnTo>
                <a:cubicBezTo>
                  <a:pt x="131209" y="101094"/>
                  <a:pt x="125835" y="85791"/>
                  <a:pt x="125835" y="70028"/>
                </a:cubicBezTo>
                <a:lnTo>
                  <a:pt x="125835" y="62917"/>
                </a:lnTo>
                <a:cubicBezTo>
                  <a:pt x="125835" y="37554"/>
                  <a:pt x="107812" y="16385"/>
                  <a:pt x="83890" y="11535"/>
                </a:cubicBezTo>
                <a:lnTo>
                  <a:pt x="83890" y="10486"/>
                </a:lnTo>
                <a:cubicBezTo>
                  <a:pt x="83890" y="4686"/>
                  <a:pt x="79204" y="0"/>
                  <a:pt x="73404" y="0"/>
                </a:cubicBezTo>
                <a:close/>
                <a:moveTo>
                  <a:pt x="53087" y="152050"/>
                </a:moveTo>
                <a:cubicBezTo>
                  <a:pt x="55413" y="161095"/>
                  <a:pt x="63638" y="167780"/>
                  <a:pt x="73404" y="167780"/>
                </a:cubicBezTo>
                <a:cubicBezTo>
                  <a:pt x="83169" y="167780"/>
                  <a:pt x="91394" y="161095"/>
                  <a:pt x="93721" y="152050"/>
                </a:cubicBezTo>
                <a:lnTo>
                  <a:pt x="53087" y="152050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7718454" y="4585982"/>
            <a:ext cx="3998752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告警分级机制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728853" y="5316068"/>
            <a:ext cx="111853" cy="111853"/>
          </a:xfrm>
          <a:custGeom>
            <a:avLst/>
            <a:gdLst/>
            <a:ahLst/>
            <a:cxnLst/>
            <a:rect l="l" t="t" r="r" b="b"/>
            <a:pathLst>
              <a:path w="111853" h="111853">
                <a:moveTo>
                  <a:pt x="55927" y="0"/>
                </a:moveTo>
                <a:lnTo>
                  <a:pt x="55927" y="0"/>
                </a:lnTo>
                <a:cubicBezTo>
                  <a:pt x="86793" y="0"/>
                  <a:pt x="111853" y="25060"/>
                  <a:pt x="111853" y="55927"/>
                </a:cubicBezTo>
                <a:lnTo>
                  <a:pt x="111853" y="55927"/>
                </a:lnTo>
                <a:cubicBezTo>
                  <a:pt x="111853" y="86793"/>
                  <a:pt x="86793" y="111853"/>
                  <a:pt x="55927" y="111853"/>
                </a:cubicBezTo>
                <a:lnTo>
                  <a:pt x="55927" y="111853"/>
                </a:lnTo>
                <a:cubicBezTo>
                  <a:pt x="25060" y="111853"/>
                  <a:pt x="0" y="86793"/>
                  <a:pt x="0" y="55927"/>
                </a:cubicBezTo>
                <a:lnTo>
                  <a:pt x="0" y="55927"/>
                </a:lnTo>
                <a:cubicBezTo>
                  <a:pt x="0" y="25060"/>
                  <a:pt x="25060" y="0"/>
                  <a:pt x="55927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7952559" y="5111004"/>
            <a:ext cx="1560565" cy="279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紧急告警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7952559" y="5316068"/>
            <a:ext cx="1556902" cy="223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1" dirty="0" err="1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短信+电话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9601317" y="5278784"/>
            <a:ext cx="111853" cy="111853"/>
          </a:xfrm>
          <a:custGeom>
            <a:avLst/>
            <a:gdLst/>
            <a:ahLst/>
            <a:cxnLst/>
            <a:rect l="l" t="t" r="r" b="b"/>
            <a:pathLst>
              <a:path w="111853" h="111853">
                <a:moveTo>
                  <a:pt x="55927" y="0"/>
                </a:moveTo>
                <a:lnTo>
                  <a:pt x="55927" y="0"/>
                </a:lnTo>
                <a:cubicBezTo>
                  <a:pt x="86793" y="0"/>
                  <a:pt x="111853" y="25060"/>
                  <a:pt x="111853" y="55927"/>
                </a:cubicBezTo>
                <a:lnTo>
                  <a:pt x="111853" y="55927"/>
                </a:lnTo>
                <a:cubicBezTo>
                  <a:pt x="111853" y="86793"/>
                  <a:pt x="86793" y="111853"/>
                  <a:pt x="55927" y="111853"/>
                </a:cubicBezTo>
                <a:lnTo>
                  <a:pt x="55927" y="111853"/>
                </a:lnTo>
                <a:cubicBezTo>
                  <a:pt x="25060" y="111853"/>
                  <a:pt x="0" y="86793"/>
                  <a:pt x="0" y="55927"/>
                </a:cubicBezTo>
                <a:lnTo>
                  <a:pt x="0" y="55927"/>
                </a:lnTo>
                <a:cubicBezTo>
                  <a:pt x="0" y="25060"/>
                  <a:pt x="25060" y="0"/>
                  <a:pt x="55927" y="0"/>
                </a:cubicBezTo>
                <a:close/>
              </a:path>
            </a:pathLst>
          </a:custGeom>
          <a:solidFill>
            <a:srgbClr val="FF69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9825023" y="5166931"/>
            <a:ext cx="1389341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重要告警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9825023" y="5353353"/>
            <a:ext cx="1386080" cy="1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1" dirty="0" err="1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短信</a:t>
            </a:r>
            <a:r>
              <a:rPr lang="en-US" sz="881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</a:t>
            </a:r>
            <a:r>
              <a:rPr lang="zh-CN" altLang="en-US" sz="881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语音通知</a:t>
            </a:r>
            <a:r>
              <a:rPr lang="en-US" sz="881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+企业微信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7728853" y="5890935"/>
            <a:ext cx="111853" cy="111853"/>
          </a:xfrm>
          <a:custGeom>
            <a:avLst/>
            <a:gdLst/>
            <a:ahLst/>
            <a:cxnLst/>
            <a:rect l="l" t="t" r="r" b="b"/>
            <a:pathLst>
              <a:path w="111853" h="111853">
                <a:moveTo>
                  <a:pt x="55927" y="0"/>
                </a:moveTo>
                <a:lnTo>
                  <a:pt x="55927" y="0"/>
                </a:lnTo>
                <a:cubicBezTo>
                  <a:pt x="86793" y="0"/>
                  <a:pt x="111853" y="25060"/>
                  <a:pt x="111853" y="55927"/>
                </a:cubicBezTo>
                <a:lnTo>
                  <a:pt x="111853" y="55927"/>
                </a:lnTo>
                <a:cubicBezTo>
                  <a:pt x="111853" y="86793"/>
                  <a:pt x="86793" y="111853"/>
                  <a:pt x="55927" y="111853"/>
                </a:cubicBezTo>
                <a:lnTo>
                  <a:pt x="55927" y="111853"/>
                </a:lnTo>
                <a:cubicBezTo>
                  <a:pt x="25060" y="111853"/>
                  <a:pt x="0" y="86793"/>
                  <a:pt x="0" y="55927"/>
                </a:cubicBezTo>
                <a:lnTo>
                  <a:pt x="0" y="55927"/>
                </a:lnTo>
                <a:cubicBezTo>
                  <a:pt x="0" y="25060"/>
                  <a:pt x="25060" y="0"/>
                  <a:pt x="55927" y="0"/>
                </a:cubicBezTo>
                <a:close/>
              </a:path>
            </a:pathLst>
          </a:custGeom>
          <a:solidFill>
            <a:srgbClr val="2B7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5" name="Text 73"/>
          <p:cNvSpPr/>
          <p:nvPr/>
        </p:nvSpPr>
        <p:spPr>
          <a:xfrm>
            <a:off x="7952559" y="5779082"/>
            <a:ext cx="1074581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一般告警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7952559" y="5965504"/>
            <a:ext cx="1072059" cy="1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881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短信</a:t>
            </a:r>
            <a:r>
              <a:rPr lang="en-US" sz="881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+企业微信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9601317" y="5855981"/>
            <a:ext cx="111853" cy="111853"/>
          </a:xfrm>
          <a:custGeom>
            <a:avLst/>
            <a:gdLst/>
            <a:ahLst/>
            <a:cxnLst/>
            <a:rect l="l" t="t" r="r" b="b"/>
            <a:pathLst>
              <a:path w="111853" h="111853">
                <a:moveTo>
                  <a:pt x="55927" y="0"/>
                </a:moveTo>
                <a:lnTo>
                  <a:pt x="55927" y="0"/>
                </a:lnTo>
                <a:cubicBezTo>
                  <a:pt x="86793" y="0"/>
                  <a:pt x="111853" y="25060"/>
                  <a:pt x="111853" y="55927"/>
                </a:cubicBezTo>
                <a:lnTo>
                  <a:pt x="111853" y="55927"/>
                </a:lnTo>
                <a:cubicBezTo>
                  <a:pt x="111853" y="86793"/>
                  <a:pt x="86793" y="111853"/>
                  <a:pt x="55927" y="111853"/>
                </a:cubicBezTo>
                <a:lnTo>
                  <a:pt x="55927" y="111853"/>
                </a:lnTo>
                <a:cubicBezTo>
                  <a:pt x="25060" y="111853"/>
                  <a:pt x="0" y="86793"/>
                  <a:pt x="0" y="55927"/>
                </a:cubicBezTo>
                <a:lnTo>
                  <a:pt x="0" y="55927"/>
                </a:lnTo>
                <a:cubicBezTo>
                  <a:pt x="0" y="25060"/>
                  <a:pt x="25060" y="0"/>
                  <a:pt x="55927" y="0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8" name="Text 76"/>
          <p:cNvSpPr/>
          <p:nvPr/>
        </p:nvSpPr>
        <p:spPr>
          <a:xfrm>
            <a:off x="9825024" y="5744128"/>
            <a:ext cx="1445050" cy="146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提示信息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9825023" y="5930550"/>
            <a:ext cx="1441658" cy="117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1" dirty="0" err="1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企业微信</a:t>
            </a:r>
            <a:endParaRPr lang="en-US" sz="1600" dirty="0"/>
          </a:p>
        </p:txBody>
      </p:sp>
      <p:pic>
        <p:nvPicPr>
          <p:cNvPr id="80" name="图片 79" descr="图片包含 形状&#10;&#10;AI 生成的内容可能不正确。">
            <a:extLst>
              <a:ext uri="{FF2B5EF4-FFF2-40B4-BE49-F238E27FC236}">
                <a16:creationId xmlns:a16="http://schemas.microsoft.com/office/drawing/2014/main" id="{7D1FECA1-D59F-A5D9-D2D0-1742E5A3C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913" y="402336"/>
            <a:ext cx="1493087" cy="36360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ADVANTAGES (1/2)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核心产品优势（一）：数据安全与信创适配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81000" y="1428750"/>
            <a:ext cx="5619750" cy="4095750"/>
          </a:xfrm>
          <a:custGeom>
            <a:avLst/>
            <a:gdLst/>
            <a:ahLst/>
            <a:cxnLst/>
            <a:rect l="l" t="t" r="r" b="b"/>
            <a:pathLst>
              <a:path w="5619750" h="40957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981438"/>
                </a:lnTo>
                <a:cubicBezTo>
                  <a:pt x="5619750" y="4044571"/>
                  <a:pt x="5568571" y="4095750"/>
                  <a:pt x="5505438" y="4095750"/>
                </a:cubicBezTo>
                <a:lnTo>
                  <a:pt x="114312" y="4095750"/>
                </a:lnTo>
                <a:cubicBezTo>
                  <a:pt x="51179" y="4095750"/>
                  <a:pt x="0" y="4044571"/>
                  <a:pt x="0" y="398143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81000" y="14287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4F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09600" y="1676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A4F6B"/>
              </a:gs>
              <a:gs pos="100000">
                <a:srgbClr val="5A7D8C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09625" y="18383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71438" y="53578"/>
                </a:moveTo>
                <a:lnTo>
                  <a:pt x="71438" y="89297"/>
                </a:lnTo>
                <a:lnTo>
                  <a:pt x="142875" y="89297"/>
                </a:lnTo>
                <a:lnTo>
                  <a:pt x="142875" y="53578"/>
                </a:lnTo>
                <a:cubicBezTo>
                  <a:pt x="142875" y="33877"/>
                  <a:pt x="126857" y="17859"/>
                  <a:pt x="107156" y="17859"/>
                </a:cubicBezTo>
                <a:cubicBezTo>
                  <a:pt x="87455" y="17859"/>
                  <a:pt x="71438" y="33877"/>
                  <a:pt x="71438" y="53578"/>
                </a:cubicBezTo>
                <a:close/>
                <a:moveTo>
                  <a:pt x="35719" y="89297"/>
                </a:moveTo>
                <a:lnTo>
                  <a:pt x="35719" y="53578"/>
                </a:lnTo>
                <a:cubicBezTo>
                  <a:pt x="35719" y="14120"/>
                  <a:pt x="67698" y="-17859"/>
                  <a:pt x="107156" y="-17859"/>
                </a:cubicBezTo>
                <a:cubicBezTo>
                  <a:pt x="146614" y="-17859"/>
                  <a:pt x="178594" y="14120"/>
                  <a:pt x="178594" y="53578"/>
                </a:cubicBezTo>
                <a:lnTo>
                  <a:pt x="178594" y="89297"/>
                </a:lnTo>
                <a:cubicBezTo>
                  <a:pt x="198295" y="89297"/>
                  <a:pt x="214313" y="105315"/>
                  <a:pt x="214313" y="125016"/>
                </a:cubicBezTo>
                <a:lnTo>
                  <a:pt x="214313" y="250031"/>
                </a:lnTo>
                <a:cubicBezTo>
                  <a:pt x="214313" y="269732"/>
                  <a:pt x="198295" y="285750"/>
                  <a:pt x="178594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125016"/>
                </a:lnTo>
                <a:cubicBezTo>
                  <a:pt x="0" y="105315"/>
                  <a:pt x="16018" y="89297"/>
                  <a:pt x="35719" y="8929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371600" y="1733550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极高的数据安全与隐私保护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038350"/>
            <a:ext cx="280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满足等保三级要求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2438400"/>
            <a:ext cx="5162550" cy="1047750"/>
          </a:xfrm>
          <a:custGeom>
            <a:avLst/>
            <a:gdLst/>
            <a:ahLst/>
            <a:cxnLst/>
            <a:rect l="l" t="t" r="r" b="b"/>
            <a:pathLst>
              <a:path w="5162550" h="1047750">
                <a:moveTo>
                  <a:pt x="76203" y="0"/>
                </a:moveTo>
                <a:lnTo>
                  <a:pt x="5086347" y="0"/>
                </a:lnTo>
                <a:cubicBezTo>
                  <a:pt x="5128405" y="0"/>
                  <a:pt x="5162550" y="34145"/>
                  <a:pt x="5162550" y="76203"/>
                </a:cubicBezTo>
                <a:lnTo>
                  <a:pt x="5162550" y="971547"/>
                </a:lnTo>
                <a:cubicBezTo>
                  <a:pt x="5162550" y="1013605"/>
                  <a:pt x="5128405" y="1047750"/>
                  <a:pt x="5086347" y="1047750"/>
                </a:cubicBezTo>
                <a:lnTo>
                  <a:pt x="76203" y="1047750"/>
                </a:lnTo>
                <a:cubicBezTo>
                  <a:pt x="34145" y="1047750"/>
                  <a:pt x="0" y="1013605"/>
                  <a:pt x="0" y="971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62000" y="2590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A4F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95350" y="27051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257300" y="2590800"/>
            <a:ext cx="443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纯私有化本地部署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57300" y="2895600"/>
            <a:ext cx="44291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系统、数据库</a:t>
            </a:r>
            <a:r>
              <a:rPr lang="en-US" sz="1050" dirty="0">
                <a:solidFill>
                  <a:srgbClr val="0A4F6B"/>
                </a:solidFill>
                <a:highlight>
                  <a:srgbClr val="4DB6AC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完全部署在医院内部机房 </a:t>
            </a:r>
            <a:r>
              <a:rPr lang="en-US" sz="10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，保障核心医疗数据绝对不出域，从物理和网络层面隔绝外部风险。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" y="3633788"/>
            <a:ext cx="5162550" cy="1390650"/>
          </a:xfrm>
          <a:custGeom>
            <a:avLst/>
            <a:gdLst/>
            <a:ahLst/>
            <a:cxnLst/>
            <a:rect l="l" t="t" r="r" b="b"/>
            <a:pathLst>
              <a:path w="5162550" h="1390650">
                <a:moveTo>
                  <a:pt x="76194" y="0"/>
                </a:moveTo>
                <a:lnTo>
                  <a:pt x="5086356" y="0"/>
                </a:lnTo>
                <a:cubicBezTo>
                  <a:pt x="5128409" y="0"/>
                  <a:pt x="5162550" y="34141"/>
                  <a:pt x="5162550" y="76194"/>
                </a:cubicBezTo>
                <a:lnTo>
                  <a:pt x="5162550" y="1314456"/>
                </a:lnTo>
                <a:cubicBezTo>
                  <a:pt x="5162550" y="1356509"/>
                  <a:pt x="5128409" y="1390650"/>
                  <a:pt x="5086356" y="1390650"/>
                </a:cubicBezTo>
                <a:lnTo>
                  <a:pt x="76194" y="1390650"/>
                </a:lnTo>
                <a:cubicBezTo>
                  <a:pt x="34141" y="1390650"/>
                  <a:pt x="0" y="1356509"/>
                  <a:pt x="0" y="1314456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62000" y="37861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76300" y="39004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0013" y="104775"/>
                </a:moveTo>
                <a:cubicBezTo>
                  <a:pt x="128945" y="104775"/>
                  <a:pt x="152400" y="81320"/>
                  <a:pt x="152400" y="52388"/>
                </a:cubicBezTo>
                <a:cubicBezTo>
                  <a:pt x="152400" y="23455"/>
                  <a:pt x="128945" y="0"/>
                  <a:pt x="100013" y="0"/>
                </a:cubicBezTo>
                <a:cubicBezTo>
                  <a:pt x="71080" y="0"/>
                  <a:pt x="47625" y="23455"/>
                  <a:pt x="47625" y="52388"/>
                </a:cubicBezTo>
                <a:cubicBezTo>
                  <a:pt x="47625" y="57954"/>
                  <a:pt x="48488" y="63341"/>
                  <a:pt x="50096" y="68372"/>
                </a:cubicBezTo>
                <a:lnTo>
                  <a:pt x="2084" y="116384"/>
                </a:lnTo>
                <a:cubicBezTo>
                  <a:pt x="744" y="117723"/>
                  <a:pt x="0" y="119539"/>
                  <a:pt x="0" y="121444"/>
                </a:cubicBezTo>
                <a:lnTo>
                  <a:pt x="0" y="145256"/>
                </a:lnTo>
                <a:cubicBezTo>
                  <a:pt x="0" y="149215"/>
                  <a:pt x="3185" y="152400"/>
                  <a:pt x="7144" y="152400"/>
                </a:cubicBezTo>
                <a:lnTo>
                  <a:pt x="30956" y="152400"/>
                </a:lnTo>
                <a:cubicBezTo>
                  <a:pt x="34915" y="152400"/>
                  <a:pt x="38100" y="149215"/>
                  <a:pt x="38100" y="145256"/>
                </a:cubicBezTo>
                <a:lnTo>
                  <a:pt x="38100" y="133350"/>
                </a:lnTo>
                <a:lnTo>
                  <a:pt x="50006" y="133350"/>
                </a:lnTo>
                <a:cubicBezTo>
                  <a:pt x="53965" y="133350"/>
                  <a:pt x="57150" y="130165"/>
                  <a:pt x="57150" y="126206"/>
                </a:cubicBezTo>
                <a:lnTo>
                  <a:pt x="57150" y="114300"/>
                </a:lnTo>
                <a:lnTo>
                  <a:pt x="69056" y="114300"/>
                </a:lnTo>
                <a:cubicBezTo>
                  <a:pt x="70961" y="114300"/>
                  <a:pt x="72777" y="113556"/>
                  <a:pt x="74116" y="112216"/>
                </a:cubicBezTo>
                <a:lnTo>
                  <a:pt x="84028" y="102304"/>
                </a:lnTo>
                <a:cubicBezTo>
                  <a:pt x="89059" y="103912"/>
                  <a:pt x="94446" y="104775"/>
                  <a:pt x="100013" y="104775"/>
                </a:cubicBezTo>
                <a:close/>
                <a:moveTo>
                  <a:pt x="111919" y="28575"/>
                </a:moveTo>
                <a:cubicBezTo>
                  <a:pt x="118490" y="28575"/>
                  <a:pt x="123825" y="33910"/>
                  <a:pt x="123825" y="40481"/>
                </a:cubicBezTo>
                <a:cubicBezTo>
                  <a:pt x="123825" y="47052"/>
                  <a:pt x="118490" y="52388"/>
                  <a:pt x="111919" y="52388"/>
                </a:cubicBezTo>
                <a:cubicBezTo>
                  <a:pt x="105348" y="52388"/>
                  <a:pt x="100013" y="47052"/>
                  <a:pt x="100013" y="40481"/>
                </a:cubicBezTo>
                <a:cubicBezTo>
                  <a:pt x="100013" y="33910"/>
                  <a:pt x="105348" y="28575"/>
                  <a:pt x="111919" y="285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257300" y="3786188"/>
            <a:ext cx="443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全面支持国密算法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57300" y="4090987"/>
            <a:ext cx="44291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平台支持</a:t>
            </a:r>
            <a:r>
              <a:rPr lang="en-US" sz="1050" dirty="0">
                <a:solidFill>
                  <a:srgbClr val="0A4F6B"/>
                </a:solidFill>
                <a:highlight>
                  <a:srgbClr val="4DB6AC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SM2、SM3、SM4国密加密算法 </a:t>
            </a:r>
            <a:r>
              <a:rPr lang="en-US" sz="10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，针对患者手机号、敏感病历数据等实行底层数据加密及脱敏显示。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57300" y="4638675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190499"/>
                </a:lnTo>
                <a:cubicBezTo>
                  <a:pt x="381000" y="211542"/>
                  <a:pt x="363942" y="228600"/>
                  <a:pt x="3428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A4F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257300" y="4638675"/>
            <a:ext cx="4381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SM2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718742" y="4638675"/>
            <a:ext cx="390525" cy="228600"/>
          </a:xfrm>
          <a:custGeom>
            <a:avLst/>
            <a:gdLst/>
            <a:ahLst/>
            <a:cxnLst/>
            <a:rect l="l" t="t" r="r" b="b"/>
            <a:pathLst>
              <a:path w="390525" h="228600">
                <a:moveTo>
                  <a:pt x="38101" y="0"/>
                </a:moveTo>
                <a:lnTo>
                  <a:pt x="352424" y="0"/>
                </a:lnTo>
                <a:cubicBezTo>
                  <a:pt x="373467" y="0"/>
                  <a:pt x="390525" y="17058"/>
                  <a:pt x="390525" y="38101"/>
                </a:cubicBezTo>
                <a:lnTo>
                  <a:pt x="390525" y="190499"/>
                </a:lnTo>
                <a:cubicBezTo>
                  <a:pt x="390525" y="211542"/>
                  <a:pt x="373467" y="228600"/>
                  <a:pt x="3524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A4F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718742" y="4638675"/>
            <a:ext cx="4476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183160" y="4638675"/>
            <a:ext cx="390525" cy="228600"/>
          </a:xfrm>
          <a:custGeom>
            <a:avLst/>
            <a:gdLst/>
            <a:ahLst/>
            <a:cxnLst/>
            <a:rect l="l" t="t" r="r" b="b"/>
            <a:pathLst>
              <a:path w="390525" h="228600">
                <a:moveTo>
                  <a:pt x="38101" y="0"/>
                </a:moveTo>
                <a:lnTo>
                  <a:pt x="352424" y="0"/>
                </a:lnTo>
                <a:cubicBezTo>
                  <a:pt x="373467" y="0"/>
                  <a:pt x="390525" y="17058"/>
                  <a:pt x="390525" y="38101"/>
                </a:cubicBezTo>
                <a:lnTo>
                  <a:pt x="390525" y="190499"/>
                </a:lnTo>
                <a:cubicBezTo>
                  <a:pt x="390525" y="211542"/>
                  <a:pt x="373467" y="228600"/>
                  <a:pt x="3524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A4F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2183160" y="4638675"/>
            <a:ext cx="4476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91250" y="1428750"/>
            <a:ext cx="5619750" cy="4095750"/>
          </a:xfrm>
          <a:custGeom>
            <a:avLst/>
            <a:gdLst/>
            <a:ahLst/>
            <a:cxnLst/>
            <a:rect l="l" t="t" r="r" b="b"/>
            <a:pathLst>
              <a:path w="5619750" h="40957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981438"/>
                </a:lnTo>
                <a:cubicBezTo>
                  <a:pt x="5619750" y="4044571"/>
                  <a:pt x="5568571" y="4095750"/>
                  <a:pt x="5505438" y="4095750"/>
                </a:cubicBezTo>
                <a:lnTo>
                  <a:pt x="114312" y="4095750"/>
                </a:lnTo>
                <a:cubicBezTo>
                  <a:pt x="51179" y="4095750"/>
                  <a:pt x="0" y="4044571"/>
                  <a:pt x="0" y="398143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191250" y="14287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419850" y="1676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/>
              </a:gs>
              <a:gs pos="100000">
                <a:srgbClr val="0A4F6B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602016" y="18383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17859"/>
                </a:moveTo>
                <a:cubicBezTo>
                  <a:pt x="35719" y="7981"/>
                  <a:pt x="27738" y="0"/>
                  <a:pt x="17859" y="0"/>
                </a:cubicBezTo>
                <a:cubicBezTo>
                  <a:pt x="7981" y="0"/>
                  <a:pt x="0" y="7981"/>
                  <a:pt x="0" y="17859"/>
                </a:cubicBezTo>
                <a:lnTo>
                  <a:pt x="0" y="267891"/>
                </a:lnTo>
                <a:cubicBezTo>
                  <a:pt x="0" y="277769"/>
                  <a:pt x="7981" y="285750"/>
                  <a:pt x="17859" y="285750"/>
                </a:cubicBezTo>
                <a:cubicBezTo>
                  <a:pt x="27738" y="285750"/>
                  <a:pt x="35719" y="277769"/>
                  <a:pt x="35719" y="267891"/>
                </a:cubicBezTo>
                <a:lnTo>
                  <a:pt x="35719" y="200025"/>
                </a:lnTo>
                <a:lnTo>
                  <a:pt x="70712" y="189533"/>
                </a:lnTo>
                <a:cubicBezTo>
                  <a:pt x="94097" y="182500"/>
                  <a:pt x="119323" y="184677"/>
                  <a:pt x="141145" y="195616"/>
                </a:cubicBezTo>
                <a:cubicBezTo>
                  <a:pt x="164976" y="207559"/>
                  <a:pt x="192770" y="209010"/>
                  <a:pt x="217717" y="199634"/>
                </a:cubicBezTo>
                <a:lnTo>
                  <a:pt x="238423" y="191877"/>
                </a:lnTo>
                <a:cubicBezTo>
                  <a:pt x="245399" y="189254"/>
                  <a:pt x="250031" y="182612"/>
                  <a:pt x="250031" y="175133"/>
                </a:cubicBezTo>
                <a:lnTo>
                  <a:pt x="250031" y="36891"/>
                </a:lnTo>
                <a:cubicBezTo>
                  <a:pt x="250031" y="24054"/>
                  <a:pt x="236525" y="15683"/>
                  <a:pt x="225028" y="21431"/>
                </a:cubicBezTo>
                <a:lnTo>
                  <a:pt x="218442" y="24724"/>
                </a:lnTo>
                <a:cubicBezTo>
                  <a:pt x="193384" y="37281"/>
                  <a:pt x="163860" y="37281"/>
                  <a:pt x="138745" y="24724"/>
                </a:cubicBezTo>
                <a:cubicBezTo>
                  <a:pt x="118430" y="14567"/>
                  <a:pt x="95045" y="12557"/>
                  <a:pt x="73335" y="19087"/>
                </a:cubicBezTo>
                <a:lnTo>
                  <a:pt x="35719" y="30361"/>
                </a:lnTo>
                <a:lnTo>
                  <a:pt x="35719" y="17859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7181850" y="1733550"/>
            <a:ext cx="240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全栈信创环境适配支持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81850" y="2038350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国产化自主可控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19850" y="2438400"/>
            <a:ext cx="5238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全面适配信创软硬件环境，</a:t>
            </a:r>
            <a:r>
              <a:rPr lang="en-US" sz="1200" dirty="0">
                <a:solidFill>
                  <a:srgbClr val="0A4F6B"/>
                </a:solidFill>
                <a:highlight>
                  <a:srgbClr val="4DB6AC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满足公立医院的国产化采购及合规要求 </a:t>
            </a:r>
            <a:r>
              <a:rPr lang="en-US" sz="1200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19850" y="2838450"/>
            <a:ext cx="5162550" cy="742950"/>
          </a:xfrm>
          <a:custGeom>
            <a:avLst/>
            <a:gdLst/>
            <a:ahLst/>
            <a:cxnLst/>
            <a:rect l="l" t="t" r="r" b="b"/>
            <a:pathLst>
              <a:path w="5162550" h="742950">
                <a:moveTo>
                  <a:pt x="76197" y="0"/>
                </a:moveTo>
                <a:lnTo>
                  <a:pt x="5086353" y="0"/>
                </a:lnTo>
                <a:cubicBezTo>
                  <a:pt x="5128435" y="0"/>
                  <a:pt x="5162550" y="34115"/>
                  <a:pt x="5162550" y="76197"/>
                </a:cubicBezTo>
                <a:lnTo>
                  <a:pt x="5162550" y="666753"/>
                </a:lnTo>
                <a:cubicBezTo>
                  <a:pt x="5162550" y="708835"/>
                  <a:pt x="5128435" y="742950"/>
                  <a:pt x="5086353" y="742950"/>
                </a:cubicBezTo>
                <a:lnTo>
                  <a:pt x="76197" y="742950"/>
                </a:lnTo>
                <a:cubicBezTo>
                  <a:pt x="34115" y="742950"/>
                  <a:pt x="0" y="708835"/>
                  <a:pt x="0" y="6667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557963" y="29622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58936" y="8037"/>
                </a:moveTo>
                <a:cubicBezTo>
                  <a:pt x="58936" y="3583"/>
                  <a:pt x="55353" y="0"/>
                  <a:pt x="50899" y="0"/>
                </a:cubicBezTo>
                <a:cubicBezTo>
                  <a:pt x="46446" y="0"/>
                  <a:pt x="42863" y="3583"/>
                  <a:pt x="42863" y="8037"/>
                </a:cubicBezTo>
                <a:lnTo>
                  <a:pt x="42863" y="21431"/>
                </a:lnTo>
                <a:cubicBezTo>
                  <a:pt x="31042" y="21431"/>
                  <a:pt x="21431" y="31042"/>
                  <a:pt x="21431" y="42863"/>
                </a:cubicBezTo>
                <a:lnTo>
                  <a:pt x="8037" y="42863"/>
                </a:lnTo>
                <a:cubicBezTo>
                  <a:pt x="3583" y="42863"/>
                  <a:pt x="0" y="46446"/>
                  <a:pt x="0" y="50899"/>
                </a:cubicBezTo>
                <a:cubicBezTo>
                  <a:pt x="0" y="55353"/>
                  <a:pt x="3583" y="58936"/>
                  <a:pt x="8037" y="58936"/>
                </a:cubicBezTo>
                <a:lnTo>
                  <a:pt x="21431" y="58936"/>
                </a:lnTo>
                <a:lnTo>
                  <a:pt x="21431" y="77688"/>
                </a:lnTo>
                <a:lnTo>
                  <a:pt x="8037" y="77688"/>
                </a:lnTo>
                <a:cubicBezTo>
                  <a:pt x="3583" y="77688"/>
                  <a:pt x="0" y="81271"/>
                  <a:pt x="0" y="85725"/>
                </a:cubicBezTo>
                <a:cubicBezTo>
                  <a:pt x="0" y="90179"/>
                  <a:pt x="3583" y="93762"/>
                  <a:pt x="8037" y="93762"/>
                </a:cubicBezTo>
                <a:lnTo>
                  <a:pt x="21431" y="93762"/>
                </a:lnTo>
                <a:lnTo>
                  <a:pt x="21431" y="112514"/>
                </a:lnTo>
                <a:lnTo>
                  <a:pt x="8037" y="112514"/>
                </a:lnTo>
                <a:cubicBezTo>
                  <a:pt x="3583" y="112514"/>
                  <a:pt x="0" y="116097"/>
                  <a:pt x="0" y="120551"/>
                </a:cubicBezTo>
                <a:cubicBezTo>
                  <a:pt x="0" y="125004"/>
                  <a:pt x="3583" y="128588"/>
                  <a:pt x="8037" y="128588"/>
                </a:cubicBezTo>
                <a:lnTo>
                  <a:pt x="21431" y="128588"/>
                </a:lnTo>
                <a:cubicBezTo>
                  <a:pt x="21431" y="140408"/>
                  <a:pt x="31042" y="150019"/>
                  <a:pt x="42863" y="150019"/>
                </a:cubicBezTo>
                <a:lnTo>
                  <a:pt x="42863" y="163413"/>
                </a:lnTo>
                <a:cubicBezTo>
                  <a:pt x="42863" y="167867"/>
                  <a:pt x="46446" y="171450"/>
                  <a:pt x="50899" y="171450"/>
                </a:cubicBezTo>
                <a:cubicBezTo>
                  <a:pt x="55353" y="171450"/>
                  <a:pt x="58936" y="167867"/>
                  <a:pt x="58936" y="163413"/>
                </a:cubicBezTo>
                <a:lnTo>
                  <a:pt x="58936" y="150019"/>
                </a:lnTo>
                <a:lnTo>
                  <a:pt x="77688" y="150019"/>
                </a:lnTo>
                <a:lnTo>
                  <a:pt x="77688" y="163413"/>
                </a:lnTo>
                <a:cubicBezTo>
                  <a:pt x="77688" y="167867"/>
                  <a:pt x="81271" y="171450"/>
                  <a:pt x="85725" y="171450"/>
                </a:cubicBezTo>
                <a:cubicBezTo>
                  <a:pt x="90179" y="171450"/>
                  <a:pt x="93762" y="167867"/>
                  <a:pt x="93762" y="163413"/>
                </a:cubicBezTo>
                <a:lnTo>
                  <a:pt x="93762" y="150019"/>
                </a:lnTo>
                <a:lnTo>
                  <a:pt x="112514" y="150019"/>
                </a:lnTo>
                <a:lnTo>
                  <a:pt x="112514" y="163413"/>
                </a:lnTo>
                <a:cubicBezTo>
                  <a:pt x="112514" y="167867"/>
                  <a:pt x="116097" y="171450"/>
                  <a:pt x="120551" y="171450"/>
                </a:cubicBezTo>
                <a:cubicBezTo>
                  <a:pt x="125004" y="171450"/>
                  <a:pt x="128588" y="167867"/>
                  <a:pt x="128588" y="163413"/>
                </a:cubicBezTo>
                <a:lnTo>
                  <a:pt x="128588" y="150019"/>
                </a:lnTo>
                <a:cubicBezTo>
                  <a:pt x="140408" y="150019"/>
                  <a:pt x="150019" y="140408"/>
                  <a:pt x="150019" y="128588"/>
                </a:cubicBezTo>
                <a:lnTo>
                  <a:pt x="163413" y="128588"/>
                </a:lnTo>
                <a:cubicBezTo>
                  <a:pt x="167867" y="128588"/>
                  <a:pt x="171450" y="125004"/>
                  <a:pt x="171450" y="120551"/>
                </a:cubicBezTo>
                <a:cubicBezTo>
                  <a:pt x="171450" y="116097"/>
                  <a:pt x="167867" y="112514"/>
                  <a:pt x="163413" y="112514"/>
                </a:cubicBezTo>
                <a:lnTo>
                  <a:pt x="150019" y="112514"/>
                </a:lnTo>
                <a:lnTo>
                  <a:pt x="150019" y="93762"/>
                </a:lnTo>
                <a:lnTo>
                  <a:pt x="163413" y="93762"/>
                </a:lnTo>
                <a:cubicBezTo>
                  <a:pt x="167867" y="93762"/>
                  <a:pt x="171450" y="90179"/>
                  <a:pt x="171450" y="85725"/>
                </a:cubicBezTo>
                <a:cubicBezTo>
                  <a:pt x="171450" y="81271"/>
                  <a:pt x="167867" y="77688"/>
                  <a:pt x="163413" y="77688"/>
                </a:cubicBezTo>
                <a:lnTo>
                  <a:pt x="150019" y="77688"/>
                </a:lnTo>
                <a:lnTo>
                  <a:pt x="150019" y="58936"/>
                </a:lnTo>
                <a:lnTo>
                  <a:pt x="163413" y="58936"/>
                </a:lnTo>
                <a:cubicBezTo>
                  <a:pt x="167867" y="58936"/>
                  <a:pt x="171450" y="55353"/>
                  <a:pt x="171450" y="50899"/>
                </a:cubicBezTo>
                <a:cubicBezTo>
                  <a:pt x="171450" y="46446"/>
                  <a:pt x="167867" y="42863"/>
                  <a:pt x="163413" y="42863"/>
                </a:cubicBezTo>
                <a:lnTo>
                  <a:pt x="150019" y="42863"/>
                </a:lnTo>
                <a:cubicBezTo>
                  <a:pt x="150019" y="31042"/>
                  <a:pt x="140408" y="21431"/>
                  <a:pt x="128588" y="21431"/>
                </a:cubicBezTo>
                <a:lnTo>
                  <a:pt x="128588" y="8037"/>
                </a:lnTo>
                <a:cubicBezTo>
                  <a:pt x="128588" y="3583"/>
                  <a:pt x="125004" y="0"/>
                  <a:pt x="120551" y="0"/>
                </a:cubicBezTo>
                <a:cubicBezTo>
                  <a:pt x="116097" y="0"/>
                  <a:pt x="112514" y="3583"/>
                  <a:pt x="112514" y="8037"/>
                </a:cubicBezTo>
                <a:lnTo>
                  <a:pt x="112514" y="21431"/>
                </a:lnTo>
                <a:lnTo>
                  <a:pt x="93762" y="21431"/>
                </a:lnTo>
                <a:lnTo>
                  <a:pt x="93762" y="8037"/>
                </a:lnTo>
                <a:cubicBezTo>
                  <a:pt x="93762" y="3583"/>
                  <a:pt x="90179" y="0"/>
                  <a:pt x="85725" y="0"/>
                </a:cubicBezTo>
                <a:cubicBezTo>
                  <a:pt x="81271" y="0"/>
                  <a:pt x="77688" y="3583"/>
                  <a:pt x="77688" y="8037"/>
                </a:cubicBezTo>
                <a:lnTo>
                  <a:pt x="77688" y="21431"/>
                </a:lnTo>
                <a:lnTo>
                  <a:pt x="58936" y="21431"/>
                </a:lnTo>
                <a:lnTo>
                  <a:pt x="58936" y="8037"/>
                </a:lnTo>
                <a:close/>
                <a:moveTo>
                  <a:pt x="53578" y="42863"/>
                </a:moveTo>
                <a:lnTo>
                  <a:pt x="117872" y="42863"/>
                </a:lnTo>
                <a:cubicBezTo>
                  <a:pt x="123799" y="42863"/>
                  <a:pt x="128588" y="47651"/>
                  <a:pt x="128588" y="53578"/>
                </a:cubicBezTo>
                <a:lnTo>
                  <a:pt x="128588" y="117872"/>
                </a:lnTo>
                <a:cubicBezTo>
                  <a:pt x="128588" y="123799"/>
                  <a:pt x="123799" y="128588"/>
                  <a:pt x="117872" y="128588"/>
                </a:cubicBezTo>
                <a:lnTo>
                  <a:pt x="53578" y="128588"/>
                </a:lnTo>
                <a:cubicBezTo>
                  <a:pt x="47651" y="128588"/>
                  <a:pt x="42863" y="123799"/>
                  <a:pt x="42863" y="117872"/>
                </a:cubicBezTo>
                <a:lnTo>
                  <a:pt x="42863" y="53578"/>
                </a:lnTo>
                <a:cubicBezTo>
                  <a:pt x="42863" y="47651"/>
                  <a:pt x="47651" y="42863"/>
                  <a:pt x="53578" y="42863"/>
                </a:cubicBezTo>
                <a:close/>
                <a:moveTo>
                  <a:pt x="58936" y="58936"/>
                </a:moveTo>
                <a:lnTo>
                  <a:pt x="58936" y="112514"/>
                </a:lnTo>
                <a:lnTo>
                  <a:pt x="112514" y="112514"/>
                </a:lnTo>
                <a:lnTo>
                  <a:pt x="112514" y="58936"/>
                </a:lnTo>
                <a:lnTo>
                  <a:pt x="58936" y="58936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862763" y="2952750"/>
            <a:ext cx="7715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 err="1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国产中间件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538913" y="3224213"/>
            <a:ext cx="809624" cy="261937"/>
          </a:xfrm>
          <a:custGeom>
            <a:avLst/>
            <a:gdLst/>
            <a:ahLst/>
            <a:cxnLst/>
            <a:rect l="l" t="t" r="r" b="b"/>
            <a:pathLst>
              <a:path w="390525" h="238125">
                <a:moveTo>
                  <a:pt x="38100" y="0"/>
                </a:moveTo>
                <a:lnTo>
                  <a:pt x="352425" y="0"/>
                </a:lnTo>
                <a:cubicBezTo>
                  <a:pt x="373453" y="0"/>
                  <a:pt x="390525" y="17072"/>
                  <a:pt x="390525" y="38100"/>
                </a:cubicBezTo>
                <a:lnTo>
                  <a:pt x="390525" y="200025"/>
                </a:lnTo>
                <a:cubicBezTo>
                  <a:pt x="390525" y="221053"/>
                  <a:pt x="373453" y="238125"/>
                  <a:pt x="352425" y="238125"/>
                </a:cubicBezTo>
                <a:lnTo>
                  <a:pt x="38100" y="238125"/>
                </a:lnTo>
                <a:cubicBezTo>
                  <a:pt x="17072" y="238125"/>
                  <a:pt x="0" y="221053"/>
                  <a:pt x="0" y="200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5A7D8C"/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9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东方通</a:t>
            </a:r>
            <a:r>
              <a:rPr lang="en-US" altLang="zh-CN" sz="9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WEB</a:t>
            </a:r>
            <a:endParaRPr lang="en-US" altLang="zh-CN" sz="1600" dirty="0"/>
          </a:p>
        </p:txBody>
      </p:sp>
      <p:sp>
        <p:nvSpPr>
          <p:cNvPr id="43" name="Shape 41"/>
          <p:cNvSpPr/>
          <p:nvPr/>
        </p:nvSpPr>
        <p:spPr>
          <a:xfrm>
            <a:off x="6419850" y="3695700"/>
            <a:ext cx="5162550" cy="742950"/>
          </a:xfrm>
          <a:custGeom>
            <a:avLst/>
            <a:gdLst/>
            <a:ahLst/>
            <a:cxnLst/>
            <a:rect l="l" t="t" r="r" b="b"/>
            <a:pathLst>
              <a:path w="5162550" h="742950">
                <a:moveTo>
                  <a:pt x="76197" y="0"/>
                </a:moveTo>
                <a:lnTo>
                  <a:pt x="5086353" y="0"/>
                </a:lnTo>
                <a:cubicBezTo>
                  <a:pt x="5128435" y="0"/>
                  <a:pt x="5162550" y="34115"/>
                  <a:pt x="5162550" y="76197"/>
                </a:cubicBezTo>
                <a:lnTo>
                  <a:pt x="5162550" y="666753"/>
                </a:lnTo>
                <a:cubicBezTo>
                  <a:pt x="5162550" y="708835"/>
                  <a:pt x="5128435" y="742950"/>
                  <a:pt x="5086353" y="742950"/>
                </a:cubicBezTo>
                <a:lnTo>
                  <a:pt x="76197" y="742950"/>
                </a:lnTo>
                <a:cubicBezTo>
                  <a:pt x="34115" y="742950"/>
                  <a:pt x="0" y="708835"/>
                  <a:pt x="0" y="6667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6557963" y="38195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117872"/>
                </a:lnTo>
                <a:cubicBezTo>
                  <a:pt x="0" y="129693"/>
                  <a:pt x="9611" y="139303"/>
                  <a:pt x="21431" y="139303"/>
                </a:cubicBezTo>
                <a:lnTo>
                  <a:pt x="69652" y="139303"/>
                </a:lnTo>
                <a:lnTo>
                  <a:pt x="64294" y="155377"/>
                </a:lnTo>
                <a:lnTo>
                  <a:pt x="40184" y="155377"/>
                </a:lnTo>
                <a:cubicBezTo>
                  <a:pt x="35730" y="155377"/>
                  <a:pt x="32147" y="158960"/>
                  <a:pt x="32147" y="163413"/>
                </a:cubicBezTo>
                <a:cubicBezTo>
                  <a:pt x="32147" y="167867"/>
                  <a:pt x="35730" y="171450"/>
                  <a:pt x="40184" y="171450"/>
                </a:cubicBezTo>
                <a:lnTo>
                  <a:pt x="131266" y="171450"/>
                </a:lnTo>
                <a:cubicBezTo>
                  <a:pt x="135720" y="171450"/>
                  <a:pt x="139303" y="167867"/>
                  <a:pt x="139303" y="163413"/>
                </a:cubicBezTo>
                <a:cubicBezTo>
                  <a:pt x="139303" y="158960"/>
                  <a:pt x="135720" y="155377"/>
                  <a:pt x="131266" y="155377"/>
                </a:cubicBezTo>
                <a:lnTo>
                  <a:pt x="107156" y="155377"/>
                </a:lnTo>
                <a:lnTo>
                  <a:pt x="101798" y="139303"/>
                </a:lnTo>
                <a:lnTo>
                  <a:pt x="150019" y="139303"/>
                </a:lnTo>
                <a:cubicBezTo>
                  <a:pt x="161839" y="139303"/>
                  <a:pt x="171450" y="129693"/>
                  <a:pt x="171450" y="117872"/>
                </a:cubicBezTo>
                <a:lnTo>
                  <a:pt x="171450" y="32147"/>
                </a:lnTo>
                <a:cubicBezTo>
                  <a:pt x="171450" y="20326"/>
                  <a:pt x="161839" y="10716"/>
                  <a:pt x="150019" y="10716"/>
                </a:cubicBezTo>
                <a:lnTo>
                  <a:pt x="21431" y="10716"/>
                </a:lnTo>
                <a:close/>
                <a:moveTo>
                  <a:pt x="32147" y="32147"/>
                </a:move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lnTo>
                  <a:pt x="150019" y="96441"/>
                </a:lnTo>
                <a:cubicBezTo>
                  <a:pt x="150019" y="102368"/>
                  <a:pt x="145230" y="107156"/>
                  <a:pt x="139303" y="107156"/>
                </a:cubicBezTo>
                <a:lnTo>
                  <a:pt x="32147" y="107156"/>
                </a:lnTo>
                <a:cubicBezTo>
                  <a:pt x="26220" y="107156"/>
                  <a:pt x="21431" y="102368"/>
                  <a:pt x="21431" y="96441"/>
                </a:cubicBezTo>
                <a:lnTo>
                  <a:pt x="21431" y="42863"/>
                </a:lnTo>
                <a:cubicBezTo>
                  <a:pt x="21431" y="36935"/>
                  <a:pt x="26220" y="32147"/>
                  <a:pt x="32147" y="32147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862763" y="3810000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国产操作系统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538913" y="4081463"/>
            <a:ext cx="619125" cy="238125"/>
          </a:xfrm>
          <a:custGeom>
            <a:avLst/>
            <a:gdLst/>
            <a:ahLst/>
            <a:cxnLst/>
            <a:rect l="l" t="t" r="r" b="b"/>
            <a:pathLst>
              <a:path w="619125" h="238125">
                <a:moveTo>
                  <a:pt x="38100" y="0"/>
                </a:moveTo>
                <a:lnTo>
                  <a:pt x="581025" y="0"/>
                </a:lnTo>
                <a:cubicBezTo>
                  <a:pt x="602053" y="0"/>
                  <a:pt x="619125" y="17072"/>
                  <a:pt x="619125" y="38100"/>
                </a:cubicBezTo>
                <a:lnTo>
                  <a:pt x="619125" y="200025"/>
                </a:lnTo>
                <a:cubicBezTo>
                  <a:pt x="619125" y="221053"/>
                  <a:pt x="602053" y="238125"/>
                  <a:pt x="581025" y="238125"/>
                </a:cubicBezTo>
                <a:lnTo>
                  <a:pt x="38100" y="238125"/>
                </a:lnTo>
                <a:cubicBezTo>
                  <a:pt x="17072" y="238125"/>
                  <a:pt x="0" y="221053"/>
                  <a:pt x="0" y="200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5A7D8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534150" y="4076700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银河麒麟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243763" y="4081463"/>
            <a:ext cx="628650" cy="238125"/>
          </a:xfrm>
          <a:custGeom>
            <a:avLst/>
            <a:gdLst/>
            <a:ahLst/>
            <a:cxnLst/>
            <a:rect l="l" t="t" r="r" b="b"/>
            <a:pathLst>
              <a:path w="628650" h="238125">
                <a:moveTo>
                  <a:pt x="38100" y="0"/>
                </a:moveTo>
                <a:lnTo>
                  <a:pt x="590550" y="0"/>
                </a:lnTo>
                <a:cubicBezTo>
                  <a:pt x="611578" y="0"/>
                  <a:pt x="628650" y="17072"/>
                  <a:pt x="628650" y="38100"/>
                </a:cubicBezTo>
                <a:lnTo>
                  <a:pt x="628650" y="200025"/>
                </a:lnTo>
                <a:cubicBezTo>
                  <a:pt x="628650" y="221053"/>
                  <a:pt x="611578" y="238125"/>
                  <a:pt x="590550" y="238125"/>
                </a:cubicBezTo>
                <a:lnTo>
                  <a:pt x="38100" y="238125"/>
                </a:lnTo>
                <a:cubicBezTo>
                  <a:pt x="17072" y="238125"/>
                  <a:pt x="0" y="221053"/>
                  <a:pt x="0" y="200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5A7D8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7239000" y="4076700"/>
            <a:ext cx="6762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统信UOS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19850" y="4552950"/>
            <a:ext cx="5162550" cy="742950"/>
          </a:xfrm>
          <a:custGeom>
            <a:avLst/>
            <a:gdLst/>
            <a:ahLst/>
            <a:cxnLst/>
            <a:rect l="l" t="t" r="r" b="b"/>
            <a:pathLst>
              <a:path w="5162550" h="742950">
                <a:moveTo>
                  <a:pt x="76197" y="0"/>
                </a:moveTo>
                <a:lnTo>
                  <a:pt x="5086353" y="0"/>
                </a:lnTo>
                <a:cubicBezTo>
                  <a:pt x="5128435" y="0"/>
                  <a:pt x="5162550" y="34115"/>
                  <a:pt x="5162550" y="76197"/>
                </a:cubicBezTo>
                <a:lnTo>
                  <a:pt x="5162550" y="666753"/>
                </a:lnTo>
                <a:cubicBezTo>
                  <a:pt x="5162550" y="708835"/>
                  <a:pt x="5128435" y="742950"/>
                  <a:pt x="5086353" y="742950"/>
                </a:cubicBezTo>
                <a:lnTo>
                  <a:pt x="76197" y="742950"/>
                </a:lnTo>
                <a:cubicBezTo>
                  <a:pt x="34115" y="742950"/>
                  <a:pt x="0" y="708835"/>
                  <a:pt x="0" y="6667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6568678" y="46767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6862763" y="4667250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国产数据库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81000" y="5676900"/>
            <a:ext cx="11430000" cy="838200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114297" y="0"/>
                </a:moveTo>
                <a:lnTo>
                  <a:pt x="11315703" y="0"/>
                </a:lnTo>
                <a:cubicBezTo>
                  <a:pt x="11378828" y="0"/>
                  <a:pt x="11430000" y="51172"/>
                  <a:pt x="11430000" y="114297"/>
                </a:cubicBezTo>
                <a:lnTo>
                  <a:pt x="11430000" y="723903"/>
                </a:lnTo>
                <a:cubicBezTo>
                  <a:pt x="11430000" y="787028"/>
                  <a:pt x="11378828" y="838200"/>
                  <a:pt x="1131570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0A4F6B"/>
              </a:gs>
              <a:gs pos="100000">
                <a:srgbClr val="4DB6AC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571500" y="59531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6779" y="127527"/>
                </a:moveTo>
                <a:cubicBezTo>
                  <a:pt x="44202" y="75623"/>
                  <a:pt x="88906" y="35719"/>
                  <a:pt x="142875" y="35719"/>
                </a:cubicBezTo>
                <a:cubicBezTo>
                  <a:pt x="172455" y="35719"/>
                  <a:pt x="199244" y="47718"/>
                  <a:pt x="218666" y="67084"/>
                </a:cubicBezTo>
                <a:cubicBezTo>
                  <a:pt x="218777" y="67196"/>
                  <a:pt x="218889" y="67308"/>
                  <a:pt x="219001" y="67419"/>
                </a:cubicBezTo>
                <a:lnTo>
                  <a:pt x="223242" y="71438"/>
                </a:lnTo>
                <a:lnTo>
                  <a:pt x="196509" y="71438"/>
                </a:lnTo>
                <a:cubicBezTo>
                  <a:pt x="186630" y="71438"/>
                  <a:pt x="178650" y="79418"/>
                  <a:pt x="178650" y="89297"/>
                </a:cubicBezTo>
                <a:cubicBezTo>
                  <a:pt x="178650" y="99175"/>
                  <a:pt x="186630" y="107156"/>
                  <a:pt x="196509" y="107156"/>
                </a:cubicBezTo>
                <a:lnTo>
                  <a:pt x="267946" y="107156"/>
                </a:lnTo>
                <a:cubicBezTo>
                  <a:pt x="277825" y="107156"/>
                  <a:pt x="285806" y="99175"/>
                  <a:pt x="285806" y="89297"/>
                </a:cubicBezTo>
                <a:lnTo>
                  <a:pt x="285806" y="17859"/>
                </a:lnTo>
                <a:cubicBezTo>
                  <a:pt x="285806" y="7981"/>
                  <a:pt x="277825" y="0"/>
                  <a:pt x="267946" y="0"/>
                </a:cubicBezTo>
                <a:cubicBezTo>
                  <a:pt x="258068" y="0"/>
                  <a:pt x="250087" y="7981"/>
                  <a:pt x="250087" y="17859"/>
                </a:cubicBezTo>
                <a:lnTo>
                  <a:pt x="250087" y="47662"/>
                </a:lnTo>
                <a:lnTo>
                  <a:pt x="243780" y="41690"/>
                </a:lnTo>
                <a:cubicBezTo>
                  <a:pt x="217940" y="15962"/>
                  <a:pt x="182221" y="0"/>
                  <a:pt x="142875" y="0"/>
                </a:cubicBezTo>
                <a:cubicBezTo>
                  <a:pt x="70879" y="0"/>
                  <a:pt x="11330" y="53243"/>
                  <a:pt x="1451" y="122504"/>
                </a:cubicBezTo>
                <a:cubicBezTo>
                  <a:pt x="56" y="132271"/>
                  <a:pt x="6809" y="141312"/>
                  <a:pt x="16576" y="142708"/>
                </a:cubicBezTo>
                <a:cubicBezTo>
                  <a:pt x="26343" y="144103"/>
                  <a:pt x="35384" y="137294"/>
                  <a:pt x="36779" y="127583"/>
                </a:cubicBezTo>
                <a:close/>
                <a:moveTo>
                  <a:pt x="284299" y="163246"/>
                </a:moveTo>
                <a:cubicBezTo>
                  <a:pt x="285694" y="153479"/>
                  <a:pt x="278885" y="144438"/>
                  <a:pt x="269174" y="143042"/>
                </a:cubicBezTo>
                <a:cubicBezTo>
                  <a:pt x="259463" y="141647"/>
                  <a:pt x="250366" y="148456"/>
                  <a:pt x="248971" y="158167"/>
                </a:cubicBezTo>
                <a:cubicBezTo>
                  <a:pt x="241548" y="210071"/>
                  <a:pt x="196844" y="249975"/>
                  <a:pt x="142875" y="249975"/>
                </a:cubicBezTo>
                <a:cubicBezTo>
                  <a:pt x="113295" y="249975"/>
                  <a:pt x="86506" y="237976"/>
                  <a:pt x="67084" y="218610"/>
                </a:cubicBezTo>
                <a:cubicBezTo>
                  <a:pt x="66973" y="218498"/>
                  <a:pt x="66861" y="218387"/>
                  <a:pt x="66749" y="218275"/>
                </a:cubicBezTo>
                <a:lnTo>
                  <a:pt x="62508" y="214257"/>
                </a:lnTo>
                <a:lnTo>
                  <a:pt x="89241" y="214257"/>
                </a:lnTo>
                <a:cubicBezTo>
                  <a:pt x="99120" y="214257"/>
                  <a:pt x="107100" y="206276"/>
                  <a:pt x="107100" y="196397"/>
                </a:cubicBezTo>
                <a:cubicBezTo>
                  <a:pt x="107100" y="186519"/>
                  <a:pt x="99120" y="178538"/>
                  <a:pt x="89241" y="178538"/>
                </a:cubicBezTo>
                <a:lnTo>
                  <a:pt x="17859" y="178594"/>
                </a:lnTo>
                <a:cubicBezTo>
                  <a:pt x="13115" y="178594"/>
                  <a:pt x="8539" y="180491"/>
                  <a:pt x="5190" y="183896"/>
                </a:cubicBezTo>
                <a:cubicBezTo>
                  <a:pt x="1842" y="187300"/>
                  <a:pt x="-56" y="191821"/>
                  <a:pt x="0" y="196621"/>
                </a:cubicBezTo>
                <a:lnTo>
                  <a:pt x="558" y="267500"/>
                </a:lnTo>
                <a:cubicBezTo>
                  <a:pt x="614" y="277378"/>
                  <a:pt x="8706" y="285304"/>
                  <a:pt x="18585" y="285192"/>
                </a:cubicBezTo>
                <a:cubicBezTo>
                  <a:pt x="28463" y="285080"/>
                  <a:pt x="36388" y="277044"/>
                  <a:pt x="36277" y="267165"/>
                </a:cubicBezTo>
                <a:lnTo>
                  <a:pt x="36054" y="238423"/>
                </a:lnTo>
                <a:lnTo>
                  <a:pt x="42025" y="244060"/>
                </a:lnTo>
                <a:cubicBezTo>
                  <a:pt x="67866" y="269788"/>
                  <a:pt x="103529" y="285750"/>
                  <a:pt x="142875" y="285750"/>
                </a:cubicBezTo>
                <a:cubicBezTo>
                  <a:pt x="214871" y="285750"/>
                  <a:pt x="274420" y="232507"/>
                  <a:pt x="284299" y="16324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1004887" y="5867400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合规认证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04887" y="6134100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等保三级 | 数据安全法 | 个人信息保护法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810726" y="5829300"/>
            <a:ext cx="847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0886926" y="6172200"/>
            <a:ext cx="771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国产化适配</a:t>
            </a:r>
            <a:endParaRPr lang="en-US" sz="1600" dirty="0"/>
          </a:p>
        </p:txBody>
      </p:sp>
      <p:pic>
        <p:nvPicPr>
          <p:cNvPr id="63" name="图片 62" descr="图片包含 形状&#10;&#10;AI 生成的内容可能不正确。">
            <a:extLst>
              <a:ext uri="{FF2B5EF4-FFF2-40B4-BE49-F238E27FC236}">
                <a16:creationId xmlns:a16="http://schemas.microsoft.com/office/drawing/2014/main" id="{5AA1F05B-84E7-C7CB-718F-C91AA5AF7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913" y="402336"/>
            <a:ext cx="1493087" cy="363601"/>
          </a:xfrm>
          <a:prstGeom prst="rect">
            <a:avLst/>
          </a:prstGeom>
        </p:spPr>
      </p:pic>
      <p:sp>
        <p:nvSpPr>
          <p:cNvPr id="65" name="Shape 35">
            <a:extLst>
              <a:ext uri="{FF2B5EF4-FFF2-40B4-BE49-F238E27FC236}">
                <a16:creationId xmlns:a16="http://schemas.microsoft.com/office/drawing/2014/main" id="{CCFF28A9-757C-9CFB-BC13-3F43CBEFA97A}"/>
              </a:ext>
            </a:extLst>
          </p:cNvPr>
          <p:cNvSpPr/>
          <p:nvPr/>
        </p:nvSpPr>
        <p:spPr>
          <a:xfrm>
            <a:off x="7421833" y="3226725"/>
            <a:ext cx="809624" cy="261937"/>
          </a:xfrm>
          <a:custGeom>
            <a:avLst/>
            <a:gdLst/>
            <a:ahLst/>
            <a:cxnLst/>
            <a:rect l="l" t="t" r="r" b="b"/>
            <a:pathLst>
              <a:path w="390525" h="238125">
                <a:moveTo>
                  <a:pt x="38100" y="0"/>
                </a:moveTo>
                <a:lnTo>
                  <a:pt x="352425" y="0"/>
                </a:lnTo>
                <a:cubicBezTo>
                  <a:pt x="373453" y="0"/>
                  <a:pt x="390525" y="17072"/>
                  <a:pt x="390525" y="38100"/>
                </a:cubicBezTo>
                <a:lnTo>
                  <a:pt x="390525" y="200025"/>
                </a:lnTo>
                <a:cubicBezTo>
                  <a:pt x="390525" y="221053"/>
                  <a:pt x="373453" y="238125"/>
                  <a:pt x="352425" y="238125"/>
                </a:cubicBezTo>
                <a:lnTo>
                  <a:pt x="38100" y="238125"/>
                </a:lnTo>
                <a:cubicBezTo>
                  <a:pt x="17072" y="238125"/>
                  <a:pt x="0" y="221053"/>
                  <a:pt x="0" y="200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5A7D8C"/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9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宝蓝德</a:t>
            </a:r>
            <a:r>
              <a:rPr lang="es-419" altLang="zh-CN" sz="9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</a:t>
            </a:r>
            <a:endParaRPr lang="en-US" altLang="zh-CN" sz="1600" dirty="0"/>
          </a:p>
        </p:txBody>
      </p:sp>
      <p:sp>
        <p:nvSpPr>
          <p:cNvPr id="66" name="Shape 35">
            <a:extLst>
              <a:ext uri="{FF2B5EF4-FFF2-40B4-BE49-F238E27FC236}">
                <a16:creationId xmlns:a16="http://schemas.microsoft.com/office/drawing/2014/main" id="{AAFAFC11-4C9F-10A0-C220-CAD7B47FF12A}"/>
              </a:ext>
            </a:extLst>
          </p:cNvPr>
          <p:cNvSpPr/>
          <p:nvPr/>
        </p:nvSpPr>
        <p:spPr>
          <a:xfrm>
            <a:off x="8304753" y="3229237"/>
            <a:ext cx="809624" cy="261937"/>
          </a:xfrm>
          <a:custGeom>
            <a:avLst/>
            <a:gdLst/>
            <a:ahLst/>
            <a:cxnLst/>
            <a:rect l="l" t="t" r="r" b="b"/>
            <a:pathLst>
              <a:path w="390525" h="238125">
                <a:moveTo>
                  <a:pt x="38100" y="0"/>
                </a:moveTo>
                <a:lnTo>
                  <a:pt x="352425" y="0"/>
                </a:lnTo>
                <a:cubicBezTo>
                  <a:pt x="373453" y="0"/>
                  <a:pt x="390525" y="17072"/>
                  <a:pt x="390525" y="38100"/>
                </a:cubicBezTo>
                <a:lnTo>
                  <a:pt x="390525" y="200025"/>
                </a:lnTo>
                <a:cubicBezTo>
                  <a:pt x="390525" y="221053"/>
                  <a:pt x="373453" y="238125"/>
                  <a:pt x="352425" y="238125"/>
                </a:cubicBezTo>
                <a:lnTo>
                  <a:pt x="38100" y="238125"/>
                </a:lnTo>
                <a:cubicBezTo>
                  <a:pt x="17072" y="238125"/>
                  <a:pt x="0" y="221053"/>
                  <a:pt x="0" y="200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5A7D8C"/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9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东方通</a:t>
            </a:r>
            <a:r>
              <a:rPr lang="es-419" altLang="zh-CN" sz="9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MQ</a:t>
            </a:r>
            <a:endParaRPr lang="en-US" altLang="zh-CN" sz="1600" dirty="0"/>
          </a:p>
        </p:txBody>
      </p:sp>
      <p:sp>
        <p:nvSpPr>
          <p:cNvPr id="67" name="Shape 35">
            <a:extLst>
              <a:ext uri="{FF2B5EF4-FFF2-40B4-BE49-F238E27FC236}">
                <a16:creationId xmlns:a16="http://schemas.microsoft.com/office/drawing/2014/main" id="{958F73C2-FB70-63D6-B54D-368BF0226F20}"/>
              </a:ext>
            </a:extLst>
          </p:cNvPr>
          <p:cNvSpPr/>
          <p:nvPr/>
        </p:nvSpPr>
        <p:spPr>
          <a:xfrm>
            <a:off x="6557439" y="4941094"/>
            <a:ext cx="809624" cy="261937"/>
          </a:xfrm>
          <a:custGeom>
            <a:avLst/>
            <a:gdLst/>
            <a:ahLst/>
            <a:cxnLst/>
            <a:rect l="l" t="t" r="r" b="b"/>
            <a:pathLst>
              <a:path w="390525" h="238125">
                <a:moveTo>
                  <a:pt x="38100" y="0"/>
                </a:moveTo>
                <a:lnTo>
                  <a:pt x="352425" y="0"/>
                </a:lnTo>
                <a:cubicBezTo>
                  <a:pt x="373453" y="0"/>
                  <a:pt x="390525" y="17072"/>
                  <a:pt x="390525" y="38100"/>
                </a:cubicBezTo>
                <a:lnTo>
                  <a:pt x="390525" y="200025"/>
                </a:lnTo>
                <a:cubicBezTo>
                  <a:pt x="390525" y="221053"/>
                  <a:pt x="373453" y="238125"/>
                  <a:pt x="352425" y="238125"/>
                </a:cubicBezTo>
                <a:lnTo>
                  <a:pt x="38100" y="238125"/>
                </a:lnTo>
                <a:cubicBezTo>
                  <a:pt x="17072" y="238125"/>
                  <a:pt x="0" y="221053"/>
                  <a:pt x="0" y="200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5A7D8C"/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9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达梦</a:t>
            </a:r>
            <a:endParaRPr lang="en-US" altLang="zh-CN" sz="1600" dirty="0"/>
          </a:p>
        </p:txBody>
      </p:sp>
      <p:sp>
        <p:nvSpPr>
          <p:cNvPr id="68" name="Shape 35">
            <a:extLst>
              <a:ext uri="{FF2B5EF4-FFF2-40B4-BE49-F238E27FC236}">
                <a16:creationId xmlns:a16="http://schemas.microsoft.com/office/drawing/2014/main" id="{9F6F0893-2FD0-80C7-D9CF-02300F542CB9}"/>
              </a:ext>
            </a:extLst>
          </p:cNvPr>
          <p:cNvSpPr/>
          <p:nvPr/>
        </p:nvSpPr>
        <p:spPr>
          <a:xfrm>
            <a:off x="7435072" y="4941094"/>
            <a:ext cx="1246703" cy="261937"/>
          </a:xfrm>
          <a:custGeom>
            <a:avLst/>
            <a:gdLst/>
            <a:ahLst/>
            <a:cxnLst/>
            <a:rect l="l" t="t" r="r" b="b"/>
            <a:pathLst>
              <a:path w="390525" h="238125">
                <a:moveTo>
                  <a:pt x="38100" y="0"/>
                </a:moveTo>
                <a:lnTo>
                  <a:pt x="352425" y="0"/>
                </a:lnTo>
                <a:cubicBezTo>
                  <a:pt x="373453" y="0"/>
                  <a:pt x="390525" y="17072"/>
                  <a:pt x="390525" y="38100"/>
                </a:cubicBezTo>
                <a:lnTo>
                  <a:pt x="390525" y="200025"/>
                </a:lnTo>
                <a:cubicBezTo>
                  <a:pt x="390525" y="221053"/>
                  <a:pt x="373453" y="238125"/>
                  <a:pt x="352425" y="238125"/>
                </a:cubicBezTo>
                <a:lnTo>
                  <a:pt x="38100" y="238125"/>
                </a:lnTo>
                <a:cubicBezTo>
                  <a:pt x="17072" y="238125"/>
                  <a:pt x="0" y="221053"/>
                  <a:pt x="0" y="200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5A7D8C"/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9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华为数据库</a:t>
            </a:r>
            <a:r>
              <a:rPr lang="es-419" altLang="zh-CN" sz="9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gaussdb</a:t>
            </a:r>
            <a:endParaRPr lang="en-US" altLang="zh-CN" sz="1600" dirty="0"/>
          </a:p>
        </p:txBody>
      </p:sp>
      <p:sp>
        <p:nvSpPr>
          <p:cNvPr id="69" name="Shape 35">
            <a:extLst>
              <a:ext uri="{FF2B5EF4-FFF2-40B4-BE49-F238E27FC236}">
                <a16:creationId xmlns:a16="http://schemas.microsoft.com/office/drawing/2014/main" id="{E406D0BD-122F-DBDD-F116-F7684987C8F1}"/>
              </a:ext>
            </a:extLst>
          </p:cNvPr>
          <p:cNvSpPr/>
          <p:nvPr/>
        </p:nvSpPr>
        <p:spPr>
          <a:xfrm>
            <a:off x="8752950" y="4924425"/>
            <a:ext cx="809624" cy="261937"/>
          </a:xfrm>
          <a:custGeom>
            <a:avLst/>
            <a:gdLst/>
            <a:ahLst/>
            <a:cxnLst/>
            <a:rect l="l" t="t" r="r" b="b"/>
            <a:pathLst>
              <a:path w="390525" h="238125">
                <a:moveTo>
                  <a:pt x="38100" y="0"/>
                </a:moveTo>
                <a:lnTo>
                  <a:pt x="352425" y="0"/>
                </a:lnTo>
                <a:cubicBezTo>
                  <a:pt x="373453" y="0"/>
                  <a:pt x="390525" y="17072"/>
                  <a:pt x="390525" y="38100"/>
                </a:cubicBezTo>
                <a:lnTo>
                  <a:pt x="390525" y="200025"/>
                </a:lnTo>
                <a:cubicBezTo>
                  <a:pt x="390525" y="221053"/>
                  <a:pt x="373453" y="238125"/>
                  <a:pt x="352425" y="238125"/>
                </a:cubicBezTo>
                <a:lnTo>
                  <a:pt x="38100" y="238125"/>
                </a:lnTo>
                <a:cubicBezTo>
                  <a:pt x="17072" y="238125"/>
                  <a:pt x="0" y="221053"/>
                  <a:pt x="0" y="200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5A7D8C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altLang="zh-CN" sz="9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OceanBase</a:t>
            </a:r>
            <a:endParaRPr lang="en-US" altLang="zh-CN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ADVANTAGES (2/2)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核心产品优势（二）：高性能与高可用架构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33375" y="1174750"/>
            <a:ext cx="5683250" cy="2190750"/>
          </a:xfrm>
          <a:custGeom>
            <a:avLst/>
            <a:gdLst/>
            <a:ahLst/>
            <a:cxnLst/>
            <a:rect l="l" t="t" r="r" b="b"/>
            <a:pathLst>
              <a:path w="5683250" h="2190750">
                <a:moveTo>
                  <a:pt x="31750" y="0"/>
                </a:moveTo>
                <a:lnTo>
                  <a:pt x="5587996" y="0"/>
                </a:lnTo>
                <a:cubicBezTo>
                  <a:pt x="5640603" y="0"/>
                  <a:pt x="5683250" y="42647"/>
                  <a:pt x="5683250" y="95254"/>
                </a:cubicBezTo>
                <a:lnTo>
                  <a:pt x="5683250" y="2095496"/>
                </a:lnTo>
                <a:cubicBezTo>
                  <a:pt x="5683250" y="2148103"/>
                  <a:pt x="5640603" y="2190750"/>
                  <a:pt x="5587996" y="2190750"/>
                </a:cubicBezTo>
                <a:lnTo>
                  <a:pt x="31750" y="2190750"/>
                </a:lnTo>
                <a:cubicBezTo>
                  <a:pt x="14227" y="2190750"/>
                  <a:pt x="0" y="2176523"/>
                  <a:pt x="0" y="215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33375" y="1174750"/>
            <a:ext cx="31750" cy="2190750"/>
          </a:xfrm>
          <a:custGeom>
            <a:avLst/>
            <a:gdLst/>
            <a:ahLst/>
            <a:cxnLst/>
            <a:rect l="l" t="t" r="r" b="b"/>
            <a:pathLst>
              <a:path w="31750" h="2190750">
                <a:moveTo>
                  <a:pt x="31750" y="0"/>
                </a:moveTo>
                <a:lnTo>
                  <a:pt x="31750" y="0"/>
                </a:lnTo>
                <a:lnTo>
                  <a:pt x="31750" y="2190750"/>
                </a:lnTo>
                <a:lnTo>
                  <a:pt x="31750" y="2190750"/>
                </a:lnTo>
                <a:cubicBezTo>
                  <a:pt x="14227" y="2190750"/>
                  <a:pt x="0" y="2176523"/>
                  <a:pt x="0" y="215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A4F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08000" y="13335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gradFill flip="none" rotWithShape="1">
            <a:gsLst>
              <a:gs pos="0">
                <a:srgbClr val="0A4F6B"/>
              </a:gs>
              <a:gs pos="100000">
                <a:srgbClr val="5A7D8C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35000" y="1460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47750" y="1365250"/>
            <a:ext cx="1984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亿级并发处理与高可用架构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7750" y="1587500"/>
            <a:ext cx="196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保障不宕机，业务零中断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8000" y="1905000"/>
            <a:ext cx="2611438" cy="762000"/>
          </a:xfrm>
          <a:custGeom>
            <a:avLst/>
            <a:gdLst/>
            <a:ahLst/>
            <a:cxnLst/>
            <a:rect l="l" t="t" r="r" b="b"/>
            <a:pathLst>
              <a:path w="2611438" h="762000">
                <a:moveTo>
                  <a:pt x="63497" y="0"/>
                </a:moveTo>
                <a:lnTo>
                  <a:pt x="2547940" y="0"/>
                </a:lnTo>
                <a:cubicBezTo>
                  <a:pt x="2583009" y="0"/>
                  <a:pt x="2611438" y="28429"/>
                  <a:pt x="2611438" y="63497"/>
                </a:cubicBezTo>
                <a:lnTo>
                  <a:pt x="2611438" y="698503"/>
                </a:lnTo>
                <a:cubicBezTo>
                  <a:pt x="2611438" y="733571"/>
                  <a:pt x="2583009" y="762000"/>
                  <a:pt x="2547940" y="762000"/>
                </a:cubicBezTo>
                <a:lnTo>
                  <a:pt x="63497" y="762000"/>
                </a:lnTo>
                <a:cubicBezTo>
                  <a:pt x="28429" y="762000"/>
                  <a:pt x="0" y="733571"/>
                  <a:pt x="0" y="6985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gradFill flip="none" rotWithShape="1">
            <a:gsLst>
              <a:gs pos="0">
                <a:srgbClr val="0A4F6B"/>
              </a:gs>
              <a:gs pos="100000">
                <a:srgbClr val="4DB6AC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63563" y="2032000"/>
            <a:ext cx="250031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1亿+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7219" y="2381250"/>
            <a:ext cx="2413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日处理能力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46438" y="1905000"/>
            <a:ext cx="2611438" cy="762000"/>
          </a:xfrm>
          <a:custGeom>
            <a:avLst/>
            <a:gdLst/>
            <a:ahLst/>
            <a:cxnLst/>
            <a:rect l="l" t="t" r="r" b="b"/>
            <a:pathLst>
              <a:path w="2611438" h="762000">
                <a:moveTo>
                  <a:pt x="63497" y="0"/>
                </a:moveTo>
                <a:lnTo>
                  <a:pt x="2547940" y="0"/>
                </a:lnTo>
                <a:cubicBezTo>
                  <a:pt x="2583009" y="0"/>
                  <a:pt x="2611438" y="28429"/>
                  <a:pt x="2611438" y="63497"/>
                </a:cubicBezTo>
                <a:lnTo>
                  <a:pt x="2611438" y="698503"/>
                </a:lnTo>
                <a:cubicBezTo>
                  <a:pt x="2611438" y="733571"/>
                  <a:pt x="2583009" y="762000"/>
                  <a:pt x="2547940" y="762000"/>
                </a:cubicBezTo>
                <a:lnTo>
                  <a:pt x="63497" y="762000"/>
                </a:lnTo>
                <a:cubicBezTo>
                  <a:pt x="28429" y="762000"/>
                  <a:pt x="0" y="733571"/>
                  <a:pt x="0" y="6985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/>
              </a:gs>
              <a:gs pos="100000">
                <a:srgbClr val="0A4F6B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302000" y="2032000"/>
            <a:ext cx="250031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2000+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45656" y="2381250"/>
            <a:ext cx="2413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秒级并发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8000" y="2794000"/>
            <a:ext cx="5413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平台具备</a:t>
            </a:r>
            <a:r>
              <a:rPr lang="en-US" sz="1000" dirty="0">
                <a:solidFill>
                  <a:srgbClr val="0A4F6B"/>
                </a:solidFill>
                <a:highlight>
                  <a:srgbClr val="4DB6AC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日处理1亿条以上、秒级2000+并发 </a:t>
            </a:r>
            <a:r>
              <a:rPr lang="en-US" sz="10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的高性能处理能力，轻松应对早高峰挂号、集中出具检验报告等消息迸发场景。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3375" y="3492500"/>
            <a:ext cx="5683250" cy="1920875"/>
          </a:xfrm>
          <a:custGeom>
            <a:avLst/>
            <a:gdLst/>
            <a:ahLst/>
            <a:cxnLst/>
            <a:rect l="l" t="t" r="r" b="b"/>
            <a:pathLst>
              <a:path w="5683250" h="3079750">
                <a:moveTo>
                  <a:pt x="31750" y="0"/>
                </a:moveTo>
                <a:lnTo>
                  <a:pt x="5587993" y="0"/>
                </a:lnTo>
                <a:cubicBezTo>
                  <a:pt x="5640602" y="0"/>
                  <a:pt x="5683250" y="42648"/>
                  <a:pt x="5683250" y="95257"/>
                </a:cubicBezTo>
                <a:lnTo>
                  <a:pt x="5683250" y="2984493"/>
                </a:lnTo>
                <a:cubicBezTo>
                  <a:pt x="5683250" y="3037102"/>
                  <a:pt x="5640602" y="3079750"/>
                  <a:pt x="5587993" y="3079750"/>
                </a:cubicBezTo>
                <a:lnTo>
                  <a:pt x="31750" y="3079750"/>
                </a:lnTo>
                <a:cubicBezTo>
                  <a:pt x="14215" y="3079750"/>
                  <a:pt x="0" y="3065535"/>
                  <a:pt x="0" y="304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333374" y="3492500"/>
            <a:ext cx="32400" cy="1920875"/>
          </a:xfrm>
          <a:custGeom>
            <a:avLst/>
            <a:gdLst/>
            <a:ahLst/>
            <a:cxnLst/>
            <a:rect l="l" t="t" r="r" b="b"/>
            <a:pathLst>
              <a:path w="31750" h="3079750">
                <a:moveTo>
                  <a:pt x="31750" y="0"/>
                </a:moveTo>
                <a:lnTo>
                  <a:pt x="31750" y="0"/>
                </a:lnTo>
                <a:lnTo>
                  <a:pt x="31750" y="3079750"/>
                </a:lnTo>
                <a:lnTo>
                  <a:pt x="31750" y="3079750"/>
                </a:lnTo>
                <a:cubicBezTo>
                  <a:pt x="14227" y="3079750"/>
                  <a:pt x="0" y="3065523"/>
                  <a:pt x="0" y="304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08000" y="36512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/>
              </a:gs>
              <a:gs pos="100000">
                <a:srgbClr val="0A4F6B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35000" y="3778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631" y="71438"/>
                </a:moveTo>
                <a:lnTo>
                  <a:pt x="181570" y="71438"/>
                </a:lnTo>
                <a:cubicBezTo>
                  <a:pt x="186519" y="71438"/>
                  <a:pt x="190500" y="67456"/>
                  <a:pt x="190500" y="62508"/>
                </a:cubicBezTo>
                <a:lnTo>
                  <a:pt x="190500" y="8930"/>
                </a:lnTo>
                <a:cubicBezTo>
                  <a:pt x="190500" y="5321"/>
                  <a:pt x="188342" y="2046"/>
                  <a:pt x="184993" y="670"/>
                </a:cubicBezTo>
                <a:cubicBezTo>
                  <a:pt x="181645" y="-707"/>
                  <a:pt x="177812" y="74"/>
                  <a:pt x="175245" y="2604"/>
                </a:cubicBezTo>
                <a:lnTo>
                  <a:pt x="156009" y="21878"/>
                </a:lnTo>
                <a:cubicBezTo>
                  <a:pt x="139526" y="8223"/>
                  <a:pt x="118318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ubicBezTo>
                  <a:pt x="29468" y="50416"/>
                  <a:pt x="59271" y="23812"/>
                  <a:pt x="95250" y="23812"/>
                </a:cubicBezTo>
                <a:cubicBezTo>
                  <a:pt x="111770" y="23812"/>
                  <a:pt x="126950" y="29394"/>
                  <a:pt x="139043" y="38807"/>
                </a:cubicBezTo>
                <a:lnTo>
                  <a:pt x="121667" y="56183"/>
                </a:lnTo>
                <a:cubicBezTo>
                  <a:pt x="119100" y="58750"/>
                  <a:pt x="118356" y="62582"/>
                  <a:pt x="119732" y="65931"/>
                </a:cubicBezTo>
                <a:cubicBezTo>
                  <a:pt x="121109" y="69279"/>
                  <a:pt x="124383" y="71438"/>
                  <a:pt x="127992" y="71438"/>
                </a:cubicBezTo>
                <a:lnTo>
                  <a:pt x="178631" y="71438"/>
                </a:lnTo>
                <a:close/>
                <a:moveTo>
                  <a:pt x="189570" y="108831"/>
                </a:moveTo>
                <a:cubicBezTo>
                  <a:pt x="190500" y="102319"/>
                  <a:pt x="185961" y="96292"/>
                  <a:pt x="179487" y="95362"/>
                </a:cubicBezTo>
                <a:cubicBezTo>
                  <a:pt x="173013" y="94431"/>
                  <a:pt x="166948" y="98971"/>
                  <a:pt x="166018" y="105445"/>
                </a:cubicBezTo>
                <a:cubicBezTo>
                  <a:pt x="161069" y="140047"/>
                  <a:pt x="131266" y="166650"/>
                  <a:pt x="95287" y="166650"/>
                </a:cubicBezTo>
                <a:cubicBezTo>
                  <a:pt x="78767" y="166650"/>
                  <a:pt x="63587" y="161069"/>
                  <a:pt x="51495" y="151656"/>
                </a:cubicBezTo>
                <a:lnTo>
                  <a:pt x="68833" y="134317"/>
                </a:lnTo>
                <a:cubicBezTo>
                  <a:pt x="71400" y="131750"/>
                  <a:pt x="72144" y="127918"/>
                  <a:pt x="70768" y="124569"/>
                </a:cubicBezTo>
                <a:cubicBezTo>
                  <a:pt x="69391" y="121221"/>
                  <a:pt x="66117" y="119063"/>
                  <a:pt x="62508" y="119063"/>
                </a:cubicBezTo>
                <a:lnTo>
                  <a:pt x="8930" y="119063"/>
                </a:lnTo>
                <a:cubicBezTo>
                  <a:pt x="3981" y="119063"/>
                  <a:pt x="0" y="123044"/>
                  <a:pt x="0" y="127992"/>
                </a:cubicBezTo>
                <a:lnTo>
                  <a:pt x="0" y="181570"/>
                </a:lnTo>
                <a:cubicBezTo>
                  <a:pt x="0" y="185179"/>
                  <a:pt x="2158" y="188454"/>
                  <a:pt x="5507" y="189830"/>
                </a:cubicBezTo>
                <a:cubicBezTo>
                  <a:pt x="8855" y="191207"/>
                  <a:pt x="12688" y="190426"/>
                  <a:pt x="15255" y="187896"/>
                </a:cubicBezTo>
                <a:lnTo>
                  <a:pt x="34528" y="168622"/>
                </a:lnTo>
                <a:cubicBezTo>
                  <a:pt x="50974" y="182277"/>
                  <a:pt x="72182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047750" y="3683000"/>
            <a:ext cx="1190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集群容灾式部署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47750" y="3905250"/>
            <a:ext cx="116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多重保障，自动切换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8001" y="4222750"/>
            <a:ext cx="2611438" cy="476250"/>
          </a:xfrm>
          <a:custGeom>
            <a:avLst/>
            <a:gdLst/>
            <a:ahLst/>
            <a:cxnLst/>
            <a:rect l="l" t="t" r="r" b="b"/>
            <a:pathLst>
              <a:path w="5349875" h="476250">
                <a:moveTo>
                  <a:pt x="63498" y="0"/>
                </a:moveTo>
                <a:lnTo>
                  <a:pt x="5286377" y="0"/>
                </a:lnTo>
                <a:cubicBezTo>
                  <a:pt x="5321446" y="0"/>
                  <a:pt x="5349875" y="28429"/>
                  <a:pt x="5349875" y="63498"/>
                </a:cubicBezTo>
                <a:lnTo>
                  <a:pt x="5349875" y="412752"/>
                </a:lnTo>
                <a:cubicBezTo>
                  <a:pt x="5349875" y="447821"/>
                  <a:pt x="5321446" y="476250"/>
                  <a:pt x="5286377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23094" y="43338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77094" y="4318000"/>
            <a:ext cx="119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同城双活部署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77094" y="4476750"/>
            <a:ext cx="1190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双中心同时运行，互为备份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8001" y="4794250"/>
            <a:ext cx="2611438" cy="476250"/>
          </a:xfrm>
          <a:custGeom>
            <a:avLst/>
            <a:gdLst/>
            <a:ahLst/>
            <a:cxnLst/>
            <a:rect l="l" t="t" r="r" b="b"/>
            <a:pathLst>
              <a:path w="5349875" h="476250">
                <a:moveTo>
                  <a:pt x="63498" y="0"/>
                </a:moveTo>
                <a:lnTo>
                  <a:pt x="5286377" y="0"/>
                </a:lnTo>
                <a:cubicBezTo>
                  <a:pt x="5321446" y="0"/>
                  <a:pt x="5349875" y="28429"/>
                  <a:pt x="5349875" y="63498"/>
                </a:cubicBezTo>
                <a:lnTo>
                  <a:pt x="5349875" y="412752"/>
                </a:lnTo>
                <a:cubicBezTo>
                  <a:pt x="5349875" y="447821"/>
                  <a:pt x="5321446" y="476250"/>
                  <a:pt x="5286377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23094" y="49053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77094" y="4889500"/>
            <a:ext cx="1309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两地三中心架构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77094" y="5048250"/>
            <a:ext cx="1301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生产中心+同城灾备+异地灾备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246438" y="4222750"/>
            <a:ext cx="2611438" cy="476250"/>
          </a:xfrm>
          <a:custGeom>
            <a:avLst/>
            <a:gdLst/>
            <a:ahLst/>
            <a:cxnLst/>
            <a:rect l="l" t="t" r="r" b="b"/>
            <a:pathLst>
              <a:path w="5349875" h="476250">
                <a:moveTo>
                  <a:pt x="63498" y="0"/>
                </a:moveTo>
                <a:lnTo>
                  <a:pt x="5286377" y="0"/>
                </a:lnTo>
                <a:cubicBezTo>
                  <a:pt x="5321446" y="0"/>
                  <a:pt x="5349875" y="28429"/>
                  <a:pt x="5349875" y="63498"/>
                </a:cubicBezTo>
                <a:lnTo>
                  <a:pt x="5349875" y="412752"/>
                </a:lnTo>
                <a:cubicBezTo>
                  <a:pt x="5349875" y="447821"/>
                  <a:pt x="5321446" y="476250"/>
                  <a:pt x="5286377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3361531" y="43338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3615531" y="4318000"/>
            <a:ext cx="138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智能故障切换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615531" y="4476750"/>
            <a:ext cx="1381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主通道故障自动切换至备用资源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46438" y="4794250"/>
            <a:ext cx="2611438" cy="476250"/>
          </a:xfrm>
          <a:custGeom>
            <a:avLst/>
            <a:gdLst/>
            <a:ahLst/>
            <a:cxnLst/>
            <a:rect l="l" t="t" r="r" b="b"/>
            <a:pathLst>
              <a:path w="5349875" h="476250">
                <a:moveTo>
                  <a:pt x="63498" y="0"/>
                </a:moveTo>
                <a:lnTo>
                  <a:pt x="5286377" y="0"/>
                </a:lnTo>
                <a:cubicBezTo>
                  <a:pt x="5321446" y="0"/>
                  <a:pt x="5349875" y="28429"/>
                  <a:pt x="5349875" y="63498"/>
                </a:cubicBezTo>
                <a:lnTo>
                  <a:pt x="5349875" y="412752"/>
                </a:lnTo>
                <a:cubicBezTo>
                  <a:pt x="5349875" y="447821"/>
                  <a:pt x="5321446" y="476250"/>
                  <a:pt x="5286377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3361531" y="49053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3615531" y="4889500"/>
            <a:ext cx="110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在线自动恢复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615531" y="5048250"/>
            <a:ext cx="1095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系统故障自动检测与恢复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75375" y="1174750"/>
            <a:ext cx="5699125" cy="2460625"/>
          </a:xfrm>
          <a:custGeom>
            <a:avLst/>
            <a:gdLst/>
            <a:ahLst/>
            <a:cxnLst/>
            <a:rect l="l" t="t" r="r" b="b"/>
            <a:pathLst>
              <a:path w="5699125" h="2460625">
                <a:moveTo>
                  <a:pt x="95251" y="0"/>
                </a:moveTo>
                <a:lnTo>
                  <a:pt x="5603874" y="0"/>
                </a:lnTo>
                <a:cubicBezTo>
                  <a:pt x="5656480" y="0"/>
                  <a:pt x="5699125" y="42645"/>
                  <a:pt x="5699125" y="95251"/>
                </a:cubicBezTo>
                <a:lnTo>
                  <a:pt x="5699125" y="2365374"/>
                </a:lnTo>
                <a:cubicBezTo>
                  <a:pt x="5699125" y="2417980"/>
                  <a:pt x="5656480" y="2460625"/>
                  <a:pt x="5603874" y="2460625"/>
                </a:cubicBezTo>
                <a:lnTo>
                  <a:pt x="95251" y="2460625"/>
                </a:lnTo>
                <a:cubicBezTo>
                  <a:pt x="42645" y="2460625"/>
                  <a:pt x="0" y="2417980"/>
                  <a:pt x="0" y="2365374"/>
                </a:cubicBezTo>
                <a:lnTo>
                  <a:pt x="0" y="95251"/>
                </a:lnTo>
                <a:cubicBezTo>
                  <a:pt x="0" y="42680"/>
                  <a:pt x="42680" y="0"/>
                  <a:pt x="95251" y="0"/>
                </a:cubicBezTo>
                <a:close/>
              </a:path>
            </a:pathLst>
          </a:custGeom>
          <a:gradFill flip="none" rotWithShape="1">
            <a:gsLst>
              <a:gs pos="0">
                <a:srgbClr val="0A4F6B"/>
              </a:gs>
              <a:gs pos="100000">
                <a:srgbClr val="5A7D8C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6362898" y="1373188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35719" y="-8930"/>
                </a:moveTo>
                <a:cubicBezTo>
                  <a:pt x="40658" y="-8930"/>
                  <a:pt x="44648" y="-4939"/>
                  <a:pt x="44648" y="0"/>
                </a:cubicBezTo>
                <a:lnTo>
                  <a:pt x="44648" y="26789"/>
                </a:lnTo>
                <a:lnTo>
                  <a:pt x="80367" y="26789"/>
                </a:lnTo>
                <a:lnTo>
                  <a:pt x="80367" y="0"/>
                </a:lnTo>
                <a:cubicBezTo>
                  <a:pt x="80367" y="-4939"/>
                  <a:pt x="84358" y="-8930"/>
                  <a:pt x="89297" y="-8930"/>
                </a:cubicBezTo>
                <a:cubicBezTo>
                  <a:pt x="94236" y="-8930"/>
                  <a:pt x="98227" y="-4939"/>
                  <a:pt x="98227" y="0"/>
                </a:cubicBezTo>
                <a:lnTo>
                  <a:pt x="98227" y="26789"/>
                </a:lnTo>
                <a:lnTo>
                  <a:pt x="116086" y="26789"/>
                </a:lnTo>
                <a:cubicBezTo>
                  <a:pt x="121025" y="26789"/>
                  <a:pt x="125016" y="30780"/>
                  <a:pt x="125016" y="35719"/>
                </a:cubicBezTo>
                <a:cubicBezTo>
                  <a:pt x="125016" y="40658"/>
                  <a:pt x="121025" y="44648"/>
                  <a:pt x="116086" y="44648"/>
                </a:cubicBezTo>
                <a:lnTo>
                  <a:pt x="116086" y="62508"/>
                </a:lnTo>
                <a:cubicBezTo>
                  <a:pt x="116086" y="89046"/>
                  <a:pt x="96775" y="111091"/>
                  <a:pt x="71438" y="115332"/>
                </a:cubicBezTo>
                <a:lnTo>
                  <a:pt x="71438" y="133945"/>
                </a:lnTo>
                <a:cubicBezTo>
                  <a:pt x="71438" y="138885"/>
                  <a:pt x="67447" y="142875"/>
                  <a:pt x="62508" y="142875"/>
                </a:cubicBezTo>
                <a:cubicBezTo>
                  <a:pt x="57569" y="142875"/>
                  <a:pt x="53578" y="138885"/>
                  <a:pt x="53578" y="133945"/>
                </a:cubicBezTo>
                <a:lnTo>
                  <a:pt x="53578" y="115332"/>
                </a:lnTo>
                <a:cubicBezTo>
                  <a:pt x="28240" y="111091"/>
                  <a:pt x="8930" y="89046"/>
                  <a:pt x="8930" y="62508"/>
                </a:cubicBezTo>
                <a:lnTo>
                  <a:pt x="8930" y="44648"/>
                </a:lnTo>
                <a:cubicBezTo>
                  <a:pt x="3990" y="44648"/>
                  <a:pt x="0" y="40658"/>
                  <a:pt x="0" y="35719"/>
                </a:cubicBezTo>
                <a:cubicBezTo>
                  <a:pt x="0" y="30780"/>
                  <a:pt x="3990" y="26789"/>
                  <a:pt x="8930" y="26789"/>
                </a:cubicBezTo>
                <a:lnTo>
                  <a:pt x="26789" y="26789"/>
                </a:lnTo>
                <a:lnTo>
                  <a:pt x="26789" y="0"/>
                </a:lnTo>
                <a:cubicBezTo>
                  <a:pt x="26789" y="-4939"/>
                  <a:pt x="30780" y="-8930"/>
                  <a:pt x="35719" y="-893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516688" y="1333500"/>
            <a:ext cx="5270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易于与医院信息总线（HSB）集成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34125" y="1682750"/>
            <a:ext cx="5445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8ECE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</a:t>
            </a:r>
            <a:r>
              <a:rPr lang="en-US" sz="1000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标准化接口设计</a:t>
            </a:r>
            <a:r>
              <a:rPr lang="en-US" sz="1000" dirty="0">
                <a:solidFill>
                  <a:srgbClr val="E8ECE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，支持多种协议，轻松对接医院的集成平台（ESB/HSB</a:t>
            </a:r>
            <a:r>
              <a:rPr lang="en-US" altLang="zh-CN" sz="1000" dirty="0">
                <a:solidFill>
                  <a:srgbClr val="E8ECE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/HIS</a:t>
            </a:r>
            <a:r>
              <a:rPr lang="zh-CN" altLang="en-US" sz="1000" dirty="0">
                <a:solidFill>
                  <a:srgbClr val="E8ECE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等系统</a:t>
            </a:r>
            <a:r>
              <a:rPr lang="en-US" sz="1000" dirty="0">
                <a:solidFill>
                  <a:srgbClr val="E8ECE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），能够无缝融入医院现有的信息化生态。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34125" y="2222500"/>
            <a:ext cx="2643188" cy="579438"/>
          </a:xfrm>
          <a:custGeom>
            <a:avLst/>
            <a:gdLst/>
            <a:ahLst/>
            <a:cxnLst/>
            <a:rect l="l" t="t" r="r" b="b"/>
            <a:pathLst>
              <a:path w="2643188" h="579438">
                <a:moveTo>
                  <a:pt x="63501" y="0"/>
                </a:moveTo>
                <a:lnTo>
                  <a:pt x="2579687" y="0"/>
                </a:lnTo>
                <a:cubicBezTo>
                  <a:pt x="2614757" y="0"/>
                  <a:pt x="2643188" y="28430"/>
                  <a:pt x="2643188" y="63501"/>
                </a:cubicBezTo>
                <a:lnTo>
                  <a:pt x="2643188" y="515937"/>
                </a:lnTo>
                <a:cubicBezTo>
                  <a:pt x="2643188" y="551007"/>
                  <a:pt x="2614757" y="579438"/>
                  <a:pt x="2579687" y="579438"/>
                </a:cubicBezTo>
                <a:lnTo>
                  <a:pt x="63501" y="579438"/>
                </a:lnTo>
                <a:cubicBezTo>
                  <a:pt x="28430" y="579438"/>
                  <a:pt x="0" y="551007"/>
                  <a:pt x="0" y="515937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7576344" y="23256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09110" y="86816"/>
                </a:moveTo>
                <a:lnTo>
                  <a:pt x="49919" y="86816"/>
                </a:lnTo>
                <a:cubicBezTo>
                  <a:pt x="50819" y="106815"/>
                  <a:pt x="55252" y="125233"/>
                  <a:pt x="61547" y="138720"/>
                </a:cubicBezTo>
                <a:cubicBezTo>
                  <a:pt x="65081" y="146317"/>
                  <a:pt x="68895" y="151681"/>
                  <a:pt x="72430" y="154967"/>
                </a:cubicBezTo>
                <a:cubicBezTo>
                  <a:pt x="75902" y="158223"/>
                  <a:pt x="78290" y="158750"/>
                  <a:pt x="79530" y="158750"/>
                </a:cubicBezTo>
                <a:cubicBezTo>
                  <a:pt x="80770" y="158750"/>
                  <a:pt x="83158" y="158223"/>
                  <a:pt x="86630" y="154967"/>
                </a:cubicBezTo>
                <a:cubicBezTo>
                  <a:pt x="90165" y="151681"/>
                  <a:pt x="93979" y="146286"/>
                  <a:pt x="97513" y="138720"/>
                </a:cubicBezTo>
                <a:cubicBezTo>
                  <a:pt x="103808" y="125233"/>
                  <a:pt x="108241" y="106815"/>
                  <a:pt x="109141" y="86816"/>
                </a:cubicBezTo>
                <a:close/>
                <a:moveTo>
                  <a:pt x="49888" y="71934"/>
                </a:moveTo>
                <a:lnTo>
                  <a:pt x="109079" y="71934"/>
                </a:lnTo>
                <a:cubicBezTo>
                  <a:pt x="108210" y="51935"/>
                  <a:pt x="103777" y="33517"/>
                  <a:pt x="97482" y="20030"/>
                </a:cubicBezTo>
                <a:cubicBezTo>
                  <a:pt x="93948" y="12464"/>
                  <a:pt x="90134" y="7069"/>
                  <a:pt x="86599" y="3783"/>
                </a:cubicBezTo>
                <a:cubicBezTo>
                  <a:pt x="83127" y="527"/>
                  <a:pt x="80739" y="0"/>
                  <a:pt x="79499" y="0"/>
                </a:cubicBezTo>
                <a:cubicBezTo>
                  <a:pt x="78259" y="0"/>
                  <a:pt x="75871" y="527"/>
                  <a:pt x="72399" y="3783"/>
                </a:cubicBezTo>
                <a:cubicBezTo>
                  <a:pt x="68864" y="7069"/>
                  <a:pt x="65050" y="12464"/>
                  <a:pt x="61516" y="20030"/>
                </a:cubicBezTo>
                <a:cubicBezTo>
                  <a:pt x="55221" y="33517"/>
                  <a:pt x="50788" y="51935"/>
                  <a:pt x="49888" y="71934"/>
                </a:cubicBezTo>
                <a:close/>
                <a:moveTo>
                  <a:pt x="35006" y="71934"/>
                </a:moveTo>
                <a:cubicBezTo>
                  <a:pt x="36091" y="45393"/>
                  <a:pt x="42943" y="20743"/>
                  <a:pt x="52958" y="4558"/>
                </a:cubicBezTo>
                <a:cubicBezTo>
                  <a:pt x="24402" y="14666"/>
                  <a:pt x="3380" y="40680"/>
                  <a:pt x="465" y="71934"/>
                </a:cubicBezTo>
                <a:lnTo>
                  <a:pt x="35006" y="71934"/>
                </a:lnTo>
                <a:close/>
                <a:moveTo>
                  <a:pt x="465" y="86816"/>
                </a:moveTo>
                <a:cubicBezTo>
                  <a:pt x="3380" y="118070"/>
                  <a:pt x="24402" y="144084"/>
                  <a:pt x="52958" y="154192"/>
                </a:cubicBezTo>
                <a:cubicBezTo>
                  <a:pt x="42943" y="138007"/>
                  <a:pt x="36091" y="113357"/>
                  <a:pt x="35006" y="86816"/>
                </a:cubicBezTo>
                <a:lnTo>
                  <a:pt x="465" y="86816"/>
                </a:lnTo>
                <a:close/>
                <a:moveTo>
                  <a:pt x="123992" y="86816"/>
                </a:moveTo>
                <a:cubicBezTo>
                  <a:pt x="122907" y="113357"/>
                  <a:pt x="116055" y="138007"/>
                  <a:pt x="106040" y="154192"/>
                </a:cubicBezTo>
                <a:cubicBezTo>
                  <a:pt x="134596" y="144053"/>
                  <a:pt x="155618" y="118070"/>
                  <a:pt x="158533" y="86816"/>
                </a:cubicBezTo>
                <a:lnTo>
                  <a:pt x="123992" y="86816"/>
                </a:lnTo>
                <a:close/>
                <a:moveTo>
                  <a:pt x="158533" y="71934"/>
                </a:moveTo>
                <a:cubicBezTo>
                  <a:pt x="155618" y="40680"/>
                  <a:pt x="134596" y="14666"/>
                  <a:pt x="106040" y="4558"/>
                </a:cubicBezTo>
                <a:cubicBezTo>
                  <a:pt x="116055" y="20743"/>
                  <a:pt x="122907" y="45393"/>
                  <a:pt x="123992" y="71934"/>
                </a:cubicBezTo>
                <a:lnTo>
                  <a:pt x="158533" y="71934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401594" y="2547938"/>
            <a:ext cx="2508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HTTP/HTTPS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072563" y="2222500"/>
            <a:ext cx="2643188" cy="579438"/>
          </a:xfrm>
          <a:custGeom>
            <a:avLst/>
            <a:gdLst/>
            <a:ahLst/>
            <a:cxnLst/>
            <a:rect l="l" t="t" r="r" b="b"/>
            <a:pathLst>
              <a:path w="2643188" h="579438">
                <a:moveTo>
                  <a:pt x="63501" y="0"/>
                </a:moveTo>
                <a:lnTo>
                  <a:pt x="2579687" y="0"/>
                </a:lnTo>
                <a:cubicBezTo>
                  <a:pt x="2614757" y="0"/>
                  <a:pt x="2643188" y="28430"/>
                  <a:pt x="2643188" y="63501"/>
                </a:cubicBezTo>
                <a:lnTo>
                  <a:pt x="2643188" y="515937"/>
                </a:lnTo>
                <a:cubicBezTo>
                  <a:pt x="2643188" y="551007"/>
                  <a:pt x="2614757" y="579438"/>
                  <a:pt x="2579687" y="579438"/>
                </a:cubicBezTo>
                <a:lnTo>
                  <a:pt x="63501" y="579438"/>
                </a:lnTo>
                <a:cubicBezTo>
                  <a:pt x="28430" y="579438"/>
                  <a:pt x="0" y="551007"/>
                  <a:pt x="0" y="515937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10314781" y="23256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5835" y="46695"/>
                </a:moveTo>
                <a:lnTo>
                  <a:pt x="126070" y="76460"/>
                </a:lnTo>
                <a:cubicBezTo>
                  <a:pt x="123217" y="79313"/>
                  <a:pt x="118969" y="80150"/>
                  <a:pt x="115249" y="78600"/>
                </a:cubicBezTo>
                <a:cubicBezTo>
                  <a:pt x="111528" y="77050"/>
                  <a:pt x="109141" y="73453"/>
                  <a:pt x="109141" y="69453"/>
                </a:cubicBezTo>
                <a:lnTo>
                  <a:pt x="109141" y="49609"/>
                </a:lnTo>
                <a:lnTo>
                  <a:pt x="9922" y="49609"/>
                </a:lnTo>
                <a:cubicBezTo>
                  <a:pt x="4434" y="49609"/>
                  <a:pt x="0" y="45176"/>
                  <a:pt x="0" y="39688"/>
                </a:cubicBezTo>
                <a:cubicBezTo>
                  <a:pt x="0" y="34199"/>
                  <a:pt x="4434" y="29766"/>
                  <a:pt x="9922" y="29766"/>
                </a:cubicBezTo>
                <a:lnTo>
                  <a:pt x="109141" y="29766"/>
                </a:lnTo>
                <a:lnTo>
                  <a:pt x="109141" y="9922"/>
                </a:lnTo>
                <a:cubicBezTo>
                  <a:pt x="109141" y="5922"/>
                  <a:pt x="111559" y="2294"/>
                  <a:pt x="115280" y="744"/>
                </a:cubicBezTo>
                <a:cubicBezTo>
                  <a:pt x="119000" y="-806"/>
                  <a:pt x="123248" y="62"/>
                  <a:pt x="126101" y="2884"/>
                </a:cubicBezTo>
                <a:lnTo>
                  <a:pt x="155866" y="32649"/>
                </a:lnTo>
                <a:cubicBezTo>
                  <a:pt x="159742" y="36525"/>
                  <a:pt x="159742" y="42819"/>
                  <a:pt x="155866" y="46695"/>
                </a:cubicBezTo>
                <a:close/>
                <a:moveTo>
                  <a:pt x="32649" y="155835"/>
                </a:moveTo>
                <a:lnTo>
                  <a:pt x="2884" y="126070"/>
                </a:lnTo>
                <a:cubicBezTo>
                  <a:pt x="-992" y="122194"/>
                  <a:pt x="-992" y="115900"/>
                  <a:pt x="2884" y="112024"/>
                </a:cubicBezTo>
                <a:lnTo>
                  <a:pt x="32649" y="82259"/>
                </a:lnTo>
                <a:cubicBezTo>
                  <a:pt x="35502" y="79406"/>
                  <a:pt x="39750" y="78569"/>
                  <a:pt x="43470" y="80119"/>
                </a:cubicBezTo>
                <a:cubicBezTo>
                  <a:pt x="47191" y="81669"/>
                  <a:pt x="49609" y="85297"/>
                  <a:pt x="49609" y="89297"/>
                </a:cubicBezTo>
                <a:lnTo>
                  <a:pt x="49609" y="109141"/>
                </a:lnTo>
                <a:lnTo>
                  <a:pt x="148828" y="109141"/>
                </a:lnTo>
                <a:cubicBezTo>
                  <a:pt x="154316" y="109141"/>
                  <a:pt x="158750" y="113574"/>
                  <a:pt x="158750" y="119062"/>
                </a:cubicBezTo>
                <a:cubicBezTo>
                  <a:pt x="158750" y="124551"/>
                  <a:pt x="154316" y="128984"/>
                  <a:pt x="148828" y="128984"/>
                </a:cubicBezTo>
                <a:lnTo>
                  <a:pt x="49609" y="128984"/>
                </a:lnTo>
                <a:lnTo>
                  <a:pt x="49609" y="148828"/>
                </a:lnTo>
                <a:cubicBezTo>
                  <a:pt x="49609" y="152828"/>
                  <a:pt x="47191" y="156456"/>
                  <a:pt x="43470" y="158006"/>
                </a:cubicBezTo>
                <a:cubicBezTo>
                  <a:pt x="39750" y="159556"/>
                  <a:pt x="35502" y="158688"/>
                  <a:pt x="32649" y="155866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9140031" y="2547938"/>
            <a:ext cx="2508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CMPP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34125" y="2897188"/>
            <a:ext cx="2643188" cy="579438"/>
          </a:xfrm>
          <a:custGeom>
            <a:avLst/>
            <a:gdLst/>
            <a:ahLst/>
            <a:cxnLst/>
            <a:rect l="l" t="t" r="r" b="b"/>
            <a:pathLst>
              <a:path w="2643188" h="579438">
                <a:moveTo>
                  <a:pt x="63501" y="0"/>
                </a:moveTo>
                <a:lnTo>
                  <a:pt x="2579687" y="0"/>
                </a:lnTo>
                <a:cubicBezTo>
                  <a:pt x="2614757" y="0"/>
                  <a:pt x="2643188" y="28430"/>
                  <a:pt x="2643188" y="63501"/>
                </a:cubicBezTo>
                <a:lnTo>
                  <a:pt x="2643188" y="515937"/>
                </a:lnTo>
                <a:cubicBezTo>
                  <a:pt x="2643188" y="551007"/>
                  <a:pt x="2614757" y="579438"/>
                  <a:pt x="2579687" y="579438"/>
                </a:cubicBezTo>
                <a:lnTo>
                  <a:pt x="63501" y="579438"/>
                </a:lnTo>
                <a:cubicBezTo>
                  <a:pt x="28430" y="579438"/>
                  <a:pt x="0" y="551007"/>
                  <a:pt x="0" y="515937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7566422" y="3000375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76895" y="27285"/>
                </a:moveTo>
                <a:lnTo>
                  <a:pt x="101699" y="27285"/>
                </a:lnTo>
                <a:lnTo>
                  <a:pt x="101699" y="42168"/>
                </a:lnTo>
                <a:lnTo>
                  <a:pt x="76895" y="42168"/>
                </a:lnTo>
                <a:lnTo>
                  <a:pt x="76895" y="27285"/>
                </a:lnTo>
                <a:close/>
                <a:moveTo>
                  <a:pt x="74414" y="9922"/>
                </a:moveTo>
                <a:cubicBezTo>
                  <a:pt x="66198" y="9922"/>
                  <a:pt x="59531" y="16588"/>
                  <a:pt x="59531" y="24805"/>
                </a:cubicBezTo>
                <a:lnTo>
                  <a:pt x="59531" y="44648"/>
                </a:lnTo>
                <a:cubicBezTo>
                  <a:pt x="59531" y="52865"/>
                  <a:pt x="66198" y="59531"/>
                  <a:pt x="74414" y="59531"/>
                </a:cubicBezTo>
                <a:lnTo>
                  <a:pt x="79375" y="59531"/>
                </a:lnTo>
                <a:lnTo>
                  <a:pt x="79375" y="69453"/>
                </a:lnTo>
                <a:lnTo>
                  <a:pt x="9922" y="69453"/>
                </a:lnTo>
                <a:cubicBezTo>
                  <a:pt x="4434" y="69453"/>
                  <a:pt x="0" y="73887"/>
                  <a:pt x="0" y="79375"/>
                </a:cubicBezTo>
                <a:cubicBezTo>
                  <a:pt x="0" y="84863"/>
                  <a:pt x="4434" y="89297"/>
                  <a:pt x="9922" y="89297"/>
                </a:cubicBezTo>
                <a:lnTo>
                  <a:pt x="39688" y="89297"/>
                </a:lnTo>
                <a:lnTo>
                  <a:pt x="39688" y="99219"/>
                </a:lnTo>
                <a:lnTo>
                  <a:pt x="34727" y="99219"/>
                </a:lnTo>
                <a:cubicBezTo>
                  <a:pt x="26510" y="99219"/>
                  <a:pt x="19844" y="105885"/>
                  <a:pt x="19844" y="114102"/>
                </a:cubicBezTo>
                <a:lnTo>
                  <a:pt x="19844" y="133945"/>
                </a:lnTo>
                <a:cubicBezTo>
                  <a:pt x="19844" y="142162"/>
                  <a:pt x="26510" y="148828"/>
                  <a:pt x="34727" y="148828"/>
                </a:cubicBezTo>
                <a:lnTo>
                  <a:pt x="64492" y="148828"/>
                </a:lnTo>
                <a:cubicBezTo>
                  <a:pt x="72709" y="148828"/>
                  <a:pt x="79375" y="142162"/>
                  <a:pt x="79375" y="133945"/>
                </a:cubicBezTo>
                <a:lnTo>
                  <a:pt x="79375" y="114102"/>
                </a:lnTo>
                <a:cubicBezTo>
                  <a:pt x="79375" y="105885"/>
                  <a:pt x="72709" y="99219"/>
                  <a:pt x="64492" y="99219"/>
                </a:cubicBezTo>
                <a:lnTo>
                  <a:pt x="59531" y="99219"/>
                </a:lnTo>
                <a:lnTo>
                  <a:pt x="59531" y="89297"/>
                </a:lnTo>
                <a:lnTo>
                  <a:pt x="119062" y="89297"/>
                </a:lnTo>
                <a:lnTo>
                  <a:pt x="119062" y="99219"/>
                </a:lnTo>
                <a:lnTo>
                  <a:pt x="114102" y="99219"/>
                </a:lnTo>
                <a:cubicBezTo>
                  <a:pt x="105885" y="99219"/>
                  <a:pt x="99219" y="105885"/>
                  <a:pt x="99219" y="114102"/>
                </a:cubicBezTo>
                <a:lnTo>
                  <a:pt x="99219" y="133945"/>
                </a:lnTo>
                <a:cubicBezTo>
                  <a:pt x="99219" y="142162"/>
                  <a:pt x="105885" y="148828"/>
                  <a:pt x="114102" y="148828"/>
                </a:cubicBezTo>
                <a:lnTo>
                  <a:pt x="143867" y="148828"/>
                </a:lnTo>
                <a:cubicBezTo>
                  <a:pt x="152084" y="148828"/>
                  <a:pt x="158750" y="142162"/>
                  <a:pt x="158750" y="133945"/>
                </a:cubicBezTo>
                <a:lnTo>
                  <a:pt x="158750" y="114102"/>
                </a:lnTo>
                <a:cubicBezTo>
                  <a:pt x="158750" y="105885"/>
                  <a:pt x="152084" y="99219"/>
                  <a:pt x="143867" y="99219"/>
                </a:cubicBezTo>
                <a:lnTo>
                  <a:pt x="138906" y="99219"/>
                </a:lnTo>
                <a:lnTo>
                  <a:pt x="138906" y="89297"/>
                </a:lnTo>
                <a:lnTo>
                  <a:pt x="168672" y="89297"/>
                </a:lnTo>
                <a:cubicBezTo>
                  <a:pt x="174160" y="89297"/>
                  <a:pt x="178594" y="84863"/>
                  <a:pt x="178594" y="79375"/>
                </a:cubicBezTo>
                <a:cubicBezTo>
                  <a:pt x="178594" y="73887"/>
                  <a:pt x="174160" y="69453"/>
                  <a:pt x="168672" y="69453"/>
                </a:cubicBezTo>
                <a:lnTo>
                  <a:pt x="99219" y="69453"/>
                </a:lnTo>
                <a:lnTo>
                  <a:pt x="99219" y="59531"/>
                </a:lnTo>
                <a:lnTo>
                  <a:pt x="104180" y="59531"/>
                </a:lnTo>
                <a:cubicBezTo>
                  <a:pt x="112396" y="59531"/>
                  <a:pt x="119062" y="52865"/>
                  <a:pt x="119062" y="44648"/>
                </a:cubicBezTo>
                <a:lnTo>
                  <a:pt x="119062" y="24805"/>
                </a:lnTo>
                <a:cubicBezTo>
                  <a:pt x="119062" y="16588"/>
                  <a:pt x="112396" y="9922"/>
                  <a:pt x="104180" y="9922"/>
                </a:cubicBezTo>
                <a:lnTo>
                  <a:pt x="74414" y="9922"/>
                </a:lnTo>
                <a:close/>
                <a:moveTo>
                  <a:pt x="138906" y="116582"/>
                </a:moveTo>
                <a:lnTo>
                  <a:pt x="141387" y="116582"/>
                </a:lnTo>
                <a:lnTo>
                  <a:pt x="141387" y="131465"/>
                </a:lnTo>
                <a:lnTo>
                  <a:pt x="116582" y="131465"/>
                </a:lnTo>
                <a:lnTo>
                  <a:pt x="116582" y="116582"/>
                </a:lnTo>
                <a:lnTo>
                  <a:pt x="138906" y="116582"/>
                </a:lnTo>
                <a:close/>
                <a:moveTo>
                  <a:pt x="59531" y="116582"/>
                </a:moveTo>
                <a:lnTo>
                  <a:pt x="62012" y="116582"/>
                </a:lnTo>
                <a:lnTo>
                  <a:pt x="62012" y="131465"/>
                </a:lnTo>
                <a:lnTo>
                  <a:pt x="37207" y="131465"/>
                </a:lnTo>
                <a:lnTo>
                  <a:pt x="37207" y="116582"/>
                </a:lnTo>
                <a:lnTo>
                  <a:pt x="59531" y="116582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6401594" y="3222625"/>
            <a:ext cx="2508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TCP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072563" y="2897188"/>
            <a:ext cx="2643188" cy="579438"/>
          </a:xfrm>
          <a:custGeom>
            <a:avLst/>
            <a:gdLst/>
            <a:ahLst/>
            <a:cxnLst/>
            <a:rect l="l" t="t" r="r" b="b"/>
            <a:pathLst>
              <a:path w="2643188" h="579438">
                <a:moveTo>
                  <a:pt x="63501" y="0"/>
                </a:moveTo>
                <a:lnTo>
                  <a:pt x="2579687" y="0"/>
                </a:lnTo>
                <a:cubicBezTo>
                  <a:pt x="2614757" y="0"/>
                  <a:pt x="2643188" y="28430"/>
                  <a:pt x="2643188" y="63501"/>
                </a:cubicBezTo>
                <a:lnTo>
                  <a:pt x="2643188" y="515937"/>
                </a:lnTo>
                <a:cubicBezTo>
                  <a:pt x="2643188" y="551007"/>
                  <a:pt x="2614757" y="579438"/>
                  <a:pt x="2579687" y="579438"/>
                </a:cubicBezTo>
                <a:lnTo>
                  <a:pt x="63501" y="579438"/>
                </a:lnTo>
                <a:cubicBezTo>
                  <a:pt x="28430" y="579438"/>
                  <a:pt x="0" y="551007"/>
                  <a:pt x="0" y="515937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10304859" y="3000375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9140031" y="3222625"/>
            <a:ext cx="2508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SDK/API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175375" y="3762376"/>
            <a:ext cx="5699125" cy="1651000"/>
          </a:xfrm>
          <a:custGeom>
            <a:avLst/>
            <a:gdLst/>
            <a:ahLst/>
            <a:cxnLst/>
            <a:rect l="l" t="t" r="r" b="b"/>
            <a:pathLst>
              <a:path w="5699125" h="2809875">
                <a:moveTo>
                  <a:pt x="95255" y="0"/>
                </a:moveTo>
                <a:lnTo>
                  <a:pt x="5603870" y="0"/>
                </a:lnTo>
                <a:cubicBezTo>
                  <a:pt x="5656478" y="0"/>
                  <a:pt x="5699125" y="42647"/>
                  <a:pt x="5699125" y="95255"/>
                </a:cubicBezTo>
                <a:lnTo>
                  <a:pt x="5699125" y="2714620"/>
                </a:lnTo>
                <a:cubicBezTo>
                  <a:pt x="5699125" y="2767228"/>
                  <a:pt x="5656478" y="2809875"/>
                  <a:pt x="5603870" y="2809875"/>
                </a:cubicBezTo>
                <a:lnTo>
                  <a:pt x="95255" y="2809875"/>
                </a:lnTo>
                <a:cubicBezTo>
                  <a:pt x="42647" y="2809875"/>
                  <a:pt x="0" y="2767228"/>
                  <a:pt x="0" y="2714620"/>
                </a:cubicBezTo>
                <a:lnTo>
                  <a:pt x="0" y="95255"/>
                </a:lnTo>
                <a:cubicBezTo>
                  <a:pt x="0" y="42682"/>
                  <a:pt x="42682" y="0"/>
                  <a:pt x="9525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6336109" y="3960813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116058" y="58741"/>
                </a:moveTo>
                <a:cubicBezTo>
                  <a:pt x="119462" y="57820"/>
                  <a:pt x="123034" y="59438"/>
                  <a:pt x="124569" y="62592"/>
                </a:cubicBezTo>
                <a:lnTo>
                  <a:pt x="129760" y="73084"/>
                </a:lnTo>
                <a:cubicBezTo>
                  <a:pt x="132634" y="73475"/>
                  <a:pt x="135452" y="74256"/>
                  <a:pt x="138103" y="75344"/>
                </a:cubicBezTo>
                <a:lnTo>
                  <a:pt x="147870" y="68842"/>
                </a:lnTo>
                <a:cubicBezTo>
                  <a:pt x="150800" y="66889"/>
                  <a:pt x="154679" y="67280"/>
                  <a:pt x="157162" y="69763"/>
                </a:cubicBezTo>
                <a:lnTo>
                  <a:pt x="162520" y="75121"/>
                </a:lnTo>
                <a:cubicBezTo>
                  <a:pt x="165004" y="77605"/>
                  <a:pt x="165395" y="81511"/>
                  <a:pt x="163441" y="84413"/>
                </a:cubicBezTo>
                <a:lnTo>
                  <a:pt x="156939" y="94152"/>
                </a:lnTo>
                <a:cubicBezTo>
                  <a:pt x="157469" y="95464"/>
                  <a:pt x="157944" y="96831"/>
                  <a:pt x="158335" y="98254"/>
                </a:cubicBezTo>
                <a:cubicBezTo>
                  <a:pt x="158725" y="99678"/>
                  <a:pt x="158976" y="101073"/>
                  <a:pt x="159172" y="102496"/>
                </a:cubicBezTo>
                <a:lnTo>
                  <a:pt x="169692" y="107686"/>
                </a:lnTo>
                <a:cubicBezTo>
                  <a:pt x="172845" y="109249"/>
                  <a:pt x="174464" y="112821"/>
                  <a:pt x="173543" y="116198"/>
                </a:cubicBezTo>
                <a:lnTo>
                  <a:pt x="171590" y="123509"/>
                </a:lnTo>
                <a:cubicBezTo>
                  <a:pt x="170669" y="126885"/>
                  <a:pt x="167515" y="129174"/>
                  <a:pt x="163999" y="128950"/>
                </a:cubicBezTo>
                <a:lnTo>
                  <a:pt x="152279" y="128197"/>
                </a:lnTo>
                <a:cubicBezTo>
                  <a:pt x="150521" y="130457"/>
                  <a:pt x="148484" y="132550"/>
                  <a:pt x="146168" y="134336"/>
                </a:cubicBezTo>
                <a:lnTo>
                  <a:pt x="146921" y="146028"/>
                </a:lnTo>
                <a:cubicBezTo>
                  <a:pt x="147145" y="149544"/>
                  <a:pt x="144856" y="152726"/>
                  <a:pt x="141480" y="153619"/>
                </a:cubicBezTo>
                <a:lnTo>
                  <a:pt x="134169" y="155572"/>
                </a:lnTo>
                <a:cubicBezTo>
                  <a:pt x="130764" y="156493"/>
                  <a:pt x="127220" y="154874"/>
                  <a:pt x="125657" y="151721"/>
                </a:cubicBezTo>
                <a:lnTo>
                  <a:pt x="120467" y="141229"/>
                </a:lnTo>
                <a:cubicBezTo>
                  <a:pt x="117593" y="140838"/>
                  <a:pt x="114774" y="140057"/>
                  <a:pt x="112123" y="138968"/>
                </a:cubicBezTo>
                <a:lnTo>
                  <a:pt x="102357" y="145470"/>
                </a:lnTo>
                <a:cubicBezTo>
                  <a:pt x="99426" y="147424"/>
                  <a:pt x="95548" y="147033"/>
                  <a:pt x="93064" y="144549"/>
                </a:cubicBezTo>
                <a:lnTo>
                  <a:pt x="87706" y="139192"/>
                </a:lnTo>
                <a:cubicBezTo>
                  <a:pt x="85223" y="136708"/>
                  <a:pt x="84832" y="132829"/>
                  <a:pt x="86785" y="129899"/>
                </a:cubicBezTo>
                <a:lnTo>
                  <a:pt x="93287" y="120132"/>
                </a:lnTo>
                <a:cubicBezTo>
                  <a:pt x="92757" y="118821"/>
                  <a:pt x="92283" y="117453"/>
                  <a:pt x="91892" y="116030"/>
                </a:cubicBezTo>
                <a:cubicBezTo>
                  <a:pt x="91501" y="114607"/>
                  <a:pt x="91250" y="113184"/>
                  <a:pt x="91055" y="111789"/>
                </a:cubicBezTo>
                <a:lnTo>
                  <a:pt x="80535" y="106598"/>
                </a:lnTo>
                <a:cubicBezTo>
                  <a:pt x="77381" y="105035"/>
                  <a:pt x="75791" y="101464"/>
                  <a:pt x="76684" y="98087"/>
                </a:cubicBezTo>
                <a:lnTo>
                  <a:pt x="78637" y="90776"/>
                </a:lnTo>
                <a:cubicBezTo>
                  <a:pt x="79558" y="87399"/>
                  <a:pt x="82711" y="85111"/>
                  <a:pt x="86227" y="85334"/>
                </a:cubicBezTo>
                <a:lnTo>
                  <a:pt x="97920" y="86088"/>
                </a:lnTo>
                <a:cubicBezTo>
                  <a:pt x="99678" y="83827"/>
                  <a:pt x="101715" y="81735"/>
                  <a:pt x="104031" y="79949"/>
                </a:cubicBezTo>
                <a:lnTo>
                  <a:pt x="103277" y="68284"/>
                </a:lnTo>
                <a:cubicBezTo>
                  <a:pt x="103054" y="64768"/>
                  <a:pt x="105342" y="61587"/>
                  <a:pt x="108719" y="60694"/>
                </a:cubicBezTo>
                <a:lnTo>
                  <a:pt x="116030" y="58741"/>
                </a:lnTo>
                <a:close/>
                <a:moveTo>
                  <a:pt x="125127" y="94878"/>
                </a:moveTo>
                <a:cubicBezTo>
                  <a:pt x="118351" y="94886"/>
                  <a:pt x="112855" y="100394"/>
                  <a:pt x="112863" y="107170"/>
                </a:cubicBezTo>
                <a:cubicBezTo>
                  <a:pt x="112871" y="113947"/>
                  <a:pt x="118379" y="119442"/>
                  <a:pt x="125155" y="119435"/>
                </a:cubicBezTo>
                <a:cubicBezTo>
                  <a:pt x="131932" y="119427"/>
                  <a:pt x="137427" y="113919"/>
                  <a:pt x="137420" y="107142"/>
                </a:cubicBezTo>
                <a:cubicBezTo>
                  <a:pt x="137412" y="100366"/>
                  <a:pt x="131904" y="94870"/>
                  <a:pt x="125127" y="94878"/>
                </a:cubicBezTo>
                <a:close/>
                <a:moveTo>
                  <a:pt x="62759" y="-12697"/>
                </a:moveTo>
                <a:lnTo>
                  <a:pt x="70070" y="-10744"/>
                </a:lnTo>
                <a:cubicBezTo>
                  <a:pt x="73447" y="-9823"/>
                  <a:pt x="75735" y="-6641"/>
                  <a:pt x="75512" y="-3153"/>
                </a:cubicBezTo>
                <a:lnTo>
                  <a:pt x="74758" y="8511"/>
                </a:lnTo>
                <a:cubicBezTo>
                  <a:pt x="77074" y="10297"/>
                  <a:pt x="79111" y="12362"/>
                  <a:pt x="80869" y="14650"/>
                </a:cubicBezTo>
                <a:lnTo>
                  <a:pt x="92590" y="13897"/>
                </a:lnTo>
                <a:cubicBezTo>
                  <a:pt x="96078" y="13674"/>
                  <a:pt x="99259" y="15962"/>
                  <a:pt x="100180" y="19338"/>
                </a:cubicBezTo>
                <a:lnTo>
                  <a:pt x="102133" y="26650"/>
                </a:lnTo>
                <a:cubicBezTo>
                  <a:pt x="103026" y="30026"/>
                  <a:pt x="101436" y="33598"/>
                  <a:pt x="98282" y="35161"/>
                </a:cubicBezTo>
                <a:lnTo>
                  <a:pt x="87762" y="40351"/>
                </a:lnTo>
                <a:cubicBezTo>
                  <a:pt x="87567" y="41774"/>
                  <a:pt x="87288" y="43197"/>
                  <a:pt x="86925" y="44593"/>
                </a:cubicBezTo>
                <a:cubicBezTo>
                  <a:pt x="86562" y="45988"/>
                  <a:pt x="86060" y="47383"/>
                  <a:pt x="85530" y="48695"/>
                </a:cubicBezTo>
                <a:lnTo>
                  <a:pt x="92032" y="58462"/>
                </a:lnTo>
                <a:cubicBezTo>
                  <a:pt x="93985" y="61392"/>
                  <a:pt x="93594" y="65270"/>
                  <a:pt x="91111" y="67754"/>
                </a:cubicBezTo>
                <a:lnTo>
                  <a:pt x="85753" y="73112"/>
                </a:lnTo>
                <a:cubicBezTo>
                  <a:pt x="83269" y="75595"/>
                  <a:pt x="79391" y="75986"/>
                  <a:pt x="76460" y="74033"/>
                </a:cubicBezTo>
                <a:lnTo>
                  <a:pt x="66694" y="67531"/>
                </a:lnTo>
                <a:cubicBezTo>
                  <a:pt x="64043" y="68619"/>
                  <a:pt x="61224" y="69400"/>
                  <a:pt x="58350" y="69791"/>
                </a:cubicBezTo>
                <a:lnTo>
                  <a:pt x="53160" y="80283"/>
                </a:lnTo>
                <a:cubicBezTo>
                  <a:pt x="51597" y="83437"/>
                  <a:pt x="48025" y="85027"/>
                  <a:pt x="44648" y="84134"/>
                </a:cubicBezTo>
                <a:lnTo>
                  <a:pt x="37337" y="82181"/>
                </a:lnTo>
                <a:cubicBezTo>
                  <a:pt x="33933" y="81260"/>
                  <a:pt x="31672" y="78079"/>
                  <a:pt x="31896" y="74591"/>
                </a:cubicBezTo>
                <a:lnTo>
                  <a:pt x="32649" y="62898"/>
                </a:lnTo>
                <a:cubicBezTo>
                  <a:pt x="30333" y="61113"/>
                  <a:pt x="28296" y="59048"/>
                  <a:pt x="26538" y="56759"/>
                </a:cubicBezTo>
                <a:lnTo>
                  <a:pt x="14818" y="57513"/>
                </a:lnTo>
                <a:cubicBezTo>
                  <a:pt x="11330" y="57736"/>
                  <a:pt x="8148" y="55448"/>
                  <a:pt x="7227" y="52071"/>
                </a:cubicBezTo>
                <a:lnTo>
                  <a:pt x="5274" y="44760"/>
                </a:lnTo>
                <a:cubicBezTo>
                  <a:pt x="4381" y="41384"/>
                  <a:pt x="5972" y="37812"/>
                  <a:pt x="9125" y="36249"/>
                </a:cubicBezTo>
                <a:lnTo>
                  <a:pt x="19645" y="31059"/>
                </a:lnTo>
                <a:cubicBezTo>
                  <a:pt x="19841" y="29635"/>
                  <a:pt x="20120" y="28240"/>
                  <a:pt x="20482" y="26817"/>
                </a:cubicBezTo>
                <a:cubicBezTo>
                  <a:pt x="20873" y="25394"/>
                  <a:pt x="21320" y="24026"/>
                  <a:pt x="21878" y="22715"/>
                </a:cubicBezTo>
                <a:lnTo>
                  <a:pt x="15376" y="12976"/>
                </a:lnTo>
                <a:cubicBezTo>
                  <a:pt x="13422" y="10046"/>
                  <a:pt x="13813" y="6167"/>
                  <a:pt x="16297" y="3683"/>
                </a:cubicBezTo>
                <a:lnTo>
                  <a:pt x="21654" y="-1674"/>
                </a:lnTo>
                <a:cubicBezTo>
                  <a:pt x="24138" y="-4158"/>
                  <a:pt x="28017" y="-4549"/>
                  <a:pt x="30947" y="-2595"/>
                </a:cubicBezTo>
                <a:lnTo>
                  <a:pt x="40714" y="3907"/>
                </a:lnTo>
                <a:cubicBezTo>
                  <a:pt x="43365" y="2818"/>
                  <a:pt x="46183" y="2037"/>
                  <a:pt x="49057" y="1646"/>
                </a:cubicBezTo>
                <a:lnTo>
                  <a:pt x="54248" y="-8846"/>
                </a:lnTo>
                <a:cubicBezTo>
                  <a:pt x="55811" y="-11999"/>
                  <a:pt x="59355" y="-13590"/>
                  <a:pt x="62759" y="-12697"/>
                </a:cubicBezTo>
                <a:close/>
                <a:moveTo>
                  <a:pt x="53690" y="23440"/>
                </a:moveTo>
                <a:cubicBezTo>
                  <a:pt x="46913" y="23440"/>
                  <a:pt x="41411" y="28942"/>
                  <a:pt x="41411" y="35719"/>
                </a:cubicBezTo>
                <a:cubicBezTo>
                  <a:pt x="41411" y="42495"/>
                  <a:pt x="46913" y="47997"/>
                  <a:pt x="53690" y="47997"/>
                </a:cubicBezTo>
                <a:cubicBezTo>
                  <a:pt x="60466" y="47997"/>
                  <a:pt x="65968" y="42495"/>
                  <a:pt x="65968" y="35719"/>
                </a:cubicBezTo>
                <a:cubicBezTo>
                  <a:pt x="65968" y="28942"/>
                  <a:pt x="60466" y="23440"/>
                  <a:pt x="53690" y="2344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6516688" y="3921125"/>
            <a:ext cx="5270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系统架构特点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572249" y="4383224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A4F6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6667499" y="447847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57671" y="1290"/>
                </a:moveTo>
                <a:cubicBezTo>
                  <a:pt x="61367" y="-422"/>
                  <a:pt x="65633" y="-422"/>
                  <a:pt x="69329" y="1290"/>
                </a:cubicBezTo>
                <a:lnTo>
                  <a:pt x="123552" y="26343"/>
                </a:lnTo>
                <a:cubicBezTo>
                  <a:pt x="125661" y="27310"/>
                  <a:pt x="127000" y="29418"/>
                  <a:pt x="127000" y="31750"/>
                </a:cubicBezTo>
                <a:cubicBezTo>
                  <a:pt x="127000" y="34082"/>
                  <a:pt x="125661" y="36190"/>
                  <a:pt x="123552" y="37157"/>
                </a:cubicBezTo>
                <a:lnTo>
                  <a:pt x="69329" y="62210"/>
                </a:lnTo>
                <a:cubicBezTo>
                  <a:pt x="65633" y="63922"/>
                  <a:pt x="61367" y="63922"/>
                  <a:pt x="57671" y="62210"/>
                </a:cubicBezTo>
                <a:lnTo>
                  <a:pt x="3448" y="37157"/>
                </a:lnTo>
                <a:cubicBezTo>
                  <a:pt x="1339" y="36165"/>
                  <a:pt x="0" y="34057"/>
                  <a:pt x="0" y="31750"/>
                </a:cubicBezTo>
                <a:cubicBezTo>
                  <a:pt x="0" y="29443"/>
                  <a:pt x="1339" y="27310"/>
                  <a:pt x="3448" y="26343"/>
                </a:cubicBezTo>
                <a:lnTo>
                  <a:pt x="57671" y="1290"/>
                </a:lnTo>
                <a:close/>
                <a:moveTo>
                  <a:pt x="11931" y="54173"/>
                </a:moveTo>
                <a:lnTo>
                  <a:pt x="52685" y="73000"/>
                </a:lnTo>
                <a:cubicBezTo>
                  <a:pt x="59556" y="76175"/>
                  <a:pt x="67469" y="76175"/>
                  <a:pt x="74340" y="73000"/>
                </a:cubicBezTo>
                <a:lnTo>
                  <a:pt x="115094" y="54173"/>
                </a:lnTo>
                <a:lnTo>
                  <a:pt x="123552" y="58093"/>
                </a:lnTo>
                <a:cubicBezTo>
                  <a:pt x="125661" y="59060"/>
                  <a:pt x="127000" y="61168"/>
                  <a:pt x="127000" y="63500"/>
                </a:cubicBezTo>
                <a:cubicBezTo>
                  <a:pt x="127000" y="65832"/>
                  <a:pt x="125661" y="67940"/>
                  <a:pt x="123552" y="68907"/>
                </a:cubicBezTo>
                <a:lnTo>
                  <a:pt x="69329" y="93960"/>
                </a:lnTo>
                <a:cubicBezTo>
                  <a:pt x="65633" y="95672"/>
                  <a:pt x="61367" y="95672"/>
                  <a:pt x="57671" y="93960"/>
                </a:cubicBezTo>
                <a:lnTo>
                  <a:pt x="3448" y="68907"/>
                </a:lnTo>
                <a:cubicBezTo>
                  <a:pt x="1339" y="67915"/>
                  <a:pt x="0" y="65807"/>
                  <a:pt x="0" y="63500"/>
                </a:cubicBezTo>
                <a:cubicBezTo>
                  <a:pt x="0" y="61193"/>
                  <a:pt x="1339" y="59060"/>
                  <a:pt x="3448" y="58093"/>
                </a:cubicBezTo>
                <a:lnTo>
                  <a:pt x="11906" y="54173"/>
                </a:lnTo>
                <a:close/>
                <a:moveTo>
                  <a:pt x="3448" y="89843"/>
                </a:moveTo>
                <a:lnTo>
                  <a:pt x="11906" y="85923"/>
                </a:lnTo>
                <a:lnTo>
                  <a:pt x="52660" y="104750"/>
                </a:lnTo>
                <a:cubicBezTo>
                  <a:pt x="59531" y="107925"/>
                  <a:pt x="67444" y="107925"/>
                  <a:pt x="74315" y="104750"/>
                </a:cubicBezTo>
                <a:lnTo>
                  <a:pt x="115069" y="85923"/>
                </a:lnTo>
                <a:lnTo>
                  <a:pt x="123527" y="89843"/>
                </a:lnTo>
                <a:cubicBezTo>
                  <a:pt x="125636" y="90810"/>
                  <a:pt x="126975" y="92918"/>
                  <a:pt x="126975" y="95250"/>
                </a:cubicBezTo>
                <a:cubicBezTo>
                  <a:pt x="126975" y="97582"/>
                  <a:pt x="125636" y="99690"/>
                  <a:pt x="123527" y="100657"/>
                </a:cubicBezTo>
                <a:lnTo>
                  <a:pt x="69304" y="125710"/>
                </a:lnTo>
                <a:cubicBezTo>
                  <a:pt x="65608" y="127422"/>
                  <a:pt x="61342" y="127422"/>
                  <a:pt x="57646" y="125710"/>
                </a:cubicBezTo>
                <a:lnTo>
                  <a:pt x="3448" y="100657"/>
                </a:lnTo>
                <a:cubicBezTo>
                  <a:pt x="1339" y="99665"/>
                  <a:pt x="0" y="97557"/>
                  <a:pt x="0" y="95250"/>
                </a:cubicBezTo>
                <a:cubicBezTo>
                  <a:pt x="0" y="92943"/>
                  <a:pt x="1339" y="90810"/>
                  <a:pt x="3448" y="89843"/>
                </a:cubicBezTo>
                <a:close/>
              </a:path>
            </a:pathLst>
          </a:custGeom>
          <a:solidFill>
            <a:srgbClr val="0A4F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6984999" y="4399099"/>
            <a:ext cx="100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微服务架构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984999" y="4557849"/>
            <a:ext cx="1000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模块化设计，易于扩展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572249" y="4795974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6651624" y="4891224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95250" y="7938"/>
                </a:moveTo>
                <a:lnTo>
                  <a:pt x="127000" y="7938"/>
                </a:lnTo>
                <a:cubicBezTo>
                  <a:pt x="131390" y="7938"/>
                  <a:pt x="134938" y="11485"/>
                  <a:pt x="134938" y="15875"/>
                </a:cubicBezTo>
                <a:cubicBezTo>
                  <a:pt x="134938" y="20265"/>
                  <a:pt x="131390" y="23812"/>
                  <a:pt x="127000" y="23812"/>
                </a:cubicBezTo>
                <a:lnTo>
                  <a:pt x="98822" y="23812"/>
                </a:lnTo>
                <a:cubicBezTo>
                  <a:pt x="97532" y="30212"/>
                  <a:pt x="93142" y="35496"/>
                  <a:pt x="87313" y="38026"/>
                </a:cubicBezTo>
                <a:lnTo>
                  <a:pt x="87313" y="111125"/>
                </a:lnTo>
                <a:lnTo>
                  <a:pt x="127000" y="111125"/>
                </a:lnTo>
                <a:cubicBezTo>
                  <a:pt x="131390" y="111125"/>
                  <a:pt x="134938" y="114672"/>
                  <a:pt x="134938" y="119063"/>
                </a:cubicBezTo>
                <a:cubicBezTo>
                  <a:pt x="134938" y="123453"/>
                  <a:pt x="131390" y="127000"/>
                  <a:pt x="127000" y="127000"/>
                </a:cubicBezTo>
                <a:lnTo>
                  <a:pt x="31750" y="127000"/>
                </a:lnTo>
                <a:cubicBezTo>
                  <a:pt x="27360" y="127000"/>
                  <a:pt x="23812" y="123453"/>
                  <a:pt x="23812" y="119063"/>
                </a:cubicBezTo>
                <a:cubicBezTo>
                  <a:pt x="23812" y="114672"/>
                  <a:pt x="27360" y="111125"/>
                  <a:pt x="31750" y="111125"/>
                </a:cubicBezTo>
                <a:lnTo>
                  <a:pt x="71438" y="111125"/>
                </a:lnTo>
                <a:lnTo>
                  <a:pt x="71438" y="38026"/>
                </a:lnTo>
                <a:cubicBezTo>
                  <a:pt x="65608" y="35471"/>
                  <a:pt x="61218" y="30187"/>
                  <a:pt x="59928" y="23813"/>
                </a:cubicBezTo>
                <a:lnTo>
                  <a:pt x="31750" y="23812"/>
                </a:lnTo>
                <a:cubicBezTo>
                  <a:pt x="27360" y="23812"/>
                  <a:pt x="23812" y="20265"/>
                  <a:pt x="23812" y="15875"/>
                </a:cubicBezTo>
                <a:cubicBezTo>
                  <a:pt x="23812" y="11485"/>
                  <a:pt x="27360" y="7938"/>
                  <a:pt x="31750" y="7938"/>
                </a:cubicBezTo>
                <a:lnTo>
                  <a:pt x="63500" y="7938"/>
                </a:lnTo>
                <a:cubicBezTo>
                  <a:pt x="67121" y="3125"/>
                  <a:pt x="72876" y="0"/>
                  <a:pt x="79375" y="0"/>
                </a:cubicBezTo>
                <a:cubicBezTo>
                  <a:pt x="85874" y="0"/>
                  <a:pt x="91629" y="3125"/>
                  <a:pt x="95250" y="7938"/>
                </a:cubicBezTo>
                <a:close/>
                <a:moveTo>
                  <a:pt x="109041" y="79375"/>
                </a:moveTo>
                <a:lnTo>
                  <a:pt x="144959" y="79375"/>
                </a:lnTo>
                <a:lnTo>
                  <a:pt x="127000" y="48568"/>
                </a:lnTo>
                <a:lnTo>
                  <a:pt x="109041" y="79375"/>
                </a:lnTo>
                <a:close/>
                <a:moveTo>
                  <a:pt x="127000" y="103188"/>
                </a:moveTo>
                <a:cubicBezTo>
                  <a:pt x="111398" y="103188"/>
                  <a:pt x="98425" y="94754"/>
                  <a:pt x="95746" y="83617"/>
                </a:cubicBezTo>
                <a:cubicBezTo>
                  <a:pt x="95101" y="80888"/>
                  <a:pt x="95994" y="78085"/>
                  <a:pt x="97408" y="75654"/>
                </a:cubicBezTo>
                <a:lnTo>
                  <a:pt x="121022" y="35173"/>
                </a:lnTo>
                <a:cubicBezTo>
                  <a:pt x="122262" y="33040"/>
                  <a:pt x="124544" y="31750"/>
                  <a:pt x="127000" y="31750"/>
                </a:cubicBezTo>
                <a:cubicBezTo>
                  <a:pt x="129456" y="31750"/>
                  <a:pt x="131738" y="33065"/>
                  <a:pt x="132978" y="35173"/>
                </a:cubicBezTo>
                <a:lnTo>
                  <a:pt x="156592" y="75654"/>
                </a:lnTo>
                <a:cubicBezTo>
                  <a:pt x="158006" y="78085"/>
                  <a:pt x="158899" y="80888"/>
                  <a:pt x="158254" y="83617"/>
                </a:cubicBezTo>
                <a:cubicBezTo>
                  <a:pt x="155575" y="94729"/>
                  <a:pt x="142602" y="103188"/>
                  <a:pt x="127000" y="103188"/>
                </a:cubicBezTo>
                <a:close/>
                <a:moveTo>
                  <a:pt x="31452" y="48568"/>
                </a:moveTo>
                <a:lnTo>
                  <a:pt x="13494" y="79375"/>
                </a:lnTo>
                <a:lnTo>
                  <a:pt x="49436" y="79375"/>
                </a:lnTo>
                <a:lnTo>
                  <a:pt x="31452" y="48568"/>
                </a:lnTo>
                <a:close/>
                <a:moveTo>
                  <a:pt x="223" y="83617"/>
                </a:moveTo>
                <a:cubicBezTo>
                  <a:pt x="-422" y="80888"/>
                  <a:pt x="471" y="78085"/>
                  <a:pt x="1885" y="75654"/>
                </a:cubicBezTo>
                <a:lnTo>
                  <a:pt x="25499" y="35173"/>
                </a:lnTo>
                <a:cubicBezTo>
                  <a:pt x="26739" y="33040"/>
                  <a:pt x="29021" y="31750"/>
                  <a:pt x="31477" y="31750"/>
                </a:cubicBezTo>
                <a:cubicBezTo>
                  <a:pt x="33933" y="31750"/>
                  <a:pt x="36215" y="33065"/>
                  <a:pt x="37455" y="35173"/>
                </a:cubicBezTo>
                <a:lnTo>
                  <a:pt x="61069" y="75654"/>
                </a:lnTo>
                <a:cubicBezTo>
                  <a:pt x="62483" y="78085"/>
                  <a:pt x="63376" y="80888"/>
                  <a:pt x="62731" y="83617"/>
                </a:cubicBezTo>
                <a:cubicBezTo>
                  <a:pt x="60052" y="94729"/>
                  <a:pt x="47079" y="103188"/>
                  <a:pt x="31477" y="103188"/>
                </a:cubicBezTo>
                <a:cubicBezTo>
                  <a:pt x="15875" y="103188"/>
                  <a:pt x="2902" y="94754"/>
                  <a:pt x="223" y="83617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6984999" y="4811849"/>
            <a:ext cx="1293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负载均衡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984999" y="4970599"/>
            <a:ext cx="1285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任一节点支持负载均衡、热备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310687" y="4381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A4F6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66"/>
          <p:cNvSpPr/>
          <p:nvPr/>
        </p:nvSpPr>
        <p:spPr>
          <a:xfrm>
            <a:off x="9405937" y="4476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15875"/>
                </a:moveTo>
                <a:cubicBezTo>
                  <a:pt x="7119" y="15875"/>
                  <a:pt x="0" y="22994"/>
                  <a:pt x="0" y="31750"/>
                </a:cubicBezTo>
                <a:lnTo>
                  <a:pt x="0" y="33586"/>
                </a:lnTo>
                <a:cubicBezTo>
                  <a:pt x="0" y="35272"/>
                  <a:pt x="1091" y="36711"/>
                  <a:pt x="2505" y="37629"/>
                </a:cubicBezTo>
                <a:cubicBezTo>
                  <a:pt x="5779" y="39762"/>
                  <a:pt x="7938" y="43433"/>
                  <a:pt x="7938" y="47625"/>
                </a:cubicBezTo>
                <a:cubicBezTo>
                  <a:pt x="7938" y="51817"/>
                  <a:pt x="5779" y="55488"/>
                  <a:pt x="2505" y="57621"/>
                </a:cubicBezTo>
                <a:cubicBezTo>
                  <a:pt x="1091" y="58539"/>
                  <a:pt x="0" y="59978"/>
                  <a:pt x="0" y="61664"/>
                </a:cubicBezTo>
                <a:lnTo>
                  <a:pt x="0" y="75406"/>
                </a:lnTo>
                <a:lnTo>
                  <a:pt x="127000" y="75406"/>
                </a:lnTo>
                <a:lnTo>
                  <a:pt x="127000" y="61664"/>
                </a:lnTo>
                <a:cubicBezTo>
                  <a:pt x="127000" y="59978"/>
                  <a:pt x="125909" y="58539"/>
                  <a:pt x="124495" y="57621"/>
                </a:cubicBezTo>
                <a:cubicBezTo>
                  <a:pt x="121221" y="55488"/>
                  <a:pt x="119063" y="51817"/>
                  <a:pt x="119063" y="47625"/>
                </a:cubicBezTo>
                <a:cubicBezTo>
                  <a:pt x="119063" y="43433"/>
                  <a:pt x="121221" y="39762"/>
                  <a:pt x="124495" y="37629"/>
                </a:cubicBezTo>
                <a:cubicBezTo>
                  <a:pt x="125909" y="36711"/>
                  <a:pt x="127000" y="35272"/>
                  <a:pt x="127000" y="33586"/>
                </a:cubicBezTo>
                <a:lnTo>
                  <a:pt x="127000" y="31750"/>
                </a:lnTo>
                <a:cubicBezTo>
                  <a:pt x="127000" y="22994"/>
                  <a:pt x="119881" y="15875"/>
                  <a:pt x="111125" y="15875"/>
                </a:cubicBezTo>
                <a:lnTo>
                  <a:pt x="15875" y="15875"/>
                </a:lnTo>
                <a:close/>
                <a:moveTo>
                  <a:pt x="127000" y="103188"/>
                </a:moveTo>
                <a:lnTo>
                  <a:pt x="127000" y="87313"/>
                </a:lnTo>
                <a:lnTo>
                  <a:pt x="0" y="87313"/>
                </a:lnTo>
                <a:lnTo>
                  <a:pt x="0" y="103188"/>
                </a:lnTo>
                <a:cubicBezTo>
                  <a:pt x="0" y="107578"/>
                  <a:pt x="3547" y="111125"/>
                  <a:pt x="7938" y="111125"/>
                </a:cubicBezTo>
                <a:lnTo>
                  <a:pt x="23812" y="111125"/>
                </a:lnTo>
                <a:lnTo>
                  <a:pt x="23812" y="105172"/>
                </a:lnTo>
                <a:cubicBezTo>
                  <a:pt x="23812" y="101873"/>
                  <a:pt x="26467" y="99219"/>
                  <a:pt x="29766" y="99219"/>
                </a:cubicBezTo>
                <a:cubicBezTo>
                  <a:pt x="33065" y="99219"/>
                  <a:pt x="35719" y="101873"/>
                  <a:pt x="35719" y="105172"/>
                </a:cubicBezTo>
                <a:lnTo>
                  <a:pt x="35719" y="111125"/>
                </a:lnTo>
                <a:lnTo>
                  <a:pt x="57547" y="111125"/>
                </a:lnTo>
                <a:lnTo>
                  <a:pt x="57547" y="105172"/>
                </a:lnTo>
                <a:cubicBezTo>
                  <a:pt x="57547" y="101873"/>
                  <a:pt x="60201" y="99219"/>
                  <a:pt x="63500" y="99219"/>
                </a:cubicBezTo>
                <a:cubicBezTo>
                  <a:pt x="66799" y="99219"/>
                  <a:pt x="69453" y="101873"/>
                  <a:pt x="69453" y="105172"/>
                </a:cubicBezTo>
                <a:lnTo>
                  <a:pt x="69453" y="111125"/>
                </a:lnTo>
                <a:lnTo>
                  <a:pt x="91281" y="111125"/>
                </a:lnTo>
                <a:lnTo>
                  <a:pt x="91281" y="105172"/>
                </a:lnTo>
                <a:cubicBezTo>
                  <a:pt x="91281" y="101873"/>
                  <a:pt x="93935" y="99219"/>
                  <a:pt x="97234" y="99219"/>
                </a:cubicBezTo>
                <a:cubicBezTo>
                  <a:pt x="100533" y="99219"/>
                  <a:pt x="103188" y="101873"/>
                  <a:pt x="103188" y="105172"/>
                </a:cubicBezTo>
                <a:lnTo>
                  <a:pt x="103188" y="111125"/>
                </a:lnTo>
                <a:lnTo>
                  <a:pt x="119063" y="111125"/>
                </a:lnTo>
                <a:cubicBezTo>
                  <a:pt x="123453" y="111125"/>
                  <a:pt x="127000" y="107578"/>
                  <a:pt x="127000" y="103188"/>
                </a:cubicBezTo>
                <a:close/>
                <a:moveTo>
                  <a:pt x="39688" y="39688"/>
                </a:moveTo>
                <a:lnTo>
                  <a:pt x="39688" y="55563"/>
                </a:lnTo>
                <a:cubicBezTo>
                  <a:pt x="39688" y="59953"/>
                  <a:pt x="36140" y="63500"/>
                  <a:pt x="31750" y="63500"/>
                </a:cubicBezTo>
                <a:cubicBezTo>
                  <a:pt x="27360" y="63500"/>
                  <a:pt x="23812" y="59953"/>
                  <a:pt x="23812" y="55563"/>
                </a:cubicBezTo>
                <a:lnTo>
                  <a:pt x="23812" y="39688"/>
                </a:lnTo>
                <a:cubicBezTo>
                  <a:pt x="23812" y="35297"/>
                  <a:pt x="27360" y="31750"/>
                  <a:pt x="31750" y="31750"/>
                </a:cubicBezTo>
                <a:cubicBezTo>
                  <a:pt x="36140" y="31750"/>
                  <a:pt x="39688" y="35297"/>
                  <a:pt x="39688" y="39688"/>
                </a:cubicBezTo>
                <a:close/>
                <a:moveTo>
                  <a:pt x="71438" y="39688"/>
                </a:moveTo>
                <a:lnTo>
                  <a:pt x="71438" y="55563"/>
                </a:lnTo>
                <a:cubicBezTo>
                  <a:pt x="71438" y="59953"/>
                  <a:pt x="67890" y="63500"/>
                  <a:pt x="63500" y="63500"/>
                </a:cubicBezTo>
                <a:cubicBezTo>
                  <a:pt x="59110" y="63500"/>
                  <a:pt x="55563" y="59953"/>
                  <a:pt x="55563" y="55563"/>
                </a:cubicBezTo>
                <a:lnTo>
                  <a:pt x="55563" y="39688"/>
                </a:lnTo>
                <a:cubicBezTo>
                  <a:pt x="55563" y="35297"/>
                  <a:pt x="59110" y="31750"/>
                  <a:pt x="63500" y="31750"/>
                </a:cubicBezTo>
                <a:cubicBezTo>
                  <a:pt x="67890" y="31750"/>
                  <a:pt x="71438" y="35297"/>
                  <a:pt x="71438" y="39688"/>
                </a:cubicBezTo>
                <a:close/>
                <a:moveTo>
                  <a:pt x="103188" y="39688"/>
                </a:moveTo>
                <a:lnTo>
                  <a:pt x="103188" y="55563"/>
                </a:lnTo>
                <a:cubicBezTo>
                  <a:pt x="103188" y="59953"/>
                  <a:pt x="99640" y="63500"/>
                  <a:pt x="95250" y="63500"/>
                </a:cubicBezTo>
                <a:cubicBezTo>
                  <a:pt x="90860" y="63500"/>
                  <a:pt x="87313" y="59953"/>
                  <a:pt x="87313" y="55563"/>
                </a:cubicBezTo>
                <a:lnTo>
                  <a:pt x="87313" y="39688"/>
                </a:lnTo>
                <a:cubicBezTo>
                  <a:pt x="87313" y="35297"/>
                  <a:pt x="90860" y="31750"/>
                  <a:pt x="95250" y="31750"/>
                </a:cubicBezTo>
                <a:cubicBezTo>
                  <a:pt x="99640" y="31750"/>
                  <a:pt x="103188" y="35297"/>
                  <a:pt x="103188" y="39688"/>
                </a:cubicBezTo>
                <a:close/>
              </a:path>
            </a:pathLst>
          </a:custGeom>
          <a:solidFill>
            <a:srgbClr val="0A4F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9723437" y="4397375"/>
            <a:ext cx="138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高性能缓存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723437" y="4556125"/>
            <a:ext cx="1381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分布式缓存技术，提升响应速度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9310687" y="47942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Shape 70"/>
          <p:cNvSpPr/>
          <p:nvPr/>
        </p:nvSpPr>
        <p:spPr>
          <a:xfrm>
            <a:off x="9413875" y="48895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9844" y="25797"/>
                </a:moveTo>
                <a:cubicBezTo>
                  <a:pt x="23129" y="25797"/>
                  <a:pt x="25797" y="23129"/>
                  <a:pt x="25797" y="19844"/>
                </a:cubicBezTo>
                <a:cubicBezTo>
                  <a:pt x="25797" y="16558"/>
                  <a:pt x="23129" y="13891"/>
                  <a:pt x="19844" y="13891"/>
                </a:cubicBezTo>
                <a:cubicBezTo>
                  <a:pt x="16558" y="13891"/>
                  <a:pt x="13891" y="16558"/>
                  <a:pt x="13891" y="19844"/>
                </a:cubicBezTo>
                <a:cubicBezTo>
                  <a:pt x="13891" y="23129"/>
                  <a:pt x="16558" y="25797"/>
                  <a:pt x="19844" y="25797"/>
                </a:cubicBezTo>
                <a:close/>
                <a:moveTo>
                  <a:pt x="39688" y="19844"/>
                </a:moveTo>
                <a:cubicBezTo>
                  <a:pt x="39688" y="27980"/>
                  <a:pt x="34801" y="34975"/>
                  <a:pt x="27781" y="38026"/>
                </a:cubicBezTo>
                <a:lnTo>
                  <a:pt x="27781" y="55563"/>
                </a:lnTo>
                <a:lnTo>
                  <a:pt x="71438" y="55563"/>
                </a:lnTo>
                <a:cubicBezTo>
                  <a:pt x="78011" y="55563"/>
                  <a:pt x="83344" y="50229"/>
                  <a:pt x="83344" y="43656"/>
                </a:cubicBezTo>
                <a:lnTo>
                  <a:pt x="83344" y="38026"/>
                </a:lnTo>
                <a:cubicBezTo>
                  <a:pt x="76324" y="34975"/>
                  <a:pt x="71438" y="27980"/>
                  <a:pt x="71438" y="19844"/>
                </a:cubicBezTo>
                <a:cubicBezTo>
                  <a:pt x="71438" y="8880"/>
                  <a:pt x="80318" y="0"/>
                  <a:pt x="91281" y="0"/>
                </a:cubicBezTo>
                <a:cubicBezTo>
                  <a:pt x="102245" y="0"/>
                  <a:pt x="111125" y="8880"/>
                  <a:pt x="111125" y="19844"/>
                </a:cubicBezTo>
                <a:cubicBezTo>
                  <a:pt x="111125" y="27980"/>
                  <a:pt x="106238" y="34975"/>
                  <a:pt x="99219" y="38026"/>
                </a:cubicBezTo>
                <a:lnTo>
                  <a:pt x="99219" y="43656"/>
                </a:lnTo>
                <a:cubicBezTo>
                  <a:pt x="99219" y="59010"/>
                  <a:pt x="86792" y="71438"/>
                  <a:pt x="71438" y="71438"/>
                </a:cubicBezTo>
                <a:lnTo>
                  <a:pt x="27781" y="71438"/>
                </a:lnTo>
                <a:lnTo>
                  <a:pt x="27781" y="88974"/>
                </a:lnTo>
                <a:cubicBezTo>
                  <a:pt x="34801" y="92025"/>
                  <a:pt x="39688" y="99020"/>
                  <a:pt x="39688" y="107156"/>
                </a:cubicBezTo>
                <a:cubicBezTo>
                  <a:pt x="39688" y="118120"/>
                  <a:pt x="30807" y="127000"/>
                  <a:pt x="19844" y="127000"/>
                </a:cubicBezTo>
                <a:cubicBezTo>
                  <a:pt x="8880" y="127000"/>
                  <a:pt x="0" y="118120"/>
                  <a:pt x="0" y="107156"/>
                </a:cubicBezTo>
                <a:cubicBezTo>
                  <a:pt x="0" y="99020"/>
                  <a:pt x="4887" y="92025"/>
                  <a:pt x="11906" y="88974"/>
                </a:cubicBezTo>
                <a:lnTo>
                  <a:pt x="11906" y="38050"/>
                </a:lnTo>
                <a:cubicBezTo>
                  <a:pt x="4887" y="34975"/>
                  <a:pt x="0" y="27980"/>
                  <a:pt x="0" y="19844"/>
                </a:cubicBezTo>
                <a:cubicBezTo>
                  <a:pt x="0" y="8880"/>
                  <a:pt x="8880" y="0"/>
                  <a:pt x="19844" y="0"/>
                </a:cubicBezTo>
                <a:cubicBezTo>
                  <a:pt x="30807" y="0"/>
                  <a:pt x="39688" y="8880"/>
                  <a:pt x="39688" y="19844"/>
                </a:cubicBezTo>
                <a:close/>
                <a:moveTo>
                  <a:pt x="97234" y="19844"/>
                </a:moveTo>
                <a:cubicBezTo>
                  <a:pt x="97234" y="16558"/>
                  <a:pt x="94567" y="13891"/>
                  <a:pt x="91281" y="13891"/>
                </a:cubicBezTo>
                <a:cubicBezTo>
                  <a:pt x="87996" y="13891"/>
                  <a:pt x="85328" y="16558"/>
                  <a:pt x="85328" y="19844"/>
                </a:cubicBezTo>
                <a:cubicBezTo>
                  <a:pt x="85328" y="23129"/>
                  <a:pt x="87996" y="25797"/>
                  <a:pt x="91281" y="25797"/>
                </a:cubicBezTo>
                <a:cubicBezTo>
                  <a:pt x="94567" y="25797"/>
                  <a:pt x="97234" y="23129"/>
                  <a:pt x="97234" y="19844"/>
                </a:cubicBezTo>
                <a:close/>
                <a:moveTo>
                  <a:pt x="19844" y="113109"/>
                </a:moveTo>
                <a:cubicBezTo>
                  <a:pt x="23129" y="113109"/>
                  <a:pt x="25797" y="110442"/>
                  <a:pt x="25797" y="107156"/>
                </a:cubicBezTo>
                <a:cubicBezTo>
                  <a:pt x="25797" y="103871"/>
                  <a:pt x="23129" y="101203"/>
                  <a:pt x="19844" y="101203"/>
                </a:cubicBezTo>
                <a:cubicBezTo>
                  <a:pt x="16558" y="101203"/>
                  <a:pt x="13891" y="103871"/>
                  <a:pt x="13891" y="107156"/>
                </a:cubicBezTo>
                <a:cubicBezTo>
                  <a:pt x="13891" y="110442"/>
                  <a:pt x="16558" y="113109"/>
                  <a:pt x="19844" y="11310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/>
          <p:nvPr/>
        </p:nvSpPr>
        <p:spPr>
          <a:xfrm>
            <a:off x="9723437" y="4810125"/>
            <a:ext cx="119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二次开发支持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9723437" y="4968875"/>
            <a:ext cx="1190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预留接口，支持定制化开发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321468" y="5611812"/>
            <a:ext cx="11549063" cy="706438"/>
          </a:xfrm>
          <a:custGeom>
            <a:avLst/>
            <a:gdLst/>
            <a:ahLst/>
            <a:cxnLst/>
            <a:rect l="l" t="t" r="r" b="b"/>
            <a:pathLst>
              <a:path w="11549063" h="706438">
                <a:moveTo>
                  <a:pt x="95249" y="0"/>
                </a:moveTo>
                <a:lnTo>
                  <a:pt x="11453814" y="0"/>
                </a:lnTo>
                <a:cubicBezTo>
                  <a:pt x="11506418" y="0"/>
                  <a:pt x="11549063" y="42644"/>
                  <a:pt x="11549063" y="95249"/>
                </a:cubicBezTo>
                <a:lnTo>
                  <a:pt x="11549063" y="611189"/>
                </a:lnTo>
                <a:cubicBezTo>
                  <a:pt x="11549062" y="663793"/>
                  <a:pt x="11506418" y="706438"/>
                  <a:pt x="11453814" y="706437"/>
                </a:cubicBezTo>
                <a:lnTo>
                  <a:pt x="95249" y="706438"/>
                </a:lnTo>
                <a:cubicBezTo>
                  <a:pt x="42680" y="706437"/>
                  <a:pt x="0" y="663758"/>
                  <a:pt x="0" y="611189"/>
                </a:cubicBezTo>
                <a:lnTo>
                  <a:pt x="0" y="95249"/>
                </a:lnTo>
                <a:cubicBezTo>
                  <a:pt x="0" y="42680"/>
                  <a:pt x="42680" y="0"/>
                  <a:pt x="95249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2700">
            <a:solidFill>
              <a:srgbClr val="4DB6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Shape 74"/>
          <p:cNvSpPr/>
          <p:nvPr/>
        </p:nvSpPr>
        <p:spPr>
          <a:xfrm>
            <a:off x="488155" y="586978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1492" y="-9637"/>
                </a:moveTo>
                <a:cubicBezTo>
                  <a:pt x="86506" y="-12688"/>
                  <a:pt x="80218" y="-12688"/>
                  <a:pt x="75233" y="-9637"/>
                </a:cubicBezTo>
                <a:cubicBezTo>
                  <a:pt x="66154" y="-4093"/>
                  <a:pt x="60536" y="-2604"/>
                  <a:pt x="49895" y="-2828"/>
                </a:cubicBezTo>
                <a:cubicBezTo>
                  <a:pt x="44053" y="-2977"/>
                  <a:pt x="38621" y="186"/>
                  <a:pt x="35793" y="5321"/>
                </a:cubicBezTo>
                <a:cubicBezTo>
                  <a:pt x="30696" y="14660"/>
                  <a:pt x="26566" y="18790"/>
                  <a:pt x="17227" y="23887"/>
                </a:cubicBezTo>
                <a:cubicBezTo>
                  <a:pt x="12092" y="26677"/>
                  <a:pt x="8967" y="32147"/>
                  <a:pt x="9079" y="37988"/>
                </a:cubicBezTo>
                <a:cubicBezTo>
                  <a:pt x="9339" y="48630"/>
                  <a:pt x="7813" y="54248"/>
                  <a:pt x="2270" y="63326"/>
                </a:cubicBezTo>
                <a:cubicBezTo>
                  <a:pt x="-781" y="68312"/>
                  <a:pt x="-781" y="74600"/>
                  <a:pt x="2270" y="79586"/>
                </a:cubicBezTo>
                <a:cubicBezTo>
                  <a:pt x="7813" y="88664"/>
                  <a:pt x="9302" y="94283"/>
                  <a:pt x="9079" y="104924"/>
                </a:cubicBezTo>
                <a:cubicBezTo>
                  <a:pt x="8930" y="110765"/>
                  <a:pt x="12092" y="116198"/>
                  <a:pt x="17227" y="119025"/>
                </a:cubicBezTo>
                <a:cubicBezTo>
                  <a:pt x="25450" y="123527"/>
                  <a:pt x="29617" y="127248"/>
                  <a:pt x="34007" y="134466"/>
                </a:cubicBezTo>
                <a:lnTo>
                  <a:pt x="15887" y="170594"/>
                </a:lnTo>
                <a:cubicBezTo>
                  <a:pt x="13692" y="175022"/>
                  <a:pt x="15478" y="180380"/>
                  <a:pt x="19869" y="182575"/>
                </a:cubicBezTo>
                <a:lnTo>
                  <a:pt x="51867" y="198574"/>
                </a:lnTo>
                <a:cubicBezTo>
                  <a:pt x="56145" y="200695"/>
                  <a:pt x="61354" y="199095"/>
                  <a:pt x="63661" y="194928"/>
                </a:cubicBezTo>
                <a:lnTo>
                  <a:pt x="83307" y="159544"/>
                </a:lnTo>
                <a:lnTo>
                  <a:pt x="102952" y="194928"/>
                </a:lnTo>
                <a:cubicBezTo>
                  <a:pt x="105259" y="199095"/>
                  <a:pt x="110468" y="200732"/>
                  <a:pt x="114746" y="198574"/>
                </a:cubicBezTo>
                <a:lnTo>
                  <a:pt x="146745" y="182575"/>
                </a:lnTo>
                <a:cubicBezTo>
                  <a:pt x="151172" y="180380"/>
                  <a:pt x="152958" y="175022"/>
                  <a:pt x="150726" y="170594"/>
                </a:cubicBezTo>
                <a:lnTo>
                  <a:pt x="132643" y="134429"/>
                </a:lnTo>
                <a:cubicBezTo>
                  <a:pt x="136996" y="127211"/>
                  <a:pt x="141201" y="123490"/>
                  <a:pt x="149423" y="118988"/>
                </a:cubicBezTo>
                <a:cubicBezTo>
                  <a:pt x="154558" y="116198"/>
                  <a:pt x="157683" y="110728"/>
                  <a:pt x="157572" y="104887"/>
                </a:cubicBezTo>
                <a:cubicBezTo>
                  <a:pt x="157311" y="94245"/>
                  <a:pt x="158837" y="88627"/>
                  <a:pt x="164381" y="79549"/>
                </a:cubicBezTo>
                <a:cubicBezTo>
                  <a:pt x="167432" y="74563"/>
                  <a:pt x="167432" y="68275"/>
                  <a:pt x="164381" y="63289"/>
                </a:cubicBezTo>
                <a:cubicBezTo>
                  <a:pt x="158837" y="54211"/>
                  <a:pt x="157349" y="48592"/>
                  <a:pt x="157572" y="37951"/>
                </a:cubicBezTo>
                <a:cubicBezTo>
                  <a:pt x="157721" y="32110"/>
                  <a:pt x="154558" y="26677"/>
                  <a:pt x="149423" y="23850"/>
                </a:cubicBezTo>
                <a:cubicBezTo>
                  <a:pt x="140084" y="18752"/>
                  <a:pt x="135954" y="14622"/>
                  <a:pt x="130857" y="5283"/>
                </a:cubicBezTo>
                <a:cubicBezTo>
                  <a:pt x="128067" y="149"/>
                  <a:pt x="122597" y="-2977"/>
                  <a:pt x="116756" y="-2865"/>
                </a:cubicBezTo>
                <a:cubicBezTo>
                  <a:pt x="106114" y="-2604"/>
                  <a:pt x="100496" y="-4130"/>
                  <a:pt x="91418" y="-9674"/>
                </a:cubicBezTo>
                <a:close/>
                <a:moveTo>
                  <a:pt x="83344" y="35719"/>
                </a:moveTo>
                <a:cubicBezTo>
                  <a:pt x="103057" y="35719"/>
                  <a:pt x="119063" y="51724"/>
                  <a:pt x="119063" y="71438"/>
                </a:cubicBezTo>
                <a:cubicBezTo>
                  <a:pt x="119063" y="91151"/>
                  <a:pt x="103057" y="107156"/>
                  <a:pt x="83344" y="107156"/>
                </a:cubicBezTo>
                <a:cubicBezTo>
                  <a:pt x="63630" y="107156"/>
                  <a:pt x="47625" y="91151"/>
                  <a:pt x="47625" y="71438"/>
                </a:cubicBezTo>
                <a:cubicBezTo>
                  <a:pt x="47625" y="51724"/>
                  <a:pt x="63630" y="35719"/>
                  <a:pt x="83344" y="3571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7" name="Text 75"/>
          <p:cNvSpPr/>
          <p:nvPr/>
        </p:nvSpPr>
        <p:spPr>
          <a:xfrm>
            <a:off x="785812" y="5869781"/>
            <a:ext cx="3611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服务承诺：</a:t>
            </a:r>
            <a:r>
              <a:rPr lang="en-US" sz="1000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确保医疗核心通信业务"零"中断，7×24小时稳定运行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0795867" y="5742781"/>
            <a:ext cx="9445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75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99.99%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0859367" y="6028531"/>
            <a:ext cx="88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系统可用性</a:t>
            </a:r>
            <a:endParaRPr lang="en-US" sz="1600" dirty="0"/>
          </a:p>
        </p:txBody>
      </p:sp>
      <p:pic>
        <p:nvPicPr>
          <p:cNvPr id="80" name="图片 79" descr="图片包含 形状&#10;&#10;AI 生成的内容可能不正确。">
            <a:extLst>
              <a:ext uri="{FF2B5EF4-FFF2-40B4-BE49-F238E27FC236}">
                <a16:creationId xmlns:a16="http://schemas.microsoft.com/office/drawing/2014/main" id="{2F10A0D3-F21C-FF80-02AE-9B808215C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913" y="402336"/>
            <a:ext cx="1493087" cy="36360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716" y="375716"/>
            <a:ext cx="11515710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kern="0" spc="59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 VERSIONS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5716" y="676290"/>
            <a:ext cx="11609639" cy="375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63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产品版本与部署建议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5716" y="1164721"/>
            <a:ext cx="751433" cy="37572"/>
          </a:xfrm>
          <a:custGeom>
            <a:avLst/>
            <a:gdLst/>
            <a:ahLst/>
            <a:cxnLst/>
            <a:rect l="l" t="t" r="r" b="b"/>
            <a:pathLst>
              <a:path w="751433" h="37572">
                <a:moveTo>
                  <a:pt x="0" y="0"/>
                </a:moveTo>
                <a:lnTo>
                  <a:pt x="751433" y="0"/>
                </a:lnTo>
                <a:lnTo>
                  <a:pt x="751433" y="37572"/>
                </a:lnTo>
                <a:lnTo>
                  <a:pt x="0" y="37572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375716" y="1390151"/>
            <a:ext cx="11515710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针对不同规模医院的信息化发展阶段，微网通联提供</a:t>
            </a:r>
            <a:r>
              <a:rPr lang="en-US" sz="1183" dirty="0">
                <a:solidFill>
                  <a:srgbClr val="0A4F6B"/>
                </a:solidFill>
                <a:highlight>
                  <a:srgbClr val="4DB6AC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灵活的版本分类 </a:t>
            </a:r>
            <a:r>
              <a:rPr lang="en-US" sz="1183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，满足从中小型医院到三甲医院的差异化需求。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5716" y="1822225"/>
            <a:ext cx="3691414" cy="4660059"/>
          </a:xfrm>
          <a:custGeom>
            <a:avLst/>
            <a:gdLst/>
            <a:ahLst/>
            <a:cxnLst/>
            <a:rect l="l" t="t" r="r" b="b"/>
            <a:pathLst>
              <a:path w="3691414" h="5034601">
                <a:moveTo>
                  <a:pt x="37572" y="0"/>
                </a:moveTo>
                <a:lnTo>
                  <a:pt x="3653843" y="0"/>
                </a:lnTo>
                <a:cubicBezTo>
                  <a:pt x="3674593" y="0"/>
                  <a:pt x="3691414" y="16821"/>
                  <a:pt x="3691414" y="37572"/>
                </a:cubicBezTo>
                <a:lnTo>
                  <a:pt x="3691414" y="4921902"/>
                </a:lnTo>
                <a:cubicBezTo>
                  <a:pt x="3691414" y="4984144"/>
                  <a:pt x="3640957" y="5034601"/>
                  <a:pt x="3578716" y="5034601"/>
                </a:cubicBezTo>
                <a:lnTo>
                  <a:pt x="112699" y="5034601"/>
                </a:lnTo>
                <a:cubicBezTo>
                  <a:pt x="50457" y="5034601"/>
                  <a:pt x="0" y="4984144"/>
                  <a:pt x="0" y="4921902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179" dist="939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75716" y="1822225"/>
            <a:ext cx="3691414" cy="37572"/>
          </a:xfrm>
          <a:custGeom>
            <a:avLst/>
            <a:gdLst/>
            <a:ahLst/>
            <a:cxnLst/>
            <a:rect l="l" t="t" r="r" b="b"/>
            <a:pathLst>
              <a:path w="3691414" h="37572">
                <a:moveTo>
                  <a:pt x="37572" y="0"/>
                </a:moveTo>
                <a:lnTo>
                  <a:pt x="3653843" y="0"/>
                </a:lnTo>
                <a:cubicBezTo>
                  <a:pt x="3674593" y="0"/>
                  <a:pt x="3691414" y="16821"/>
                  <a:pt x="3691414" y="37572"/>
                </a:cubicBezTo>
                <a:lnTo>
                  <a:pt x="3691414" y="37572"/>
                </a:lnTo>
                <a:lnTo>
                  <a:pt x="0" y="37572"/>
                </a:ln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5A7D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75716" y="3048000"/>
            <a:ext cx="3691414" cy="9393"/>
          </a:xfrm>
          <a:custGeom>
            <a:avLst/>
            <a:gdLst/>
            <a:ahLst/>
            <a:cxnLst/>
            <a:rect l="l" t="t" r="r" b="b"/>
            <a:pathLst>
              <a:path w="3691414" h="9393">
                <a:moveTo>
                  <a:pt x="0" y="0"/>
                </a:moveTo>
                <a:lnTo>
                  <a:pt x="3691414" y="0"/>
                </a:lnTo>
                <a:lnTo>
                  <a:pt x="3691414" y="9393"/>
                </a:lnTo>
                <a:lnTo>
                  <a:pt x="0" y="939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3575" y="2028869"/>
            <a:ext cx="450860" cy="450860"/>
          </a:xfrm>
          <a:custGeom>
            <a:avLst/>
            <a:gdLst/>
            <a:ahLst/>
            <a:cxnLst/>
            <a:rect l="l" t="t" r="r" b="b"/>
            <a:pathLst>
              <a:path w="450860" h="450860">
                <a:moveTo>
                  <a:pt x="112715" y="0"/>
                </a:moveTo>
                <a:lnTo>
                  <a:pt x="338145" y="0"/>
                </a:lnTo>
                <a:cubicBezTo>
                  <a:pt x="400354" y="0"/>
                  <a:pt x="450860" y="50506"/>
                  <a:pt x="450860" y="112715"/>
                </a:cubicBezTo>
                <a:lnTo>
                  <a:pt x="450860" y="338145"/>
                </a:lnTo>
                <a:cubicBezTo>
                  <a:pt x="450860" y="400354"/>
                  <a:pt x="400354" y="450860"/>
                  <a:pt x="338145" y="450860"/>
                </a:cubicBezTo>
                <a:lnTo>
                  <a:pt x="112715" y="450860"/>
                </a:lnTo>
                <a:cubicBezTo>
                  <a:pt x="50506" y="450860"/>
                  <a:pt x="0" y="400354"/>
                  <a:pt x="0" y="338145"/>
                </a:cubicBezTo>
                <a:lnTo>
                  <a:pt x="0" y="112715"/>
                </a:lnTo>
                <a:cubicBezTo>
                  <a:pt x="0" y="50506"/>
                  <a:pt x="50506" y="0"/>
                  <a:pt x="112715" y="0"/>
                </a:cubicBezTo>
                <a:close/>
              </a:path>
            </a:pathLst>
          </a:custGeom>
          <a:solidFill>
            <a:srgbClr val="5A7D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83334" y="2160370"/>
            <a:ext cx="211341" cy="187858"/>
          </a:xfrm>
          <a:custGeom>
            <a:avLst/>
            <a:gdLst/>
            <a:ahLst/>
            <a:cxnLst/>
            <a:rect l="l" t="t" r="r" b="b"/>
            <a:pathLst>
              <a:path w="211341" h="187858">
                <a:moveTo>
                  <a:pt x="46965" y="23482"/>
                </a:moveTo>
                <a:cubicBezTo>
                  <a:pt x="46965" y="10530"/>
                  <a:pt x="57495" y="0"/>
                  <a:pt x="70447" y="0"/>
                </a:cubicBezTo>
                <a:lnTo>
                  <a:pt x="140894" y="0"/>
                </a:lnTo>
                <a:cubicBezTo>
                  <a:pt x="153846" y="0"/>
                  <a:pt x="164376" y="10530"/>
                  <a:pt x="164376" y="23482"/>
                </a:cubicBezTo>
                <a:lnTo>
                  <a:pt x="164376" y="46965"/>
                </a:lnTo>
                <a:lnTo>
                  <a:pt x="187858" y="46965"/>
                </a:lnTo>
                <a:cubicBezTo>
                  <a:pt x="200810" y="46965"/>
                  <a:pt x="211341" y="57495"/>
                  <a:pt x="211341" y="70447"/>
                </a:cubicBezTo>
                <a:lnTo>
                  <a:pt x="211341" y="164376"/>
                </a:lnTo>
                <a:cubicBezTo>
                  <a:pt x="211341" y="177328"/>
                  <a:pt x="200810" y="187858"/>
                  <a:pt x="187858" y="187858"/>
                </a:cubicBezTo>
                <a:lnTo>
                  <a:pt x="23482" y="187858"/>
                </a:lnTo>
                <a:cubicBezTo>
                  <a:pt x="10530" y="187858"/>
                  <a:pt x="0" y="177328"/>
                  <a:pt x="0" y="164376"/>
                </a:cubicBezTo>
                <a:lnTo>
                  <a:pt x="0" y="70447"/>
                </a:lnTo>
                <a:cubicBezTo>
                  <a:pt x="0" y="57495"/>
                  <a:pt x="10530" y="46965"/>
                  <a:pt x="23482" y="46965"/>
                </a:cubicBezTo>
                <a:lnTo>
                  <a:pt x="46965" y="46965"/>
                </a:lnTo>
                <a:lnTo>
                  <a:pt x="46965" y="23482"/>
                </a:lnTo>
                <a:close/>
                <a:moveTo>
                  <a:pt x="99800" y="129153"/>
                </a:moveTo>
                <a:cubicBezTo>
                  <a:pt x="93305" y="129153"/>
                  <a:pt x="88059" y="134399"/>
                  <a:pt x="88059" y="140894"/>
                </a:cubicBezTo>
                <a:lnTo>
                  <a:pt x="88059" y="170247"/>
                </a:lnTo>
                <a:lnTo>
                  <a:pt x="123282" y="170247"/>
                </a:lnTo>
                <a:lnTo>
                  <a:pt x="123282" y="140894"/>
                </a:lnTo>
                <a:cubicBezTo>
                  <a:pt x="123282" y="134399"/>
                  <a:pt x="118035" y="129153"/>
                  <a:pt x="111541" y="129153"/>
                </a:cubicBezTo>
                <a:lnTo>
                  <a:pt x="99800" y="129153"/>
                </a:lnTo>
                <a:close/>
                <a:moveTo>
                  <a:pt x="46965" y="135023"/>
                </a:moveTo>
                <a:lnTo>
                  <a:pt x="46965" y="123282"/>
                </a:lnTo>
                <a:cubicBezTo>
                  <a:pt x="46965" y="120053"/>
                  <a:pt x="44323" y="117411"/>
                  <a:pt x="41094" y="117411"/>
                </a:cubicBezTo>
                <a:lnTo>
                  <a:pt x="29353" y="117411"/>
                </a:lnTo>
                <a:cubicBezTo>
                  <a:pt x="26124" y="117411"/>
                  <a:pt x="23482" y="120053"/>
                  <a:pt x="23482" y="123282"/>
                </a:cubicBezTo>
                <a:lnTo>
                  <a:pt x="23482" y="135023"/>
                </a:lnTo>
                <a:cubicBezTo>
                  <a:pt x="23482" y="138252"/>
                  <a:pt x="26124" y="140894"/>
                  <a:pt x="29353" y="140894"/>
                </a:cubicBezTo>
                <a:lnTo>
                  <a:pt x="41094" y="140894"/>
                </a:lnTo>
                <a:cubicBezTo>
                  <a:pt x="44323" y="140894"/>
                  <a:pt x="46965" y="138252"/>
                  <a:pt x="46965" y="135023"/>
                </a:cubicBezTo>
                <a:close/>
                <a:moveTo>
                  <a:pt x="41094" y="93929"/>
                </a:moveTo>
                <a:cubicBezTo>
                  <a:pt x="44323" y="93929"/>
                  <a:pt x="46965" y="91287"/>
                  <a:pt x="46965" y="88059"/>
                </a:cubicBezTo>
                <a:lnTo>
                  <a:pt x="46965" y="76317"/>
                </a:lnTo>
                <a:cubicBezTo>
                  <a:pt x="46965" y="73089"/>
                  <a:pt x="44323" y="70447"/>
                  <a:pt x="41094" y="70447"/>
                </a:cubicBezTo>
                <a:lnTo>
                  <a:pt x="29353" y="70447"/>
                </a:lnTo>
                <a:cubicBezTo>
                  <a:pt x="26124" y="70447"/>
                  <a:pt x="23482" y="73089"/>
                  <a:pt x="23482" y="76317"/>
                </a:cubicBezTo>
                <a:lnTo>
                  <a:pt x="23482" y="88059"/>
                </a:lnTo>
                <a:cubicBezTo>
                  <a:pt x="23482" y="91287"/>
                  <a:pt x="26124" y="93929"/>
                  <a:pt x="29353" y="93929"/>
                </a:cubicBezTo>
                <a:lnTo>
                  <a:pt x="41094" y="93929"/>
                </a:lnTo>
                <a:close/>
                <a:moveTo>
                  <a:pt x="187858" y="135023"/>
                </a:moveTo>
                <a:lnTo>
                  <a:pt x="187858" y="123282"/>
                </a:lnTo>
                <a:cubicBezTo>
                  <a:pt x="187858" y="120053"/>
                  <a:pt x="185216" y="117411"/>
                  <a:pt x="181988" y="117411"/>
                </a:cubicBezTo>
                <a:lnTo>
                  <a:pt x="170247" y="117411"/>
                </a:lnTo>
                <a:cubicBezTo>
                  <a:pt x="167018" y="117411"/>
                  <a:pt x="164376" y="120053"/>
                  <a:pt x="164376" y="123282"/>
                </a:cubicBezTo>
                <a:lnTo>
                  <a:pt x="164376" y="135023"/>
                </a:lnTo>
                <a:cubicBezTo>
                  <a:pt x="164376" y="138252"/>
                  <a:pt x="167018" y="140894"/>
                  <a:pt x="170247" y="140894"/>
                </a:cubicBezTo>
                <a:lnTo>
                  <a:pt x="181988" y="140894"/>
                </a:lnTo>
                <a:cubicBezTo>
                  <a:pt x="185216" y="140894"/>
                  <a:pt x="187858" y="138252"/>
                  <a:pt x="187858" y="135023"/>
                </a:cubicBezTo>
                <a:close/>
                <a:moveTo>
                  <a:pt x="181988" y="93929"/>
                </a:moveTo>
                <a:cubicBezTo>
                  <a:pt x="185216" y="93929"/>
                  <a:pt x="187858" y="91287"/>
                  <a:pt x="187858" y="88059"/>
                </a:cubicBezTo>
                <a:lnTo>
                  <a:pt x="187858" y="76317"/>
                </a:lnTo>
                <a:cubicBezTo>
                  <a:pt x="187858" y="73089"/>
                  <a:pt x="185216" y="70447"/>
                  <a:pt x="181988" y="70447"/>
                </a:cubicBezTo>
                <a:lnTo>
                  <a:pt x="170247" y="70447"/>
                </a:lnTo>
                <a:cubicBezTo>
                  <a:pt x="167018" y="70447"/>
                  <a:pt x="164376" y="73089"/>
                  <a:pt x="164376" y="76317"/>
                </a:cubicBezTo>
                <a:lnTo>
                  <a:pt x="164376" y="88059"/>
                </a:lnTo>
                <a:cubicBezTo>
                  <a:pt x="164376" y="91287"/>
                  <a:pt x="167018" y="93929"/>
                  <a:pt x="170247" y="93929"/>
                </a:cubicBezTo>
                <a:lnTo>
                  <a:pt x="181988" y="93929"/>
                </a:lnTo>
                <a:close/>
                <a:moveTo>
                  <a:pt x="96864" y="38159"/>
                </a:moveTo>
                <a:lnTo>
                  <a:pt x="96864" y="49900"/>
                </a:lnTo>
                <a:lnTo>
                  <a:pt x="85123" y="49900"/>
                </a:lnTo>
                <a:cubicBezTo>
                  <a:pt x="81894" y="49900"/>
                  <a:pt x="79253" y="52542"/>
                  <a:pt x="79253" y="55770"/>
                </a:cubicBezTo>
                <a:lnTo>
                  <a:pt x="79253" y="61641"/>
                </a:lnTo>
                <a:cubicBezTo>
                  <a:pt x="79253" y="64870"/>
                  <a:pt x="81894" y="67512"/>
                  <a:pt x="85123" y="67512"/>
                </a:cubicBezTo>
                <a:lnTo>
                  <a:pt x="96864" y="67512"/>
                </a:lnTo>
                <a:lnTo>
                  <a:pt x="96864" y="79253"/>
                </a:lnTo>
                <a:cubicBezTo>
                  <a:pt x="96864" y="82482"/>
                  <a:pt x="99506" y="85123"/>
                  <a:pt x="102735" y="85123"/>
                </a:cubicBezTo>
                <a:lnTo>
                  <a:pt x="108606" y="85123"/>
                </a:lnTo>
                <a:cubicBezTo>
                  <a:pt x="111834" y="85123"/>
                  <a:pt x="114476" y="82482"/>
                  <a:pt x="114476" y="79253"/>
                </a:cubicBezTo>
                <a:lnTo>
                  <a:pt x="114476" y="67512"/>
                </a:lnTo>
                <a:lnTo>
                  <a:pt x="126217" y="67512"/>
                </a:lnTo>
                <a:cubicBezTo>
                  <a:pt x="129446" y="67512"/>
                  <a:pt x="132088" y="64870"/>
                  <a:pt x="132088" y="61641"/>
                </a:cubicBezTo>
                <a:lnTo>
                  <a:pt x="132088" y="55770"/>
                </a:lnTo>
                <a:cubicBezTo>
                  <a:pt x="132088" y="52542"/>
                  <a:pt x="129446" y="49900"/>
                  <a:pt x="126217" y="49900"/>
                </a:cubicBezTo>
                <a:lnTo>
                  <a:pt x="114476" y="49900"/>
                </a:lnTo>
                <a:lnTo>
                  <a:pt x="114476" y="38159"/>
                </a:lnTo>
                <a:cubicBezTo>
                  <a:pt x="114476" y="34930"/>
                  <a:pt x="111834" y="32288"/>
                  <a:pt x="108606" y="32288"/>
                </a:cubicBezTo>
                <a:lnTo>
                  <a:pt x="102735" y="32288"/>
                </a:lnTo>
                <a:cubicBezTo>
                  <a:pt x="99506" y="32288"/>
                  <a:pt x="96864" y="34930"/>
                  <a:pt x="96864" y="3815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127149" y="2028869"/>
            <a:ext cx="873541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9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基础版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27149" y="2291871"/>
            <a:ext cx="845362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Basic Edition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3575" y="2592444"/>
            <a:ext cx="1145935" cy="263002"/>
          </a:xfrm>
          <a:custGeom>
            <a:avLst/>
            <a:gdLst/>
            <a:ahLst/>
            <a:cxnLst/>
            <a:rect l="l" t="t" r="r" b="b"/>
            <a:pathLst>
              <a:path w="1145935" h="263002">
                <a:moveTo>
                  <a:pt x="131501" y="0"/>
                </a:moveTo>
                <a:lnTo>
                  <a:pt x="1014435" y="0"/>
                </a:lnTo>
                <a:cubicBezTo>
                  <a:pt x="1087060" y="0"/>
                  <a:pt x="1145935" y="58875"/>
                  <a:pt x="1145935" y="131501"/>
                </a:cubicBezTo>
                <a:lnTo>
                  <a:pt x="1145935" y="131501"/>
                </a:lnTo>
                <a:cubicBezTo>
                  <a:pt x="1145935" y="204127"/>
                  <a:pt x="1087060" y="263002"/>
                  <a:pt x="1014435" y="263002"/>
                </a:cubicBezTo>
                <a:lnTo>
                  <a:pt x="131501" y="263002"/>
                </a:lnTo>
                <a:cubicBezTo>
                  <a:pt x="58924" y="263002"/>
                  <a:pt x="0" y="204078"/>
                  <a:pt x="0" y="131501"/>
                </a:cubicBezTo>
                <a:lnTo>
                  <a:pt x="0" y="131501"/>
                </a:lnTo>
                <a:cubicBezTo>
                  <a:pt x="0" y="58924"/>
                  <a:pt x="58924" y="0"/>
                  <a:pt x="131501" y="0"/>
                </a:cubicBezTo>
                <a:close/>
              </a:path>
            </a:pathLst>
          </a:custGeom>
          <a:solidFill>
            <a:srgbClr val="5A7D8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63575" y="2592444"/>
            <a:ext cx="1211686" cy="263002"/>
          </a:xfrm>
          <a:prstGeom prst="rect">
            <a:avLst/>
          </a:prstGeom>
          <a:noFill/>
          <a:ln/>
        </p:spPr>
        <p:txBody>
          <a:bodyPr wrap="square" lIns="112715" tIns="37572" rIns="112715" bIns="37572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适合中小型医院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3575" y="3240555"/>
            <a:ext cx="3381448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核心功能：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0579" y="3531735"/>
            <a:ext cx="115063" cy="131501"/>
          </a:xfrm>
          <a:custGeom>
            <a:avLst/>
            <a:gdLst/>
            <a:ahLst/>
            <a:cxnLst/>
            <a:rect l="l" t="t" r="r" b="b"/>
            <a:pathLst>
              <a:path w="115063" h="131501">
                <a:moveTo>
                  <a:pt x="111673" y="18004"/>
                </a:moveTo>
                <a:cubicBezTo>
                  <a:pt x="115346" y="20675"/>
                  <a:pt x="116168" y="25812"/>
                  <a:pt x="113496" y="29485"/>
                </a:cubicBezTo>
                <a:lnTo>
                  <a:pt x="47746" y="119892"/>
                </a:lnTo>
                <a:cubicBezTo>
                  <a:pt x="46333" y="121844"/>
                  <a:pt x="44150" y="123051"/>
                  <a:pt x="41736" y="123256"/>
                </a:cubicBezTo>
                <a:cubicBezTo>
                  <a:pt x="39322" y="123462"/>
                  <a:pt x="36985" y="122563"/>
                  <a:pt x="35289" y="120868"/>
                </a:cubicBezTo>
                <a:lnTo>
                  <a:pt x="2414" y="87993"/>
                </a:lnTo>
                <a:cubicBezTo>
                  <a:pt x="-796" y="84782"/>
                  <a:pt x="-796" y="79568"/>
                  <a:pt x="2414" y="76358"/>
                </a:cubicBezTo>
                <a:cubicBezTo>
                  <a:pt x="5625" y="73147"/>
                  <a:pt x="10839" y="73147"/>
                  <a:pt x="14049" y="76358"/>
                </a:cubicBezTo>
                <a:lnTo>
                  <a:pt x="40118" y="102427"/>
                </a:lnTo>
                <a:lnTo>
                  <a:pt x="100218" y="19802"/>
                </a:lnTo>
                <a:cubicBezTo>
                  <a:pt x="102889" y="16129"/>
                  <a:pt x="108026" y="15308"/>
                  <a:pt x="111699" y="1797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03094" y="3503556"/>
            <a:ext cx="1117757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短彩信收发与查询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0579" y="3794737"/>
            <a:ext cx="115063" cy="131501"/>
          </a:xfrm>
          <a:custGeom>
            <a:avLst/>
            <a:gdLst/>
            <a:ahLst/>
            <a:cxnLst/>
            <a:rect l="l" t="t" r="r" b="b"/>
            <a:pathLst>
              <a:path w="115063" h="131501">
                <a:moveTo>
                  <a:pt x="111673" y="18004"/>
                </a:moveTo>
                <a:cubicBezTo>
                  <a:pt x="115346" y="20675"/>
                  <a:pt x="116168" y="25812"/>
                  <a:pt x="113496" y="29485"/>
                </a:cubicBezTo>
                <a:lnTo>
                  <a:pt x="47746" y="119892"/>
                </a:lnTo>
                <a:cubicBezTo>
                  <a:pt x="46333" y="121844"/>
                  <a:pt x="44150" y="123051"/>
                  <a:pt x="41736" y="123256"/>
                </a:cubicBezTo>
                <a:cubicBezTo>
                  <a:pt x="39322" y="123462"/>
                  <a:pt x="36985" y="122563"/>
                  <a:pt x="35289" y="120868"/>
                </a:cubicBezTo>
                <a:lnTo>
                  <a:pt x="2414" y="87993"/>
                </a:lnTo>
                <a:cubicBezTo>
                  <a:pt x="-796" y="84782"/>
                  <a:pt x="-796" y="79568"/>
                  <a:pt x="2414" y="76358"/>
                </a:cubicBezTo>
                <a:cubicBezTo>
                  <a:pt x="5625" y="73147"/>
                  <a:pt x="10839" y="73147"/>
                  <a:pt x="14049" y="76358"/>
                </a:cubicBezTo>
                <a:lnTo>
                  <a:pt x="40118" y="102427"/>
                </a:lnTo>
                <a:lnTo>
                  <a:pt x="100218" y="19802"/>
                </a:lnTo>
                <a:cubicBezTo>
                  <a:pt x="102889" y="16129"/>
                  <a:pt x="108026" y="15308"/>
                  <a:pt x="111699" y="1797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03094" y="3766558"/>
            <a:ext cx="854755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语音短信功能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0579" y="4057738"/>
            <a:ext cx="115063" cy="131501"/>
          </a:xfrm>
          <a:custGeom>
            <a:avLst/>
            <a:gdLst/>
            <a:ahLst/>
            <a:cxnLst/>
            <a:rect l="l" t="t" r="r" b="b"/>
            <a:pathLst>
              <a:path w="115063" h="131501">
                <a:moveTo>
                  <a:pt x="111673" y="18004"/>
                </a:moveTo>
                <a:cubicBezTo>
                  <a:pt x="115346" y="20675"/>
                  <a:pt x="116168" y="25812"/>
                  <a:pt x="113496" y="29485"/>
                </a:cubicBezTo>
                <a:lnTo>
                  <a:pt x="47746" y="119892"/>
                </a:lnTo>
                <a:cubicBezTo>
                  <a:pt x="46333" y="121844"/>
                  <a:pt x="44150" y="123051"/>
                  <a:pt x="41736" y="123256"/>
                </a:cubicBezTo>
                <a:cubicBezTo>
                  <a:pt x="39322" y="123462"/>
                  <a:pt x="36985" y="122563"/>
                  <a:pt x="35289" y="120868"/>
                </a:cubicBezTo>
                <a:lnTo>
                  <a:pt x="2414" y="87993"/>
                </a:lnTo>
                <a:cubicBezTo>
                  <a:pt x="-796" y="84782"/>
                  <a:pt x="-796" y="79568"/>
                  <a:pt x="2414" y="76358"/>
                </a:cubicBezTo>
                <a:cubicBezTo>
                  <a:pt x="5625" y="73147"/>
                  <a:pt x="10839" y="73147"/>
                  <a:pt x="14049" y="76358"/>
                </a:cubicBezTo>
                <a:lnTo>
                  <a:pt x="40118" y="102427"/>
                </a:lnTo>
                <a:lnTo>
                  <a:pt x="100218" y="19802"/>
                </a:lnTo>
                <a:cubicBezTo>
                  <a:pt x="102889" y="16129"/>
                  <a:pt x="108026" y="15308"/>
                  <a:pt x="111699" y="1797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03094" y="4029559"/>
            <a:ext cx="854755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后台账户管理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0579" y="4320740"/>
            <a:ext cx="115063" cy="131501"/>
          </a:xfrm>
          <a:custGeom>
            <a:avLst/>
            <a:gdLst/>
            <a:ahLst/>
            <a:cxnLst/>
            <a:rect l="l" t="t" r="r" b="b"/>
            <a:pathLst>
              <a:path w="115063" h="131501">
                <a:moveTo>
                  <a:pt x="111673" y="18004"/>
                </a:moveTo>
                <a:cubicBezTo>
                  <a:pt x="115346" y="20675"/>
                  <a:pt x="116168" y="25812"/>
                  <a:pt x="113496" y="29485"/>
                </a:cubicBezTo>
                <a:lnTo>
                  <a:pt x="47746" y="119892"/>
                </a:lnTo>
                <a:cubicBezTo>
                  <a:pt x="46333" y="121844"/>
                  <a:pt x="44150" y="123051"/>
                  <a:pt x="41736" y="123256"/>
                </a:cubicBezTo>
                <a:cubicBezTo>
                  <a:pt x="39322" y="123462"/>
                  <a:pt x="36985" y="122563"/>
                  <a:pt x="35289" y="120868"/>
                </a:cubicBezTo>
                <a:lnTo>
                  <a:pt x="2414" y="87993"/>
                </a:lnTo>
                <a:cubicBezTo>
                  <a:pt x="-796" y="84782"/>
                  <a:pt x="-796" y="79568"/>
                  <a:pt x="2414" y="76358"/>
                </a:cubicBezTo>
                <a:cubicBezTo>
                  <a:pt x="5625" y="73147"/>
                  <a:pt x="10839" y="73147"/>
                  <a:pt x="14049" y="76358"/>
                </a:cubicBezTo>
                <a:lnTo>
                  <a:pt x="40118" y="102427"/>
                </a:lnTo>
                <a:lnTo>
                  <a:pt x="100218" y="19802"/>
                </a:lnTo>
                <a:cubicBezTo>
                  <a:pt x="102889" y="16129"/>
                  <a:pt x="108026" y="15308"/>
                  <a:pt x="111699" y="1797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03094" y="4292561"/>
            <a:ext cx="591753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通道管理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0579" y="4583741"/>
            <a:ext cx="115063" cy="131501"/>
          </a:xfrm>
          <a:custGeom>
            <a:avLst/>
            <a:gdLst/>
            <a:ahLst/>
            <a:cxnLst/>
            <a:rect l="l" t="t" r="r" b="b"/>
            <a:pathLst>
              <a:path w="115063" h="131501">
                <a:moveTo>
                  <a:pt x="111673" y="18004"/>
                </a:moveTo>
                <a:cubicBezTo>
                  <a:pt x="115346" y="20675"/>
                  <a:pt x="116168" y="25812"/>
                  <a:pt x="113496" y="29485"/>
                </a:cubicBezTo>
                <a:lnTo>
                  <a:pt x="47746" y="119892"/>
                </a:lnTo>
                <a:cubicBezTo>
                  <a:pt x="46333" y="121844"/>
                  <a:pt x="44150" y="123051"/>
                  <a:pt x="41736" y="123256"/>
                </a:cubicBezTo>
                <a:cubicBezTo>
                  <a:pt x="39322" y="123462"/>
                  <a:pt x="36985" y="122563"/>
                  <a:pt x="35289" y="120868"/>
                </a:cubicBezTo>
                <a:lnTo>
                  <a:pt x="2414" y="87993"/>
                </a:lnTo>
                <a:cubicBezTo>
                  <a:pt x="-796" y="84782"/>
                  <a:pt x="-796" y="79568"/>
                  <a:pt x="2414" y="76358"/>
                </a:cubicBezTo>
                <a:cubicBezTo>
                  <a:pt x="5625" y="73147"/>
                  <a:pt x="10839" y="73147"/>
                  <a:pt x="14049" y="76358"/>
                </a:cubicBezTo>
                <a:lnTo>
                  <a:pt x="40118" y="102427"/>
                </a:lnTo>
                <a:lnTo>
                  <a:pt x="100218" y="19802"/>
                </a:lnTo>
                <a:cubicBezTo>
                  <a:pt x="102889" y="16129"/>
                  <a:pt x="108026" y="15308"/>
                  <a:pt x="111699" y="1797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03094" y="4555562"/>
            <a:ext cx="591753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数据管理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3575" y="5156709"/>
            <a:ext cx="3315698" cy="680985"/>
          </a:xfrm>
          <a:custGeom>
            <a:avLst/>
            <a:gdLst/>
            <a:ahLst/>
            <a:cxnLst/>
            <a:rect l="l" t="t" r="r" b="b"/>
            <a:pathLst>
              <a:path w="3315698" h="901720">
                <a:moveTo>
                  <a:pt x="75140" y="0"/>
                </a:moveTo>
                <a:lnTo>
                  <a:pt x="3240558" y="0"/>
                </a:lnTo>
                <a:cubicBezTo>
                  <a:pt x="3282057" y="0"/>
                  <a:pt x="3315698" y="33641"/>
                  <a:pt x="3315698" y="75140"/>
                </a:cubicBezTo>
                <a:lnTo>
                  <a:pt x="3315698" y="826579"/>
                </a:lnTo>
                <a:cubicBezTo>
                  <a:pt x="3315698" y="868078"/>
                  <a:pt x="3282057" y="901720"/>
                  <a:pt x="3240558" y="901720"/>
                </a:cubicBezTo>
                <a:lnTo>
                  <a:pt x="75140" y="901720"/>
                </a:lnTo>
                <a:cubicBezTo>
                  <a:pt x="33641" y="901720"/>
                  <a:pt x="0" y="868078"/>
                  <a:pt x="0" y="826579"/>
                </a:cubicBezTo>
                <a:lnTo>
                  <a:pt x="0" y="75140"/>
                </a:lnTo>
                <a:cubicBezTo>
                  <a:pt x="0" y="33669"/>
                  <a:pt x="33669" y="0"/>
                  <a:pt x="75140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76290" y="5269424"/>
            <a:ext cx="3156018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部署配置：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03294" y="5560604"/>
            <a:ext cx="115063" cy="131501"/>
          </a:xfrm>
          <a:custGeom>
            <a:avLst/>
            <a:gdLst/>
            <a:ahLst/>
            <a:cxnLst/>
            <a:rect l="l" t="t" r="r" b="b"/>
            <a:pathLst>
              <a:path w="115063" h="131501">
                <a:moveTo>
                  <a:pt x="16438" y="8219"/>
                </a:moveTo>
                <a:cubicBezTo>
                  <a:pt x="7371" y="8219"/>
                  <a:pt x="0" y="15590"/>
                  <a:pt x="0" y="24656"/>
                </a:cubicBezTo>
                <a:lnTo>
                  <a:pt x="0" y="41094"/>
                </a:lnTo>
                <a:cubicBezTo>
                  <a:pt x="0" y="50160"/>
                  <a:pt x="7371" y="57532"/>
                  <a:pt x="16438" y="57532"/>
                </a:cubicBezTo>
                <a:lnTo>
                  <a:pt x="98626" y="57532"/>
                </a:lnTo>
                <a:cubicBezTo>
                  <a:pt x="107692" y="57532"/>
                  <a:pt x="115063" y="50160"/>
                  <a:pt x="115063" y="41094"/>
                </a:cubicBezTo>
                <a:lnTo>
                  <a:pt x="115063" y="24656"/>
                </a:lnTo>
                <a:cubicBezTo>
                  <a:pt x="115063" y="15590"/>
                  <a:pt x="107692" y="8219"/>
                  <a:pt x="98626" y="8219"/>
                </a:cubicBezTo>
                <a:lnTo>
                  <a:pt x="16438" y="8219"/>
                </a:lnTo>
                <a:close/>
                <a:moveTo>
                  <a:pt x="71914" y="26711"/>
                </a:moveTo>
                <a:cubicBezTo>
                  <a:pt x="75317" y="26711"/>
                  <a:pt x="78079" y="29473"/>
                  <a:pt x="78079" y="32875"/>
                </a:cubicBezTo>
                <a:cubicBezTo>
                  <a:pt x="78079" y="36277"/>
                  <a:pt x="75317" y="39039"/>
                  <a:pt x="71914" y="39039"/>
                </a:cubicBezTo>
                <a:cubicBezTo>
                  <a:pt x="68512" y="39039"/>
                  <a:pt x="65750" y="36277"/>
                  <a:pt x="65750" y="32875"/>
                </a:cubicBezTo>
                <a:cubicBezTo>
                  <a:pt x="65750" y="29473"/>
                  <a:pt x="68512" y="26711"/>
                  <a:pt x="71914" y="26711"/>
                </a:cubicBezTo>
                <a:close/>
                <a:moveTo>
                  <a:pt x="86297" y="32875"/>
                </a:moveTo>
                <a:cubicBezTo>
                  <a:pt x="86297" y="29473"/>
                  <a:pt x="89059" y="26711"/>
                  <a:pt x="92461" y="26711"/>
                </a:cubicBezTo>
                <a:cubicBezTo>
                  <a:pt x="95864" y="26711"/>
                  <a:pt x="98626" y="29473"/>
                  <a:pt x="98626" y="32875"/>
                </a:cubicBezTo>
                <a:cubicBezTo>
                  <a:pt x="98626" y="36277"/>
                  <a:pt x="95864" y="39039"/>
                  <a:pt x="92461" y="39039"/>
                </a:cubicBezTo>
                <a:cubicBezTo>
                  <a:pt x="89059" y="39039"/>
                  <a:pt x="86297" y="36277"/>
                  <a:pt x="86297" y="32875"/>
                </a:cubicBezTo>
                <a:close/>
                <a:moveTo>
                  <a:pt x="16438" y="73969"/>
                </a:moveTo>
                <a:cubicBezTo>
                  <a:pt x="7371" y="73969"/>
                  <a:pt x="0" y="81340"/>
                  <a:pt x="0" y="90407"/>
                </a:cubicBezTo>
                <a:lnTo>
                  <a:pt x="0" y="106844"/>
                </a:lnTo>
                <a:cubicBezTo>
                  <a:pt x="0" y="115911"/>
                  <a:pt x="7371" y="123282"/>
                  <a:pt x="16438" y="123282"/>
                </a:cubicBezTo>
                <a:lnTo>
                  <a:pt x="98626" y="123282"/>
                </a:lnTo>
                <a:cubicBezTo>
                  <a:pt x="107692" y="123282"/>
                  <a:pt x="115063" y="115911"/>
                  <a:pt x="115063" y="106844"/>
                </a:cubicBezTo>
                <a:lnTo>
                  <a:pt x="115063" y="90407"/>
                </a:lnTo>
                <a:cubicBezTo>
                  <a:pt x="115063" y="81340"/>
                  <a:pt x="107692" y="73969"/>
                  <a:pt x="98626" y="73969"/>
                </a:cubicBezTo>
                <a:lnTo>
                  <a:pt x="16438" y="73969"/>
                </a:lnTo>
                <a:close/>
                <a:moveTo>
                  <a:pt x="71914" y="92461"/>
                </a:moveTo>
                <a:cubicBezTo>
                  <a:pt x="75317" y="92461"/>
                  <a:pt x="78079" y="95224"/>
                  <a:pt x="78079" y="98626"/>
                </a:cubicBezTo>
                <a:cubicBezTo>
                  <a:pt x="78079" y="102028"/>
                  <a:pt x="75317" y="104790"/>
                  <a:pt x="71914" y="104790"/>
                </a:cubicBezTo>
                <a:cubicBezTo>
                  <a:pt x="68512" y="104790"/>
                  <a:pt x="65750" y="102028"/>
                  <a:pt x="65750" y="98626"/>
                </a:cubicBezTo>
                <a:cubicBezTo>
                  <a:pt x="65750" y="95224"/>
                  <a:pt x="68512" y="92461"/>
                  <a:pt x="71914" y="92461"/>
                </a:cubicBezTo>
                <a:close/>
                <a:moveTo>
                  <a:pt x="86297" y="98626"/>
                </a:moveTo>
                <a:cubicBezTo>
                  <a:pt x="86297" y="95224"/>
                  <a:pt x="89059" y="92461"/>
                  <a:pt x="92461" y="92461"/>
                </a:cubicBezTo>
                <a:cubicBezTo>
                  <a:pt x="95864" y="92461"/>
                  <a:pt x="98626" y="95224"/>
                  <a:pt x="98626" y="98626"/>
                </a:cubicBezTo>
                <a:cubicBezTo>
                  <a:pt x="98626" y="102028"/>
                  <a:pt x="95864" y="104790"/>
                  <a:pt x="92461" y="104790"/>
                </a:cubicBezTo>
                <a:cubicBezTo>
                  <a:pt x="89059" y="104790"/>
                  <a:pt x="86297" y="102028"/>
                  <a:pt x="86297" y="98626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915809" y="5532425"/>
            <a:ext cx="1371365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2台服务器（8核16G）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426894" y="5560604"/>
            <a:ext cx="115063" cy="131501"/>
          </a:xfrm>
          <a:custGeom>
            <a:avLst/>
            <a:gdLst/>
            <a:ahLst/>
            <a:cxnLst/>
            <a:rect l="l" t="t" r="r" b="b"/>
            <a:pathLst>
              <a:path w="115063" h="131501">
                <a:moveTo>
                  <a:pt x="115063" y="52857"/>
                </a:moveTo>
                <a:cubicBezTo>
                  <a:pt x="111262" y="55374"/>
                  <a:pt x="106896" y="57403"/>
                  <a:pt x="102350" y="59021"/>
                </a:cubicBezTo>
                <a:cubicBezTo>
                  <a:pt x="90278" y="63336"/>
                  <a:pt x="74431" y="65750"/>
                  <a:pt x="57532" y="65750"/>
                </a:cubicBezTo>
                <a:cubicBezTo>
                  <a:pt x="40632" y="65750"/>
                  <a:pt x="24759" y="63310"/>
                  <a:pt x="12713" y="59021"/>
                </a:cubicBezTo>
                <a:cubicBezTo>
                  <a:pt x="8193" y="57403"/>
                  <a:pt x="3801" y="55374"/>
                  <a:pt x="0" y="52857"/>
                </a:cubicBezTo>
                <a:lnTo>
                  <a:pt x="0" y="73969"/>
                </a:lnTo>
                <a:cubicBezTo>
                  <a:pt x="0" y="85321"/>
                  <a:pt x="25761" y="94516"/>
                  <a:pt x="57532" y="94516"/>
                </a:cubicBezTo>
                <a:cubicBezTo>
                  <a:pt x="89302" y="94516"/>
                  <a:pt x="115063" y="85321"/>
                  <a:pt x="115063" y="73969"/>
                </a:cubicBezTo>
                <a:lnTo>
                  <a:pt x="115063" y="52857"/>
                </a:lnTo>
                <a:close/>
                <a:moveTo>
                  <a:pt x="115063" y="32875"/>
                </a:moveTo>
                <a:lnTo>
                  <a:pt x="115063" y="20547"/>
                </a:lnTo>
                <a:cubicBezTo>
                  <a:pt x="115063" y="9195"/>
                  <a:pt x="89302" y="0"/>
                  <a:pt x="57532" y="0"/>
                </a:cubicBezTo>
                <a:cubicBezTo>
                  <a:pt x="25761" y="0"/>
                  <a:pt x="0" y="9195"/>
                  <a:pt x="0" y="20547"/>
                </a:cubicBezTo>
                <a:lnTo>
                  <a:pt x="0" y="32875"/>
                </a:lnTo>
                <a:cubicBezTo>
                  <a:pt x="0" y="44227"/>
                  <a:pt x="25761" y="53422"/>
                  <a:pt x="57532" y="53422"/>
                </a:cubicBezTo>
                <a:cubicBezTo>
                  <a:pt x="89302" y="53422"/>
                  <a:pt x="115063" y="44227"/>
                  <a:pt x="115063" y="32875"/>
                </a:cubicBezTo>
                <a:close/>
                <a:moveTo>
                  <a:pt x="102350" y="100115"/>
                </a:moveTo>
                <a:cubicBezTo>
                  <a:pt x="90304" y="104404"/>
                  <a:pt x="74457" y="106844"/>
                  <a:pt x="57532" y="106844"/>
                </a:cubicBezTo>
                <a:cubicBezTo>
                  <a:pt x="40606" y="106844"/>
                  <a:pt x="24759" y="104404"/>
                  <a:pt x="12713" y="100115"/>
                </a:cubicBezTo>
                <a:cubicBezTo>
                  <a:pt x="8193" y="98497"/>
                  <a:pt x="3801" y="96468"/>
                  <a:pt x="0" y="93951"/>
                </a:cubicBezTo>
                <a:lnTo>
                  <a:pt x="0" y="110954"/>
                </a:lnTo>
                <a:cubicBezTo>
                  <a:pt x="0" y="122306"/>
                  <a:pt x="25761" y="131501"/>
                  <a:pt x="57532" y="131501"/>
                </a:cubicBezTo>
                <a:cubicBezTo>
                  <a:pt x="89302" y="131501"/>
                  <a:pt x="115063" y="122306"/>
                  <a:pt x="115063" y="110954"/>
                </a:cubicBezTo>
                <a:lnTo>
                  <a:pt x="115063" y="93951"/>
                </a:lnTo>
                <a:cubicBezTo>
                  <a:pt x="111262" y="96468"/>
                  <a:pt x="106896" y="98497"/>
                  <a:pt x="102350" y="100115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2639409" y="5532425"/>
            <a:ext cx="901720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MySQL数据库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63575" y="5908140"/>
            <a:ext cx="3315698" cy="9393"/>
          </a:xfrm>
          <a:custGeom>
            <a:avLst/>
            <a:gdLst/>
            <a:ahLst/>
            <a:cxnLst/>
            <a:rect l="l" t="t" r="r" b="b"/>
            <a:pathLst>
              <a:path w="3315698" h="9393">
                <a:moveTo>
                  <a:pt x="0" y="0"/>
                </a:moveTo>
                <a:lnTo>
                  <a:pt x="3315698" y="0"/>
                </a:lnTo>
                <a:lnTo>
                  <a:pt x="3315698" y="9393"/>
                </a:lnTo>
                <a:lnTo>
                  <a:pt x="0" y="939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530700" y="6025551"/>
            <a:ext cx="3381448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0700" y="6213409"/>
            <a:ext cx="3381448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基础挂号、报告短信提醒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251100" y="1822226"/>
            <a:ext cx="3691414" cy="4658896"/>
          </a:xfrm>
          <a:custGeom>
            <a:avLst/>
            <a:gdLst/>
            <a:ahLst/>
            <a:cxnLst/>
            <a:rect l="l" t="t" r="r" b="b"/>
            <a:pathLst>
              <a:path w="3691414" h="5034601">
                <a:moveTo>
                  <a:pt x="37572" y="0"/>
                </a:moveTo>
                <a:lnTo>
                  <a:pt x="3653843" y="0"/>
                </a:lnTo>
                <a:cubicBezTo>
                  <a:pt x="3674593" y="0"/>
                  <a:pt x="3691414" y="16821"/>
                  <a:pt x="3691414" y="37572"/>
                </a:cubicBezTo>
                <a:lnTo>
                  <a:pt x="3691414" y="4921902"/>
                </a:lnTo>
                <a:cubicBezTo>
                  <a:pt x="3691414" y="4984144"/>
                  <a:pt x="3640957" y="5034601"/>
                  <a:pt x="3578716" y="5034601"/>
                </a:cubicBezTo>
                <a:lnTo>
                  <a:pt x="112699" y="5034601"/>
                </a:lnTo>
                <a:cubicBezTo>
                  <a:pt x="50457" y="5034601"/>
                  <a:pt x="0" y="4984144"/>
                  <a:pt x="0" y="4921902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179" dist="939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4251100" y="1822225"/>
            <a:ext cx="3691414" cy="37572"/>
          </a:xfrm>
          <a:custGeom>
            <a:avLst/>
            <a:gdLst/>
            <a:ahLst/>
            <a:cxnLst/>
            <a:rect l="l" t="t" r="r" b="b"/>
            <a:pathLst>
              <a:path w="3691414" h="37572">
                <a:moveTo>
                  <a:pt x="37572" y="0"/>
                </a:moveTo>
                <a:lnTo>
                  <a:pt x="3653843" y="0"/>
                </a:lnTo>
                <a:cubicBezTo>
                  <a:pt x="3674593" y="0"/>
                  <a:pt x="3691414" y="16821"/>
                  <a:pt x="3691414" y="37572"/>
                </a:cubicBezTo>
                <a:lnTo>
                  <a:pt x="3691414" y="37572"/>
                </a:lnTo>
                <a:lnTo>
                  <a:pt x="0" y="37572"/>
                </a:ln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0A4F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4251100" y="3048000"/>
            <a:ext cx="3691414" cy="9393"/>
          </a:xfrm>
          <a:custGeom>
            <a:avLst/>
            <a:gdLst/>
            <a:ahLst/>
            <a:cxnLst/>
            <a:rect l="l" t="t" r="r" b="b"/>
            <a:pathLst>
              <a:path w="3691414" h="9393">
                <a:moveTo>
                  <a:pt x="0" y="0"/>
                </a:moveTo>
                <a:lnTo>
                  <a:pt x="3691414" y="0"/>
                </a:lnTo>
                <a:lnTo>
                  <a:pt x="3691414" y="9393"/>
                </a:lnTo>
                <a:lnTo>
                  <a:pt x="0" y="939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4438958" y="2028869"/>
            <a:ext cx="450860" cy="450860"/>
          </a:xfrm>
          <a:custGeom>
            <a:avLst/>
            <a:gdLst/>
            <a:ahLst/>
            <a:cxnLst/>
            <a:rect l="l" t="t" r="r" b="b"/>
            <a:pathLst>
              <a:path w="450860" h="450860">
                <a:moveTo>
                  <a:pt x="112715" y="0"/>
                </a:moveTo>
                <a:lnTo>
                  <a:pt x="338145" y="0"/>
                </a:lnTo>
                <a:cubicBezTo>
                  <a:pt x="400354" y="0"/>
                  <a:pt x="450860" y="50506"/>
                  <a:pt x="450860" y="112715"/>
                </a:cubicBezTo>
                <a:lnTo>
                  <a:pt x="450860" y="338145"/>
                </a:lnTo>
                <a:cubicBezTo>
                  <a:pt x="450860" y="400354"/>
                  <a:pt x="400354" y="450860"/>
                  <a:pt x="338145" y="450860"/>
                </a:cubicBezTo>
                <a:lnTo>
                  <a:pt x="112715" y="450860"/>
                </a:lnTo>
                <a:cubicBezTo>
                  <a:pt x="50506" y="450860"/>
                  <a:pt x="0" y="400354"/>
                  <a:pt x="0" y="338145"/>
                </a:cubicBezTo>
                <a:lnTo>
                  <a:pt x="0" y="112715"/>
                </a:lnTo>
                <a:cubicBezTo>
                  <a:pt x="0" y="50506"/>
                  <a:pt x="50506" y="0"/>
                  <a:pt x="112715" y="0"/>
                </a:cubicBezTo>
                <a:close/>
              </a:path>
            </a:pathLst>
          </a:custGeom>
          <a:solidFill>
            <a:srgbClr val="0A4F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4558718" y="2160370"/>
            <a:ext cx="211341" cy="187858"/>
          </a:xfrm>
          <a:custGeom>
            <a:avLst/>
            <a:gdLst/>
            <a:ahLst/>
            <a:cxnLst/>
            <a:rect l="l" t="t" r="r" b="b"/>
            <a:pathLst>
              <a:path w="211341" h="187858">
                <a:moveTo>
                  <a:pt x="46965" y="23482"/>
                </a:moveTo>
                <a:cubicBezTo>
                  <a:pt x="46965" y="10530"/>
                  <a:pt x="57495" y="0"/>
                  <a:pt x="70447" y="0"/>
                </a:cubicBezTo>
                <a:lnTo>
                  <a:pt x="140894" y="0"/>
                </a:lnTo>
                <a:cubicBezTo>
                  <a:pt x="153846" y="0"/>
                  <a:pt x="164376" y="10530"/>
                  <a:pt x="164376" y="23482"/>
                </a:cubicBezTo>
                <a:lnTo>
                  <a:pt x="164376" y="46965"/>
                </a:lnTo>
                <a:lnTo>
                  <a:pt x="187858" y="46965"/>
                </a:lnTo>
                <a:cubicBezTo>
                  <a:pt x="200810" y="46965"/>
                  <a:pt x="211341" y="57495"/>
                  <a:pt x="211341" y="70447"/>
                </a:cubicBezTo>
                <a:lnTo>
                  <a:pt x="211341" y="164376"/>
                </a:lnTo>
                <a:cubicBezTo>
                  <a:pt x="211341" y="177328"/>
                  <a:pt x="200810" y="187858"/>
                  <a:pt x="187858" y="187858"/>
                </a:cubicBezTo>
                <a:lnTo>
                  <a:pt x="23482" y="187858"/>
                </a:lnTo>
                <a:cubicBezTo>
                  <a:pt x="10530" y="187858"/>
                  <a:pt x="0" y="177328"/>
                  <a:pt x="0" y="164376"/>
                </a:cubicBezTo>
                <a:lnTo>
                  <a:pt x="0" y="70447"/>
                </a:lnTo>
                <a:cubicBezTo>
                  <a:pt x="0" y="57495"/>
                  <a:pt x="10530" y="46965"/>
                  <a:pt x="23482" y="46965"/>
                </a:cubicBezTo>
                <a:lnTo>
                  <a:pt x="46965" y="46965"/>
                </a:lnTo>
                <a:lnTo>
                  <a:pt x="46965" y="23482"/>
                </a:lnTo>
                <a:close/>
                <a:moveTo>
                  <a:pt x="99800" y="129153"/>
                </a:moveTo>
                <a:cubicBezTo>
                  <a:pt x="93305" y="129153"/>
                  <a:pt x="88059" y="134399"/>
                  <a:pt x="88059" y="140894"/>
                </a:cubicBezTo>
                <a:lnTo>
                  <a:pt x="88059" y="170247"/>
                </a:lnTo>
                <a:lnTo>
                  <a:pt x="123282" y="170247"/>
                </a:lnTo>
                <a:lnTo>
                  <a:pt x="123282" y="140894"/>
                </a:lnTo>
                <a:cubicBezTo>
                  <a:pt x="123282" y="134399"/>
                  <a:pt x="118035" y="129153"/>
                  <a:pt x="111541" y="129153"/>
                </a:cubicBezTo>
                <a:lnTo>
                  <a:pt x="99800" y="129153"/>
                </a:lnTo>
                <a:close/>
                <a:moveTo>
                  <a:pt x="46965" y="135023"/>
                </a:moveTo>
                <a:lnTo>
                  <a:pt x="46965" y="123282"/>
                </a:lnTo>
                <a:cubicBezTo>
                  <a:pt x="46965" y="120053"/>
                  <a:pt x="44323" y="117411"/>
                  <a:pt x="41094" y="117411"/>
                </a:cubicBezTo>
                <a:lnTo>
                  <a:pt x="29353" y="117411"/>
                </a:lnTo>
                <a:cubicBezTo>
                  <a:pt x="26124" y="117411"/>
                  <a:pt x="23482" y="120053"/>
                  <a:pt x="23482" y="123282"/>
                </a:cubicBezTo>
                <a:lnTo>
                  <a:pt x="23482" y="135023"/>
                </a:lnTo>
                <a:cubicBezTo>
                  <a:pt x="23482" y="138252"/>
                  <a:pt x="26124" y="140894"/>
                  <a:pt x="29353" y="140894"/>
                </a:cubicBezTo>
                <a:lnTo>
                  <a:pt x="41094" y="140894"/>
                </a:lnTo>
                <a:cubicBezTo>
                  <a:pt x="44323" y="140894"/>
                  <a:pt x="46965" y="138252"/>
                  <a:pt x="46965" y="135023"/>
                </a:cubicBezTo>
                <a:close/>
                <a:moveTo>
                  <a:pt x="41094" y="93929"/>
                </a:moveTo>
                <a:cubicBezTo>
                  <a:pt x="44323" y="93929"/>
                  <a:pt x="46965" y="91287"/>
                  <a:pt x="46965" y="88059"/>
                </a:cubicBezTo>
                <a:lnTo>
                  <a:pt x="46965" y="76317"/>
                </a:lnTo>
                <a:cubicBezTo>
                  <a:pt x="46965" y="73089"/>
                  <a:pt x="44323" y="70447"/>
                  <a:pt x="41094" y="70447"/>
                </a:cubicBezTo>
                <a:lnTo>
                  <a:pt x="29353" y="70447"/>
                </a:lnTo>
                <a:cubicBezTo>
                  <a:pt x="26124" y="70447"/>
                  <a:pt x="23482" y="73089"/>
                  <a:pt x="23482" y="76317"/>
                </a:cubicBezTo>
                <a:lnTo>
                  <a:pt x="23482" y="88059"/>
                </a:lnTo>
                <a:cubicBezTo>
                  <a:pt x="23482" y="91287"/>
                  <a:pt x="26124" y="93929"/>
                  <a:pt x="29353" y="93929"/>
                </a:cubicBezTo>
                <a:lnTo>
                  <a:pt x="41094" y="93929"/>
                </a:lnTo>
                <a:close/>
                <a:moveTo>
                  <a:pt x="187858" y="135023"/>
                </a:moveTo>
                <a:lnTo>
                  <a:pt x="187858" y="123282"/>
                </a:lnTo>
                <a:cubicBezTo>
                  <a:pt x="187858" y="120053"/>
                  <a:pt x="185216" y="117411"/>
                  <a:pt x="181988" y="117411"/>
                </a:cubicBezTo>
                <a:lnTo>
                  <a:pt x="170247" y="117411"/>
                </a:lnTo>
                <a:cubicBezTo>
                  <a:pt x="167018" y="117411"/>
                  <a:pt x="164376" y="120053"/>
                  <a:pt x="164376" y="123282"/>
                </a:cubicBezTo>
                <a:lnTo>
                  <a:pt x="164376" y="135023"/>
                </a:lnTo>
                <a:cubicBezTo>
                  <a:pt x="164376" y="138252"/>
                  <a:pt x="167018" y="140894"/>
                  <a:pt x="170247" y="140894"/>
                </a:cubicBezTo>
                <a:lnTo>
                  <a:pt x="181988" y="140894"/>
                </a:lnTo>
                <a:cubicBezTo>
                  <a:pt x="185216" y="140894"/>
                  <a:pt x="187858" y="138252"/>
                  <a:pt x="187858" y="135023"/>
                </a:cubicBezTo>
                <a:close/>
                <a:moveTo>
                  <a:pt x="181988" y="93929"/>
                </a:moveTo>
                <a:cubicBezTo>
                  <a:pt x="185216" y="93929"/>
                  <a:pt x="187858" y="91287"/>
                  <a:pt x="187858" y="88059"/>
                </a:cubicBezTo>
                <a:lnTo>
                  <a:pt x="187858" y="76317"/>
                </a:lnTo>
                <a:cubicBezTo>
                  <a:pt x="187858" y="73089"/>
                  <a:pt x="185216" y="70447"/>
                  <a:pt x="181988" y="70447"/>
                </a:cubicBezTo>
                <a:lnTo>
                  <a:pt x="170247" y="70447"/>
                </a:lnTo>
                <a:cubicBezTo>
                  <a:pt x="167018" y="70447"/>
                  <a:pt x="164376" y="73089"/>
                  <a:pt x="164376" y="76317"/>
                </a:cubicBezTo>
                <a:lnTo>
                  <a:pt x="164376" y="88059"/>
                </a:lnTo>
                <a:cubicBezTo>
                  <a:pt x="164376" y="91287"/>
                  <a:pt x="167018" y="93929"/>
                  <a:pt x="170247" y="93929"/>
                </a:cubicBezTo>
                <a:lnTo>
                  <a:pt x="181988" y="93929"/>
                </a:lnTo>
                <a:close/>
                <a:moveTo>
                  <a:pt x="96864" y="38159"/>
                </a:moveTo>
                <a:lnTo>
                  <a:pt x="96864" y="49900"/>
                </a:lnTo>
                <a:lnTo>
                  <a:pt x="85123" y="49900"/>
                </a:lnTo>
                <a:cubicBezTo>
                  <a:pt x="81894" y="49900"/>
                  <a:pt x="79253" y="52542"/>
                  <a:pt x="79253" y="55770"/>
                </a:cubicBezTo>
                <a:lnTo>
                  <a:pt x="79253" y="61641"/>
                </a:lnTo>
                <a:cubicBezTo>
                  <a:pt x="79253" y="64870"/>
                  <a:pt x="81894" y="67512"/>
                  <a:pt x="85123" y="67512"/>
                </a:cubicBezTo>
                <a:lnTo>
                  <a:pt x="96864" y="67512"/>
                </a:lnTo>
                <a:lnTo>
                  <a:pt x="96864" y="79253"/>
                </a:lnTo>
                <a:cubicBezTo>
                  <a:pt x="96864" y="82482"/>
                  <a:pt x="99506" y="85123"/>
                  <a:pt x="102735" y="85123"/>
                </a:cubicBezTo>
                <a:lnTo>
                  <a:pt x="108606" y="85123"/>
                </a:lnTo>
                <a:cubicBezTo>
                  <a:pt x="111834" y="85123"/>
                  <a:pt x="114476" y="82482"/>
                  <a:pt x="114476" y="79253"/>
                </a:cubicBezTo>
                <a:lnTo>
                  <a:pt x="114476" y="67512"/>
                </a:lnTo>
                <a:lnTo>
                  <a:pt x="126217" y="67512"/>
                </a:lnTo>
                <a:cubicBezTo>
                  <a:pt x="129446" y="67512"/>
                  <a:pt x="132088" y="64870"/>
                  <a:pt x="132088" y="61641"/>
                </a:cubicBezTo>
                <a:lnTo>
                  <a:pt x="132088" y="55770"/>
                </a:lnTo>
                <a:cubicBezTo>
                  <a:pt x="132088" y="52542"/>
                  <a:pt x="129446" y="49900"/>
                  <a:pt x="126217" y="49900"/>
                </a:cubicBezTo>
                <a:lnTo>
                  <a:pt x="114476" y="49900"/>
                </a:lnTo>
                <a:lnTo>
                  <a:pt x="114476" y="38159"/>
                </a:lnTo>
                <a:cubicBezTo>
                  <a:pt x="114476" y="34930"/>
                  <a:pt x="111834" y="32288"/>
                  <a:pt x="108606" y="32288"/>
                </a:cubicBezTo>
                <a:lnTo>
                  <a:pt x="102735" y="32288"/>
                </a:lnTo>
                <a:cubicBezTo>
                  <a:pt x="99506" y="32288"/>
                  <a:pt x="96864" y="34930"/>
                  <a:pt x="96864" y="3815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5002533" y="2028869"/>
            <a:ext cx="1286829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9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专业版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002533" y="2291871"/>
            <a:ext cx="1258650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Professional Edition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38958" y="2592444"/>
            <a:ext cx="1145935" cy="263002"/>
          </a:xfrm>
          <a:custGeom>
            <a:avLst/>
            <a:gdLst/>
            <a:ahLst/>
            <a:cxnLst/>
            <a:rect l="l" t="t" r="r" b="b"/>
            <a:pathLst>
              <a:path w="1145935" h="263002">
                <a:moveTo>
                  <a:pt x="131501" y="0"/>
                </a:moveTo>
                <a:lnTo>
                  <a:pt x="1014435" y="0"/>
                </a:lnTo>
                <a:cubicBezTo>
                  <a:pt x="1087060" y="0"/>
                  <a:pt x="1145935" y="58875"/>
                  <a:pt x="1145935" y="131501"/>
                </a:cubicBezTo>
                <a:lnTo>
                  <a:pt x="1145935" y="131501"/>
                </a:lnTo>
                <a:cubicBezTo>
                  <a:pt x="1145935" y="204127"/>
                  <a:pt x="1087060" y="263002"/>
                  <a:pt x="1014435" y="263002"/>
                </a:cubicBezTo>
                <a:lnTo>
                  <a:pt x="131501" y="263002"/>
                </a:lnTo>
                <a:cubicBezTo>
                  <a:pt x="58924" y="263002"/>
                  <a:pt x="0" y="204078"/>
                  <a:pt x="0" y="131501"/>
                </a:cubicBezTo>
                <a:lnTo>
                  <a:pt x="0" y="131501"/>
                </a:lnTo>
                <a:cubicBezTo>
                  <a:pt x="0" y="58924"/>
                  <a:pt x="58924" y="0"/>
                  <a:pt x="131501" y="0"/>
                </a:cubicBezTo>
                <a:close/>
              </a:path>
            </a:pathLst>
          </a:custGeom>
          <a:solidFill>
            <a:srgbClr val="0A4F6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4438958" y="2592444"/>
            <a:ext cx="1211686" cy="263002"/>
          </a:xfrm>
          <a:prstGeom prst="rect">
            <a:avLst/>
          </a:prstGeom>
          <a:noFill/>
          <a:ln/>
        </p:spPr>
        <p:txBody>
          <a:bodyPr wrap="square" lIns="112715" tIns="37572" rIns="112715" bIns="37572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适合中大型医院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438958" y="3240555"/>
            <a:ext cx="3381448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核心功能：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465963" y="3531735"/>
            <a:ext cx="115063" cy="131501"/>
          </a:xfrm>
          <a:custGeom>
            <a:avLst/>
            <a:gdLst/>
            <a:ahLst/>
            <a:cxnLst/>
            <a:rect l="l" t="t" r="r" b="b"/>
            <a:pathLst>
              <a:path w="115063" h="131501">
                <a:moveTo>
                  <a:pt x="111673" y="18004"/>
                </a:moveTo>
                <a:cubicBezTo>
                  <a:pt x="115346" y="20675"/>
                  <a:pt x="116168" y="25812"/>
                  <a:pt x="113496" y="29485"/>
                </a:cubicBezTo>
                <a:lnTo>
                  <a:pt x="47746" y="119892"/>
                </a:lnTo>
                <a:cubicBezTo>
                  <a:pt x="46333" y="121844"/>
                  <a:pt x="44150" y="123051"/>
                  <a:pt x="41736" y="123256"/>
                </a:cubicBezTo>
                <a:cubicBezTo>
                  <a:pt x="39322" y="123462"/>
                  <a:pt x="36985" y="122563"/>
                  <a:pt x="35289" y="120868"/>
                </a:cubicBezTo>
                <a:lnTo>
                  <a:pt x="2414" y="87993"/>
                </a:lnTo>
                <a:cubicBezTo>
                  <a:pt x="-796" y="84782"/>
                  <a:pt x="-796" y="79568"/>
                  <a:pt x="2414" y="76358"/>
                </a:cubicBezTo>
                <a:cubicBezTo>
                  <a:pt x="5625" y="73147"/>
                  <a:pt x="10839" y="73147"/>
                  <a:pt x="14049" y="76358"/>
                </a:cubicBezTo>
                <a:lnTo>
                  <a:pt x="40118" y="102427"/>
                </a:lnTo>
                <a:lnTo>
                  <a:pt x="100218" y="19802"/>
                </a:lnTo>
                <a:cubicBezTo>
                  <a:pt x="102889" y="16129"/>
                  <a:pt x="108026" y="15308"/>
                  <a:pt x="111699" y="1797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4678477" y="3503556"/>
            <a:ext cx="986256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基础版全部功能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465963" y="3794737"/>
            <a:ext cx="115063" cy="131501"/>
          </a:xfrm>
          <a:custGeom>
            <a:avLst/>
            <a:gdLst/>
            <a:ahLst/>
            <a:cxnLst/>
            <a:rect l="l" t="t" r="r" b="b"/>
            <a:pathLst>
              <a:path w="115063" h="131501">
                <a:moveTo>
                  <a:pt x="111673" y="18004"/>
                </a:moveTo>
                <a:cubicBezTo>
                  <a:pt x="115346" y="20675"/>
                  <a:pt x="116168" y="25812"/>
                  <a:pt x="113496" y="29485"/>
                </a:cubicBezTo>
                <a:lnTo>
                  <a:pt x="47746" y="119892"/>
                </a:lnTo>
                <a:cubicBezTo>
                  <a:pt x="46333" y="121844"/>
                  <a:pt x="44150" y="123051"/>
                  <a:pt x="41736" y="123256"/>
                </a:cubicBezTo>
                <a:cubicBezTo>
                  <a:pt x="39322" y="123462"/>
                  <a:pt x="36985" y="122563"/>
                  <a:pt x="35289" y="120868"/>
                </a:cubicBezTo>
                <a:lnTo>
                  <a:pt x="2414" y="87993"/>
                </a:lnTo>
                <a:cubicBezTo>
                  <a:pt x="-796" y="84782"/>
                  <a:pt x="-796" y="79568"/>
                  <a:pt x="2414" y="76358"/>
                </a:cubicBezTo>
                <a:cubicBezTo>
                  <a:pt x="5625" y="73147"/>
                  <a:pt x="10839" y="73147"/>
                  <a:pt x="14049" y="76358"/>
                </a:cubicBezTo>
                <a:lnTo>
                  <a:pt x="40118" y="102427"/>
                </a:lnTo>
                <a:lnTo>
                  <a:pt x="100218" y="19802"/>
                </a:lnTo>
                <a:cubicBezTo>
                  <a:pt x="102889" y="16129"/>
                  <a:pt x="108026" y="15308"/>
                  <a:pt x="111699" y="1797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4678477" y="3766558"/>
            <a:ext cx="591753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视频短信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465963" y="4057738"/>
            <a:ext cx="115063" cy="131501"/>
          </a:xfrm>
          <a:custGeom>
            <a:avLst/>
            <a:gdLst/>
            <a:ahLst/>
            <a:cxnLst/>
            <a:rect l="l" t="t" r="r" b="b"/>
            <a:pathLst>
              <a:path w="115063" h="131501">
                <a:moveTo>
                  <a:pt x="111673" y="18004"/>
                </a:moveTo>
                <a:cubicBezTo>
                  <a:pt x="115346" y="20675"/>
                  <a:pt x="116168" y="25812"/>
                  <a:pt x="113496" y="29485"/>
                </a:cubicBezTo>
                <a:lnTo>
                  <a:pt x="47746" y="119892"/>
                </a:lnTo>
                <a:cubicBezTo>
                  <a:pt x="46333" y="121844"/>
                  <a:pt x="44150" y="123051"/>
                  <a:pt x="41736" y="123256"/>
                </a:cubicBezTo>
                <a:cubicBezTo>
                  <a:pt x="39322" y="123462"/>
                  <a:pt x="36985" y="122563"/>
                  <a:pt x="35289" y="120868"/>
                </a:cubicBezTo>
                <a:lnTo>
                  <a:pt x="2414" y="87993"/>
                </a:lnTo>
                <a:cubicBezTo>
                  <a:pt x="-796" y="84782"/>
                  <a:pt x="-796" y="79568"/>
                  <a:pt x="2414" y="76358"/>
                </a:cubicBezTo>
                <a:cubicBezTo>
                  <a:pt x="5625" y="73147"/>
                  <a:pt x="10839" y="73147"/>
                  <a:pt x="14049" y="76358"/>
                </a:cubicBezTo>
                <a:lnTo>
                  <a:pt x="40118" y="102427"/>
                </a:lnTo>
                <a:lnTo>
                  <a:pt x="100218" y="19802"/>
                </a:lnTo>
                <a:cubicBezTo>
                  <a:pt x="102889" y="16129"/>
                  <a:pt x="108026" y="15308"/>
                  <a:pt x="111699" y="1797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4678477" y="4029559"/>
            <a:ext cx="591753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邮件消息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465963" y="4320740"/>
            <a:ext cx="115063" cy="131501"/>
          </a:xfrm>
          <a:custGeom>
            <a:avLst/>
            <a:gdLst/>
            <a:ahLst/>
            <a:cxnLst/>
            <a:rect l="l" t="t" r="r" b="b"/>
            <a:pathLst>
              <a:path w="115063" h="131501">
                <a:moveTo>
                  <a:pt x="111673" y="18004"/>
                </a:moveTo>
                <a:cubicBezTo>
                  <a:pt x="115346" y="20675"/>
                  <a:pt x="116168" y="25812"/>
                  <a:pt x="113496" y="29485"/>
                </a:cubicBezTo>
                <a:lnTo>
                  <a:pt x="47746" y="119892"/>
                </a:lnTo>
                <a:cubicBezTo>
                  <a:pt x="46333" y="121844"/>
                  <a:pt x="44150" y="123051"/>
                  <a:pt x="41736" y="123256"/>
                </a:cubicBezTo>
                <a:cubicBezTo>
                  <a:pt x="39322" y="123462"/>
                  <a:pt x="36985" y="122563"/>
                  <a:pt x="35289" y="120868"/>
                </a:cubicBezTo>
                <a:lnTo>
                  <a:pt x="2414" y="87993"/>
                </a:lnTo>
                <a:cubicBezTo>
                  <a:pt x="-796" y="84782"/>
                  <a:pt x="-796" y="79568"/>
                  <a:pt x="2414" y="76358"/>
                </a:cubicBezTo>
                <a:cubicBezTo>
                  <a:pt x="5625" y="73147"/>
                  <a:pt x="10839" y="73147"/>
                  <a:pt x="14049" y="76358"/>
                </a:cubicBezTo>
                <a:lnTo>
                  <a:pt x="40118" y="102427"/>
                </a:lnTo>
                <a:lnTo>
                  <a:pt x="100218" y="19802"/>
                </a:lnTo>
                <a:cubicBezTo>
                  <a:pt x="102889" y="16129"/>
                  <a:pt x="108026" y="15308"/>
                  <a:pt x="111699" y="1797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4678477" y="4292561"/>
            <a:ext cx="854755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角色权限管理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465963" y="4583741"/>
            <a:ext cx="115063" cy="131501"/>
          </a:xfrm>
          <a:custGeom>
            <a:avLst/>
            <a:gdLst/>
            <a:ahLst/>
            <a:cxnLst/>
            <a:rect l="l" t="t" r="r" b="b"/>
            <a:pathLst>
              <a:path w="115063" h="131501">
                <a:moveTo>
                  <a:pt x="111673" y="18004"/>
                </a:moveTo>
                <a:cubicBezTo>
                  <a:pt x="115346" y="20675"/>
                  <a:pt x="116168" y="25812"/>
                  <a:pt x="113496" y="29485"/>
                </a:cubicBezTo>
                <a:lnTo>
                  <a:pt x="47746" y="119892"/>
                </a:lnTo>
                <a:cubicBezTo>
                  <a:pt x="46333" y="121844"/>
                  <a:pt x="44150" y="123051"/>
                  <a:pt x="41736" y="123256"/>
                </a:cubicBezTo>
                <a:cubicBezTo>
                  <a:pt x="39322" y="123462"/>
                  <a:pt x="36985" y="122563"/>
                  <a:pt x="35289" y="120868"/>
                </a:cubicBezTo>
                <a:lnTo>
                  <a:pt x="2414" y="87993"/>
                </a:lnTo>
                <a:cubicBezTo>
                  <a:pt x="-796" y="84782"/>
                  <a:pt x="-796" y="79568"/>
                  <a:pt x="2414" y="76358"/>
                </a:cubicBezTo>
                <a:cubicBezTo>
                  <a:pt x="5625" y="73147"/>
                  <a:pt x="10839" y="73147"/>
                  <a:pt x="14049" y="76358"/>
                </a:cubicBezTo>
                <a:lnTo>
                  <a:pt x="40118" y="102427"/>
                </a:lnTo>
                <a:lnTo>
                  <a:pt x="100218" y="19802"/>
                </a:lnTo>
                <a:cubicBezTo>
                  <a:pt x="102889" y="16129"/>
                  <a:pt x="108026" y="15308"/>
                  <a:pt x="111699" y="1797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4678477" y="4555562"/>
            <a:ext cx="591753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统计报表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465963" y="4846743"/>
            <a:ext cx="115063" cy="131501"/>
          </a:xfrm>
          <a:custGeom>
            <a:avLst/>
            <a:gdLst/>
            <a:ahLst/>
            <a:cxnLst/>
            <a:rect l="l" t="t" r="r" b="b"/>
            <a:pathLst>
              <a:path w="115063" h="131501">
                <a:moveTo>
                  <a:pt x="111673" y="18004"/>
                </a:moveTo>
                <a:cubicBezTo>
                  <a:pt x="115346" y="20675"/>
                  <a:pt x="116168" y="25812"/>
                  <a:pt x="113496" y="29485"/>
                </a:cubicBezTo>
                <a:lnTo>
                  <a:pt x="47746" y="119892"/>
                </a:lnTo>
                <a:cubicBezTo>
                  <a:pt x="46333" y="121844"/>
                  <a:pt x="44150" y="123051"/>
                  <a:pt x="41736" y="123256"/>
                </a:cubicBezTo>
                <a:cubicBezTo>
                  <a:pt x="39322" y="123462"/>
                  <a:pt x="36985" y="122563"/>
                  <a:pt x="35289" y="120868"/>
                </a:cubicBezTo>
                <a:lnTo>
                  <a:pt x="2414" y="87993"/>
                </a:lnTo>
                <a:cubicBezTo>
                  <a:pt x="-796" y="84782"/>
                  <a:pt x="-796" y="79568"/>
                  <a:pt x="2414" y="76358"/>
                </a:cubicBezTo>
                <a:cubicBezTo>
                  <a:pt x="5625" y="73147"/>
                  <a:pt x="10839" y="73147"/>
                  <a:pt x="14049" y="76358"/>
                </a:cubicBezTo>
                <a:lnTo>
                  <a:pt x="40118" y="102427"/>
                </a:lnTo>
                <a:lnTo>
                  <a:pt x="100218" y="19802"/>
                </a:lnTo>
                <a:cubicBezTo>
                  <a:pt x="102889" y="16129"/>
                  <a:pt x="108026" y="15308"/>
                  <a:pt x="111699" y="1797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4678477" y="4818564"/>
            <a:ext cx="854755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消息模板设置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438958" y="5156709"/>
            <a:ext cx="3315698" cy="699771"/>
          </a:xfrm>
          <a:custGeom>
            <a:avLst/>
            <a:gdLst/>
            <a:ahLst/>
            <a:cxnLst/>
            <a:rect l="l" t="t" r="r" b="b"/>
            <a:pathLst>
              <a:path w="3315698" h="901720">
                <a:moveTo>
                  <a:pt x="75140" y="0"/>
                </a:moveTo>
                <a:lnTo>
                  <a:pt x="3240558" y="0"/>
                </a:lnTo>
                <a:cubicBezTo>
                  <a:pt x="3282057" y="0"/>
                  <a:pt x="3315698" y="33641"/>
                  <a:pt x="3315698" y="75140"/>
                </a:cubicBezTo>
                <a:lnTo>
                  <a:pt x="3315698" y="826579"/>
                </a:lnTo>
                <a:cubicBezTo>
                  <a:pt x="3315698" y="868078"/>
                  <a:pt x="3282057" y="901720"/>
                  <a:pt x="3240558" y="901720"/>
                </a:cubicBezTo>
                <a:lnTo>
                  <a:pt x="75140" y="901720"/>
                </a:lnTo>
                <a:cubicBezTo>
                  <a:pt x="33641" y="901720"/>
                  <a:pt x="0" y="868078"/>
                  <a:pt x="0" y="826579"/>
                </a:cubicBezTo>
                <a:lnTo>
                  <a:pt x="0" y="75140"/>
                </a:lnTo>
                <a:cubicBezTo>
                  <a:pt x="0" y="33669"/>
                  <a:pt x="33669" y="0"/>
                  <a:pt x="75140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4551673" y="5269424"/>
            <a:ext cx="3156018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部署配置：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578678" y="5560604"/>
            <a:ext cx="115063" cy="131501"/>
          </a:xfrm>
          <a:custGeom>
            <a:avLst/>
            <a:gdLst/>
            <a:ahLst/>
            <a:cxnLst/>
            <a:rect l="l" t="t" r="r" b="b"/>
            <a:pathLst>
              <a:path w="115063" h="131501">
                <a:moveTo>
                  <a:pt x="16438" y="8219"/>
                </a:moveTo>
                <a:cubicBezTo>
                  <a:pt x="7371" y="8219"/>
                  <a:pt x="0" y="15590"/>
                  <a:pt x="0" y="24656"/>
                </a:cubicBezTo>
                <a:lnTo>
                  <a:pt x="0" y="41094"/>
                </a:lnTo>
                <a:cubicBezTo>
                  <a:pt x="0" y="50160"/>
                  <a:pt x="7371" y="57532"/>
                  <a:pt x="16438" y="57532"/>
                </a:cubicBezTo>
                <a:lnTo>
                  <a:pt x="98626" y="57532"/>
                </a:lnTo>
                <a:cubicBezTo>
                  <a:pt x="107692" y="57532"/>
                  <a:pt x="115063" y="50160"/>
                  <a:pt x="115063" y="41094"/>
                </a:cubicBezTo>
                <a:lnTo>
                  <a:pt x="115063" y="24656"/>
                </a:lnTo>
                <a:cubicBezTo>
                  <a:pt x="115063" y="15590"/>
                  <a:pt x="107692" y="8219"/>
                  <a:pt x="98626" y="8219"/>
                </a:cubicBezTo>
                <a:lnTo>
                  <a:pt x="16438" y="8219"/>
                </a:lnTo>
                <a:close/>
                <a:moveTo>
                  <a:pt x="71914" y="26711"/>
                </a:moveTo>
                <a:cubicBezTo>
                  <a:pt x="75317" y="26711"/>
                  <a:pt x="78079" y="29473"/>
                  <a:pt x="78079" y="32875"/>
                </a:cubicBezTo>
                <a:cubicBezTo>
                  <a:pt x="78079" y="36277"/>
                  <a:pt x="75317" y="39039"/>
                  <a:pt x="71914" y="39039"/>
                </a:cubicBezTo>
                <a:cubicBezTo>
                  <a:pt x="68512" y="39039"/>
                  <a:pt x="65750" y="36277"/>
                  <a:pt x="65750" y="32875"/>
                </a:cubicBezTo>
                <a:cubicBezTo>
                  <a:pt x="65750" y="29473"/>
                  <a:pt x="68512" y="26711"/>
                  <a:pt x="71914" y="26711"/>
                </a:cubicBezTo>
                <a:close/>
                <a:moveTo>
                  <a:pt x="86297" y="32875"/>
                </a:moveTo>
                <a:cubicBezTo>
                  <a:pt x="86297" y="29473"/>
                  <a:pt x="89059" y="26711"/>
                  <a:pt x="92461" y="26711"/>
                </a:cubicBezTo>
                <a:cubicBezTo>
                  <a:pt x="95864" y="26711"/>
                  <a:pt x="98626" y="29473"/>
                  <a:pt x="98626" y="32875"/>
                </a:cubicBezTo>
                <a:cubicBezTo>
                  <a:pt x="98626" y="36277"/>
                  <a:pt x="95864" y="39039"/>
                  <a:pt x="92461" y="39039"/>
                </a:cubicBezTo>
                <a:cubicBezTo>
                  <a:pt x="89059" y="39039"/>
                  <a:pt x="86297" y="36277"/>
                  <a:pt x="86297" y="32875"/>
                </a:cubicBezTo>
                <a:close/>
                <a:moveTo>
                  <a:pt x="16438" y="73969"/>
                </a:moveTo>
                <a:cubicBezTo>
                  <a:pt x="7371" y="73969"/>
                  <a:pt x="0" y="81340"/>
                  <a:pt x="0" y="90407"/>
                </a:cubicBezTo>
                <a:lnTo>
                  <a:pt x="0" y="106844"/>
                </a:lnTo>
                <a:cubicBezTo>
                  <a:pt x="0" y="115911"/>
                  <a:pt x="7371" y="123282"/>
                  <a:pt x="16438" y="123282"/>
                </a:cubicBezTo>
                <a:lnTo>
                  <a:pt x="98626" y="123282"/>
                </a:lnTo>
                <a:cubicBezTo>
                  <a:pt x="107692" y="123282"/>
                  <a:pt x="115063" y="115911"/>
                  <a:pt x="115063" y="106844"/>
                </a:cubicBezTo>
                <a:lnTo>
                  <a:pt x="115063" y="90407"/>
                </a:lnTo>
                <a:cubicBezTo>
                  <a:pt x="115063" y="81340"/>
                  <a:pt x="107692" y="73969"/>
                  <a:pt x="98626" y="73969"/>
                </a:cubicBezTo>
                <a:lnTo>
                  <a:pt x="16438" y="73969"/>
                </a:lnTo>
                <a:close/>
                <a:moveTo>
                  <a:pt x="71914" y="92461"/>
                </a:moveTo>
                <a:cubicBezTo>
                  <a:pt x="75317" y="92461"/>
                  <a:pt x="78079" y="95224"/>
                  <a:pt x="78079" y="98626"/>
                </a:cubicBezTo>
                <a:cubicBezTo>
                  <a:pt x="78079" y="102028"/>
                  <a:pt x="75317" y="104790"/>
                  <a:pt x="71914" y="104790"/>
                </a:cubicBezTo>
                <a:cubicBezTo>
                  <a:pt x="68512" y="104790"/>
                  <a:pt x="65750" y="102028"/>
                  <a:pt x="65750" y="98626"/>
                </a:cubicBezTo>
                <a:cubicBezTo>
                  <a:pt x="65750" y="95224"/>
                  <a:pt x="68512" y="92461"/>
                  <a:pt x="71914" y="92461"/>
                </a:cubicBezTo>
                <a:close/>
                <a:moveTo>
                  <a:pt x="86297" y="98626"/>
                </a:moveTo>
                <a:cubicBezTo>
                  <a:pt x="86297" y="95224"/>
                  <a:pt x="89059" y="92461"/>
                  <a:pt x="92461" y="92461"/>
                </a:cubicBezTo>
                <a:cubicBezTo>
                  <a:pt x="95864" y="92461"/>
                  <a:pt x="98626" y="95224"/>
                  <a:pt x="98626" y="98626"/>
                </a:cubicBezTo>
                <a:cubicBezTo>
                  <a:pt x="98626" y="102028"/>
                  <a:pt x="95864" y="104790"/>
                  <a:pt x="92461" y="104790"/>
                </a:cubicBezTo>
                <a:cubicBezTo>
                  <a:pt x="89059" y="104790"/>
                  <a:pt x="86297" y="102028"/>
                  <a:pt x="86297" y="98626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4791192" y="5532425"/>
            <a:ext cx="1371365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3台服务器（8核16G）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260008" y="5560604"/>
            <a:ext cx="115063" cy="131501"/>
          </a:xfrm>
          <a:custGeom>
            <a:avLst/>
            <a:gdLst/>
            <a:ahLst/>
            <a:cxnLst/>
            <a:rect l="l" t="t" r="r" b="b"/>
            <a:pathLst>
              <a:path w="115063" h="131501">
                <a:moveTo>
                  <a:pt x="115063" y="52857"/>
                </a:moveTo>
                <a:cubicBezTo>
                  <a:pt x="111262" y="55374"/>
                  <a:pt x="106896" y="57403"/>
                  <a:pt x="102350" y="59021"/>
                </a:cubicBezTo>
                <a:cubicBezTo>
                  <a:pt x="90278" y="63336"/>
                  <a:pt x="74431" y="65750"/>
                  <a:pt x="57532" y="65750"/>
                </a:cubicBezTo>
                <a:cubicBezTo>
                  <a:pt x="40632" y="65750"/>
                  <a:pt x="24759" y="63310"/>
                  <a:pt x="12713" y="59021"/>
                </a:cubicBezTo>
                <a:cubicBezTo>
                  <a:pt x="8193" y="57403"/>
                  <a:pt x="3801" y="55374"/>
                  <a:pt x="0" y="52857"/>
                </a:cubicBezTo>
                <a:lnTo>
                  <a:pt x="0" y="73969"/>
                </a:lnTo>
                <a:cubicBezTo>
                  <a:pt x="0" y="85321"/>
                  <a:pt x="25761" y="94516"/>
                  <a:pt x="57532" y="94516"/>
                </a:cubicBezTo>
                <a:cubicBezTo>
                  <a:pt x="89302" y="94516"/>
                  <a:pt x="115063" y="85321"/>
                  <a:pt x="115063" y="73969"/>
                </a:cubicBezTo>
                <a:lnTo>
                  <a:pt x="115063" y="52857"/>
                </a:lnTo>
                <a:close/>
                <a:moveTo>
                  <a:pt x="115063" y="32875"/>
                </a:moveTo>
                <a:lnTo>
                  <a:pt x="115063" y="20547"/>
                </a:lnTo>
                <a:cubicBezTo>
                  <a:pt x="115063" y="9195"/>
                  <a:pt x="89302" y="0"/>
                  <a:pt x="57532" y="0"/>
                </a:cubicBezTo>
                <a:cubicBezTo>
                  <a:pt x="25761" y="0"/>
                  <a:pt x="0" y="9195"/>
                  <a:pt x="0" y="20547"/>
                </a:cubicBezTo>
                <a:lnTo>
                  <a:pt x="0" y="32875"/>
                </a:lnTo>
                <a:cubicBezTo>
                  <a:pt x="0" y="44227"/>
                  <a:pt x="25761" y="53422"/>
                  <a:pt x="57532" y="53422"/>
                </a:cubicBezTo>
                <a:cubicBezTo>
                  <a:pt x="89302" y="53422"/>
                  <a:pt x="115063" y="44227"/>
                  <a:pt x="115063" y="32875"/>
                </a:cubicBezTo>
                <a:close/>
                <a:moveTo>
                  <a:pt x="102350" y="100115"/>
                </a:moveTo>
                <a:cubicBezTo>
                  <a:pt x="90304" y="104404"/>
                  <a:pt x="74457" y="106844"/>
                  <a:pt x="57532" y="106844"/>
                </a:cubicBezTo>
                <a:cubicBezTo>
                  <a:pt x="40606" y="106844"/>
                  <a:pt x="24759" y="104404"/>
                  <a:pt x="12713" y="100115"/>
                </a:cubicBezTo>
                <a:cubicBezTo>
                  <a:pt x="8193" y="98497"/>
                  <a:pt x="3801" y="96468"/>
                  <a:pt x="0" y="93951"/>
                </a:cubicBezTo>
                <a:lnTo>
                  <a:pt x="0" y="110954"/>
                </a:lnTo>
                <a:cubicBezTo>
                  <a:pt x="0" y="122306"/>
                  <a:pt x="25761" y="131501"/>
                  <a:pt x="57532" y="131501"/>
                </a:cubicBezTo>
                <a:cubicBezTo>
                  <a:pt x="89302" y="131501"/>
                  <a:pt x="115063" y="122306"/>
                  <a:pt x="115063" y="110954"/>
                </a:cubicBezTo>
                <a:lnTo>
                  <a:pt x="115063" y="93951"/>
                </a:lnTo>
                <a:cubicBezTo>
                  <a:pt x="111262" y="96468"/>
                  <a:pt x="106896" y="98497"/>
                  <a:pt x="102350" y="100115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6472522" y="5532425"/>
            <a:ext cx="948684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MySQL/Oracle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438958" y="5908140"/>
            <a:ext cx="3315698" cy="9393"/>
          </a:xfrm>
          <a:custGeom>
            <a:avLst/>
            <a:gdLst/>
            <a:ahLst/>
            <a:cxnLst/>
            <a:rect l="l" t="t" r="r" b="b"/>
            <a:pathLst>
              <a:path w="3315698" h="9393">
                <a:moveTo>
                  <a:pt x="0" y="0"/>
                </a:moveTo>
                <a:lnTo>
                  <a:pt x="3315698" y="0"/>
                </a:lnTo>
                <a:lnTo>
                  <a:pt x="3315698" y="9393"/>
                </a:lnTo>
                <a:lnTo>
                  <a:pt x="0" y="939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4406083" y="6025551"/>
            <a:ext cx="3381448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406083" y="6213409"/>
            <a:ext cx="3381448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临床与行政多部门精细化使用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126557" y="1822225"/>
            <a:ext cx="3691414" cy="4658897"/>
          </a:xfrm>
          <a:custGeom>
            <a:avLst/>
            <a:gdLst/>
            <a:ahLst/>
            <a:cxnLst/>
            <a:rect l="l" t="t" r="r" b="b"/>
            <a:pathLst>
              <a:path w="3691414" h="5034601">
                <a:moveTo>
                  <a:pt x="37572" y="0"/>
                </a:moveTo>
                <a:lnTo>
                  <a:pt x="3653843" y="0"/>
                </a:lnTo>
                <a:cubicBezTo>
                  <a:pt x="3674593" y="0"/>
                  <a:pt x="3691414" y="16821"/>
                  <a:pt x="3691414" y="37572"/>
                </a:cubicBezTo>
                <a:lnTo>
                  <a:pt x="3691414" y="4921902"/>
                </a:lnTo>
                <a:cubicBezTo>
                  <a:pt x="3691414" y="4984144"/>
                  <a:pt x="3640957" y="5034601"/>
                  <a:pt x="3578716" y="5034601"/>
                </a:cubicBezTo>
                <a:lnTo>
                  <a:pt x="112699" y="5034601"/>
                </a:lnTo>
                <a:cubicBezTo>
                  <a:pt x="50457" y="5034601"/>
                  <a:pt x="0" y="4984144"/>
                  <a:pt x="0" y="4921902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179" dist="939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8126557" y="1822225"/>
            <a:ext cx="3691414" cy="37572"/>
          </a:xfrm>
          <a:custGeom>
            <a:avLst/>
            <a:gdLst/>
            <a:ahLst/>
            <a:cxnLst/>
            <a:rect l="l" t="t" r="r" b="b"/>
            <a:pathLst>
              <a:path w="3691414" h="37572">
                <a:moveTo>
                  <a:pt x="37572" y="0"/>
                </a:moveTo>
                <a:lnTo>
                  <a:pt x="3653843" y="0"/>
                </a:lnTo>
                <a:cubicBezTo>
                  <a:pt x="3674593" y="0"/>
                  <a:pt x="3691414" y="16821"/>
                  <a:pt x="3691414" y="37572"/>
                </a:cubicBezTo>
                <a:lnTo>
                  <a:pt x="3691414" y="37572"/>
                </a:lnTo>
                <a:lnTo>
                  <a:pt x="0" y="37572"/>
                </a:ln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66"/>
          <p:cNvSpPr/>
          <p:nvPr/>
        </p:nvSpPr>
        <p:spPr>
          <a:xfrm>
            <a:off x="8126557" y="3048000"/>
            <a:ext cx="3691414" cy="9393"/>
          </a:xfrm>
          <a:custGeom>
            <a:avLst/>
            <a:gdLst/>
            <a:ahLst/>
            <a:cxnLst/>
            <a:rect l="l" t="t" r="r" b="b"/>
            <a:pathLst>
              <a:path w="3691414" h="9393">
                <a:moveTo>
                  <a:pt x="0" y="0"/>
                </a:moveTo>
                <a:lnTo>
                  <a:pt x="3691414" y="0"/>
                </a:lnTo>
                <a:lnTo>
                  <a:pt x="3691414" y="9393"/>
                </a:lnTo>
                <a:lnTo>
                  <a:pt x="0" y="939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>
            <a:off x="8314415" y="2028869"/>
            <a:ext cx="450860" cy="450860"/>
          </a:xfrm>
          <a:custGeom>
            <a:avLst/>
            <a:gdLst/>
            <a:ahLst/>
            <a:cxnLst/>
            <a:rect l="l" t="t" r="r" b="b"/>
            <a:pathLst>
              <a:path w="450860" h="450860">
                <a:moveTo>
                  <a:pt x="112715" y="0"/>
                </a:moveTo>
                <a:lnTo>
                  <a:pt x="338145" y="0"/>
                </a:lnTo>
                <a:cubicBezTo>
                  <a:pt x="400354" y="0"/>
                  <a:pt x="450860" y="50506"/>
                  <a:pt x="450860" y="112715"/>
                </a:cubicBezTo>
                <a:lnTo>
                  <a:pt x="450860" y="338145"/>
                </a:lnTo>
                <a:cubicBezTo>
                  <a:pt x="450860" y="400354"/>
                  <a:pt x="400354" y="450860"/>
                  <a:pt x="338145" y="450860"/>
                </a:cubicBezTo>
                <a:lnTo>
                  <a:pt x="112715" y="450860"/>
                </a:lnTo>
                <a:cubicBezTo>
                  <a:pt x="50506" y="450860"/>
                  <a:pt x="0" y="400354"/>
                  <a:pt x="0" y="338145"/>
                </a:cubicBezTo>
                <a:lnTo>
                  <a:pt x="0" y="112715"/>
                </a:lnTo>
                <a:cubicBezTo>
                  <a:pt x="0" y="50506"/>
                  <a:pt x="50506" y="0"/>
                  <a:pt x="112715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8"/>
          <p:cNvSpPr/>
          <p:nvPr/>
        </p:nvSpPr>
        <p:spPr>
          <a:xfrm>
            <a:off x="8469398" y="2160370"/>
            <a:ext cx="140894" cy="187858"/>
          </a:xfrm>
          <a:custGeom>
            <a:avLst/>
            <a:gdLst/>
            <a:ahLst/>
            <a:cxnLst/>
            <a:rect l="l" t="t" r="r" b="b"/>
            <a:pathLst>
              <a:path w="140894" h="187858">
                <a:moveTo>
                  <a:pt x="23482" y="0"/>
                </a:moveTo>
                <a:cubicBezTo>
                  <a:pt x="10530" y="0"/>
                  <a:pt x="0" y="10530"/>
                  <a:pt x="0" y="23482"/>
                </a:cubicBezTo>
                <a:lnTo>
                  <a:pt x="0" y="164376"/>
                </a:lnTo>
                <a:cubicBezTo>
                  <a:pt x="0" y="177328"/>
                  <a:pt x="10530" y="187858"/>
                  <a:pt x="23482" y="187858"/>
                </a:cubicBezTo>
                <a:lnTo>
                  <a:pt x="117411" y="187858"/>
                </a:lnTo>
                <a:cubicBezTo>
                  <a:pt x="130363" y="187858"/>
                  <a:pt x="140894" y="177328"/>
                  <a:pt x="140894" y="164376"/>
                </a:cubicBezTo>
                <a:lnTo>
                  <a:pt x="140894" y="23482"/>
                </a:lnTo>
                <a:cubicBezTo>
                  <a:pt x="140894" y="10530"/>
                  <a:pt x="130363" y="0"/>
                  <a:pt x="117411" y="0"/>
                </a:cubicBezTo>
                <a:lnTo>
                  <a:pt x="23482" y="0"/>
                </a:lnTo>
                <a:close/>
                <a:moveTo>
                  <a:pt x="64576" y="129153"/>
                </a:moveTo>
                <a:lnTo>
                  <a:pt x="76317" y="129153"/>
                </a:lnTo>
                <a:cubicBezTo>
                  <a:pt x="82812" y="129153"/>
                  <a:pt x="88059" y="134399"/>
                  <a:pt x="88059" y="140894"/>
                </a:cubicBezTo>
                <a:lnTo>
                  <a:pt x="88059" y="170247"/>
                </a:lnTo>
                <a:lnTo>
                  <a:pt x="52835" y="170247"/>
                </a:lnTo>
                <a:lnTo>
                  <a:pt x="52835" y="140894"/>
                </a:lnTo>
                <a:cubicBezTo>
                  <a:pt x="52835" y="134399"/>
                  <a:pt x="58082" y="129153"/>
                  <a:pt x="64576" y="129153"/>
                </a:cubicBezTo>
                <a:close/>
                <a:moveTo>
                  <a:pt x="35223" y="41094"/>
                </a:moveTo>
                <a:cubicBezTo>
                  <a:pt x="35223" y="37865"/>
                  <a:pt x="37865" y="35223"/>
                  <a:pt x="41094" y="35223"/>
                </a:cubicBezTo>
                <a:lnTo>
                  <a:pt x="52835" y="35223"/>
                </a:lnTo>
                <a:cubicBezTo>
                  <a:pt x="56064" y="35223"/>
                  <a:pt x="58706" y="37865"/>
                  <a:pt x="58706" y="41094"/>
                </a:cubicBezTo>
                <a:lnTo>
                  <a:pt x="58706" y="52835"/>
                </a:lnTo>
                <a:cubicBezTo>
                  <a:pt x="58706" y="56064"/>
                  <a:pt x="56064" y="58706"/>
                  <a:pt x="52835" y="58706"/>
                </a:cubicBezTo>
                <a:lnTo>
                  <a:pt x="41094" y="58706"/>
                </a:lnTo>
                <a:cubicBezTo>
                  <a:pt x="37865" y="58706"/>
                  <a:pt x="35223" y="56064"/>
                  <a:pt x="35223" y="52835"/>
                </a:cubicBezTo>
                <a:lnTo>
                  <a:pt x="35223" y="41094"/>
                </a:lnTo>
                <a:close/>
                <a:moveTo>
                  <a:pt x="88059" y="35223"/>
                </a:moveTo>
                <a:lnTo>
                  <a:pt x="99800" y="35223"/>
                </a:lnTo>
                <a:cubicBezTo>
                  <a:pt x="103029" y="35223"/>
                  <a:pt x="105670" y="37865"/>
                  <a:pt x="105670" y="41094"/>
                </a:cubicBezTo>
                <a:lnTo>
                  <a:pt x="105670" y="52835"/>
                </a:lnTo>
                <a:cubicBezTo>
                  <a:pt x="105670" y="56064"/>
                  <a:pt x="103029" y="58706"/>
                  <a:pt x="99800" y="58706"/>
                </a:cubicBezTo>
                <a:lnTo>
                  <a:pt x="88059" y="58706"/>
                </a:lnTo>
                <a:cubicBezTo>
                  <a:pt x="84830" y="58706"/>
                  <a:pt x="82188" y="56064"/>
                  <a:pt x="82188" y="52835"/>
                </a:cubicBezTo>
                <a:lnTo>
                  <a:pt x="82188" y="41094"/>
                </a:lnTo>
                <a:cubicBezTo>
                  <a:pt x="82188" y="37865"/>
                  <a:pt x="84830" y="35223"/>
                  <a:pt x="88059" y="35223"/>
                </a:cubicBezTo>
                <a:close/>
                <a:moveTo>
                  <a:pt x="35223" y="88059"/>
                </a:moveTo>
                <a:cubicBezTo>
                  <a:pt x="35223" y="84830"/>
                  <a:pt x="37865" y="82188"/>
                  <a:pt x="41094" y="82188"/>
                </a:cubicBezTo>
                <a:lnTo>
                  <a:pt x="52835" y="82188"/>
                </a:lnTo>
                <a:cubicBezTo>
                  <a:pt x="56064" y="82188"/>
                  <a:pt x="58706" y="84830"/>
                  <a:pt x="58706" y="88059"/>
                </a:cubicBezTo>
                <a:lnTo>
                  <a:pt x="58706" y="99800"/>
                </a:lnTo>
                <a:cubicBezTo>
                  <a:pt x="58706" y="103029"/>
                  <a:pt x="56064" y="105670"/>
                  <a:pt x="52835" y="105670"/>
                </a:cubicBezTo>
                <a:lnTo>
                  <a:pt x="41094" y="105670"/>
                </a:lnTo>
                <a:cubicBezTo>
                  <a:pt x="37865" y="105670"/>
                  <a:pt x="35223" y="103029"/>
                  <a:pt x="35223" y="99800"/>
                </a:cubicBezTo>
                <a:lnTo>
                  <a:pt x="35223" y="88059"/>
                </a:lnTo>
                <a:close/>
                <a:moveTo>
                  <a:pt x="88059" y="82188"/>
                </a:moveTo>
                <a:lnTo>
                  <a:pt x="99800" y="82188"/>
                </a:lnTo>
                <a:cubicBezTo>
                  <a:pt x="103029" y="82188"/>
                  <a:pt x="105670" y="84830"/>
                  <a:pt x="105670" y="88059"/>
                </a:cubicBezTo>
                <a:lnTo>
                  <a:pt x="105670" y="99800"/>
                </a:lnTo>
                <a:cubicBezTo>
                  <a:pt x="105670" y="103029"/>
                  <a:pt x="103029" y="105670"/>
                  <a:pt x="99800" y="105670"/>
                </a:cubicBezTo>
                <a:lnTo>
                  <a:pt x="88059" y="105670"/>
                </a:lnTo>
                <a:cubicBezTo>
                  <a:pt x="84830" y="105670"/>
                  <a:pt x="82188" y="103029"/>
                  <a:pt x="82188" y="99800"/>
                </a:cubicBezTo>
                <a:lnTo>
                  <a:pt x="82188" y="88059"/>
                </a:lnTo>
                <a:cubicBezTo>
                  <a:pt x="82188" y="84830"/>
                  <a:pt x="84830" y="82188"/>
                  <a:pt x="88059" y="8218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/>
          <p:nvPr/>
        </p:nvSpPr>
        <p:spPr>
          <a:xfrm>
            <a:off x="8877990" y="2028869"/>
            <a:ext cx="1164721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9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旗舰版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877990" y="2291871"/>
            <a:ext cx="1136542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Enterprise Edition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314415" y="2592444"/>
            <a:ext cx="1408937" cy="263002"/>
          </a:xfrm>
          <a:custGeom>
            <a:avLst/>
            <a:gdLst/>
            <a:ahLst/>
            <a:cxnLst/>
            <a:rect l="l" t="t" r="r" b="b"/>
            <a:pathLst>
              <a:path w="1408937" h="263002">
                <a:moveTo>
                  <a:pt x="131501" y="0"/>
                </a:moveTo>
                <a:lnTo>
                  <a:pt x="1277436" y="0"/>
                </a:lnTo>
                <a:cubicBezTo>
                  <a:pt x="1350062" y="0"/>
                  <a:pt x="1408937" y="58875"/>
                  <a:pt x="1408937" y="131501"/>
                </a:cubicBezTo>
                <a:lnTo>
                  <a:pt x="1408937" y="131501"/>
                </a:lnTo>
                <a:cubicBezTo>
                  <a:pt x="1408937" y="204127"/>
                  <a:pt x="1350062" y="263002"/>
                  <a:pt x="1277436" y="263002"/>
                </a:cubicBezTo>
                <a:lnTo>
                  <a:pt x="131501" y="263002"/>
                </a:lnTo>
                <a:cubicBezTo>
                  <a:pt x="58924" y="263002"/>
                  <a:pt x="0" y="204078"/>
                  <a:pt x="0" y="131501"/>
                </a:cubicBezTo>
                <a:lnTo>
                  <a:pt x="0" y="131501"/>
                </a:lnTo>
                <a:cubicBezTo>
                  <a:pt x="0" y="58924"/>
                  <a:pt x="58924" y="0"/>
                  <a:pt x="131501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/>
          <p:nvPr/>
        </p:nvSpPr>
        <p:spPr>
          <a:xfrm>
            <a:off x="8314415" y="2592444"/>
            <a:ext cx="1474687" cy="263002"/>
          </a:xfrm>
          <a:prstGeom prst="rect">
            <a:avLst/>
          </a:prstGeom>
          <a:noFill/>
          <a:ln/>
        </p:spPr>
        <p:txBody>
          <a:bodyPr wrap="square" lIns="112715" tIns="37572" rIns="112715" bIns="37572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适合三甲及大型医院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8314415" y="3240555"/>
            <a:ext cx="3381448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核心功能：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341420" y="3531735"/>
            <a:ext cx="115063" cy="131501"/>
          </a:xfrm>
          <a:custGeom>
            <a:avLst/>
            <a:gdLst/>
            <a:ahLst/>
            <a:cxnLst/>
            <a:rect l="l" t="t" r="r" b="b"/>
            <a:pathLst>
              <a:path w="115063" h="131501">
                <a:moveTo>
                  <a:pt x="111673" y="18004"/>
                </a:moveTo>
                <a:cubicBezTo>
                  <a:pt x="115346" y="20675"/>
                  <a:pt x="116168" y="25812"/>
                  <a:pt x="113496" y="29485"/>
                </a:cubicBezTo>
                <a:lnTo>
                  <a:pt x="47746" y="119892"/>
                </a:lnTo>
                <a:cubicBezTo>
                  <a:pt x="46333" y="121844"/>
                  <a:pt x="44150" y="123051"/>
                  <a:pt x="41736" y="123256"/>
                </a:cubicBezTo>
                <a:cubicBezTo>
                  <a:pt x="39322" y="123462"/>
                  <a:pt x="36985" y="122563"/>
                  <a:pt x="35289" y="120868"/>
                </a:cubicBezTo>
                <a:lnTo>
                  <a:pt x="2414" y="87993"/>
                </a:lnTo>
                <a:cubicBezTo>
                  <a:pt x="-796" y="84782"/>
                  <a:pt x="-796" y="79568"/>
                  <a:pt x="2414" y="76358"/>
                </a:cubicBezTo>
                <a:cubicBezTo>
                  <a:pt x="5625" y="73147"/>
                  <a:pt x="10839" y="73147"/>
                  <a:pt x="14049" y="76358"/>
                </a:cubicBezTo>
                <a:lnTo>
                  <a:pt x="40118" y="102427"/>
                </a:lnTo>
                <a:lnTo>
                  <a:pt x="100218" y="19802"/>
                </a:lnTo>
                <a:cubicBezTo>
                  <a:pt x="102889" y="16129"/>
                  <a:pt x="108026" y="15308"/>
                  <a:pt x="111699" y="1797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7" name="Text 75"/>
          <p:cNvSpPr/>
          <p:nvPr/>
        </p:nvSpPr>
        <p:spPr>
          <a:xfrm>
            <a:off x="8553934" y="3503556"/>
            <a:ext cx="986256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专业版全部功能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8341420" y="3794737"/>
            <a:ext cx="115063" cy="131501"/>
          </a:xfrm>
          <a:custGeom>
            <a:avLst/>
            <a:gdLst/>
            <a:ahLst/>
            <a:cxnLst/>
            <a:rect l="l" t="t" r="r" b="b"/>
            <a:pathLst>
              <a:path w="115063" h="131501">
                <a:moveTo>
                  <a:pt x="111673" y="18004"/>
                </a:moveTo>
                <a:cubicBezTo>
                  <a:pt x="115346" y="20675"/>
                  <a:pt x="116168" y="25812"/>
                  <a:pt x="113496" y="29485"/>
                </a:cubicBezTo>
                <a:lnTo>
                  <a:pt x="47746" y="119892"/>
                </a:lnTo>
                <a:cubicBezTo>
                  <a:pt x="46333" y="121844"/>
                  <a:pt x="44150" y="123051"/>
                  <a:pt x="41736" y="123256"/>
                </a:cubicBezTo>
                <a:cubicBezTo>
                  <a:pt x="39322" y="123462"/>
                  <a:pt x="36985" y="122563"/>
                  <a:pt x="35289" y="120868"/>
                </a:cubicBezTo>
                <a:lnTo>
                  <a:pt x="2414" y="87993"/>
                </a:lnTo>
                <a:cubicBezTo>
                  <a:pt x="-796" y="84782"/>
                  <a:pt x="-796" y="79568"/>
                  <a:pt x="2414" y="76358"/>
                </a:cubicBezTo>
                <a:cubicBezTo>
                  <a:pt x="5625" y="73147"/>
                  <a:pt x="10839" y="73147"/>
                  <a:pt x="14049" y="76358"/>
                </a:cubicBezTo>
                <a:lnTo>
                  <a:pt x="40118" y="102427"/>
                </a:lnTo>
                <a:lnTo>
                  <a:pt x="100218" y="19802"/>
                </a:lnTo>
                <a:cubicBezTo>
                  <a:pt x="102889" y="16129"/>
                  <a:pt x="108026" y="15308"/>
                  <a:pt x="111699" y="1797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9" name="Text 77"/>
          <p:cNvSpPr/>
          <p:nvPr/>
        </p:nvSpPr>
        <p:spPr>
          <a:xfrm>
            <a:off x="8553934" y="3766558"/>
            <a:ext cx="1690724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微信消息（公众号/小程序）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8341420" y="4057738"/>
            <a:ext cx="115063" cy="131501"/>
          </a:xfrm>
          <a:custGeom>
            <a:avLst/>
            <a:gdLst/>
            <a:ahLst/>
            <a:cxnLst/>
            <a:rect l="l" t="t" r="r" b="b"/>
            <a:pathLst>
              <a:path w="115063" h="131501">
                <a:moveTo>
                  <a:pt x="111673" y="18004"/>
                </a:moveTo>
                <a:cubicBezTo>
                  <a:pt x="115346" y="20675"/>
                  <a:pt x="116168" y="25812"/>
                  <a:pt x="113496" y="29485"/>
                </a:cubicBezTo>
                <a:lnTo>
                  <a:pt x="47746" y="119892"/>
                </a:lnTo>
                <a:cubicBezTo>
                  <a:pt x="46333" y="121844"/>
                  <a:pt x="44150" y="123051"/>
                  <a:pt x="41736" y="123256"/>
                </a:cubicBezTo>
                <a:cubicBezTo>
                  <a:pt x="39322" y="123462"/>
                  <a:pt x="36985" y="122563"/>
                  <a:pt x="35289" y="120868"/>
                </a:cubicBezTo>
                <a:lnTo>
                  <a:pt x="2414" y="87993"/>
                </a:lnTo>
                <a:cubicBezTo>
                  <a:pt x="-796" y="84782"/>
                  <a:pt x="-796" y="79568"/>
                  <a:pt x="2414" y="76358"/>
                </a:cubicBezTo>
                <a:cubicBezTo>
                  <a:pt x="5625" y="73147"/>
                  <a:pt x="10839" y="73147"/>
                  <a:pt x="14049" y="76358"/>
                </a:cubicBezTo>
                <a:lnTo>
                  <a:pt x="40118" y="102427"/>
                </a:lnTo>
                <a:lnTo>
                  <a:pt x="100218" y="19802"/>
                </a:lnTo>
                <a:cubicBezTo>
                  <a:pt x="102889" y="16129"/>
                  <a:pt x="108026" y="15308"/>
                  <a:pt x="111699" y="1797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1" name="Text 79"/>
          <p:cNvSpPr/>
          <p:nvPr/>
        </p:nvSpPr>
        <p:spPr>
          <a:xfrm>
            <a:off x="8553934" y="4029559"/>
            <a:ext cx="854755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组合消息策略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341420" y="4320740"/>
            <a:ext cx="115063" cy="131501"/>
          </a:xfrm>
          <a:custGeom>
            <a:avLst/>
            <a:gdLst/>
            <a:ahLst/>
            <a:cxnLst/>
            <a:rect l="l" t="t" r="r" b="b"/>
            <a:pathLst>
              <a:path w="115063" h="131501">
                <a:moveTo>
                  <a:pt x="111673" y="18004"/>
                </a:moveTo>
                <a:cubicBezTo>
                  <a:pt x="115346" y="20675"/>
                  <a:pt x="116168" y="25812"/>
                  <a:pt x="113496" y="29485"/>
                </a:cubicBezTo>
                <a:lnTo>
                  <a:pt x="47746" y="119892"/>
                </a:lnTo>
                <a:cubicBezTo>
                  <a:pt x="46333" y="121844"/>
                  <a:pt x="44150" y="123051"/>
                  <a:pt x="41736" y="123256"/>
                </a:cubicBezTo>
                <a:cubicBezTo>
                  <a:pt x="39322" y="123462"/>
                  <a:pt x="36985" y="122563"/>
                  <a:pt x="35289" y="120868"/>
                </a:cubicBezTo>
                <a:lnTo>
                  <a:pt x="2414" y="87993"/>
                </a:lnTo>
                <a:cubicBezTo>
                  <a:pt x="-796" y="84782"/>
                  <a:pt x="-796" y="79568"/>
                  <a:pt x="2414" y="76358"/>
                </a:cubicBezTo>
                <a:cubicBezTo>
                  <a:pt x="5625" y="73147"/>
                  <a:pt x="10839" y="73147"/>
                  <a:pt x="14049" y="76358"/>
                </a:cubicBezTo>
                <a:lnTo>
                  <a:pt x="40118" y="102427"/>
                </a:lnTo>
                <a:lnTo>
                  <a:pt x="100218" y="19802"/>
                </a:lnTo>
                <a:cubicBezTo>
                  <a:pt x="102889" y="16129"/>
                  <a:pt x="108026" y="15308"/>
                  <a:pt x="111699" y="1797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3" name="Text 81"/>
          <p:cNvSpPr/>
          <p:nvPr/>
        </p:nvSpPr>
        <p:spPr>
          <a:xfrm>
            <a:off x="8553934" y="4292561"/>
            <a:ext cx="1249257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同城双活高可用部署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8341420" y="4583741"/>
            <a:ext cx="115063" cy="131501"/>
          </a:xfrm>
          <a:custGeom>
            <a:avLst/>
            <a:gdLst/>
            <a:ahLst/>
            <a:cxnLst/>
            <a:rect l="l" t="t" r="r" b="b"/>
            <a:pathLst>
              <a:path w="115063" h="131501">
                <a:moveTo>
                  <a:pt x="111673" y="18004"/>
                </a:moveTo>
                <a:cubicBezTo>
                  <a:pt x="115346" y="20675"/>
                  <a:pt x="116168" y="25812"/>
                  <a:pt x="113496" y="29485"/>
                </a:cubicBezTo>
                <a:lnTo>
                  <a:pt x="47746" y="119892"/>
                </a:lnTo>
                <a:cubicBezTo>
                  <a:pt x="46333" y="121844"/>
                  <a:pt x="44150" y="123051"/>
                  <a:pt x="41736" y="123256"/>
                </a:cubicBezTo>
                <a:cubicBezTo>
                  <a:pt x="39322" y="123462"/>
                  <a:pt x="36985" y="122563"/>
                  <a:pt x="35289" y="120868"/>
                </a:cubicBezTo>
                <a:lnTo>
                  <a:pt x="2414" y="87993"/>
                </a:lnTo>
                <a:cubicBezTo>
                  <a:pt x="-796" y="84782"/>
                  <a:pt x="-796" y="79568"/>
                  <a:pt x="2414" y="76358"/>
                </a:cubicBezTo>
                <a:cubicBezTo>
                  <a:pt x="5625" y="73147"/>
                  <a:pt x="10839" y="73147"/>
                  <a:pt x="14049" y="76358"/>
                </a:cubicBezTo>
                <a:lnTo>
                  <a:pt x="40118" y="102427"/>
                </a:lnTo>
                <a:lnTo>
                  <a:pt x="100218" y="19802"/>
                </a:lnTo>
                <a:cubicBezTo>
                  <a:pt x="102889" y="16129"/>
                  <a:pt x="108026" y="15308"/>
                  <a:pt x="111699" y="1797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5" name="Text 83"/>
          <p:cNvSpPr/>
          <p:nvPr/>
        </p:nvSpPr>
        <p:spPr>
          <a:xfrm>
            <a:off x="8553934" y="4555562"/>
            <a:ext cx="854755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信创环境部署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8341420" y="4846743"/>
            <a:ext cx="115063" cy="131501"/>
          </a:xfrm>
          <a:custGeom>
            <a:avLst/>
            <a:gdLst/>
            <a:ahLst/>
            <a:cxnLst/>
            <a:rect l="l" t="t" r="r" b="b"/>
            <a:pathLst>
              <a:path w="115063" h="131501">
                <a:moveTo>
                  <a:pt x="111673" y="18004"/>
                </a:moveTo>
                <a:cubicBezTo>
                  <a:pt x="115346" y="20675"/>
                  <a:pt x="116168" y="25812"/>
                  <a:pt x="113496" y="29485"/>
                </a:cubicBezTo>
                <a:lnTo>
                  <a:pt x="47746" y="119892"/>
                </a:lnTo>
                <a:cubicBezTo>
                  <a:pt x="46333" y="121844"/>
                  <a:pt x="44150" y="123051"/>
                  <a:pt x="41736" y="123256"/>
                </a:cubicBezTo>
                <a:cubicBezTo>
                  <a:pt x="39322" y="123462"/>
                  <a:pt x="36985" y="122563"/>
                  <a:pt x="35289" y="120868"/>
                </a:cubicBezTo>
                <a:lnTo>
                  <a:pt x="2414" y="87993"/>
                </a:lnTo>
                <a:cubicBezTo>
                  <a:pt x="-796" y="84782"/>
                  <a:pt x="-796" y="79568"/>
                  <a:pt x="2414" y="76358"/>
                </a:cubicBezTo>
                <a:cubicBezTo>
                  <a:pt x="5625" y="73147"/>
                  <a:pt x="10839" y="73147"/>
                  <a:pt x="14049" y="76358"/>
                </a:cubicBezTo>
                <a:lnTo>
                  <a:pt x="40118" y="102427"/>
                </a:lnTo>
                <a:lnTo>
                  <a:pt x="100218" y="19802"/>
                </a:lnTo>
                <a:cubicBezTo>
                  <a:pt x="102889" y="16129"/>
                  <a:pt x="108026" y="15308"/>
                  <a:pt x="111699" y="1797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7" name="Text 85"/>
          <p:cNvSpPr/>
          <p:nvPr/>
        </p:nvSpPr>
        <p:spPr>
          <a:xfrm>
            <a:off x="8553934" y="4818564"/>
            <a:ext cx="854755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chemeClr val="accent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5G</a:t>
            </a:r>
            <a:r>
              <a:rPr lang="zh-CN" altLang="en-US" sz="1035" dirty="0">
                <a:solidFill>
                  <a:schemeClr val="accent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消息功能</a:t>
            </a:r>
          </a:p>
        </p:txBody>
      </p:sp>
      <p:sp>
        <p:nvSpPr>
          <p:cNvPr id="88" name="Shape 86"/>
          <p:cNvSpPr/>
          <p:nvPr/>
        </p:nvSpPr>
        <p:spPr>
          <a:xfrm>
            <a:off x="8314415" y="5156709"/>
            <a:ext cx="3315698" cy="680985"/>
          </a:xfrm>
          <a:custGeom>
            <a:avLst/>
            <a:gdLst/>
            <a:ahLst/>
            <a:cxnLst/>
            <a:rect l="l" t="t" r="r" b="b"/>
            <a:pathLst>
              <a:path w="3315698" h="901720">
                <a:moveTo>
                  <a:pt x="75140" y="0"/>
                </a:moveTo>
                <a:lnTo>
                  <a:pt x="3240558" y="0"/>
                </a:lnTo>
                <a:cubicBezTo>
                  <a:pt x="3282057" y="0"/>
                  <a:pt x="3315698" y="33641"/>
                  <a:pt x="3315698" y="75140"/>
                </a:cubicBezTo>
                <a:lnTo>
                  <a:pt x="3315698" y="826579"/>
                </a:lnTo>
                <a:cubicBezTo>
                  <a:pt x="3315698" y="868078"/>
                  <a:pt x="3282057" y="901720"/>
                  <a:pt x="3240558" y="901720"/>
                </a:cubicBezTo>
                <a:lnTo>
                  <a:pt x="75140" y="901720"/>
                </a:lnTo>
                <a:cubicBezTo>
                  <a:pt x="33641" y="901720"/>
                  <a:pt x="0" y="868078"/>
                  <a:pt x="0" y="826579"/>
                </a:cubicBezTo>
                <a:lnTo>
                  <a:pt x="0" y="75140"/>
                </a:lnTo>
                <a:cubicBezTo>
                  <a:pt x="0" y="33669"/>
                  <a:pt x="33669" y="0"/>
                  <a:pt x="75140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9" name="Text 87"/>
          <p:cNvSpPr/>
          <p:nvPr/>
        </p:nvSpPr>
        <p:spPr>
          <a:xfrm>
            <a:off x="8427130" y="5269424"/>
            <a:ext cx="3156018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部署配置：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8454135" y="5560604"/>
            <a:ext cx="115063" cy="131501"/>
          </a:xfrm>
          <a:custGeom>
            <a:avLst/>
            <a:gdLst/>
            <a:ahLst/>
            <a:cxnLst/>
            <a:rect l="l" t="t" r="r" b="b"/>
            <a:pathLst>
              <a:path w="115063" h="131501">
                <a:moveTo>
                  <a:pt x="16438" y="8219"/>
                </a:moveTo>
                <a:cubicBezTo>
                  <a:pt x="7371" y="8219"/>
                  <a:pt x="0" y="15590"/>
                  <a:pt x="0" y="24656"/>
                </a:cubicBezTo>
                <a:lnTo>
                  <a:pt x="0" y="41094"/>
                </a:lnTo>
                <a:cubicBezTo>
                  <a:pt x="0" y="50160"/>
                  <a:pt x="7371" y="57532"/>
                  <a:pt x="16438" y="57532"/>
                </a:cubicBezTo>
                <a:lnTo>
                  <a:pt x="98626" y="57532"/>
                </a:lnTo>
                <a:cubicBezTo>
                  <a:pt x="107692" y="57532"/>
                  <a:pt x="115063" y="50160"/>
                  <a:pt x="115063" y="41094"/>
                </a:cubicBezTo>
                <a:lnTo>
                  <a:pt x="115063" y="24656"/>
                </a:lnTo>
                <a:cubicBezTo>
                  <a:pt x="115063" y="15590"/>
                  <a:pt x="107692" y="8219"/>
                  <a:pt x="98626" y="8219"/>
                </a:cubicBezTo>
                <a:lnTo>
                  <a:pt x="16438" y="8219"/>
                </a:lnTo>
                <a:close/>
                <a:moveTo>
                  <a:pt x="71914" y="26711"/>
                </a:moveTo>
                <a:cubicBezTo>
                  <a:pt x="75317" y="26711"/>
                  <a:pt x="78079" y="29473"/>
                  <a:pt x="78079" y="32875"/>
                </a:cubicBezTo>
                <a:cubicBezTo>
                  <a:pt x="78079" y="36277"/>
                  <a:pt x="75317" y="39039"/>
                  <a:pt x="71914" y="39039"/>
                </a:cubicBezTo>
                <a:cubicBezTo>
                  <a:pt x="68512" y="39039"/>
                  <a:pt x="65750" y="36277"/>
                  <a:pt x="65750" y="32875"/>
                </a:cubicBezTo>
                <a:cubicBezTo>
                  <a:pt x="65750" y="29473"/>
                  <a:pt x="68512" y="26711"/>
                  <a:pt x="71914" y="26711"/>
                </a:cubicBezTo>
                <a:close/>
                <a:moveTo>
                  <a:pt x="86297" y="32875"/>
                </a:moveTo>
                <a:cubicBezTo>
                  <a:pt x="86297" y="29473"/>
                  <a:pt x="89059" y="26711"/>
                  <a:pt x="92461" y="26711"/>
                </a:cubicBezTo>
                <a:cubicBezTo>
                  <a:pt x="95864" y="26711"/>
                  <a:pt x="98626" y="29473"/>
                  <a:pt x="98626" y="32875"/>
                </a:cubicBezTo>
                <a:cubicBezTo>
                  <a:pt x="98626" y="36277"/>
                  <a:pt x="95864" y="39039"/>
                  <a:pt x="92461" y="39039"/>
                </a:cubicBezTo>
                <a:cubicBezTo>
                  <a:pt x="89059" y="39039"/>
                  <a:pt x="86297" y="36277"/>
                  <a:pt x="86297" y="32875"/>
                </a:cubicBezTo>
                <a:close/>
                <a:moveTo>
                  <a:pt x="16438" y="73969"/>
                </a:moveTo>
                <a:cubicBezTo>
                  <a:pt x="7371" y="73969"/>
                  <a:pt x="0" y="81340"/>
                  <a:pt x="0" y="90407"/>
                </a:cubicBezTo>
                <a:lnTo>
                  <a:pt x="0" y="106844"/>
                </a:lnTo>
                <a:cubicBezTo>
                  <a:pt x="0" y="115911"/>
                  <a:pt x="7371" y="123282"/>
                  <a:pt x="16438" y="123282"/>
                </a:cubicBezTo>
                <a:lnTo>
                  <a:pt x="98626" y="123282"/>
                </a:lnTo>
                <a:cubicBezTo>
                  <a:pt x="107692" y="123282"/>
                  <a:pt x="115063" y="115911"/>
                  <a:pt x="115063" y="106844"/>
                </a:cubicBezTo>
                <a:lnTo>
                  <a:pt x="115063" y="90407"/>
                </a:lnTo>
                <a:cubicBezTo>
                  <a:pt x="115063" y="81340"/>
                  <a:pt x="107692" y="73969"/>
                  <a:pt x="98626" y="73969"/>
                </a:cubicBezTo>
                <a:lnTo>
                  <a:pt x="16438" y="73969"/>
                </a:lnTo>
                <a:close/>
                <a:moveTo>
                  <a:pt x="71914" y="92461"/>
                </a:moveTo>
                <a:cubicBezTo>
                  <a:pt x="75317" y="92461"/>
                  <a:pt x="78079" y="95224"/>
                  <a:pt x="78079" y="98626"/>
                </a:cubicBezTo>
                <a:cubicBezTo>
                  <a:pt x="78079" y="102028"/>
                  <a:pt x="75317" y="104790"/>
                  <a:pt x="71914" y="104790"/>
                </a:cubicBezTo>
                <a:cubicBezTo>
                  <a:pt x="68512" y="104790"/>
                  <a:pt x="65750" y="102028"/>
                  <a:pt x="65750" y="98626"/>
                </a:cubicBezTo>
                <a:cubicBezTo>
                  <a:pt x="65750" y="95224"/>
                  <a:pt x="68512" y="92461"/>
                  <a:pt x="71914" y="92461"/>
                </a:cubicBezTo>
                <a:close/>
                <a:moveTo>
                  <a:pt x="86297" y="98626"/>
                </a:moveTo>
                <a:cubicBezTo>
                  <a:pt x="86297" y="95224"/>
                  <a:pt x="89059" y="92461"/>
                  <a:pt x="92461" y="92461"/>
                </a:cubicBezTo>
                <a:cubicBezTo>
                  <a:pt x="95864" y="92461"/>
                  <a:pt x="98626" y="95224"/>
                  <a:pt x="98626" y="98626"/>
                </a:cubicBezTo>
                <a:cubicBezTo>
                  <a:pt x="98626" y="102028"/>
                  <a:pt x="95864" y="104790"/>
                  <a:pt x="92461" y="104790"/>
                </a:cubicBezTo>
                <a:cubicBezTo>
                  <a:pt x="89059" y="104790"/>
                  <a:pt x="86297" y="102028"/>
                  <a:pt x="86297" y="98626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1" name="Text 89"/>
          <p:cNvSpPr/>
          <p:nvPr/>
        </p:nvSpPr>
        <p:spPr>
          <a:xfrm>
            <a:off x="8666649" y="5532425"/>
            <a:ext cx="1455901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≥4台服务器（8核16G）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10042711" y="5560604"/>
            <a:ext cx="115063" cy="131501"/>
          </a:xfrm>
          <a:custGeom>
            <a:avLst/>
            <a:gdLst/>
            <a:ahLst/>
            <a:cxnLst/>
            <a:rect l="l" t="t" r="r" b="b"/>
            <a:pathLst>
              <a:path w="115063" h="131501">
                <a:moveTo>
                  <a:pt x="115063" y="52857"/>
                </a:moveTo>
                <a:cubicBezTo>
                  <a:pt x="111262" y="55374"/>
                  <a:pt x="106896" y="57403"/>
                  <a:pt x="102350" y="59021"/>
                </a:cubicBezTo>
                <a:cubicBezTo>
                  <a:pt x="90278" y="63336"/>
                  <a:pt x="74431" y="65750"/>
                  <a:pt x="57532" y="65750"/>
                </a:cubicBezTo>
                <a:cubicBezTo>
                  <a:pt x="40632" y="65750"/>
                  <a:pt x="24759" y="63310"/>
                  <a:pt x="12713" y="59021"/>
                </a:cubicBezTo>
                <a:cubicBezTo>
                  <a:pt x="8193" y="57403"/>
                  <a:pt x="3801" y="55374"/>
                  <a:pt x="0" y="52857"/>
                </a:cubicBezTo>
                <a:lnTo>
                  <a:pt x="0" y="73969"/>
                </a:lnTo>
                <a:cubicBezTo>
                  <a:pt x="0" y="85321"/>
                  <a:pt x="25761" y="94516"/>
                  <a:pt x="57532" y="94516"/>
                </a:cubicBezTo>
                <a:cubicBezTo>
                  <a:pt x="89302" y="94516"/>
                  <a:pt x="115063" y="85321"/>
                  <a:pt x="115063" y="73969"/>
                </a:cubicBezTo>
                <a:lnTo>
                  <a:pt x="115063" y="52857"/>
                </a:lnTo>
                <a:close/>
                <a:moveTo>
                  <a:pt x="115063" y="32875"/>
                </a:moveTo>
                <a:lnTo>
                  <a:pt x="115063" y="20547"/>
                </a:lnTo>
                <a:cubicBezTo>
                  <a:pt x="115063" y="9195"/>
                  <a:pt x="89302" y="0"/>
                  <a:pt x="57532" y="0"/>
                </a:cubicBezTo>
                <a:cubicBezTo>
                  <a:pt x="25761" y="0"/>
                  <a:pt x="0" y="9195"/>
                  <a:pt x="0" y="20547"/>
                </a:cubicBezTo>
                <a:lnTo>
                  <a:pt x="0" y="32875"/>
                </a:lnTo>
                <a:cubicBezTo>
                  <a:pt x="0" y="44227"/>
                  <a:pt x="25761" y="53422"/>
                  <a:pt x="57532" y="53422"/>
                </a:cubicBezTo>
                <a:cubicBezTo>
                  <a:pt x="89302" y="53422"/>
                  <a:pt x="115063" y="44227"/>
                  <a:pt x="115063" y="32875"/>
                </a:cubicBezTo>
                <a:close/>
                <a:moveTo>
                  <a:pt x="102350" y="100115"/>
                </a:moveTo>
                <a:cubicBezTo>
                  <a:pt x="90304" y="104404"/>
                  <a:pt x="74457" y="106844"/>
                  <a:pt x="57532" y="106844"/>
                </a:cubicBezTo>
                <a:cubicBezTo>
                  <a:pt x="40606" y="106844"/>
                  <a:pt x="24759" y="104404"/>
                  <a:pt x="12713" y="100115"/>
                </a:cubicBezTo>
                <a:cubicBezTo>
                  <a:pt x="8193" y="98497"/>
                  <a:pt x="3801" y="96468"/>
                  <a:pt x="0" y="93951"/>
                </a:cubicBezTo>
                <a:lnTo>
                  <a:pt x="0" y="110954"/>
                </a:lnTo>
                <a:cubicBezTo>
                  <a:pt x="0" y="122306"/>
                  <a:pt x="25761" y="131501"/>
                  <a:pt x="57532" y="131501"/>
                </a:cubicBezTo>
                <a:cubicBezTo>
                  <a:pt x="89302" y="131501"/>
                  <a:pt x="115063" y="122306"/>
                  <a:pt x="115063" y="110954"/>
                </a:cubicBezTo>
                <a:lnTo>
                  <a:pt x="115063" y="93951"/>
                </a:lnTo>
                <a:cubicBezTo>
                  <a:pt x="111262" y="96468"/>
                  <a:pt x="106896" y="98497"/>
                  <a:pt x="102350" y="100115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3" name="Text 91"/>
          <p:cNvSpPr/>
          <p:nvPr/>
        </p:nvSpPr>
        <p:spPr>
          <a:xfrm>
            <a:off x="10255225" y="5532425"/>
            <a:ext cx="1268043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MySQL/Oracle/达梦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8314415" y="5908140"/>
            <a:ext cx="3315698" cy="9393"/>
          </a:xfrm>
          <a:custGeom>
            <a:avLst/>
            <a:gdLst/>
            <a:ahLst/>
            <a:cxnLst/>
            <a:rect l="l" t="t" r="r" b="b"/>
            <a:pathLst>
              <a:path w="3315698" h="9393">
                <a:moveTo>
                  <a:pt x="0" y="0"/>
                </a:moveTo>
                <a:lnTo>
                  <a:pt x="3315698" y="0"/>
                </a:lnTo>
                <a:lnTo>
                  <a:pt x="3315698" y="9393"/>
                </a:lnTo>
                <a:lnTo>
                  <a:pt x="0" y="939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5" name="Text 93"/>
          <p:cNvSpPr/>
          <p:nvPr/>
        </p:nvSpPr>
        <p:spPr>
          <a:xfrm>
            <a:off x="8281540" y="6025551"/>
            <a:ext cx="3381448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96" name="Text 94"/>
          <p:cNvSpPr/>
          <p:nvPr/>
        </p:nvSpPr>
        <p:spPr>
          <a:xfrm>
            <a:off x="8281540" y="6213409"/>
            <a:ext cx="3381448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顶级安全智慧通信中枢</a:t>
            </a:r>
            <a:endParaRPr lang="en-US" sz="1600" dirty="0"/>
          </a:p>
        </p:txBody>
      </p:sp>
      <p:pic>
        <p:nvPicPr>
          <p:cNvPr id="97" name="图片 96" descr="图片包含 形状&#10;&#10;AI 生成的内容可能不正确。">
            <a:extLst>
              <a:ext uri="{FF2B5EF4-FFF2-40B4-BE49-F238E27FC236}">
                <a16:creationId xmlns:a16="http://schemas.microsoft.com/office/drawing/2014/main" id="{07174037-2BA8-AD84-25B7-17F929EFE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913" y="402336"/>
            <a:ext cx="1493087" cy="36360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SUCCESS STORIES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医院客户成功案例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33375" y="1174750"/>
            <a:ext cx="7580313" cy="2698750"/>
          </a:xfrm>
          <a:custGeom>
            <a:avLst/>
            <a:gdLst/>
            <a:ahLst/>
            <a:cxnLst/>
            <a:rect l="l" t="t" r="r" b="b"/>
            <a:pathLst>
              <a:path w="7580313" h="2698750">
                <a:moveTo>
                  <a:pt x="31750" y="0"/>
                </a:moveTo>
                <a:lnTo>
                  <a:pt x="7485074" y="0"/>
                </a:lnTo>
                <a:cubicBezTo>
                  <a:pt x="7537673" y="0"/>
                  <a:pt x="7580313" y="42640"/>
                  <a:pt x="7580313" y="95239"/>
                </a:cubicBezTo>
                <a:lnTo>
                  <a:pt x="7580313" y="2603511"/>
                </a:lnTo>
                <a:cubicBezTo>
                  <a:pt x="7580312" y="2656110"/>
                  <a:pt x="7537673" y="2698750"/>
                  <a:pt x="7485074" y="2698750"/>
                </a:cubicBezTo>
                <a:lnTo>
                  <a:pt x="31750" y="2698750"/>
                </a:lnTo>
                <a:cubicBezTo>
                  <a:pt x="14227" y="2698750"/>
                  <a:pt x="0" y="2684523"/>
                  <a:pt x="0" y="266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33375" y="1174750"/>
            <a:ext cx="31750" cy="2698750"/>
          </a:xfrm>
          <a:custGeom>
            <a:avLst/>
            <a:gdLst/>
            <a:ahLst/>
            <a:cxnLst/>
            <a:rect l="l" t="t" r="r" b="b"/>
            <a:pathLst>
              <a:path w="31750" h="2698750">
                <a:moveTo>
                  <a:pt x="31750" y="0"/>
                </a:moveTo>
                <a:lnTo>
                  <a:pt x="31750" y="0"/>
                </a:lnTo>
                <a:lnTo>
                  <a:pt x="31750" y="2698750"/>
                </a:lnTo>
                <a:lnTo>
                  <a:pt x="31750" y="2698750"/>
                </a:lnTo>
                <a:cubicBezTo>
                  <a:pt x="14227" y="2698750"/>
                  <a:pt x="0" y="2684523"/>
                  <a:pt x="0" y="266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A4F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08000" y="13335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gradFill flip="none" rotWithShape="1">
            <a:gsLst>
              <a:gs pos="0">
                <a:srgbClr val="0A4F6B"/>
              </a:gs>
              <a:gs pos="100000">
                <a:srgbClr val="5A7D8C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23094" y="14605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47625" y="23812"/>
                </a:moveTo>
                <a:cubicBezTo>
                  <a:pt x="47625" y="10678"/>
                  <a:pt x="58303" y="0"/>
                  <a:pt x="71438" y="0"/>
                </a:cubicBezTo>
                <a:lnTo>
                  <a:pt x="142875" y="0"/>
                </a:lnTo>
                <a:cubicBezTo>
                  <a:pt x="156009" y="0"/>
                  <a:pt x="166688" y="10678"/>
                  <a:pt x="166688" y="23812"/>
                </a:cubicBezTo>
                <a:lnTo>
                  <a:pt x="166688" y="47625"/>
                </a:lnTo>
                <a:lnTo>
                  <a:pt x="190500" y="47625"/>
                </a:lnTo>
                <a:cubicBezTo>
                  <a:pt x="203634" y="47625"/>
                  <a:pt x="214313" y="58303"/>
                  <a:pt x="214313" y="71438"/>
                </a:cubicBezTo>
                <a:lnTo>
                  <a:pt x="214313" y="166688"/>
                </a:lnTo>
                <a:cubicBezTo>
                  <a:pt x="214313" y="179822"/>
                  <a:pt x="203634" y="190500"/>
                  <a:pt x="190500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71438"/>
                </a:lnTo>
                <a:cubicBezTo>
                  <a:pt x="0" y="58303"/>
                  <a:pt x="10678" y="47625"/>
                  <a:pt x="23812" y="47625"/>
                </a:cubicBezTo>
                <a:lnTo>
                  <a:pt x="47625" y="47625"/>
                </a:lnTo>
                <a:lnTo>
                  <a:pt x="47625" y="23812"/>
                </a:lnTo>
                <a:close/>
                <a:moveTo>
                  <a:pt x="101203" y="130969"/>
                </a:moveTo>
                <a:cubicBezTo>
                  <a:pt x="94617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125016" y="172641"/>
                </a:lnTo>
                <a:lnTo>
                  <a:pt x="125016" y="142875"/>
                </a:lnTo>
                <a:cubicBezTo>
                  <a:pt x="125016" y="136289"/>
                  <a:pt x="119695" y="130969"/>
                  <a:pt x="113109" y="130969"/>
                </a:cubicBezTo>
                <a:lnTo>
                  <a:pt x="101203" y="130969"/>
                </a:lnTo>
                <a:close/>
                <a:moveTo>
                  <a:pt x="47625" y="136922"/>
                </a:moveTo>
                <a:lnTo>
                  <a:pt x="47625" y="125016"/>
                </a:lnTo>
                <a:cubicBezTo>
                  <a:pt x="47625" y="121741"/>
                  <a:pt x="44946" y="119063"/>
                  <a:pt x="41672" y="119063"/>
                </a:cubicBezTo>
                <a:lnTo>
                  <a:pt x="29766" y="119063"/>
                </a:lnTo>
                <a:cubicBezTo>
                  <a:pt x="26491" y="119063"/>
                  <a:pt x="23812" y="121741"/>
                  <a:pt x="23812" y="125016"/>
                </a:cubicBezTo>
                <a:lnTo>
                  <a:pt x="23812" y="136922"/>
                </a:lnTo>
                <a:cubicBezTo>
                  <a:pt x="23812" y="140196"/>
                  <a:pt x="26491" y="142875"/>
                  <a:pt x="29766" y="142875"/>
                </a:cubicBezTo>
                <a:lnTo>
                  <a:pt x="41672" y="142875"/>
                </a:lnTo>
                <a:cubicBezTo>
                  <a:pt x="44946" y="142875"/>
                  <a:pt x="47625" y="140196"/>
                  <a:pt x="47625" y="136922"/>
                </a:cubicBezTo>
                <a:close/>
                <a:moveTo>
                  <a:pt x="41672" y="95250"/>
                </a:moveTo>
                <a:cubicBezTo>
                  <a:pt x="44946" y="95250"/>
                  <a:pt x="47625" y="92571"/>
                  <a:pt x="47625" y="89297"/>
                </a:cubicBezTo>
                <a:lnTo>
                  <a:pt x="47625" y="77391"/>
                </a:lnTo>
                <a:cubicBezTo>
                  <a:pt x="47625" y="74116"/>
                  <a:pt x="44946" y="71438"/>
                  <a:pt x="41672" y="71438"/>
                </a:cubicBezTo>
                <a:lnTo>
                  <a:pt x="29766" y="71438"/>
                </a:lnTo>
                <a:cubicBezTo>
                  <a:pt x="26491" y="71438"/>
                  <a:pt x="23812" y="74116"/>
                  <a:pt x="23812" y="77391"/>
                </a:cubicBezTo>
                <a:lnTo>
                  <a:pt x="23812" y="89297"/>
                </a:lnTo>
                <a:cubicBezTo>
                  <a:pt x="23812" y="92571"/>
                  <a:pt x="26491" y="95250"/>
                  <a:pt x="29766" y="95250"/>
                </a:cubicBezTo>
                <a:lnTo>
                  <a:pt x="41672" y="95250"/>
                </a:lnTo>
                <a:close/>
                <a:moveTo>
                  <a:pt x="190500" y="136922"/>
                </a:moveTo>
                <a:lnTo>
                  <a:pt x="190500" y="125016"/>
                </a:lnTo>
                <a:cubicBezTo>
                  <a:pt x="190500" y="121741"/>
                  <a:pt x="187821" y="119063"/>
                  <a:pt x="184547" y="119063"/>
                </a:cubicBezTo>
                <a:lnTo>
                  <a:pt x="172641" y="119063"/>
                </a:lnTo>
                <a:cubicBezTo>
                  <a:pt x="169366" y="119063"/>
                  <a:pt x="166688" y="121741"/>
                  <a:pt x="166688" y="125016"/>
                </a:cubicBezTo>
                <a:lnTo>
                  <a:pt x="166688" y="136922"/>
                </a:lnTo>
                <a:cubicBezTo>
                  <a:pt x="166688" y="140196"/>
                  <a:pt x="169366" y="142875"/>
                  <a:pt x="172641" y="142875"/>
                </a:cubicBezTo>
                <a:lnTo>
                  <a:pt x="184547" y="142875"/>
                </a:lnTo>
                <a:cubicBezTo>
                  <a:pt x="187821" y="142875"/>
                  <a:pt x="190500" y="140196"/>
                  <a:pt x="190500" y="136922"/>
                </a:cubicBezTo>
                <a:close/>
                <a:moveTo>
                  <a:pt x="184547" y="95250"/>
                </a:moveTo>
                <a:cubicBezTo>
                  <a:pt x="187821" y="95250"/>
                  <a:pt x="190500" y="92571"/>
                  <a:pt x="190500" y="89297"/>
                </a:cubicBezTo>
                <a:lnTo>
                  <a:pt x="190500" y="77391"/>
                </a:lnTo>
                <a:cubicBezTo>
                  <a:pt x="190500" y="74116"/>
                  <a:pt x="187821" y="71438"/>
                  <a:pt x="184547" y="71438"/>
                </a:cubicBezTo>
                <a:lnTo>
                  <a:pt x="172641" y="71438"/>
                </a:lnTo>
                <a:cubicBezTo>
                  <a:pt x="169366" y="71438"/>
                  <a:pt x="166688" y="74116"/>
                  <a:pt x="166688" y="77391"/>
                </a:cubicBezTo>
                <a:lnTo>
                  <a:pt x="166688" y="89297"/>
                </a:lnTo>
                <a:cubicBezTo>
                  <a:pt x="166688" y="92571"/>
                  <a:pt x="169366" y="95250"/>
                  <a:pt x="172641" y="95250"/>
                </a:cubicBezTo>
                <a:lnTo>
                  <a:pt x="184547" y="95250"/>
                </a:lnTo>
                <a:close/>
                <a:moveTo>
                  <a:pt x="98227" y="38695"/>
                </a:moveTo>
                <a:lnTo>
                  <a:pt x="98227" y="50602"/>
                </a:lnTo>
                <a:lnTo>
                  <a:pt x="86320" y="50602"/>
                </a:lnTo>
                <a:cubicBezTo>
                  <a:pt x="83046" y="50602"/>
                  <a:pt x="80367" y="53280"/>
                  <a:pt x="80367" y="56555"/>
                </a:cubicBezTo>
                <a:lnTo>
                  <a:pt x="80367" y="62508"/>
                </a:lnTo>
                <a:cubicBezTo>
                  <a:pt x="80367" y="65782"/>
                  <a:pt x="83046" y="68461"/>
                  <a:pt x="86320" y="68461"/>
                </a:cubicBezTo>
                <a:lnTo>
                  <a:pt x="98227" y="68461"/>
                </a:lnTo>
                <a:lnTo>
                  <a:pt x="98227" y="80367"/>
                </a:lnTo>
                <a:cubicBezTo>
                  <a:pt x="98227" y="83641"/>
                  <a:pt x="100905" y="86320"/>
                  <a:pt x="104180" y="86320"/>
                </a:cubicBezTo>
                <a:lnTo>
                  <a:pt x="110133" y="86320"/>
                </a:lnTo>
                <a:cubicBezTo>
                  <a:pt x="113407" y="86320"/>
                  <a:pt x="116086" y="83641"/>
                  <a:pt x="116086" y="80367"/>
                </a:cubicBezTo>
                <a:lnTo>
                  <a:pt x="116086" y="68461"/>
                </a:lnTo>
                <a:lnTo>
                  <a:pt x="127992" y="68461"/>
                </a:lnTo>
                <a:cubicBezTo>
                  <a:pt x="131266" y="68461"/>
                  <a:pt x="133945" y="65782"/>
                  <a:pt x="133945" y="62508"/>
                </a:cubicBezTo>
                <a:lnTo>
                  <a:pt x="133945" y="56555"/>
                </a:lnTo>
                <a:cubicBezTo>
                  <a:pt x="133945" y="53280"/>
                  <a:pt x="131266" y="50602"/>
                  <a:pt x="127992" y="50602"/>
                </a:cubicBezTo>
                <a:lnTo>
                  <a:pt x="116086" y="50602"/>
                </a:lnTo>
                <a:lnTo>
                  <a:pt x="116086" y="38695"/>
                </a:lnTo>
                <a:cubicBezTo>
                  <a:pt x="116086" y="35421"/>
                  <a:pt x="113407" y="32742"/>
                  <a:pt x="110133" y="32742"/>
                </a:cubicBezTo>
                <a:lnTo>
                  <a:pt x="104180" y="32742"/>
                </a:lnTo>
                <a:cubicBezTo>
                  <a:pt x="100905" y="32742"/>
                  <a:pt x="98227" y="35421"/>
                  <a:pt x="98227" y="3869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47750" y="1365250"/>
            <a:ext cx="1349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典型综合医院案例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7750" y="1587500"/>
            <a:ext cx="132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三甲医院与区域医疗中心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8000" y="1905000"/>
            <a:ext cx="3579813" cy="539750"/>
          </a:xfrm>
          <a:custGeom>
            <a:avLst/>
            <a:gdLst/>
            <a:ahLst/>
            <a:cxnLst/>
            <a:rect l="l" t="t" r="r" b="b"/>
            <a:pathLst>
              <a:path w="3579813" h="539750">
                <a:moveTo>
                  <a:pt x="63502" y="0"/>
                </a:moveTo>
                <a:lnTo>
                  <a:pt x="3516311" y="0"/>
                </a:lnTo>
                <a:cubicBezTo>
                  <a:pt x="3551382" y="0"/>
                  <a:pt x="3579813" y="28431"/>
                  <a:pt x="3579813" y="63502"/>
                </a:cubicBezTo>
                <a:lnTo>
                  <a:pt x="3579813" y="476248"/>
                </a:lnTo>
                <a:cubicBezTo>
                  <a:pt x="3579812" y="511319"/>
                  <a:pt x="3551382" y="539750"/>
                  <a:pt x="3516311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19125" y="201612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59209" y="1265"/>
                </a:moveTo>
                <a:cubicBezTo>
                  <a:pt x="61813" y="-422"/>
                  <a:pt x="65187" y="-422"/>
                  <a:pt x="67791" y="1265"/>
                </a:cubicBezTo>
                <a:lnTo>
                  <a:pt x="123354" y="36984"/>
                </a:lnTo>
                <a:cubicBezTo>
                  <a:pt x="126305" y="38894"/>
                  <a:pt x="127670" y="42515"/>
                  <a:pt x="126678" y="45889"/>
                </a:cubicBezTo>
                <a:cubicBezTo>
                  <a:pt x="125685" y="49262"/>
                  <a:pt x="122585" y="51594"/>
                  <a:pt x="119063" y="51594"/>
                </a:cubicBezTo>
                <a:lnTo>
                  <a:pt x="111125" y="51594"/>
                </a:lnTo>
                <a:lnTo>
                  <a:pt x="111125" y="103188"/>
                </a:lnTo>
                <a:lnTo>
                  <a:pt x="123825" y="112713"/>
                </a:lnTo>
                <a:cubicBezTo>
                  <a:pt x="125834" y="114201"/>
                  <a:pt x="127000" y="116557"/>
                  <a:pt x="127000" y="119063"/>
                </a:cubicBezTo>
                <a:cubicBezTo>
                  <a:pt x="127000" y="123453"/>
                  <a:pt x="123453" y="127000"/>
                  <a:pt x="119063" y="127000"/>
                </a:cubicBezTo>
                <a:lnTo>
                  <a:pt x="7938" y="127000"/>
                </a:lnTo>
                <a:cubicBezTo>
                  <a:pt x="3547" y="127000"/>
                  <a:pt x="0" y="123453"/>
                  <a:pt x="0" y="119063"/>
                </a:cubicBezTo>
                <a:cubicBezTo>
                  <a:pt x="0" y="116557"/>
                  <a:pt x="1166" y="114201"/>
                  <a:pt x="3175" y="112713"/>
                </a:cubicBezTo>
                <a:lnTo>
                  <a:pt x="15875" y="103188"/>
                </a:lnTo>
                <a:lnTo>
                  <a:pt x="15875" y="103188"/>
                </a:lnTo>
                <a:lnTo>
                  <a:pt x="15875" y="51594"/>
                </a:lnTo>
                <a:lnTo>
                  <a:pt x="7938" y="51594"/>
                </a:lnTo>
                <a:cubicBezTo>
                  <a:pt x="4415" y="51594"/>
                  <a:pt x="1315" y="49262"/>
                  <a:pt x="322" y="45889"/>
                </a:cubicBezTo>
                <a:cubicBezTo>
                  <a:pt x="-670" y="42515"/>
                  <a:pt x="695" y="38869"/>
                  <a:pt x="3646" y="36984"/>
                </a:cubicBezTo>
                <a:lnTo>
                  <a:pt x="59209" y="1265"/>
                </a:lnTo>
                <a:close/>
                <a:moveTo>
                  <a:pt x="83344" y="51594"/>
                </a:moveTo>
                <a:lnTo>
                  <a:pt x="83344" y="103188"/>
                </a:lnTo>
                <a:lnTo>
                  <a:pt x="99219" y="103188"/>
                </a:lnTo>
                <a:lnTo>
                  <a:pt x="99219" y="51594"/>
                </a:lnTo>
                <a:lnTo>
                  <a:pt x="83344" y="51594"/>
                </a:lnTo>
                <a:close/>
                <a:moveTo>
                  <a:pt x="55563" y="103188"/>
                </a:moveTo>
                <a:lnTo>
                  <a:pt x="71438" y="103188"/>
                </a:lnTo>
                <a:lnTo>
                  <a:pt x="71438" y="51594"/>
                </a:lnTo>
                <a:lnTo>
                  <a:pt x="55563" y="51594"/>
                </a:lnTo>
                <a:lnTo>
                  <a:pt x="55563" y="103188"/>
                </a:lnTo>
                <a:close/>
                <a:moveTo>
                  <a:pt x="27781" y="51594"/>
                </a:moveTo>
                <a:lnTo>
                  <a:pt x="27781" y="103188"/>
                </a:lnTo>
                <a:lnTo>
                  <a:pt x="43656" y="103188"/>
                </a:lnTo>
                <a:lnTo>
                  <a:pt x="43656" y="51594"/>
                </a:lnTo>
                <a:lnTo>
                  <a:pt x="27781" y="51594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25500" y="2000250"/>
            <a:ext cx="116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内蒙古自治区人民医院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250" y="2222500"/>
            <a:ext cx="3436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省级三甲医院，短信平台信息发送服务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180396" y="1905000"/>
            <a:ext cx="3579813" cy="539750"/>
          </a:xfrm>
          <a:custGeom>
            <a:avLst/>
            <a:gdLst/>
            <a:ahLst/>
            <a:cxnLst/>
            <a:rect l="l" t="t" r="r" b="b"/>
            <a:pathLst>
              <a:path w="3579813" h="539750">
                <a:moveTo>
                  <a:pt x="63502" y="0"/>
                </a:moveTo>
                <a:lnTo>
                  <a:pt x="3516311" y="0"/>
                </a:lnTo>
                <a:cubicBezTo>
                  <a:pt x="3551382" y="0"/>
                  <a:pt x="3579813" y="28431"/>
                  <a:pt x="3579813" y="63502"/>
                </a:cubicBezTo>
                <a:lnTo>
                  <a:pt x="3579813" y="476248"/>
                </a:lnTo>
                <a:cubicBezTo>
                  <a:pt x="3579812" y="511319"/>
                  <a:pt x="3551382" y="539750"/>
                  <a:pt x="3516311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291521" y="201612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7444" y="5011"/>
                </a:moveTo>
                <a:cubicBezTo>
                  <a:pt x="65013" y="3621"/>
                  <a:pt x="62012" y="3621"/>
                  <a:pt x="59556" y="5011"/>
                </a:cubicBezTo>
                <a:lnTo>
                  <a:pt x="3994" y="36761"/>
                </a:lnTo>
                <a:cubicBezTo>
                  <a:pt x="868" y="38546"/>
                  <a:pt x="-670" y="42218"/>
                  <a:pt x="248" y="45690"/>
                </a:cubicBezTo>
                <a:cubicBezTo>
                  <a:pt x="1166" y="49163"/>
                  <a:pt x="4341" y="51594"/>
                  <a:pt x="7938" y="51594"/>
                </a:cubicBezTo>
                <a:lnTo>
                  <a:pt x="15875" y="51594"/>
                </a:lnTo>
                <a:lnTo>
                  <a:pt x="15875" y="103188"/>
                </a:lnTo>
                <a:lnTo>
                  <a:pt x="15875" y="103188"/>
                </a:lnTo>
                <a:lnTo>
                  <a:pt x="3175" y="112713"/>
                </a:lnTo>
                <a:cubicBezTo>
                  <a:pt x="1166" y="114201"/>
                  <a:pt x="0" y="116557"/>
                  <a:pt x="0" y="119063"/>
                </a:cubicBezTo>
                <a:cubicBezTo>
                  <a:pt x="0" y="123453"/>
                  <a:pt x="3547" y="127000"/>
                  <a:pt x="7938" y="127000"/>
                </a:cubicBezTo>
                <a:lnTo>
                  <a:pt x="119063" y="127000"/>
                </a:lnTo>
                <a:cubicBezTo>
                  <a:pt x="123453" y="127000"/>
                  <a:pt x="127000" y="123453"/>
                  <a:pt x="127000" y="119063"/>
                </a:cubicBezTo>
                <a:cubicBezTo>
                  <a:pt x="127000" y="116557"/>
                  <a:pt x="125834" y="114201"/>
                  <a:pt x="123825" y="112713"/>
                </a:cubicBezTo>
                <a:lnTo>
                  <a:pt x="111125" y="103188"/>
                </a:lnTo>
                <a:lnTo>
                  <a:pt x="111125" y="51594"/>
                </a:lnTo>
                <a:lnTo>
                  <a:pt x="119063" y="51594"/>
                </a:lnTo>
                <a:cubicBezTo>
                  <a:pt x="122659" y="51594"/>
                  <a:pt x="125809" y="49163"/>
                  <a:pt x="126727" y="45690"/>
                </a:cubicBezTo>
                <a:cubicBezTo>
                  <a:pt x="127645" y="42218"/>
                  <a:pt x="126107" y="38546"/>
                  <a:pt x="122982" y="36761"/>
                </a:cubicBezTo>
                <a:lnTo>
                  <a:pt x="67419" y="5011"/>
                </a:lnTo>
                <a:close/>
                <a:moveTo>
                  <a:pt x="99219" y="51594"/>
                </a:moveTo>
                <a:lnTo>
                  <a:pt x="99219" y="103188"/>
                </a:lnTo>
                <a:lnTo>
                  <a:pt x="83344" y="103188"/>
                </a:lnTo>
                <a:lnTo>
                  <a:pt x="83344" y="51594"/>
                </a:lnTo>
                <a:lnTo>
                  <a:pt x="99219" y="51594"/>
                </a:lnTo>
                <a:close/>
                <a:moveTo>
                  <a:pt x="71438" y="51594"/>
                </a:moveTo>
                <a:lnTo>
                  <a:pt x="71438" y="103188"/>
                </a:lnTo>
                <a:lnTo>
                  <a:pt x="55563" y="103188"/>
                </a:lnTo>
                <a:lnTo>
                  <a:pt x="55563" y="51594"/>
                </a:lnTo>
                <a:lnTo>
                  <a:pt x="71438" y="51594"/>
                </a:lnTo>
                <a:close/>
                <a:moveTo>
                  <a:pt x="43656" y="51594"/>
                </a:moveTo>
                <a:lnTo>
                  <a:pt x="43656" y="103188"/>
                </a:lnTo>
                <a:lnTo>
                  <a:pt x="27781" y="103188"/>
                </a:lnTo>
                <a:lnTo>
                  <a:pt x="27781" y="51594"/>
                </a:lnTo>
                <a:lnTo>
                  <a:pt x="43656" y="51594"/>
                </a:lnTo>
                <a:close/>
                <a:moveTo>
                  <a:pt x="63500" y="23812"/>
                </a:moveTo>
                <a:cubicBezTo>
                  <a:pt x="67881" y="23812"/>
                  <a:pt x="71438" y="27369"/>
                  <a:pt x="71438" y="31750"/>
                </a:cubicBezTo>
                <a:cubicBezTo>
                  <a:pt x="71438" y="36131"/>
                  <a:pt x="67881" y="39688"/>
                  <a:pt x="63500" y="39688"/>
                </a:cubicBezTo>
                <a:cubicBezTo>
                  <a:pt x="59119" y="39688"/>
                  <a:pt x="55563" y="36131"/>
                  <a:pt x="55563" y="31750"/>
                </a:cubicBezTo>
                <a:cubicBezTo>
                  <a:pt x="55563" y="27369"/>
                  <a:pt x="59119" y="23812"/>
                  <a:pt x="63500" y="23812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497896" y="2000250"/>
            <a:ext cx="94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北京清华长庚医院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75646" y="2222500"/>
            <a:ext cx="3436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 err="1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清华大学附属医院，信息服务</a:t>
            </a:r>
            <a:r>
              <a:rPr lang="zh-CN" altLang="en-US" sz="7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，短信平台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8000" y="2540000"/>
            <a:ext cx="3579813" cy="539750"/>
          </a:xfrm>
          <a:custGeom>
            <a:avLst/>
            <a:gdLst/>
            <a:ahLst/>
            <a:cxnLst/>
            <a:rect l="l" t="t" r="r" b="b"/>
            <a:pathLst>
              <a:path w="3579813" h="539750">
                <a:moveTo>
                  <a:pt x="63502" y="0"/>
                </a:moveTo>
                <a:lnTo>
                  <a:pt x="3516311" y="0"/>
                </a:lnTo>
                <a:cubicBezTo>
                  <a:pt x="3551382" y="0"/>
                  <a:pt x="3579813" y="28431"/>
                  <a:pt x="3579813" y="63502"/>
                </a:cubicBezTo>
                <a:lnTo>
                  <a:pt x="3579813" y="476248"/>
                </a:lnTo>
                <a:cubicBezTo>
                  <a:pt x="3579812" y="511319"/>
                  <a:pt x="3551382" y="539750"/>
                  <a:pt x="3516311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19125" y="265112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7313" y="41672"/>
                </a:moveTo>
                <a:lnTo>
                  <a:pt x="87313" y="85328"/>
                </a:lnTo>
                <a:cubicBezTo>
                  <a:pt x="87313" y="88627"/>
                  <a:pt x="84658" y="91281"/>
                  <a:pt x="81359" y="91281"/>
                </a:cubicBezTo>
                <a:cubicBezTo>
                  <a:pt x="78060" y="91281"/>
                  <a:pt x="75406" y="88627"/>
                  <a:pt x="75406" y="85328"/>
                </a:cubicBezTo>
                <a:lnTo>
                  <a:pt x="75406" y="69453"/>
                </a:lnTo>
                <a:lnTo>
                  <a:pt x="51594" y="69453"/>
                </a:lnTo>
                <a:lnTo>
                  <a:pt x="51594" y="85328"/>
                </a:lnTo>
                <a:cubicBezTo>
                  <a:pt x="51594" y="88627"/>
                  <a:pt x="48940" y="91281"/>
                  <a:pt x="45641" y="91281"/>
                </a:cubicBezTo>
                <a:cubicBezTo>
                  <a:pt x="42342" y="91281"/>
                  <a:pt x="39688" y="88627"/>
                  <a:pt x="39688" y="85328"/>
                </a:cubicBezTo>
                <a:lnTo>
                  <a:pt x="39688" y="41672"/>
                </a:lnTo>
                <a:cubicBezTo>
                  <a:pt x="39688" y="38373"/>
                  <a:pt x="42342" y="35719"/>
                  <a:pt x="45641" y="35719"/>
                </a:cubicBezTo>
                <a:cubicBezTo>
                  <a:pt x="48940" y="35719"/>
                  <a:pt x="51594" y="38373"/>
                  <a:pt x="51594" y="41672"/>
                </a:cubicBezTo>
                <a:lnTo>
                  <a:pt x="51594" y="57547"/>
                </a:lnTo>
                <a:lnTo>
                  <a:pt x="75406" y="57547"/>
                </a:lnTo>
                <a:lnTo>
                  <a:pt x="75406" y="41672"/>
                </a:lnTo>
                <a:cubicBezTo>
                  <a:pt x="75406" y="38373"/>
                  <a:pt x="78060" y="35719"/>
                  <a:pt x="81359" y="35719"/>
                </a:cubicBezTo>
                <a:cubicBezTo>
                  <a:pt x="84658" y="35719"/>
                  <a:pt x="87313" y="38373"/>
                  <a:pt x="87313" y="41672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25500" y="2635250"/>
            <a:ext cx="833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长沙市中心医院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3250" y="2857500"/>
            <a:ext cx="3436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 err="1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市级三甲医院，信息服务</a:t>
            </a:r>
            <a:r>
              <a:rPr lang="zh-CN" altLang="en-US" sz="7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，短信平台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180396" y="2540000"/>
            <a:ext cx="3579813" cy="539750"/>
          </a:xfrm>
          <a:custGeom>
            <a:avLst/>
            <a:gdLst/>
            <a:ahLst/>
            <a:cxnLst/>
            <a:rect l="l" t="t" r="r" b="b"/>
            <a:pathLst>
              <a:path w="3579813" h="539750">
                <a:moveTo>
                  <a:pt x="63502" y="0"/>
                </a:moveTo>
                <a:lnTo>
                  <a:pt x="3516311" y="0"/>
                </a:lnTo>
                <a:cubicBezTo>
                  <a:pt x="3551382" y="0"/>
                  <a:pt x="3579813" y="28431"/>
                  <a:pt x="3579813" y="63502"/>
                </a:cubicBezTo>
                <a:lnTo>
                  <a:pt x="3579813" y="476248"/>
                </a:lnTo>
                <a:cubicBezTo>
                  <a:pt x="3579812" y="511319"/>
                  <a:pt x="3551382" y="539750"/>
                  <a:pt x="3516311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307396" y="2651125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29766" y="21828"/>
                </a:moveTo>
                <a:cubicBezTo>
                  <a:pt x="29766" y="11971"/>
                  <a:pt x="37768" y="3969"/>
                  <a:pt x="47625" y="3969"/>
                </a:cubicBezTo>
                <a:cubicBezTo>
                  <a:pt x="57482" y="3969"/>
                  <a:pt x="65484" y="11971"/>
                  <a:pt x="65484" y="21828"/>
                </a:cubicBezTo>
                <a:cubicBezTo>
                  <a:pt x="65484" y="31685"/>
                  <a:pt x="57482" y="39688"/>
                  <a:pt x="47625" y="39688"/>
                </a:cubicBezTo>
                <a:cubicBezTo>
                  <a:pt x="37768" y="39688"/>
                  <a:pt x="29766" y="31685"/>
                  <a:pt x="29766" y="21828"/>
                </a:cubicBezTo>
                <a:close/>
                <a:moveTo>
                  <a:pt x="1910" y="35843"/>
                </a:moveTo>
                <a:cubicBezTo>
                  <a:pt x="5135" y="31403"/>
                  <a:pt x="11336" y="30435"/>
                  <a:pt x="15776" y="33660"/>
                </a:cubicBezTo>
                <a:lnTo>
                  <a:pt x="24755" y="40184"/>
                </a:lnTo>
                <a:cubicBezTo>
                  <a:pt x="31403" y="45021"/>
                  <a:pt x="39415" y="47625"/>
                  <a:pt x="47625" y="47625"/>
                </a:cubicBezTo>
                <a:cubicBezTo>
                  <a:pt x="55835" y="47625"/>
                  <a:pt x="63847" y="45021"/>
                  <a:pt x="70495" y="40184"/>
                </a:cubicBezTo>
                <a:lnTo>
                  <a:pt x="79474" y="33635"/>
                </a:lnTo>
                <a:cubicBezTo>
                  <a:pt x="83914" y="30411"/>
                  <a:pt x="90115" y="31403"/>
                  <a:pt x="93340" y="35818"/>
                </a:cubicBezTo>
                <a:cubicBezTo>
                  <a:pt x="96565" y="40233"/>
                  <a:pt x="95572" y="46459"/>
                  <a:pt x="91157" y="49684"/>
                </a:cubicBezTo>
                <a:lnTo>
                  <a:pt x="82178" y="56232"/>
                </a:lnTo>
                <a:cubicBezTo>
                  <a:pt x="78804" y="58688"/>
                  <a:pt x="75208" y="60747"/>
                  <a:pt x="71437" y="62433"/>
                </a:cubicBezTo>
                <a:lnTo>
                  <a:pt x="71437" y="71438"/>
                </a:lnTo>
                <a:lnTo>
                  <a:pt x="23812" y="71438"/>
                </a:lnTo>
                <a:lnTo>
                  <a:pt x="23812" y="62433"/>
                </a:lnTo>
                <a:cubicBezTo>
                  <a:pt x="20042" y="60771"/>
                  <a:pt x="16446" y="58688"/>
                  <a:pt x="13072" y="56232"/>
                </a:cubicBezTo>
                <a:lnTo>
                  <a:pt x="4093" y="49684"/>
                </a:lnTo>
                <a:cubicBezTo>
                  <a:pt x="-347" y="46459"/>
                  <a:pt x="-1315" y="40258"/>
                  <a:pt x="1910" y="35818"/>
                </a:cubicBezTo>
                <a:close/>
                <a:moveTo>
                  <a:pt x="24185" y="81682"/>
                </a:moveTo>
                <a:lnTo>
                  <a:pt x="39216" y="94828"/>
                </a:lnTo>
                <a:lnTo>
                  <a:pt x="32767" y="104056"/>
                </a:lnTo>
                <a:lnTo>
                  <a:pt x="38795" y="110083"/>
                </a:lnTo>
                <a:cubicBezTo>
                  <a:pt x="42664" y="113953"/>
                  <a:pt x="42664" y="120228"/>
                  <a:pt x="38795" y="124123"/>
                </a:cubicBezTo>
                <a:cubicBezTo>
                  <a:pt x="34925" y="128017"/>
                  <a:pt x="28649" y="127992"/>
                  <a:pt x="24755" y="124123"/>
                </a:cubicBezTo>
                <a:lnTo>
                  <a:pt x="12849" y="112216"/>
                </a:lnTo>
                <a:cubicBezTo>
                  <a:pt x="9426" y="108793"/>
                  <a:pt x="8954" y="103436"/>
                  <a:pt x="11708" y="99492"/>
                </a:cubicBezTo>
                <a:lnTo>
                  <a:pt x="24160" y="81682"/>
                </a:lnTo>
                <a:close/>
                <a:moveTo>
                  <a:pt x="56059" y="94828"/>
                </a:moveTo>
                <a:lnTo>
                  <a:pt x="71090" y="81682"/>
                </a:lnTo>
                <a:lnTo>
                  <a:pt x="83542" y="99492"/>
                </a:lnTo>
                <a:cubicBezTo>
                  <a:pt x="86296" y="103436"/>
                  <a:pt x="85824" y="108793"/>
                  <a:pt x="82426" y="112192"/>
                </a:cubicBezTo>
                <a:lnTo>
                  <a:pt x="70520" y="124098"/>
                </a:lnTo>
                <a:cubicBezTo>
                  <a:pt x="66650" y="127967"/>
                  <a:pt x="60375" y="127967"/>
                  <a:pt x="56480" y="124098"/>
                </a:cubicBezTo>
                <a:cubicBezTo>
                  <a:pt x="52586" y="120228"/>
                  <a:pt x="52611" y="113953"/>
                  <a:pt x="56480" y="110058"/>
                </a:cubicBezTo>
                <a:lnTo>
                  <a:pt x="62508" y="104031"/>
                </a:lnTo>
                <a:lnTo>
                  <a:pt x="56059" y="94804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497896" y="2635250"/>
            <a:ext cx="1055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青岛市妇女儿童医院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275646" y="2857500"/>
            <a:ext cx="3436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专科医院，信息服务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8000" y="3175000"/>
            <a:ext cx="3579813" cy="539750"/>
          </a:xfrm>
          <a:custGeom>
            <a:avLst/>
            <a:gdLst/>
            <a:ahLst/>
            <a:cxnLst/>
            <a:rect l="l" t="t" r="r" b="b"/>
            <a:pathLst>
              <a:path w="3579813" h="539750">
                <a:moveTo>
                  <a:pt x="63502" y="0"/>
                </a:moveTo>
                <a:lnTo>
                  <a:pt x="3516311" y="0"/>
                </a:lnTo>
                <a:cubicBezTo>
                  <a:pt x="3551382" y="0"/>
                  <a:pt x="3579813" y="28431"/>
                  <a:pt x="3579813" y="63502"/>
                </a:cubicBezTo>
                <a:lnTo>
                  <a:pt x="3579813" y="476248"/>
                </a:lnTo>
                <a:cubicBezTo>
                  <a:pt x="3579812" y="511319"/>
                  <a:pt x="3551382" y="539750"/>
                  <a:pt x="3516311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19125" y="328612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29766" y="13891"/>
                </a:moveTo>
                <a:cubicBezTo>
                  <a:pt x="29766" y="6226"/>
                  <a:pt x="35992" y="0"/>
                  <a:pt x="43656" y="0"/>
                </a:cubicBezTo>
                <a:lnTo>
                  <a:pt x="49609" y="0"/>
                </a:lnTo>
                <a:cubicBezTo>
                  <a:pt x="54000" y="0"/>
                  <a:pt x="57547" y="3547"/>
                  <a:pt x="57547" y="7938"/>
                </a:cubicBezTo>
                <a:lnTo>
                  <a:pt x="57547" y="119063"/>
                </a:lnTo>
                <a:cubicBezTo>
                  <a:pt x="57547" y="123453"/>
                  <a:pt x="54000" y="127000"/>
                  <a:pt x="49609" y="127000"/>
                </a:cubicBezTo>
                <a:lnTo>
                  <a:pt x="41672" y="127000"/>
                </a:lnTo>
                <a:cubicBezTo>
                  <a:pt x="34280" y="127000"/>
                  <a:pt x="28054" y="121940"/>
                  <a:pt x="26293" y="115094"/>
                </a:cubicBezTo>
                <a:cubicBezTo>
                  <a:pt x="26119" y="115094"/>
                  <a:pt x="25971" y="115094"/>
                  <a:pt x="25797" y="115094"/>
                </a:cubicBezTo>
                <a:cubicBezTo>
                  <a:pt x="14833" y="115094"/>
                  <a:pt x="5953" y="106214"/>
                  <a:pt x="5953" y="95250"/>
                </a:cubicBezTo>
                <a:cubicBezTo>
                  <a:pt x="5953" y="90785"/>
                  <a:pt x="7441" y="86668"/>
                  <a:pt x="9922" y="83344"/>
                </a:cubicBezTo>
                <a:cubicBezTo>
                  <a:pt x="5110" y="79722"/>
                  <a:pt x="1984" y="73968"/>
                  <a:pt x="1984" y="67469"/>
                </a:cubicBezTo>
                <a:cubicBezTo>
                  <a:pt x="1984" y="59804"/>
                  <a:pt x="6350" y="53132"/>
                  <a:pt x="12700" y="49833"/>
                </a:cubicBezTo>
                <a:cubicBezTo>
                  <a:pt x="10939" y="46856"/>
                  <a:pt x="9922" y="43383"/>
                  <a:pt x="9922" y="39688"/>
                </a:cubicBezTo>
                <a:cubicBezTo>
                  <a:pt x="9922" y="28724"/>
                  <a:pt x="18802" y="19844"/>
                  <a:pt x="29766" y="19844"/>
                </a:cubicBezTo>
                <a:lnTo>
                  <a:pt x="29766" y="13891"/>
                </a:lnTo>
                <a:close/>
                <a:moveTo>
                  <a:pt x="97234" y="13891"/>
                </a:moveTo>
                <a:lnTo>
                  <a:pt x="97234" y="19844"/>
                </a:lnTo>
                <a:cubicBezTo>
                  <a:pt x="108198" y="19844"/>
                  <a:pt x="117078" y="28724"/>
                  <a:pt x="117078" y="39688"/>
                </a:cubicBezTo>
                <a:cubicBezTo>
                  <a:pt x="117078" y="43408"/>
                  <a:pt x="116061" y="46881"/>
                  <a:pt x="114300" y="49833"/>
                </a:cubicBezTo>
                <a:cubicBezTo>
                  <a:pt x="120675" y="53132"/>
                  <a:pt x="125016" y="59779"/>
                  <a:pt x="125016" y="67469"/>
                </a:cubicBezTo>
                <a:cubicBezTo>
                  <a:pt x="125016" y="73968"/>
                  <a:pt x="121890" y="79722"/>
                  <a:pt x="117078" y="83344"/>
                </a:cubicBezTo>
                <a:cubicBezTo>
                  <a:pt x="119559" y="86668"/>
                  <a:pt x="121047" y="90785"/>
                  <a:pt x="121047" y="95250"/>
                </a:cubicBezTo>
                <a:cubicBezTo>
                  <a:pt x="121047" y="106214"/>
                  <a:pt x="112167" y="115094"/>
                  <a:pt x="101203" y="115094"/>
                </a:cubicBezTo>
                <a:cubicBezTo>
                  <a:pt x="101029" y="115094"/>
                  <a:pt x="100881" y="115094"/>
                  <a:pt x="100707" y="115094"/>
                </a:cubicBezTo>
                <a:cubicBezTo>
                  <a:pt x="98946" y="121940"/>
                  <a:pt x="92720" y="127000"/>
                  <a:pt x="85328" y="127000"/>
                </a:cubicBezTo>
                <a:lnTo>
                  <a:pt x="77391" y="127000"/>
                </a:lnTo>
                <a:cubicBezTo>
                  <a:pt x="73000" y="127000"/>
                  <a:pt x="69453" y="123453"/>
                  <a:pt x="69453" y="119063"/>
                </a:cubicBezTo>
                <a:lnTo>
                  <a:pt x="69453" y="7938"/>
                </a:lnTo>
                <a:cubicBezTo>
                  <a:pt x="69453" y="3547"/>
                  <a:pt x="73000" y="0"/>
                  <a:pt x="77391" y="0"/>
                </a:cubicBezTo>
                <a:lnTo>
                  <a:pt x="83344" y="0"/>
                </a:lnTo>
                <a:cubicBezTo>
                  <a:pt x="91008" y="0"/>
                  <a:pt x="97234" y="6226"/>
                  <a:pt x="97234" y="13891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25500" y="3270250"/>
            <a:ext cx="161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首都医科大学附属北京安定医院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3250" y="3492500"/>
            <a:ext cx="3436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 err="1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精神专科医院，信息服务</a:t>
            </a:r>
            <a:r>
              <a:rPr lang="zh-CN" altLang="en-US" sz="80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，短信平台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180396" y="3175000"/>
            <a:ext cx="3579813" cy="539750"/>
          </a:xfrm>
          <a:custGeom>
            <a:avLst/>
            <a:gdLst/>
            <a:ahLst/>
            <a:cxnLst/>
            <a:rect l="l" t="t" r="r" b="b"/>
            <a:pathLst>
              <a:path w="3579813" h="539750">
                <a:moveTo>
                  <a:pt x="63502" y="0"/>
                </a:moveTo>
                <a:lnTo>
                  <a:pt x="3516311" y="0"/>
                </a:lnTo>
                <a:cubicBezTo>
                  <a:pt x="3551382" y="0"/>
                  <a:pt x="3579813" y="28431"/>
                  <a:pt x="3579813" y="63502"/>
                </a:cubicBezTo>
                <a:lnTo>
                  <a:pt x="3579813" y="476248"/>
                </a:lnTo>
                <a:cubicBezTo>
                  <a:pt x="3579812" y="511319"/>
                  <a:pt x="3551382" y="539750"/>
                  <a:pt x="3516311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283583" y="3286125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1906" y="48568"/>
                </a:moveTo>
                <a:lnTo>
                  <a:pt x="63798" y="69924"/>
                </a:lnTo>
                <a:cubicBezTo>
                  <a:pt x="66229" y="70917"/>
                  <a:pt x="68808" y="71438"/>
                  <a:pt x="71438" y="71438"/>
                </a:cubicBezTo>
                <a:cubicBezTo>
                  <a:pt x="74067" y="71438"/>
                  <a:pt x="76646" y="70917"/>
                  <a:pt x="79077" y="69924"/>
                </a:cubicBezTo>
                <a:lnTo>
                  <a:pt x="139204" y="45169"/>
                </a:lnTo>
                <a:cubicBezTo>
                  <a:pt x="141436" y="44252"/>
                  <a:pt x="142875" y="42094"/>
                  <a:pt x="142875" y="39687"/>
                </a:cubicBezTo>
                <a:cubicBezTo>
                  <a:pt x="142875" y="37281"/>
                  <a:pt x="141436" y="35123"/>
                  <a:pt x="139204" y="34206"/>
                </a:cubicBezTo>
                <a:lnTo>
                  <a:pt x="79077" y="9451"/>
                </a:lnTo>
                <a:cubicBezTo>
                  <a:pt x="76646" y="8458"/>
                  <a:pt x="74067" y="7938"/>
                  <a:pt x="71438" y="7938"/>
                </a:cubicBezTo>
                <a:cubicBezTo>
                  <a:pt x="68808" y="7938"/>
                  <a:pt x="66229" y="8458"/>
                  <a:pt x="63798" y="9451"/>
                </a:cubicBezTo>
                <a:lnTo>
                  <a:pt x="3671" y="34206"/>
                </a:lnTo>
                <a:cubicBezTo>
                  <a:pt x="1439" y="35123"/>
                  <a:pt x="0" y="37281"/>
                  <a:pt x="0" y="39688"/>
                </a:cubicBezTo>
                <a:lnTo>
                  <a:pt x="0" y="113109"/>
                </a:lnTo>
                <a:cubicBezTo>
                  <a:pt x="0" y="116408"/>
                  <a:pt x="2654" y="119063"/>
                  <a:pt x="5953" y="119063"/>
                </a:cubicBezTo>
                <a:cubicBezTo>
                  <a:pt x="9252" y="119063"/>
                  <a:pt x="11906" y="116408"/>
                  <a:pt x="11906" y="113109"/>
                </a:cubicBezTo>
                <a:lnTo>
                  <a:pt x="11906" y="48568"/>
                </a:lnTo>
                <a:close/>
                <a:moveTo>
                  <a:pt x="23812" y="66353"/>
                </a:moveTo>
                <a:lnTo>
                  <a:pt x="23812" y="95250"/>
                </a:lnTo>
                <a:cubicBezTo>
                  <a:pt x="23812" y="108396"/>
                  <a:pt x="45145" y="119063"/>
                  <a:pt x="71438" y="119063"/>
                </a:cubicBezTo>
                <a:cubicBezTo>
                  <a:pt x="97730" y="119063"/>
                  <a:pt x="119063" y="108396"/>
                  <a:pt x="119063" y="95250"/>
                </a:cubicBezTo>
                <a:lnTo>
                  <a:pt x="119063" y="66328"/>
                </a:lnTo>
                <a:lnTo>
                  <a:pt x="83617" y="80938"/>
                </a:lnTo>
                <a:cubicBezTo>
                  <a:pt x="79747" y="82525"/>
                  <a:pt x="75629" y="83344"/>
                  <a:pt x="71438" y="83344"/>
                </a:cubicBezTo>
                <a:cubicBezTo>
                  <a:pt x="67246" y="83344"/>
                  <a:pt x="63128" y="82525"/>
                  <a:pt x="59258" y="80938"/>
                </a:cubicBezTo>
                <a:lnTo>
                  <a:pt x="23812" y="66328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497896" y="3270250"/>
            <a:ext cx="1055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中南大学湘雅三医院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275646" y="3492500"/>
            <a:ext cx="3436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湘雅系三甲医院，短信平台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33375" y="4000500"/>
            <a:ext cx="7580313" cy="1563688"/>
          </a:xfrm>
          <a:custGeom>
            <a:avLst/>
            <a:gdLst/>
            <a:ahLst/>
            <a:cxnLst/>
            <a:rect l="l" t="t" r="r" b="b"/>
            <a:pathLst>
              <a:path w="7580313" h="1563688">
                <a:moveTo>
                  <a:pt x="31750" y="0"/>
                </a:moveTo>
                <a:lnTo>
                  <a:pt x="7485068" y="0"/>
                </a:lnTo>
                <a:cubicBezTo>
                  <a:pt x="7537670" y="0"/>
                  <a:pt x="7580313" y="42642"/>
                  <a:pt x="7580313" y="95244"/>
                </a:cubicBezTo>
                <a:lnTo>
                  <a:pt x="7580313" y="1468443"/>
                </a:lnTo>
                <a:cubicBezTo>
                  <a:pt x="7580313" y="1521045"/>
                  <a:pt x="7537670" y="1563687"/>
                  <a:pt x="7485068" y="1563688"/>
                </a:cubicBezTo>
                <a:lnTo>
                  <a:pt x="31750" y="1563688"/>
                </a:lnTo>
                <a:cubicBezTo>
                  <a:pt x="14215" y="1563688"/>
                  <a:pt x="0" y="1549473"/>
                  <a:pt x="0" y="15319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333375" y="4000500"/>
            <a:ext cx="31750" cy="1563688"/>
          </a:xfrm>
          <a:custGeom>
            <a:avLst/>
            <a:gdLst/>
            <a:ahLst/>
            <a:cxnLst/>
            <a:rect l="l" t="t" r="r" b="b"/>
            <a:pathLst>
              <a:path w="31750" h="1563688">
                <a:moveTo>
                  <a:pt x="31750" y="0"/>
                </a:moveTo>
                <a:lnTo>
                  <a:pt x="31750" y="0"/>
                </a:lnTo>
                <a:lnTo>
                  <a:pt x="31750" y="1563688"/>
                </a:lnTo>
                <a:lnTo>
                  <a:pt x="31750" y="1563688"/>
                </a:lnTo>
                <a:cubicBezTo>
                  <a:pt x="14227" y="1563688"/>
                  <a:pt x="0" y="1549461"/>
                  <a:pt x="0" y="15319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508000" y="41592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/>
              </a:gs>
              <a:gs pos="100000">
                <a:srgbClr val="0A4F6B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35000" y="4286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40146"/>
                </a:moveTo>
                <a:lnTo>
                  <a:pt x="89669" y="32407"/>
                </a:lnTo>
                <a:cubicBezTo>
                  <a:pt x="80367" y="19534"/>
                  <a:pt x="65447" y="11906"/>
                  <a:pt x="49523" y="11906"/>
                </a:cubicBezTo>
                <a:cubicBezTo>
                  <a:pt x="22175" y="11906"/>
                  <a:pt x="0" y="34082"/>
                  <a:pt x="0" y="61429"/>
                </a:cubicBezTo>
                <a:lnTo>
                  <a:pt x="0" y="62396"/>
                </a:lnTo>
                <a:cubicBezTo>
                  <a:pt x="0" y="71177"/>
                  <a:pt x="2307" y="80256"/>
                  <a:pt x="6176" y="89297"/>
                </a:cubicBezTo>
                <a:lnTo>
                  <a:pt x="45616" y="89297"/>
                </a:lnTo>
                <a:cubicBezTo>
                  <a:pt x="46806" y="89297"/>
                  <a:pt x="47885" y="88590"/>
                  <a:pt x="48369" y="87474"/>
                </a:cubicBezTo>
                <a:lnTo>
                  <a:pt x="60201" y="59085"/>
                </a:lnTo>
                <a:cubicBezTo>
                  <a:pt x="61578" y="55811"/>
                  <a:pt x="64777" y="53653"/>
                  <a:pt x="68312" y="53578"/>
                </a:cubicBezTo>
                <a:cubicBezTo>
                  <a:pt x="71847" y="53504"/>
                  <a:pt x="75121" y="55587"/>
                  <a:pt x="76572" y="58824"/>
                </a:cubicBezTo>
                <a:lnTo>
                  <a:pt x="95659" y="101203"/>
                </a:lnTo>
                <a:lnTo>
                  <a:pt x="111063" y="70396"/>
                </a:lnTo>
                <a:cubicBezTo>
                  <a:pt x="112588" y="67382"/>
                  <a:pt x="115677" y="65447"/>
                  <a:pt x="119063" y="65447"/>
                </a:cubicBezTo>
                <a:cubicBezTo>
                  <a:pt x="122448" y="65447"/>
                  <a:pt x="125537" y="67345"/>
                  <a:pt x="127062" y="70396"/>
                </a:cubicBezTo>
                <a:lnTo>
                  <a:pt x="135694" y="87623"/>
                </a:lnTo>
                <a:cubicBezTo>
                  <a:pt x="136215" y="88627"/>
                  <a:pt x="137220" y="89260"/>
                  <a:pt x="138373" y="89260"/>
                </a:cubicBezTo>
                <a:lnTo>
                  <a:pt x="184361" y="89260"/>
                </a:lnTo>
                <a:cubicBezTo>
                  <a:pt x="188268" y="80218"/>
                  <a:pt x="190537" y="71140"/>
                  <a:pt x="190537" y="62359"/>
                </a:cubicBezTo>
                <a:lnTo>
                  <a:pt x="190537" y="61392"/>
                </a:lnTo>
                <a:cubicBezTo>
                  <a:pt x="190500" y="34082"/>
                  <a:pt x="168325" y="11906"/>
                  <a:pt x="140977" y="11906"/>
                </a:cubicBezTo>
                <a:cubicBezTo>
                  <a:pt x="125090" y="11906"/>
                  <a:pt x="110133" y="19534"/>
                  <a:pt x="100831" y="32407"/>
                </a:cubicBezTo>
                <a:lnTo>
                  <a:pt x="95250" y="40109"/>
                </a:lnTo>
                <a:close/>
                <a:moveTo>
                  <a:pt x="174724" y="107156"/>
                </a:moveTo>
                <a:lnTo>
                  <a:pt x="138336" y="107156"/>
                </a:lnTo>
                <a:cubicBezTo>
                  <a:pt x="130448" y="107156"/>
                  <a:pt x="123230" y="102691"/>
                  <a:pt x="119695" y="95622"/>
                </a:cubicBezTo>
                <a:lnTo>
                  <a:pt x="119063" y="94357"/>
                </a:lnTo>
                <a:lnTo>
                  <a:pt x="103250" y="126020"/>
                </a:lnTo>
                <a:cubicBezTo>
                  <a:pt x="101724" y="129108"/>
                  <a:pt x="98524" y="131043"/>
                  <a:pt x="95064" y="130969"/>
                </a:cubicBezTo>
                <a:cubicBezTo>
                  <a:pt x="91604" y="130894"/>
                  <a:pt x="88516" y="128848"/>
                  <a:pt x="87102" y="125723"/>
                </a:cubicBezTo>
                <a:lnTo>
                  <a:pt x="68759" y="84981"/>
                </a:lnTo>
                <a:lnTo>
                  <a:pt x="64852" y="94357"/>
                </a:lnTo>
                <a:cubicBezTo>
                  <a:pt x="61615" y="102133"/>
                  <a:pt x="54025" y="107193"/>
                  <a:pt x="45616" y="107193"/>
                </a:cubicBezTo>
                <a:lnTo>
                  <a:pt x="15776" y="107193"/>
                </a:lnTo>
                <a:cubicBezTo>
                  <a:pt x="33338" y="134652"/>
                  <a:pt x="61540" y="159916"/>
                  <a:pt x="79177" y="173385"/>
                </a:cubicBezTo>
                <a:cubicBezTo>
                  <a:pt x="83790" y="176882"/>
                  <a:pt x="89446" y="178631"/>
                  <a:pt x="95213" y="178631"/>
                </a:cubicBezTo>
                <a:cubicBezTo>
                  <a:pt x="100980" y="178631"/>
                  <a:pt x="106673" y="176919"/>
                  <a:pt x="111249" y="173385"/>
                </a:cubicBezTo>
                <a:cubicBezTo>
                  <a:pt x="128960" y="159879"/>
                  <a:pt x="157163" y="134615"/>
                  <a:pt x="174724" y="10715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047750" y="4191000"/>
            <a:ext cx="150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专科医院与体检中心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47750" y="4413250"/>
            <a:ext cx="1484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多元化医疗服务机构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08000" y="4730750"/>
            <a:ext cx="1738313" cy="674688"/>
          </a:xfrm>
          <a:custGeom>
            <a:avLst/>
            <a:gdLst/>
            <a:ahLst/>
            <a:cxnLst/>
            <a:rect l="l" t="t" r="r" b="b"/>
            <a:pathLst>
              <a:path w="1738313" h="674688">
                <a:moveTo>
                  <a:pt x="63502" y="0"/>
                </a:moveTo>
                <a:lnTo>
                  <a:pt x="1674811" y="0"/>
                </a:lnTo>
                <a:cubicBezTo>
                  <a:pt x="1709882" y="0"/>
                  <a:pt x="1738312" y="28431"/>
                  <a:pt x="1738312" y="63502"/>
                </a:cubicBezTo>
                <a:lnTo>
                  <a:pt x="1738313" y="611186"/>
                </a:lnTo>
                <a:cubicBezTo>
                  <a:pt x="1738312" y="646257"/>
                  <a:pt x="1709882" y="674688"/>
                  <a:pt x="1674811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289162" y="4833938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89297" y="9922"/>
                </a:moveTo>
                <a:cubicBezTo>
                  <a:pt x="64244" y="9922"/>
                  <a:pt x="44183" y="21332"/>
                  <a:pt x="29580" y="34913"/>
                </a:cubicBezTo>
                <a:cubicBezTo>
                  <a:pt x="15069" y="48400"/>
                  <a:pt x="5364" y="64492"/>
                  <a:pt x="744" y="75561"/>
                </a:cubicBezTo>
                <a:cubicBezTo>
                  <a:pt x="-279" y="78011"/>
                  <a:pt x="-279" y="80739"/>
                  <a:pt x="744" y="83189"/>
                </a:cubicBezTo>
                <a:cubicBezTo>
                  <a:pt x="5364" y="94258"/>
                  <a:pt x="15069" y="110381"/>
                  <a:pt x="29580" y="123837"/>
                </a:cubicBezTo>
                <a:cubicBezTo>
                  <a:pt x="44183" y="137387"/>
                  <a:pt x="64244" y="148828"/>
                  <a:pt x="89297" y="148828"/>
                </a:cubicBezTo>
                <a:cubicBezTo>
                  <a:pt x="114350" y="148828"/>
                  <a:pt x="134410" y="137418"/>
                  <a:pt x="149014" y="123837"/>
                </a:cubicBezTo>
                <a:cubicBezTo>
                  <a:pt x="163525" y="110350"/>
                  <a:pt x="173230" y="94258"/>
                  <a:pt x="177850" y="83189"/>
                </a:cubicBezTo>
                <a:cubicBezTo>
                  <a:pt x="178873" y="80739"/>
                  <a:pt x="178873" y="78011"/>
                  <a:pt x="177850" y="75561"/>
                </a:cubicBezTo>
                <a:cubicBezTo>
                  <a:pt x="173230" y="64492"/>
                  <a:pt x="163525" y="48369"/>
                  <a:pt x="149014" y="34913"/>
                </a:cubicBezTo>
                <a:cubicBezTo>
                  <a:pt x="134410" y="21363"/>
                  <a:pt x="114350" y="9922"/>
                  <a:pt x="89297" y="9922"/>
                </a:cubicBezTo>
                <a:close/>
                <a:moveTo>
                  <a:pt x="44648" y="79375"/>
                </a:moveTo>
                <a:cubicBezTo>
                  <a:pt x="44648" y="54733"/>
                  <a:pt x="64655" y="34727"/>
                  <a:pt x="89297" y="34727"/>
                </a:cubicBezTo>
                <a:cubicBezTo>
                  <a:pt x="113939" y="34727"/>
                  <a:pt x="133945" y="54733"/>
                  <a:pt x="133945" y="79375"/>
                </a:cubicBezTo>
                <a:cubicBezTo>
                  <a:pt x="133945" y="104017"/>
                  <a:pt x="113939" y="124023"/>
                  <a:pt x="89297" y="124023"/>
                </a:cubicBezTo>
                <a:cubicBezTo>
                  <a:pt x="64655" y="124023"/>
                  <a:pt x="44648" y="104017"/>
                  <a:pt x="44648" y="79375"/>
                </a:cubicBezTo>
                <a:close/>
                <a:moveTo>
                  <a:pt x="89297" y="59531"/>
                </a:moveTo>
                <a:cubicBezTo>
                  <a:pt x="89297" y="70476"/>
                  <a:pt x="80398" y="79375"/>
                  <a:pt x="69453" y="79375"/>
                </a:cubicBezTo>
                <a:cubicBezTo>
                  <a:pt x="65887" y="79375"/>
                  <a:pt x="62539" y="78445"/>
                  <a:pt x="59624" y="76771"/>
                </a:cubicBezTo>
                <a:cubicBezTo>
                  <a:pt x="59314" y="80150"/>
                  <a:pt x="59593" y="83623"/>
                  <a:pt x="60523" y="87064"/>
                </a:cubicBezTo>
                <a:cubicBezTo>
                  <a:pt x="64771" y="102939"/>
                  <a:pt x="81111" y="112365"/>
                  <a:pt x="96986" y="108117"/>
                </a:cubicBezTo>
                <a:cubicBezTo>
                  <a:pt x="112861" y="103870"/>
                  <a:pt x="122287" y="87530"/>
                  <a:pt x="118039" y="71655"/>
                </a:cubicBezTo>
                <a:cubicBezTo>
                  <a:pt x="114257" y="57485"/>
                  <a:pt x="100831" y="48462"/>
                  <a:pt x="86692" y="49702"/>
                </a:cubicBezTo>
                <a:cubicBezTo>
                  <a:pt x="88336" y="52586"/>
                  <a:pt x="89297" y="55935"/>
                  <a:pt x="89297" y="59531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579438" y="5056188"/>
            <a:ext cx="1595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爱尔眼科系列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79438" y="5183188"/>
            <a:ext cx="1595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多家分院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2344167" y="4730750"/>
            <a:ext cx="1738313" cy="674688"/>
          </a:xfrm>
          <a:custGeom>
            <a:avLst/>
            <a:gdLst/>
            <a:ahLst/>
            <a:cxnLst/>
            <a:rect l="l" t="t" r="r" b="b"/>
            <a:pathLst>
              <a:path w="1738313" h="674688">
                <a:moveTo>
                  <a:pt x="63502" y="0"/>
                </a:moveTo>
                <a:lnTo>
                  <a:pt x="1674811" y="0"/>
                </a:lnTo>
                <a:cubicBezTo>
                  <a:pt x="1709882" y="0"/>
                  <a:pt x="1738312" y="28431"/>
                  <a:pt x="1738312" y="63502"/>
                </a:cubicBezTo>
                <a:lnTo>
                  <a:pt x="1738313" y="611186"/>
                </a:lnTo>
                <a:cubicBezTo>
                  <a:pt x="1738312" y="646257"/>
                  <a:pt x="1709882" y="674688"/>
                  <a:pt x="1674811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3125329" y="4833938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9922" y="14883"/>
                </a:moveTo>
                <a:cubicBezTo>
                  <a:pt x="9922" y="6666"/>
                  <a:pt x="16588" y="0"/>
                  <a:pt x="24805" y="0"/>
                </a:cubicBezTo>
                <a:lnTo>
                  <a:pt x="39688" y="0"/>
                </a:lnTo>
                <a:cubicBezTo>
                  <a:pt x="45176" y="0"/>
                  <a:pt x="49609" y="4434"/>
                  <a:pt x="49609" y="9922"/>
                </a:cubicBezTo>
                <a:cubicBezTo>
                  <a:pt x="49609" y="15410"/>
                  <a:pt x="45176" y="19844"/>
                  <a:pt x="39688" y="19844"/>
                </a:cubicBezTo>
                <a:lnTo>
                  <a:pt x="29766" y="19844"/>
                </a:lnTo>
                <a:lnTo>
                  <a:pt x="29766" y="59531"/>
                </a:lnTo>
                <a:cubicBezTo>
                  <a:pt x="29766" y="75964"/>
                  <a:pt x="43098" y="89297"/>
                  <a:pt x="59531" y="89297"/>
                </a:cubicBezTo>
                <a:cubicBezTo>
                  <a:pt x="75964" y="89297"/>
                  <a:pt x="89297" y="75964"/>
                  <a:pt x="89297" y="59531"/>
                </a:cubicBezTo>
                <a:lnTo>
                  <a:pt x="89297" y="19844"/>
                </a:lnTo>
                <a:lnTo>
                  <a:pt x="79375" y="19844"/>
                </a:lnTo>
                <a:cubicBezTo>
                  <a:pt x="73887" y="19844"/>
                  <a:pt x="69453" y="15410"/>
                  <a:pt x="69453" y="9922"/>
                </a:cubicBezTo>
                <a:cubicBezTo>
                  <a:pt x="69453" y="4434"/>
                  <a:pt x="73887" y="0"/>
                  <a:pt x="79375" y="0"/>
                </a:cubicBezTo>
                <a:lnTo>
                  <a:pt x="94258" y="0"/>
                </a:lnTo>
                <a:cubicBezTo>
                  <a:pt x="102474" y="0"/>
                  <a:pt x="109141" y="6666"/>
                  <a:pt x="109141" y="14883"/>
                </a:cubicBezTo>
                <a:lnTo>
                  <a:pt x="109141" y="59531"/>
                </a:lnTo>
                <a:cubicBezTo>
                  <a:pt x="109141" y="83530"/>
                  <a:pt x="92087" y="103560"/>
                  <a:pt x="69453" y="108148"/>
                </a:cubicBezTo>
                <a:lnTo>
                  <a:pt x="69453" y="114102"/>
                </a:lnTo>
                <a:cubicBezTo>
                  <a:pt x="69453" y="133294"/>
                  <a:pt x="84987" y="148828"/>
                  <a:pt x="104180" y="148828"/>
                </a:cubicBezTo>
                <a:cubicBezTo>
                  <a:pt x="123372" y="148828"/>
                  <a:pt x="138906" y="133294"/>
                  <a:pt x="138906" y="114102"/>
                </a:cubicBezTo>
                <a:lnTo>
                  <a:pt x="138906" y="87592"/>
                </a:lnTo>
                <a:cubicBezTo>
                  <a:pt x="127341" y="83499"/>
                  <a:pt x="119062" y="72492"/>
                  <a:pt x="119062" y="59531"/>
                </a:cubicBezTo>
                <a:cubicBezTo>
                  <a:pt x="119062" y="43098"/>
                  <a:pt x="132395" y="29766"/>
                  <a:pt x="148828" y="29766"/>
                </a:cubicBezTo>
                <a:cubicBezTo>
                  <a:pt x="165261" y="29766"/>
                  <a:pt x="178594" y="43098"/>
                  <a:pt x="178594" y="59531"/>
                </a:cubicBezTo>
                <a:cubicBezTo>
                  <a:pt x="178594" y="72492"/>
                  <a:pt x="170315" y="83530"/>
                  <a:pt x="158750" y="87592"/>
                </a:cubicBezTo>
                <a:lnTo>
                  <a:pt x="158750" y="114102"/>
                </a:lnTo>
                <a:cubicBezTo>
                  <a:pt x="158750" y="144239"/>
                  <a:pt x="134317" y="168672"/>
                  <a:pt x="104180" y="168672"/>
                </a:cubicBezTo>
                <a:cubicBezTo>
                  <a:pt x="74042" y="168672"/>
                  <a:pt x="49609" y="144239"/>
                  <a:pt x="49609" y="114102"/>
                </a:cubicBezTo>
                <a:lnTo>
                  <a:pt x="49609" y="108148"/>
                </a:lnTo>
                <a:cubicBezTo>
                  <a:pt x="26975" y="103560"/>
                  <a:pt x="9922" y="83530"/>
                  <a:pt x="9922" y="59531"/>
                </a:cubicBezTo>
                <a:lnTo>
                  <a:pt x="9922" y="14883"/>
                </a:lnTo>
                <a:close/>
                <a:moveTo>
                  <a:pt x="148828" y="69453"/>
                </a:moveTo>
                <a:cubicBezTo>
                  <a:pt x="154304" y="69453"/>
                  <a:pt x="158750" y="65007"/>
                  <a:pt x="158750" y="59531"/>
                </a:cubicBezTo>
                <a:cubicBezTo>
                  <a:pt x="158750" y="54055"/>
                  <a:pt x="154304" y="49609"/>
                  <a:pt x="148828" y="49609"/>
                </a:cubicBezTo>
                <a:cubicBezTo>
                  <a:pt x="143352" y="49609"/>
                  <a:pt x="138906" y="54055"/>
                  <a:pt x="138906" y="59531"/>
                </a:cubicBezTo>
                <a:cubicBezTo>
                  <a:pt x="138906" y="65007"/>
                  <a:pt x="143352" y="69453"/>
                  <a:pt x="148828" y="69453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2415604" y="5056188"/>
            <a:ext cx="1595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美年大健康系列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2415604" y="5183188"/>
            <a:ext cx="1595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体检中心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180396" y="4730750"/>
            <a:ext cx="1738313" cy="674688"/>
          </a:xfrm>
          <a:custGeom>
            <a:avLst/>
            <a:gdLst/>
            <a:ahLst/>
            <a:cxnLst/>
            <a:rect l="l" t="t" r="r" b="b"/>
            <a:pathLst>
              <a:path w="1738313" h="674688">
                <a:moveTo>
                  <a:pt x="63502" y="0"/>
                </a:moveTo>
                <a:lnTo>
                  <a:pt x="1674811" y="0"/>
                </a:lnTo>
                <a:cubicBezTo>
                  <a:pt x="1709882" y="0"/>
                  <a:pt x="1738312" y="28431"/>
                  <a:pt x="1738312" y="63502"/>
                </a:cubicBezTo>
                <a:lnTo>
                  <a:pt x="1738313" y="611186"/>
                </a:lnTo>
                <a:cubicBezTo>
                  <a:pt x="1738312" y="646257"/>
                  <a:pt x="1709882" y="674688"/>
                  <a:pt x="1674811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4981401" y="4833938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44958" y="1767"/>
                </a:moveTo>
                <a:lnTo>
                  <a:pt x="69453" y="9922"/>
                </a:lnTo>
                <a:lnTo>
                  <a:pt x="93948" y="1767"/>
                </a:lnTo>
                <a:cubicBezTo>
                  <a:pt x="97451" y="589"/>
                  <a:pt x="101079" y="0"/>
                  <a:pt x="104769" y="0"/>
                </a:cubicBezTo>
                <a:cubicBezTo>
                  <a:pt x="123620" y="0"/>
                  <a:pt x="138906" y="15286"/>
                  <a:pt x="138906" y="34137"/>
                </a:cubicBezTo>
                <a:lnTo>
                  <a:pt x="138906" y="55376"/>
                </a:lnTo>
                <a:cubicBezTo>
                  <a:pt x="138906" y="64492"/>
                  <a:pt x="135961" y="73391"/>
                  <a:pt x="130473" y="80677"/>
                </a:cubicBezTo>
                <a:lnTo>
                  <a:pt x="130132" y="81142"/>
                </a:lnTo>
                <a:cubicBezTo>
                  <a:pt x="126132" y="86475"/>
                  <a:pt x="123527" y="92739"/>
                  <a:pt x="122597" y="99343"/>
                </a:cubicBezTo>
                <a:lnTo>
                  <a:pt x="115869" y="146317"/>
                </a:lnTo>
                <a:cubicBezTo>
                  <a:pt x="114846" y="153448"/>
                  <a:pt x="108738" y="158750"/>
                  <a:pt x="101544" y="158750"/>
                </a:cubicBezTo>
                <a:cubicBezTo>
                  <a:pt x="94475" y="158750"/>
                  <a:pt x="88429" y="153634"/>
                  <a:pt x="87281" y="146658"/>
                </a:cubicBezTo>
                <a:lnTo>
                  <a:pt x="81018" y="109017"/>
                </a:lnTo>
                <a:cubicBezTo>
                  <a:pt x="80088" y="103374"/>
                  <a:pt x="75189" y="99219"/>
                  <a:pt x="69453" y="99219"/>
                </a:cubicBezTo>
                <a:cubicBezTo>
                  <a:pt x="63717" y="99219"/>
                  <a:pt x="58849" y="103374"/>
                  <a:pt x="57888" y="109017"/>
                </a:cubicBezTo>
                <a:lnTo>
                  <a:pt x="51625" y="146658"/>
                </a:lnTo>
                <a:cubicBezTo>
                  <a:pt x="50447" y="153634"/>
                  <a:pt x="44431" y="158750"/>
                  <a:pt x="37362" y="158750"/>
                </a:cubicBezTo>
                <a:cubicBezTo>
                  <a:pt x="30169" y="158750"/>
                  <a:pt x="24061" y="153448"/>
                  <a:pt x="23037" y="146317"/>
                </a:cubicBezTo>
                <a:lnTo>
                  <a:pt x="16309" y="99374"/>
                </a:lnTo>
                <a:cubicBezTo>
                  <a:pt x="15379" y="92770"/>
                  <a:pt x="12774" y="86506"/>
                  <a:pt x="8775" y="81173"/>
                </a:cubicBezTo>
                <a:lnTo>
                  <a:pt x="8434" y="80708"/>
                </a:lnTo>
                <a:cubicBezTo>
                  <a:pt x="2946" y="73391"/>
                  <a:pt x="0" y="64523"/>
                  <a:pt x="0" y="55407"/>
                </a:cubicBezTo>
                <a:lnTo>
                  <a:pt x="0" y="34168"/>
                </a:lnTo>
                <a:cubicBezTo>
                  <a:pt x="0" y="15286"/>
                  <a:pt x="15286" y="0"/>
                  <a:pt x="34137" y="0"/>
                </a:cubicBezTo>
                <a:cubicBezTo>
                  <a:pt x="37827" y="0"/>
                  <a:pt x="41455" y="589"/>
                  <a:pt x="44958" y="1767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4251833" y="5056188"/>
            <a:ext cx="1595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口腔医院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251833" y="5183188"/>
            <a:ext cx="1595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绍兴市口腔医院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016625" y="4730750"/>
            <a:ext cx="1738313" cy="674688"/>
          </a:xfrm>
          <a:custGeom>
            <a:avLst/>
            <a:gdLst/>
            <a:ahLst/>
            <a:cxnLst/>
            <a:rect l="l" t="t" r="r" b="b"/>
            <a:pathLst>
              <a:path w="1738313" h="674688">
                <a:moveTo>
                  <a:pt x="63502" y="0"/>
                </a:moveTo>
                <a:lnTo>
                  <a:pt x="1674811" y="0"/>
                </a:lnTo>
                <a:cubicBezTo>
                  <a:pt x="1709882" y="0"/>
                  <a:pt x="1738312" y="28431"/>
                  <a:pt x="1738312" y="63502"/>
                </a:cubicBezTo>
                <a:lnTo>
                  <a:pt x="1738313" y="611186"/>
                </a:lnTo>
                <a:cubicBezTo>
                  <a:pt x="1738312" y="646257"/>
                  <a:pt x="1709882" y="674688"/>
                  <a:pt x="1674811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4F6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6827552" y="4833938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42168" y="7441"/>
                </a:moveTo>
                <a:cubicBezTo>
                  <a:pt x="42168" y="-2142"/>
                  <a:pt x="49948" y="-9922"/>
                  <a:pt x="59531" y="-9922"/>
                </a:cubicBezTo>
                <a:cubicBezTo>
                  <a:pt x="69114" y="-9922"/>
                  <a:pt x="76895" y="-2142"/>
                  <a:pt x="76895" y="7441"/>
                </a:cubicBezTo>
                <a:cubicBezTo>
                  <a:pt x="76895" y="17024"/>
                  <a:pt x="69114" y="24805"/>
                  <a:pt x="59531" y="24805"/>
                </a:cubicBezTo>
                <a:cubicBezTo>
                  <a:pt x="49948" y="24805"/>
                  <a:pt x="42168" y="17024"/>
                  <a:pt x="42168" y="7441"/>
                </a:cubicBezTo>
                <a:close/>
                <a:moveTo>
                  <a:pt x="34727" y="119062"/>
                </a:moveTo>
                <a:lnTo>
                  <a:pt x="26727" y="119062"/>
                </a:lnTo>
                <a:cubicBezTo>
                  <a:pt x="23347" y="119062"/>
                  <a:pt x="20960" y="115745"/>
                  <a:pt x="22014" y="112520"/>
                </a:cubicBezTo>
                <a:lnTo>
                  <a:pt x="35347" y="72523"/>
                </a:lnTo>
                <a:lnTo>
                  <a:pt x="20371" y="92708"/>
                </a:lnTo>
                <a:cubicBezTo>
                  <a:pt x="17115" y="97110"/>
                  <a:pt x="10883" y="98041"/>
                  <a:pt x="6480" y="94754"/>
                </a:cubicBezTo>
                <a:cubicBezTo>
                  <a:pt x="2077" y="91467"/>
                  <a:pt x="1147" y="85266"/>
                  <a:pt x="4434" y="80863"/>
                </a:cubicBezTo>
                <a:lnTo>
                  <a:pt x="26293" y="51408"/>
                </a:lnTo>
                <a:cubicBezTo>
                  <a:pt x="34106" y="40928"/>
                  <a:pt x="46416" y="34727"/>
                  <a:pt x="59531" y="34727"/>
                </a:cubicBezTo>
                <a:cubicBezTo>
                  <a:pt x="72647" y="34727"/>
                  <a:pt x="84956" y="40928"/>
                  <a:pt x="92770" y="51439"/>
                </a:cubicBezTo>
                <a:lnTo>
                  <a:pt x="114629" y="80894"/>
                </a:lnTo>
                <a:cubicBezTo>
                  <a:pt x="117884" y="85297"/>
                  <a:pt x="116985" y="91498"/>
                  <a:pt x="112582" y="94785"/>
                </a:cubicBezTo>
                <a:cubicBezTo>
                  <a:pt x="108179" y="98072"/>
                  <a:pt x="101978" y="97141"/>
                  <a:pt x="98692" y="92739"/>
                </a:cubicBezTo>
                <a:lnTo>
                  <a:pt x="83716" y="72554"/>
                </a:lnTo>
                <a:lnTo>
                  <a:pt x="97048" y="112520"/>
                </a:lnTo>
                <a:cubicBezTo>
                  <a:pt x="98134" y="115745"/>
                  <a:pt x="95715" y="119062"/>
                  <a:pt x="92335" y="119062"/>
                </a:cubicBezTo>
                <a:lnTo>
                  <a:pt x="84336" y="119062"/>
                </a:lnTo>
                <a:lnTo>
                  <a:pt x="84336" y="158750"/>
                </a:lnTo>
                <a:cubicBezTo>
                  <a:pt x="84336" y="164238"/>
                  <a:pt x="79902" y="168672"/>
                  <a:pt x="74414" y="168672"/>
                </a:cubicBezTo>
                <a:cubicBezTo>
                  <a:pt x="68926" y="168672"/>
                  <a:pt x="64492" y="164238"/>
                  <a:pt x="64492" y="158750"/>
                </a:cubicBezTo>
                <a:lnTo>
                  <a:pt x="64492" y="119062"/>
                </a:lnTo>
                <a:lnTo>
                  <a:pt x="54570" y="119062"/>
                </a:lnTo>
                <a:lnTo>
                  <a:pt x="54570" y="158750"/>
                </a:lnTo>
                <a:cubicBezTo>
                  <a:pt x="54570" y="164238"/>
                  <a:pt x="50136" y="168672"/>
                  <a:pt x="44648" y="168672"/>
                </a:cubicBezTo>
                <a:cubicBezTo>
                  <a:pt x="39160" y="168672"/>
                  <a:pt x="34727" y="164238"/>
                  <a:pt x="34727" y="158750"/>
                </a:cubicBezTo>
                <a:lnTo>
                  <a:pt x="34727" y="119062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6088063" y="5056188"/>
            <a:ext cx="1595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妇产医院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088063" y="5183188"/>
            <a:ext cx="1595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阜宁大爱妇产医院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075104" y="1174750"/>
            <a:ext cx="3802062" cy="3079750"/>
          </a:xfrm>
          <a:custGeom>
            <a:avLst/>
            <a:gdLst/>
            <a:ahLst/>
            <a:cxnLst/>
            <a:rect l="l" t="t" r="r" b="b"/>
            <a:pathLst>
              <a:path w="3802062" h="3079750">
                <a:moveTo>
                  <a:pt x="95257" y="0"/>
                </a:moveTo>
                <a:lnTo>
                  <a:pt x="3706806" y="0"/>
                </a:lnTo>
                <a:cubicBezTo>
                  <a:pt x="3759415" y="0"/>
                  <a:pt x="3802062" y="42648"/>
                  <a:pt x="3802062" y="95257"/>
                </a:cubicBezTo>
                <a:lnTo>
                  <a:pt x="3802062" y="2984493"/>
                </a:lnTo>
                <a:cubicBezTo>
                  <a:pt x="3802062" y="3037102"/>
                  <a:pt x="3759415" y="3079750"/>
                  <a:pt x="3706806" y="3079750"/>
                </a:cubicBezTo>
                <a:lnTo>
                  <a:pt x="95257" y="3079750"/>
                </a:lnTo>
                <a:cubicBezTo>
                  <a:pt x="42648" y="3079750"/>
                  <a:pt x="0" y="3037102"/>
                  <a:pt x="0" y="2984493"/>
                </a:cubicBezTo>
                <a:lnTo>
                  <a:pt x="0" y="95257"/>
                </a:lnTo>
                <a:cubicBezTo>
                  <a:pt x="0" y="42683"/>
                  <a:pt x="42683" y="0"/>
                  <a:pt x="95257" y="0"/>
                </a:cubicBezTo>
                <a:close/>
              </a:path>
            </a:pathLst>
          </a:custGeom>
          <a:gradFill flip="none" rotWithShape="1">
            <a:gsLst>
              <a:gs pos="0">
                <a:srgbClr val="0A4F6B"/>
              </a:gs>
              <a:gs pos="100000">
                <a:srgbClr val="5A7D8C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8244768" y="1373188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42987" y="66973"/>
                </a:moveTo>
                <a:lnTo>
                  <a:pt x="93873" y="66973"/>
                </a:lnTo>
                <a:cubicBezTo>
                  <a:pt x="88934" y="66973"/>
                  <a:pt x="84944" y="62982"/>
                  <a:pt x="84944" y="58043"/>
                </a:cubicBezTo>
                <a:lnTo>
                  <a:pt x="84944" y="8930"/>
                </a:lnTo>
                <a:cubicBezTo>
                  <a:pt x="84944" y="3990"/>
                  <a:pt x="88962" y="-56"/>
                  <a:pt x="93845" y="586"/>
                </a:cubicBezTo>
                <a:cubicBezTo>
                  <a:pt x="123704" y="4549"/>
                  <a:pt x="147368" y="28212"/>
                  <a:pt x="151330" y="58071"/>
                </a:cubicBezTo>
                <a:cubicBezTo>
                  <a:pt x="151972" y="62954"/>
                  <a:pt x="147926" y="66973"/>
                  <a:pt x="142987" y="66973"/>
                </a:cubicBezTo>
                <a:close/>
                <a:moveTo>
                  <a:pt x="62117" y="10381"/>
                </a:moveTo>
                <a:cubicBezTo>
                  <a:pt x="67168" y="9320"/>
                  <a:pt x="71549" y="13450"/>
                  <a:pt x="71549" y="18613"/>
                </a:cubicBezTo>
                <a:lnTo>
                  <a:pt x="71549" y="73670"/>
                </a:lnTo>
                <a:cubicBezTo>
                  <a:pt x="71549" y="75233"/>
                  <a:pt x="72107" y="76740"/>
                  <a:pt x="73084" y="77939"/>
                </a:cubicBezTo>
                <a:lnTo>
                  <a:pt x="109947" y="122420"/>
                </a:lnTo>
                <a:cubicBezTo>
                  <a:pt x="113212" y="126355"/>
                  <a:pt x="112514" y="132299"/>
                  <a:pt x="108021" y="134727"/>
                </a:cubicBezTo>
                <a:cubicBezTo>
                  <a:pt x="98506" y="139917"/>
                  <a:pt x="87595" y="142875"/>
                  <a:pt x="76014" y="142875"/>
                </a:cubicBezTo>
                <a:cubicBezTo>
                  <a:pt x="39039" y="142875"/>
                  <a:pt x="9041" y="112877"/>
                  <a:pt x="9041" y="75902"/>
                </a:cubicBezTo>
                <a:cubicBezTo>
                  <a:pt x="9041" y="43672"/>
                  <a:pt x="31784" y="16771"/>
                  <a:pt x="62117" y="10381"/>
                </a:cubicBezTo>
                <a:close/>
                <a:moveTo>
                  <a:pt x="133331" y="80367"/>
                </a:moveTo>
                <a:lnTo>
                  <a:pt x="151191" y="80367"/>
                </a:lnTo>
                <a:cubicBezTo>
                  <a:pt x="156353" y="80367"/>
                  <a:pt x="160483" y="84748"/>
                  <a:pt x="159423" y="89799"/>
                </a:cubicBezTo>
                <a:cubicBezTo>
                  <a:pt x="156576" y="103305"/>
                  <a:pt x="149656" y="115305"/>
                  <a:pt x="140001" y="124458"/>
                </a:cubicBezTo>
                <a:cubicBezTo>
                  <a:pt x="136568" y="127722"/>
                  <a:pt x="131183" y="127025"/>
                  <a:pt x="128169" y="123369"/>
                </a:cubicBezTo>
                <a:lnTo>
                  <a:pt x="104617" y="94990"/>
                </a:lnTo>
                <a:cubicBezTo>
                  <a:pt x="99789" y="89157"/>
                  <a:pt x="103947" y="80367"/>
                  <a:pt x="111482" y="80367"/>
                </a:cubicBezTo>
                <a:lnTo>
                  <a:pt x="133303" y="80367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8416417" y="1333500"/>
            <a:ext cx="3373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客户分布统计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33854" y="1682750"/>
            <a:ext cx="3484563" cy="508000"/>
          </a:xfrm>
          <a:custGeom>
            <a:avLst/>
            <a:gdLst/>
            <a:ahLst/>
            <a:cxnLst/>
            <a:rect l="l" t="t" r="r" b="b"/>
            <a:pathLst>
              <a:path w="3484563" h="5080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444500"/>
                </a:lnTo>
                <a:cubicBezTo>
                  <a:pt x="3484563" y="479547"/>
                  <a:pt x="3456109" y="508000"/>
                  <a:pt x="3421063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8329104" y="1793875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综合三甲医院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365818" y="1778000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35%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329104" y="2032000"/>
            <a:ext cx="3294063" cy="63500"/>
          </a:xfrm>
          <a:custGeom>
            <a:avLst/>
            <a:gdLst/>
            <a:ahLst/>
            <a:cxnLst/>
            <a:rect l="l" t="t" r="r" b="b"/>
            <a:pathLst>
              <a:path w="3294063" h="63500">
                <a:moveTo>
                  <a:pt x="31750" y="0"/>
                </a:moveTo>
                <a:lnTo>
                  <a:pt x="3262313" y="0"/>
                </a:lnTo>
                <a:cubicBezTo>
                  <a:pt x="3279836" y="0"/>
                  <a:pt x="3294063" y="14227"/>
                  <a:pt x="3294063" y="31750"/>
                </a:cubicBezTo>
                <a:lnTo>
                  <a:pt x="3294063" y="31750"/>
                </a:lnTo>
                <a:cubicBezTo>
                  <a:pt x="3294063" y="49273"/>
                  <a:pt x="3279836" y="63500"/>
                  <a:pt x="3262313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8329104" y="2032000"/>
            <a:ext cx="1150938" cy="63500"/>
          </a:xfrm>
          <a:custGeom>
            <a:avLst/>
            <a:gdLst/>
            <a:ahLst/>
            <a:cxnLst/>
            <a:rect l="l" t="t" r="r" b="b"/>
            <a:pathLst>
              <a:path w="1150938" h="63500">
                <a:moveTo>
                  <a:pt x="31750" y="0"/>
                </a:moveTo>
                <a:lnTo>
                  <a:pt x="1119188" y="0"/>
                </a:lnTo>
                <a:cubicBezTo>
                  <a:pt x="1136711" y="0"/>
                  <a:pt x="1150938" y="14227"/>
                  <a:pt x="1150938" y="31750"/>
                </a:cubicBezTo>
                <a:lnTo>
                  <a:pt x="1150938" y="31750"/>
                </a:lnTo>
                <a:cubicBezTo>
                  <a:pt x="1150938" y="49273"/>
                  <a:pt x="1136711" y="63500"/>
                  <a:pt x="1119188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8233854" y="2317750"/>
            <a:ext cx="3484563" cy="508000"/>
          </a:xfrm>
          <a:custGeom>
            <a:avLst/>
            <a:gdLst/>
            <a:ahLst/>
            <a:cxnLst/>
            <a:rect l="l" t="t" r="r" b="b"/>
            <a:pathLst>
              <a:path w="3484563" h="5080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444500"/>
                </a:lnTo>
                <a:cubicBezTo>
                  <a:pt x="3484563" y="479547"/>
                  <a:pt x="3456109" y="508000"/>
                  <a:pt x="3421063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8329104" y="2428875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专科医院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1369167" y="2413000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25%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329104" y="2667000"/>
            <a:ext cx="3294063" cy="63500"/>
          </a:xfrm>
          <a:custGeom>
            <a:avLst/>
            <a:gdLst/>
            <a:ahLst/>
            <a:cxnLst/>
            <a:rect l="l" t="t" r="r" b="b"/>
            <a:pathLst>
              <a:path w="3294063" h="63500">
                <a:moveTo>
                  <a:pt x="31750" y="0"/>
                </a:moveTo>
                <a:lnTo>
                  <a:pt x="3262313" y="0"/>
                </a:lnTo>
                <a:cubicBezTo>
                  <a:pt x="3279836" y="0"/>
                  <a:pt x="3294063" y="14227"/>
                  <a:pt x="3294063" y="31750"/>
                </a:cubicBezTo>
                <a:lnTo>
                  <a:pt x="3294063" y="31750"/>
                </a:lnTo>
                <a:cubicBezTo>
                  <a:pt x="3294063" y="49273"/>
                  <a:pt x="3279836" y="63500"/>
                  <a:pt x="3262313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>
            <a:off x="8329104" y="2667000"/>
            <a:ext cx="825500" cy="63500"/>
          </a:xfrm>
          <a:custGeom>
            <a:avLst/>
            <a:gdLst/>
            <a:ahLst/>
            <a:cxnLst/>
            <a:rect l="l" t="t" r="r" b="b"/>
            <a:pathLst>
              <a:path w="825500" h="63500">
                <a:moveTo>
                  <a:pt x="31750" y="0"/>
                </a:moveTo>
                <a:lnTo>
                  <a:pt x="793750" y="0"/>
                </a:lnTo>
                <a:cubicBezTo>
                  <a:pt x="811273" y="0"/>
                  <a:pt x="825500" y="14227"/>
                  <a:pt x="825500" y="31750"/>
                </a:cubicBezTo>
                <a:lnTo>
                  <a:pt x="825500" y="31750"/>
                </a:lnTo>
                <a:cubicBezTo>
                  <a:pt x="825500" y="49273"/>
                  <a:pt x="811273" y="63500"/>
                  <a:pt x="793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8"/>
          <p:cNvSpPr/>
          <p:nvPr/>
        </p:nvSpPr>
        <p:spPr>
          <a:xfrm>
            <a:off x="8233854" y="2952750"/>
            <a:ext cx="3484563" cy="508000"/>
          </a:xfrm>
          <a:custGeom>
            <a:avLst/>
            <a:gdLst/>
            <a:ahLst/>
            <a:cxnLst/>
            <a:rect l="l" t="t" r="r" b="b"/>
            <a:pathLst>
              <a:path w="3484563" h="5080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444500"/>
                </a:lnTo>
                <a:cubicBezTo>
                  <a:pt x="3484563" y="479547"/>
                  <a:pt x="3456109" y="508000"/>
                  <a:pt x="3421063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/>
          <p:nvPr/>
        </p:nvSpPr>
        <p:spPr>
          <a:xfrm>
            <a:off x="8329104" y="3063875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体检中心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1365322" y="3048000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20%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329104" y="3302000"/>
            <a:ext cx="3294063" cy="63500"/>
          </a:xfrm>
          <a:custGeom>
            <a:avLst/>
            <a:gdLst/>
            <a:ahLst/>
            <a:cxnLst/>
            <a:rect l="l" t="t" r="r" b="b"/>
            <a:pathLst>
              <a:path w="3294063" h="63500">
                <a:moveTo>
                  <a:pt x="31750" y="0"/>
                </a:moveTo>
                <a:lnTo>
                  <a:pt x="3262313" y="0"/>
                </a:lnTo>
                <a:cubicBezTo>
                  <a:pt x="3279836" y="0"/>
                  <a:pt x="3294063" y="14227"/>
                  <a:pt x="3294063" y="31750"/>
                </a:cubicBezTo>
                <a:lnTo>
                  <a:pt x="3294063" y="31750"/>
                </a:lnTo>
                <a:cubicBezTo>
                  <a:pt x="3294063" y="49273"/>
                  <a:pt x="3279836" y="63500"/>
                  <a:pt x="3262313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72"/>
          <p:cNvSpPr/>
          <p:nvPr/>
        </p:nvSpPr>
        <p:spPr>
          <a:xfrm>
            <a:off x="8329104" y="3302000"/>
            <a:ext cx="658813" cy="63500"/>
          </a:xfrm>
          <a:custGeom>
            <a:avLst/>
            <a:gdLst/>
            <a:ahLst/>
            <a:cxnLst/>
            <a:rect l="l" t="t" r="r" b="b"/>
            <a:pathLst>
              <a:path w="658813" h="63500">
                <a:moveTo>
                  <a:pt x="31750" y="0"/>
                </a:moveTo>
                <a:lnTo>
                  <a:pt x="627063" y="0"/>
                </a:lnTo>
                <a:cubicBezTo>
                  <a:pt x="644586" y="0"/>
                  <a:pt x="658813" y="14227"/>
                  <a:pt x="658813" y="31750"/>
                </a:cubicBezTo>
                <a:lnTo>
                  <a:pt x="658813" y="31750"/>
                </a:lnTo>
                <a:cubicBezTo>
                  <a:pt x="658813" y="49273"/>
                  <a:pt x="644586" y="63500"/>
                  <a:pt x="627063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5" name="Shape 73"/>
          <p:cNvSpPr/>
          <p:nvPr/>
        </p:nvSpPr>
        <p:spPr>
          <a:xfrm>
            <a:off x="8233854" y="3587750"/>
            <a:ext cx="3484563" cy="508000"/>
          </a:xfrm>
          <a:custGeom>
            <a:avLst/>
            <a:gdLst/>
            <a:ahLst/>
            <a:cxnLst/>
            <a:rect l="l" t="t" r="r" b="b"/>
            <a:pathLst>
              <a:path w="3484563" h="508000">
                <a:moveTo>
                  <a:pt x="63500" y="0"/>
                </a:moveTo>
                <a:lnTo>
                  <a:pt x="3421063" y="0"/>
                </a:lnTo>
                <a:cubicBezTo>
                  <a:pt x="3456109" y="0"/>
                  <a:pt x="3484563" y="28453"/>
                  <a:pt x="3484563" y="63500"/>
                </a:cubicBezTo>
                <a:lnTo>
                  <a:pt x="3484563" y="444500"/>
                </a:lnTo>
                <a:cubicBezTo>
                  <a:pt x="3484563" y="479547"/>
                  <a:pt x="3456109" y="508000"/>
                  <a:pt x="3421063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6" name="Text 74"/>
          <p:cNvSpPr/>
          <p:nvPr/>
        </p:nvSpPr>
        <p:spPr>
          <a:xfrm>
            <a:off x="8329104" y="3698875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其他医疗机构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1365322" y="3683000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20%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8329104" y="3937000"/>
            <a:ext cx="3294063" cy="63500"/>
          </a:xfrm>
          <a:custGeom>
            <a:avLst/>
            <a:gdLst/>
            <a:ahLst/>
            <a:cxnLst/>
            <a:rect l="l" t="t" r="r" b="b"/>
            <a:pathLst>
              <a:path w="3294063" h="63500">
                <a:moveTo>
                  <a:pt x="31750" y="0"/>
                </a:moveTo>
                <a:lnTo>
                  <a:pt x="3262313" y="0"/>
                </a:lnTo>
                <a:cubicBezTo>
                  <a:pt x="3279836" y="0"/>
                  <a:pt x="3294063" y="14227"/>
                  <a:pt x="3294063" y="31750"/>
                </a:cubicBezTo>
                <a:lnTo>
                  <a:pt x="3294063" y="31750"/>
                </a:lnTo>
                <a:cubicBezTo>
                  <a:pt x="3294063" y="49273"/>
                  <a:pt x="3279836" y="63500"/>
                  <a:pt x="3262313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9" name="Shape 77"/>
          <p:cNvSpPr/>
          <p:nvPr/>
        </p:nvSpPr>
        <p:spPr>
          <a:xfrm>
            <a:off x="8329104" y="3937000"/>
            <a:ext cx="658813" cy="63500"/>
          </a:xfrm>
          <a:custGeom>
            <a:avLst/>
            <a:gdLst/>
            <a:ahLst/>
            <a:cxnLst/>
            <a:rect l="l" t="t" r="r" b="b"/>
            <a:pathLst>
              <a:path w="658813" h="63500">
                <a:moveTo>
                  <a:pt x="31750" y="0"/>
                </a:moveTo>
                <a:lnTo>
                  <a:pt x="627063" y="0"/>
                </a:lnTo>
                <a:cubicBezTo>
                  <a:pt x="644586" y="0"/>
                  <a:pt x="658813" y="14227"/>
                  <a:pt x="658813" y="31750"/>
                </a:cubicBezTo>
                <a:lnTo>
                  <a:pt x="658813" y="31750"/>
                </a:lnTo>
                <a:cubicBezTo>
                  <a:pt x="658813" y="49273"/>
                  <a:pt x="644586" y="63500"/>
                  <a:pt x="627063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0" name="Shape 78"/>
          <p:cNvSpPr/>
          <p:nvPr/>
        </p:nvSpPr>
        <p:spPr>
          <a:xfrm>
            <a:off x="8075104" y="4381500"/>
            <a:ext cx="3802062" cy="1182688"/>
          </a:xfrm>
          <a:custGeom>
            <a:avLst/>
            <a:gdLst/>
            <a:ahLst/>
            <a:cxnLst/>
            <a:rect l="l" t="t" r="r" b="b"/>
            <a:pathLst>
              <a:path w="3802062" h="2000250">
                <a:moveTo>
                  <a:pt x="95252" y="0"/>
                </a:moveTo>
                <a:lnTo>
                  <a:pt x="3706811" y="0"/>
                </a:lnTo>
                <a:cubicBezTo>
                  <a:pt x="3759417" y="0"/>
                  <a:pt x="3802062" y="42646"/>
                  <a:pt x="3802062" y="95252"/>
                </a:cubicBezTo>
                <a:lnTo>
                  <a:pt x="3802062" y="1904998"/>
                </a:lnTo>
                <a:cubicBezTo>
                  <a:pt x="3802062" y="1957604"/>
                  <a:pt x="3759417" y="2000250"/>
                  <a:pt x="3706811" y="2000250"/>
                </a:cubicBezTo>
                <a:lnTo>
                  <a:pt x="95252" y="2000250"/>
                </a:lnTo>
                <a:cubicBezTo>
                  <a:pt x="42646" y="2000250"/>
                  <a:pt x="0" y="1957604"/>
                  <a:pt x="0" y="19049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1" name="Shape 79"/>
          <p:cNvSpPr/>
          <p:nvPr/>
        </p:nvSpPr>
        <p:spPr>
          <a:xfrm>
            <a:off x="8253698" y="457993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40267" y="0"/>
                </a:moveTo>
                <a:lnTo>
                  <a:pt x="102775" y="0"/>
                </a:lnTo>
                <a:cubicBezTo>
                  <a:pt x="110170" y="0"/>
                  <a:pt x="116198" y="6083"/>
                  <a:pt x="115919" y="13450"/>
                </a:cubicBezTo>
                <a:cubicBezTo>
                  <a:pt x="115863" y="14929"/>
                  <a:pt x="115807" y="16408"/>
                  <a:pt x="115723" y="17859"/>
                </a:cubicBezTo>
                <a:lnTo>
                  <a:pt x="129564" y="17859"/>
                </a:lnTo>
                <a:cubicBezTo>
                  <a:pt x="136847" y="17859"/>
                  <a:pt x="143266" y="23887"/>
                  <a:pt x="142708" y="31756"/>
                </a:cubicBezTo>
                <a:cubicBezTo>
                  <a:pt x="140615" y="60694"/>
                  <a:pt x="125825" y="76600"/>
                  <a:pt x="109779" y="84916"/>
                </a:cubicBezTo>
                <a:cubicBezTo>
                  <a:pt x="105370" y="87204"/>
                  <a:pt x="100878" y="88906"/>
                  <a:pt x="96608" y="90162"/>
                </a:cubicBezTo>
                <a:cubicBezTo>
                  <a:pt x="90971" y="98143"/>
                  <a:pt x="85111" y="102357"/>
                  <a:pt x="80451" y="104617"/>
                </a:cubicBezTo>
                <a:lnTo>
                  <a:pt x="80451" y="125016"/>
                </a:lnTo>
                <a:lnTo>
                  <a:pt x="98310" y="125016"/>
                </a:lnTo>
                <a:cubicBezTo>
                  <a:pt x="103250" y="125016"/>
                  <a:pt x="107240" y="129006"/>
                  <a:pt x="107240" y="133945"/>
                </a:cubicBezTo>
                <a:cubicBezTo>
                  <a:pt x="107240" y="138885"/>
                  <a:pt x="103250" y="142875"/>
                  <a:pt x="98310" y="142875"/>
                </a:cubicBezTo>
                <a:lnTo>
                  <a:pt x="44732" y="142875"/>
                </a:lnTo>
                <a:cubicBezTo>
                  <a:pt x="39793" y="142875"/>
                  <a:pt x="35802" y="138885"/>
                  <a:pt x="35802" y="133945"/>
                </a:cubicBezTo>
                <a:cubicBezTo>
                  <a:pt x="35802" y="129006"/>
                  <a:pt x="39793" y="125016"/>
                  <a:pt x="44732" y="125016"/>
                </a:cubicBezTo>
                <a:lnTo>
                  <a:pt x="62592" y="125016"/>
                </a:lnTo>
                <a:lnTo>
                  <a:pt x="62592" y="104617"/>
                </a:lnTo>
                <a:cubicBezTo>
                  <a:pt x="58127" y="102468"/>
                  <a:pt x="52574" y="98478"/>
                  <a:pt x="47160" y="91139"/>
                </a:cubicBezTo>
                <a:cubicBezTo>
                  <a:pt x="42025" y="89799"/>
                  <a:pt x="36444" y="87762"/>
                  <a:pt x="31003" y="84693"/>
                </a:cubicBezTo>
                <a:cubicBezTo>
                  <a:pt x="15906" y="76237"/>
                  <a:pt x="2288" y="60303"/>
                  <a:pt x="335" y="31700"/>
                </a:cubicBezTo>
                <a:cubicBezTo>
                  <a:pt x="-195" y="23859"/>
                  <a:pt x="6195" y="17831"/>
                  <a:pt x="13478" y="17831"/>
                </a:cubicBezTo>
                <a:lnTo>
                  <a:pt x="27319" y="17831"/>
                </a:lnTo>
                <a:cubicBezTo>
                  <a:pt x="27236" y="16380"/>
                  <a:pt x="27180" y="14929"/>
                  <a:pt x="27124" y="13422"/>
                </a:cubicBezTo>
                <a:cubicBezTo>
                  <a:pt x="26845" y="6028"/>
                  <a:pt x="32872" y="-28"/>
                  <a:pt x="40267" y="-28"/>
                </a:cubicBezTo>
                <a:close/>
                <a:moveTo>
                  <a:pt x="28324" y="31254"/>
                </a:moveTo>
                <a:lnTo>
                  <a:pt x="13701" y="31254"/>
                </a:lnTo>
                <a:cubicBezTo>
                  <a:pt x="15432" y="54890"/>
                  <a:pt x="26287" y="66722"/>
                  <a:pt x="37477" y="73000"/>
                </a:cubicBezTo>
                <a:cubicBezTo>
                  <a:pt x="33458" y="62592"/>
                  <a:pt x="30138" y="49002"/>
                  <a:pt x="28324" y="31254"/>
                </a:cubicBezTo>
                <a:close/>
                <a:moveTo>
                  <a:pt x="106040" y="71661"/>
                </a:moveTo>
                <a:cubicBezTo>
                  <a:pt x="117342" y="65019"/>
                  <a:pt x="127555" y="53215"/>
                  <a:pt x="129285" y="31254"/>
                </a:cubicBezTo>
                <a:lnTo>
                  <a:pt x="114691" y="31254"/>
                </a:lnTo>
                <a:cubicBezTo>
                  <a:pt x="112961" y="48248"/>
                  <a:pt x="109835" y="61447"/>
                  <a:pt x="106040" y="71661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2" name="Text 80"/>
          <p:cNvSpPr/>
          <p:nvPr/>
        </p:nvSpPr>
        <p:spPr>
          <a:xfrm>
            <a:off x="8416417" y="4540250"/>
            <a:ext cx="3373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服务成果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8233854" y="4889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A4F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4" name="Text 82"/>
          <p:cNvSpPr/>
          <p:nvPr/>
        </p:nvSpPr>
        <p:spPr>
          <a:xfrm>
            <a:off x="8329228" y="4968875"/>
            <a:ext cx="26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56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8710104" y="4937125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服务医院客户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8710104" y="5095875"/>
            <a:ext cx="714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覆盖全国各地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9406419" y="48830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8" name="Text 86"/>
          <p:cNvSpPr/>
          <p:nvPr/>
        </p:nvSpPr>
        <p:spPr>
          <a:xfrm>
            <a:off x="9468121" y="4962434"/>
            <a:ext cx="333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10+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9882669" y="4930684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行业服务年限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9882669" y="5089434"/>
            <a:ext cx="714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深耕医疗领域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10615104" y="4873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A4F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2" name="Text 90"/>
          <p:cNvSpPr/>
          <p:nvPr/>
        </p:nvSpPr>
        <p:spPr>
          <a:xfrm>
            <a:off x="10646048" y="4953000"/>
            <a:ext cx="396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99%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11091354" y="4921250"/>
            <a:ext cx="627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客户满意度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11091354" y="5080000"/>
            <a:ext cx="619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5A7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持续服务续签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333375" y="5730876"/>
            <a:ext cx="11549063" cy="452438"/>
          </a:xfrm>
          <a:custGeom>
            <a:avLst/>
            <a:gdLst/>
            <a:ahLst/>
            <a:cxnLst/>
            <a:rect l="l" t="t" r="r" b="b"/>
            <a:pathLst>
              <a:path w="11549063" h="452438">
                <a:moveTo>
                  <a:pt x="95252" y="0"/>
                </a:moveTo>
                <a:lnTo>
                  <a:pt x="11453811" y="0"/>
                </a:lnTo>
                <a:cubicBezTo>
                  <a:pt x="11506417" y="0"/>
                  <a:pt x="11549063" y="42646"/>
                  <a:pt x="11549063" y="95252"/>
                </a:cubicBezTo>
                <a:lnTo>
                  <a:pt x="11549063" y="357186"/>
                </a:lnTo>
                <a:cubicBezTo>
                  <a:pt x="11549062" y="409792"/>
                  <a:pt x="11506417" y="452438"/>
                  <a:pt x="11453811" y="452438"/>
                </a:cubicBezTo>
                <a:lnTo>
                  <a:pt x="95252" y="452438"/>
                </a:lnTo>
                <a:cubicBezTo>
                  <a:pt x="42681" y="452438"/>
                  <a:pt x="0" y="409757"/>
                  <a:pt x="0" y="357186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2700">
            <a:solidFill>
              <a:srgbClr val="4DB6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Shape 94"/>
          <p:cNvSpPr/>
          <p:nvPr/>
        </p:nvSpPr>
        <p:spPr>
          <a:xfrm>
            <a:off x="476250" y="586184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7" name="Text 95"/>
          <p:cNvSpPr/>
          <p:nvPr/>
        </p:nvSpPr>
        <p:spPr>
          <a:xfrm>
            <a:off x="797719" y="5861845"/>
            <a:ext cx="631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微网通联</a:t>
            </a:r>
            <a:r>
              <a:rPr lang="en-US" sz="1000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已成功服务</a:t>
            </a:r>
            <a:r>
              <a:rPr lang="en-US" sz="1000" b="1" dirty="0">
                <a:solidFill>
                  <a:srgbClr val="0A4F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56家医院客户</a:t>
            </a:r>
            <a:r>
              <a:rPr lang="en-US" sz="1000" dirty="0">
                <a:solidFill>
                  <a:srgbClr val="1C20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，涵盖综合医院、专科医院、体检中心等多种类型，服务范围覆盖全国各省市</a:t>
            </a:r>
            <a:endParaRPr lang="en-US" sz="1600" dirty="0"/>
          </a:p>
        </p:txBody>
      </p:sp>
      <p:pic>
        <p:nvPicPr>
          <p:cNvPr id="98" name="图片 97" descr="图片包含 形状&#10;&#10;AI 生成的内容可能不正确。">
            <a:extLst>
              <a:ext uri="{FF2B5EF4-FFF2-40B4-BE49-F238E27FC236}">
                <a16:creationId xmlns:a16="http://schemas.microsoft.com/office/drawing/2014/main" id="{5E84099B-4181-6D8A-0210-37B57918B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913" y="402336"/>
            <a:ext cx="1493087" cy="36360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4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51welink.com/upload/images/2019/4/2143521668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54" r="36051"/>
          <a:stretch/>
        </p:blipFill>
        <p:spPr bwMode="auto">
          <a:xfrm>
            <a:off x="0" y="0"/>
            <a:ext cx="12307331" cy="688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A4F6B">
                  <a:alpha val="95000"/>
                </a:srgbClr>
              </a:gs>
              <a:gs pos="50000">
                <a:srgbClr val="0A4F6B">
                  <a:alpha val="90000"/>
                </a:srgbClr>
              </a:gs>
              <a:gs pos="100000">
                <a:srgbClr val="4DB6AC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2843845" y="3056023"/>
            <a:ext cx="6499184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 err="1">
                <a:solidFill>
                  <a:srgbClr val="E8ECE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微网通联深耕企业级通信</a:t>
            </a:r>
            <a:r>
              <a:rPr lang="en-US" sz="1500" b="1" dirty="0" err="1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十八余年</a:t>
            </a:r>
            <a:endParaRPr lang="en-US" sz="1500" dirty="0">
              <a:solidFill>
                <a:srgbClr val="E8ECEF">
                  <a:alpha val="9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ctr">
              <a:lnSpc>
                <a:spcPct val="140000"/>
              </a:lnSpc>
            </a:pPr>
            <a:r>
              <a:rPr lang="en-US" sz="1500" dirty="0" err="1">
                <a:solidFill>
                  <a:srgbClr val="E8ECE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已成功助力多家</a:t>
            </a:r>
            <a:r>
              <a:rPr lang="zh-CN" altLang="en-US" sz="1500" dirty="0">
                <a:solidFill>
                  <a:srgbClr val="E8ECE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医院、</a:t>
            </a:r>
            <a:r>
              <a:rPr lang="en-US" sz="1500" dirty="0" err="1">
                <a:solidFill>
                  <a:srgbClr val="E8ECE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银行、政务</a:t>
            </a:r>
            <a:r>
              <a:rPr lang="zh-CN" altLang="en-US" sz="1500" dirty="0">
                <a:solidFill>
                  <a:srgbClr val="E8ECE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类客户，</a:t>
            </a:r>
            <a:r>
              <a:rPr lang="en-US" sz="1500" dirty="0" err="1">
                <a:solidFill>
                  <a:srgbClr val="E8ECE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实现通信架构的数字化升级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874343" y="4049365"/>
            <a:ext cx="2695575" cy="1162050"/>
          </a:xfrm>
          <a:custGeom>
            <a:avLst/>
            <a:gdLst/>
            <a:ahLst/>
            <a:cxnLst/>
            <a:rect l="l" t="t" r="r" b="b"/>
            <a:pathLst>
              <a:path w="2695575" h="1162050">
                <a:moveTo>
                  <a:pt x="114299" y="0"/>
                </a:moveTo>
                <a:lnTo>
                  <a:pt x="2581276" y="0"/>
                </a:lnTo>
                <a:cubicBezTo>
                  <a:pt x="2644401" y="0"/>
                  <a:pt x="2695575" y="51174"/>
                  <a:pt x="2695575" y="114299"/>
                </a:cubicBezTo>
                <a:lnTo>
                  <a:pt x="2695575" y="1047751"/>
                </a:lnTo>
                <a:cubicBezTo>
                  <a:pt x="2695575" y="1110876"/>
                  <a:pt x="2644401" y="1162050"/>
                  <a:pt x="2581276" y="1162050"/>
                </a:cubicBezTo>
                <a:lnTo>
                  <a:pt x="114299" y="1162050"/>
                </a:lnTo>
                <a:cubicBezTo>
                  <a:pt x="51174" y="1162050"/>
                  <a:pt x="0" y="1110876"/>
                  <a:pt x="0" y="104775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3080000" y="420176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1983880" y="4601815"/>
            <a:ext cx="2476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8EC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安全可靠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993406" y="4868515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CE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私有化部署，国密加密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795318" y="4049365"/>
            <a:ext cx="2695575" cy="1162050"/>
          </a:xfrm>
          <a:custGeom>
            <a:avLst/>
            <a:gdLst/>
            <a:ahLst/>
            <a:cxnLst/>
            <a:rect l="l" t="t" r="r" b="b"/>
            <a:pathLst>
              <a:path w="2695575" h="1162050">
                <a:moveTo>
                  <a:pt x="114299" y="0"/>
                </a:moveTo>
                <a:lnTo>
                  <a:pt x="2581276" y="0"/>
                </a:lnTo>
                <a:cubicBezTo>
                  <a:pt x="2644401" y="0"/>
                  <a:pt x="2695575" y="51174"/>
                  <a:pt x="2695575" y="114299"/>
                </a:cubicBezTo>
                <a:lnTo>
                  <a:pt x="2695575" y="1047751"/>
                </a:lnTo>
                <a:cubicBezTo>
                  <a:pt x="2695575" y="1110876"/>
                  <a:pt x="2644401" y="1162050"/>
                  <a:pt x="2581276" y="1162050"/>
                </a:cubicBezTo>
                <a:lnTo>
                  <a:pt x="114299" y="1162050"/>
                </a:lnTo>
                <a:cubicBezTo>
                  <a:pt x="51174" y="1162050"/>
                  <a:pt x="0" y="1110876"/>
                  <a:pt x="0" y="104775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6000975" y="420176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4904856" y="4601815"/>
            <a:ext cx="2476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 err="1">
                <a:solidFill>
                  <a:srgbClr val="E8EC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稳定</a:t>
            </a:r>
            <a:r>
              <a:rPr lang="zh-CN" altLang="en-US" sz="1350" b="1" dirty="0">
                <a:solidFill>
                  <a:srgbClr val="E8EC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高效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914381" y="4868515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CE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亿级并发，99.99%可用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716293" y="4049365"/>
            <a:ext cx="2695575" cy="1162050"/>
          </a:xfrm>
          <a:custGeom>
            <a:avLst/>
            <a:gdLst/>
            <a:ahLst/>
            <a:cxnLst/>
            <a:rect l="l" t="t" r="r" b="b"/>
            <a:pathLst>
              <a:path w="2695575" h="1162050">
                <a:moveTo>
                  <a:pt x="114299" y="0"/>
                </a:moveTo>
                <a:lnTo>
                  <a:pt x="2581276" y="0"/>
                </a:lnTo>
                <a:cubicBezTo>
                  <a:pt x="2644401" y="0"/>
                  <a:pt x="2695575" y="51174"/>
                  <a:pt x="2695575" y="114299"/>
                </a:cubicBezTo>
                <a:lnTo>
                  <a:pt x="2695575" y="1047751"/>
                </a:lnTo>
                <a:cubicBezTo>
                  <a:pt x="2695575" y="1110876"/>
                  <a:pt x="2644401" y="1162050"/>
                  <a:pt x="2581276" y="1162050"/>
                </a:cubicBezTo>
                <a:lnTo>
                  <a:pt x="114299" y="1162050"/>
                </a:lnTo>
                <a:cubicBezTo>
                  <a:pt x="51174" y="1162050"/>
                  <a:pt x="0" y="1110876"/>
                  <a:pt x="0" y="104775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8939809" y="420176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35719"/>
                </a:moveTo>
                <a:cubicBezTo>
                  <a:pt x="80925" y="35719"/>
                  <a:pt x="44258" y="67698"/>
                  <a:pt x="37002" y="109779"/>
                </a:cubicBezTo>
                <a:cubicBezTo>
                  <a:pt x="42193" y="108105"/>
                  <a:pt x="47774" y="107156"/>
                  <a:pt x="53578" y="107156"/>
                </a:cubicBezTo>
                <a:lnTo>
                  <a:pt x="62508" y="107156"/>
                </a:lnTo>
                <a:cubicBezTo>
                  <a:pt x="77298" y="107156"/>
                  <a:pt x="89297" y="119156"/>
                  <a:pt x="89297" y="133945"/>
                </a:cubicBezTo>
                <a:lnTo>
                  <a:pt x="89297" y="187523"/>
                </a:lnTo>
                <a:cubicBezTo>
                  <a:pt x="89297" y="202313"/>
                  <a:pt x="77298" y="214313"/>
                  <a:pt x="62508" y="214313"/>
                </a:cubicBezTo>
                <a:lnTo>
                  <a:pt x="53578" y="214313"/>
                </a:lnTo>
                <a:cubicBezTo>
                  <a:pt x="23999" y="214313"/>
                  <a:pt x="0" y="190314"/>
                  <a:pt x="0" y="160734"/>
                </a:cubicBezTo>
                <a:lnTo>
                  <a:pt x="0" y="125016"/>
                </a:lnTo>
                <a:cubicBezTo>
                  <a:pt x="0" y="55978"/>
                  <a:pt x="55978" y="0"/>
                  <a:pt x="125016" y="0"/>
                </a:cubicBezTo>
                <a:cubicBezTo>
                  <a:pt x="194053" y="0"/>
                  <a:pt x="250031" y="55978"/>
                  <a:pt x="250031" y="125016"/>
                </a:cubicBezTo>
                <a:lnTo>
                  <a:pt x="250031" y="218833"/>
                </a:lnTo>
                <a:cubicBezTo>
                  <a:pt x="250031" y="255836"/>
                  <a:pt x="220005" y="285806"/>
                  <a:pt x="183003" y="285806"/>
                </a:cubicBezTo>
                <a:lnTo>
                  <a:pt x="133945" y="285750"/>
                </a:lnTo>
                <a:lnTo>
                  <a:pt x="116086" y="285750"/>
                </a:lnTo>
                <a:cubicBezTo>
                  <a:pt x="101296" y="285750"/>
                  <a:pt x="89297" y="273751"/>
                  <a:pt x="89297" y="258961"/>
                </a:cubicBezTo>
                <a:cubicBezTo>
                  <a:pt x="89297" y="244171"/>
                  <a:pt x="101296" y="232172"/>
                  <a:pt x="116086" y="232172"/>
                </a:cubicBezTo>
                <a:lnTo>
                  <a:pt x="133945" y="232172"/>
                </a:lnTo>
                <a:cubicBezTo>
                  <a:pt x="148735" y="232172"/>
                  <a:pt x="160734" y="244171"/>
                  <a:pt x="160734" y="258961"/>
                </a:cubicBezTo>
                <a:lnTo>
                  <a:pt x="160734" y="258961"/>
                </a:lnTo>
                <a:lnTo>
                  <a:pt x="183059" y="258961"/>
                </a:lnTo>
                <a:cubicBezTo>
                  <a:pt x="205271" y="258961"/>
                  <a:pt x="223242" y="240990"/>
                  <a:pt x="223242" y="218777"/>
                </a:cubicBezTo>
                <a:lnTo>
                  <a:pt x="223242" y="207113"/>
                </a:lnTo>
                <a:cubicBezTo>
                  <a:pt x="215373" y="211689"/>
                  <a:pt x="206220" y="214257"/>
                  <a:pt x="196453" y="214257"/>
                </a:cubicBezTo>
                <a:lnTo>
                  <a:pt x="187523" y="214257"/>
                </a:lnTo>
                <a:cubicBezTo>
                  <a:pt x="172734" y="214257"/>
                  <a:pt x="160734" y="202257"/>
                  <a:pt x="160734" y="187468"/>
                </a:cubicBezTo>
                <a:lnTo>
                  <a:pt x="160734" y="133890"/>
                </a:lnTo>
                <a:cubicBezTo>
                  <a:pt x="160734" y="119100"/>
                  <a:pt x="172734" y="107100"/>
                  <a:pt x="187523" y="107100"/>
                </a:cubicBezTo>
                <a:lnTo>
                  <a:pt x="196453" y="107100"/>
                </a:lnTo>
                <a:cubicBezTo>
                  <a:pt x="202257" y="107100"/>
                  <a:pt x="207783" y="107993"/>
                  <a:pt x="213029" y="109724"/>
                </a:cubicBezTo>
                <a:cubicBezTo>
                  <a:pt x="205773" y="67698"/>
                  <a:pt x="169162" y="35663"/>
                  <a:pt x="125016" y="35663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7825831" y="4601815"/>
            <a:ext cx="2476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8EC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极致服务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835356" y="4868515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CE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7×24H全天候支持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657280" y="578291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4929221" y="5764483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51welink.com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223696" y="5687665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9525" y="0"/>
                </a:lnTo>
                <a:lnTo>
                  <a:pt x="9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E8ECE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3"/>
          <p:cNvSpPr/>
          <p:nvPr/>
        </p:nvSpPr>
        <p:spPr>
          <a:xfrm>
            <a:off x="6561834" y="578291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9606" y="9302"/>
                </a:moveTo>
                <a:cubicBezTo>
                  <a:pt x="56666" y="2270"/>
                  <a:pt x="49002" y="-1451"/>
                  <a:pt x="41709" y="521"/>
                </a:cubicBezTo>
                <a:lnTo>
                  <a:pt x="39663" y="1079"/>
                </a:lnTo>
                <a:cubicBezTo>
                  <a:pt x="15627" y="7627"/>
                  <a:pt x="-4911" y="30919"/>
                  <a:pt x="1079" y="59271"/>
                </a:cubicBezTo>
                <a:cubicBezTo>
                  <a:pt x="14883" y="124383"/>
                  <a:pt x="66117" y="175617"/>
                  <a:pt x="131229" y="189421"/>
                </a:cubicBezTo>
                <a:cubicBezTo>
                  <a:pt x="159618" y="195449"/>
                  <a:pt x="182873" y="174873"/>
                  <a:pt x="189421" y="150837"/>
                </a:cubicBezTo>
                <a:lnTo>
                  <a:pt x="189979" y="148791"/>
                </a:lnTo>
                <a:cubicBezTo>
                  <a:pt x="191988" y="141461"/>
                  <a:pt x="188230" y="133796"/>
                  <a:pt x="181235" y="130894"/>
                </a:cubicBezTo>
                <a:lnTo>
                  <a:pt x="145033" y="115825"/>
                </a:lnTo>
                <a:cubicBezTo>
                  <a:pt x="138894" y="113258"/>
                  <a:pt x="131787" y="115044"/>
                  <a:pt x="127546" y="120216"/>
                </a:cubicBezTo>
                <a:lnTo>
                  <a:pt x="113184" y="137778"/>
                </a:lnTo>
                <a:cubicBezTo>
                  <a:pt x="87027" y="124792"/>
                  <a:pt x="65968" y="103063"/>
                  <a:pt x="53876" y="76386"/>
                </a:cubicBezTo>
                <a:lnTo>
                  <a:pt x="70321" y="62992"/>
                </a:lnTo>
                <a:cubicBezTo>
                  <a:pt x="75493" y="58787"/>
                  <a:pt x="77242" y="51681"/>
                  <a:pt x="74712" y="45504"/>
                </a:cubicBezTo>
                <a:lnTo>
                  <a:pt x="59606" y="9302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6890446" y="574916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7×24H支持</a:t>
            </a:r>
            <a:endParaRPr lang="en-US" sz="1600" dirty="0"/>
          </a:p>
        </p:txBody>
      </p:sp>
      <p:pic>
        <p:nvPicPr>
          <p:cNvPr id="29" name="图片 28" descr="文本, 徽标&#10;&#10;AI 生成的内容可能不正确。">
            <a:extLst>
              <a:ext uri="{FF2B5EF4-FFF2-40B4-BE49-F238E27FC236}">
                <a16:creationId xmlns:a16="http://schemas.microsoft.com/office/drawing/2014/main" id="{774278BD-8B09-6CF6-DF9D-8D9561EC3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26" y="367163"/>
            <a:ext cx="2054819" cy="500397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1970" y="1314965"/>
            <a:ext cx="1502933" cy="150293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1030</Words>
  <Application>Microsoft Macintosh PowerPoint</Application>
  <PresentationFormat>宽屏</PresentationFormat>
  <Paragraphs>345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MiSans</vt:lpstr>
      <vt:lpstr>Arial</vt:lpstr>
      <vt:lpstr>Liter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智慧医院GMP解决方案</dc:title>
  <dc:subject>智慧医院GMP解决方案</dc:subject>
  <dc:creator>Kimi</dc:creator>
  <cp:lastModifiedBy>W J</cp:lastModifiedBy>
  <cp:revision>25</cp:revision>
  <cp:lastPrinted>2026-04-15T11:01:42Z</cp:lastPrinted>
  <dcterms:created xsi:type="dcterms:W3CDTF">2026-04-15T10:45:33Z</dcterms:created>
  <dcterms:modified xsi:type="dcterms:W3CDTF">2026-04-30T04:24:11Z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{"Label":"智慧医院GMP解决方案","ContentProducer":"001191110108MACG2KBH8F10000","ProduceID":"19d90b6b-2752-88a0-8000-0000e99a2f19","ReservedCode1":"","ContentPropagator":"001191110108MACG2KBH8F20000","PropagateID":"19d90b6b-2752-88a0-8000-0000e99a2f19","ReservedCo</vt:lpwstr>
  </property>
</Properties>
</file>